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92e9b5b719407c" /><Relationship Type="http://schemas.openxmlformats.org/officeDocument/2006/relationships/extended-properties" Target="/docProps/app.xml" Id="Rf66bde52d8914875" /><Relationship Type="http://schemas.openxmlformats.org/officeDocument/2006/relationships/officeDocument" Target="/ppt/presentation.xml" Id="Rdee441d035514f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3bd8f037f048aa"/>
    <p:sldMasterId xmlns:r="http://schemas.openxmlformats.org/officeDocument/2006/relationships" id="2147483653" r:id="Rba6f1232c8af4744"/>
  </p:sldMasterIdLst>
  <p:notesMasterIdLst>
    <p:notesMasterId xmlns:r="http://schemas.openxmlformats.org/officeDocument/2006/relationships" r:id="R6290bfe82f554d22"/>
  </p:notesMasterIdLst>
  <p:sldIdLst>
    <p:sldId xmlns:r="http://schemas.openxmlformats.org/officeDocument/2006/relationships" id="256" r:id="Rc038a4958a3d494e"/>
    <p:sldId xmlns:r="http://schemas.openxmlformats.org/officeDocument/2006/relationships" id="257" r:id="R25c4ed090a484228"/>
    <p:sldId xmlns:r="http://schemas.openxmlformats.org/officeDocument/2006/relationships" id="258" r:id="Rbc41b24c243e4f2d"/>
    <p:sldId xmlns:r="http://schemas.openxmlformats.org/officeDocument/2006/relationships" id="259" r:id="R8331ed2351b04c1b"/>
    <p:sldId xmlns:r="http://schemas.openxmlformats.org/officeDocument/2006/relationships" id="260" r:id="R56e95784a3694edc"/>
    <p:sldId xmlns:r="http://schemas.openxmlformats.org/officeDocument/2006/relationships" id="261" r:id="Raa521acd2d334300"/>
    <p:sldId xmlns:r="http://schemas.openxmlformats.org/officeDocument/2006/relationships" id="262" r:id="R230e8b451ded48ee"/>
    <p:sldId xmlns:r="http://schemas.openxmlformats.org/officeDocument/2006/relationships" id="263" r:id="R4730cbd1fb374bc0"/>
    <p:sldId xmlns:r="http://schemas.openxmlformats.org/officeDocument/2006/relationships" id="264" r:id="R2511c9e2455d426e"/>
    <p:sldId xmlns:r="http://schemas.openxmlformats.org/officeDocument/2006/relationships" id="265" r:id="R10817e790b0d4cc2"/>
    <p:sldId xmlns:r="http://schemas.openxmlformats.org/officeDocument/2006/relationships" id="266" r:id="Rd34a589c38264b80"/>
    <p:sldId xmlns:r="http://schemas.openxmlformats.org/officeDocument/2006/relationships" id="267" r:id="R51f535abe16c4b42"/>
    <p:sldId xmlns:r="http://schemas.openxmlformats.org/officeDocument/2006/relationships" id="268" r:id="R080d4e8de6084022"/>
    <p:sldId xmlns:r="http://schemas.openxmlformats.org/officeDocument/2006/relationships" id="269" r:id="R0b46f1bf790c4d20"/>
    <p:sldId xmlns:r="http://schemas.openxmlformats.org/officeDocument/2006/relationships" id="270" r:id="Re9ff532885cf4dbb"/>
    <p:sldId xmlns:r="http://schemas.openxmlformats.org/officeDocument/2006/relationships" id="271" r:id="Rd2fc288306b34906"/>
    <p:sldId xmlns:r="http://schemas.openxmlformats.org/officeDocument/2006/relationships" id="272" r:id="R5d0fdc2cd2494729"/>
    <p:sldId xmlns:r="http://schemas.openxmlformats.org/officeDocument/2006/relationships" id="273" r:id="Rde1396d33196443e"/>
    <p:sldId xmlns:r="http://schemas.openxmlformats.org/officeDocument/2006/relationships" id="274" r:id="R11efca1f7e7e4772"/>
    <p:sldId xmlns:r="http://schemas.openxmlformats.org/officeDocument/2006/relationships" id="275" r:id="Rcc3af5bc1bd544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ec60ae615b41dd" /><Relationship Type="http://schemas.openxmlformats.org/officeDocument/2006/relationships/slideMaster" Target="/ppt/slideMasters/slideMaster1.xml" Id="R393bd8f037f048aa" /><Relationship Type="http://schemas.openxmlformats.org/officeDocument/2006/relationships/slideMaster" Target="/ppt/slideMasters/slideMaster2.xml" Id="Rba6f1232c8af4744" /><Relationship Type="http://schemas.openxmlformats.org/officeDocument/2006/relationships/notesMaster" Target="/ppt/notesMasters/notesMaster1.xml" Id="R6290bfe82f554d22" /><Relationship Type="http://schemas.openxmlformats.org/officeDocument/2006/relationships/presProps" Target="/ppt/presProps.xml" Id="Raefc4b1c27e34faa" /><Relationship Type="http://schemas.openxmlformats.org/officeDocument/2006/relationships/viewProps" Target="/ppt/viewProps.xml" Id="Ra10cb77c71424129" /><Relationship Type="http://schemas.openxmlformats.org/officeDocument/2006/relationships/tableStyles" Target="/ppt/tableStyles.xml" Id="R8f0156f88d9c4639" /><Relationship Type="http://schemas.openxmlformats.org/officeDocument/2006/relationships/slide" Target="/ppt/slides/slide1.xml" Id="Rc038a4958a3d494e" /><Relationship Type="http://schemas.openxmlformats.org/officeDocument/2006/relationships/slide" Target="/ppt/slides/slide2.xml" Id="R25c4ed090a484228" /><Relationship Type="http://schemas.openxmlformats.org/officeDocument/2006/relationships/slide" Target="/ppt/slides/slide3.xml" Id="Rbc41b24c243e4f2d" /><Relationship Type="http://schemas.openxmlformats.org/officeDocument/2006/relationships/slide" Target="/ppt/slides/slide4.xml" Id="R8331ed2351b04c1b" /><Relationship Type="http://schemas.openxmlformats.org/officeDocument/2006/relationships/slide" Target="/ppt/slides/slide5.xml" Id="R56e95784a3694edc" /><Relationship Type="http://schemas.openxmlformats.org/officeDocument/2006/relationships/slide" Target="/ppt/slides/slide6.xml" Id="Raa521acd2d334300" /><Relationship Type="http://schemas.openxmlformats.org/officeDocument/2006/relationships/slide" Target="/ppt/slides/slide7.xml" Id="R230e8b451ded48ee" /><Relationship Type="http://schemas.openxmlformats.org/officeDocument/2006/relationships/slide" Target="/ppt/slides/slide8.xml" Id="R4730cbd1fb374bc0" /><Relationship Type="http://schemas.openxmlformats.org/officeDocument/2006/relationships/slide" Target="/ppt/slides/slide9.xml" Id="R2511c9e2455d426e" /><Relationship Type="http://schemas.openxmlformats.org/officeDocument/2006/relationships/slide" Target="/ppt/slides/slide10.xml" Id="R10817e790b0d4cc2" /><Relationship Type="http://schemas.openxmlformats.org/officeDocument/2006/relationships/slide" Target="/ppt/slides/slide11.xml" Id="Rd34a589c38264b80" /><Relationship Type="http://schemas.openxmlformats.org/officeDocument/2006/relationships/slide" Target="/ppt/slides/slide12.xml" Id="R51f535abe16c4b42" /><Relationship Type="http://schemas.openxmlformats.org/officeDocument/2006/relationships/slide" Target="/ppt/slides/slide13.xml" Id="R080d4e8de6084022" /><Relationship Type="http://schemas.openxmlformats.org/officeDocument/2006/relationships/slide" Target="/ppt/slides/slide14.xml" Id="R0b46f1bf790c4d20" /><Relationship Type="http://schemas.openxmlformats.org/officeDocument/2006/relationships/slide" Target="/ppt/slides/slide15.xml" Id="Re9ff532885cf4dbb" /><Relationship Type="http://schemas.openxmlformats.org/officeDocument/2006/relationships/slide" Target="/ppt/slides/slide16.xml" Id="Rd2fc288306b34906" /><Relationship Type="http://schemas.openxmlformats.org/officeDocument/2006/relationships/slide" Target="/ppt/slides/slide17.xml" Id="R5d0fdc2cd2494729" /><Relationship Type="http://schemas.openxmlformats.org/officeDocument/2006/relationships/slide" Target="/ppt/slides/slide18.xml" Id="Rde1396d33196443e" /><Relationship Type="http://schemas.openxmlformats.org/officeDocument/2006/relationships/slide" Target="/ppt/slides/slide19.xml" Id="R11efca1f7e7e4772" /><Relationship Type="http://schemas.openxmlformats.org/officeDocument/2006/relationships/slide" Target="/ppt/slides/slide20.xml" Id="Rcc3af5bc1bd544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a7f36355e90643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Lucida Sans"/>
        <a:ea typeface="黑体"/>
        <a:cs typeface=""/>
      </a:majorFont>
      <a:minorFont>
        <a:latin typeface="Berlin Sans FB"/>
        <a:ea typeface="黑体"/>
        <a:cs typeface=""/>
      </a:minorFont>
    </a:fontScheme>
    <a:fmtScheme name="1_自定义设计方案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e50586c5414de5" /><Relationship Type="http://schemas.openxmlformats.org/officeDocument/2006/relationships/notesMaster" Target="/ppt/notesMasters/notesMaster1.xml" Id="R65d39085717f41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f5535a2b404d8b" /><Relationship Type="http://schemas.openxmlformats.org/officeDocument/2006/relationships/notesMaster" Target="/ppt/notesMasters/notesMaster1.xml" Id="Rc8521f355fcc48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32de9bfae84eda" /><Relationship Type="http://schemas.openxmlformats.org/officeDocument/2006/relationships/notesMaster" Target="/ppt/notesMasters/notesMaster1.xml" Id="R413a96f0effc45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239f88ce5545f2" /><Relationship Type="http://schemas.openxmlformats.org/officeDocument/2006/relationships/notesMaster" Target="/ppt/notesMasters/notesMaster1.xml" Id="Rbc232834982442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4ac319777d4ca8" /><Relationship Type="http://schemas.openxmlformats.org/officeDocument/2006/relationships/notesMaster" Target="/ppt/notesMasters/notesMaster1.xml" Id="R7286949cee9547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c8c26f42d54beb" /><Relationship Type="http://schemas.openxmlformats.org/officeDocument/2006/relationships/notesMaster" Target="/ppt/notesMasters/notesMaster1.xml" Id="Rcbff4e17c80547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d6530ba9a44d6a" /><Relationship Type="http://schemas.openxmlformats.org/officeDocument/2006/relationships/notesMaster" Target="/ppt/notesMasters/notesMaster1.xml" Id="R35dd9526c42244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be44d994564408" /><Relationship Type="http://schemas.openxmlformats.org/officeDocument/2006/relationships/notesMaster" Target="/ppt/notesMasters/notesMaster1.xml" Id="R21a62609807943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97b4eeb34a4f38" /><Relationship Type="http://schemas.openxmlformats.org/officeDocument/2006/relationships/notesMaster" Target="/ppt/notesMasters/notesMaster1.xml" Id="R57358a76bdb546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0d85915b174c09" /><Relationship Type="http://schemas.openxmlformats.org/officeDocument/2006/relationships/notesMaster" Target="/ppt/notesMasters/notesMaster1.xml" Id="Rc8ab7aaec8fc47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555467a21042e2" /><Relationship Type="http://schemas.openxmlformats.org/officeDocument/2006/relationships/notesMaster" Target="/ppt/notesMasters/notesMaster1.xml" Id="R19378356e6cc48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0a6fca0c24457b" /><Relationship Type="http://schemas.openxmlformats.org/officeDocument/2006/relationships/notesMaster" Target="/ppt/notesMasters/notesMaster1.xml" Id="Ree1baaf08e5b4f5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d2d1f2c3874bf3" /><Relationship Type="http://schemas.openxmlformats.org/officeDocument/2006/relationships/notesMaster" Target="/ppt/notesMasters/notesMaster1.xml" Id="Rf0a66c8ac69d4a7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738e080b70840c8" /><Relationship Type="http://schemas.openxmlformats.org/officeDocument/2006/relationships/notesMaster" Target="/ppt/notesMasters/notesMaster1.xml" Id="R16d3d016be3443b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fa5d81c19844e8" /><Relationship Type="http://schemas.openxmlformats.org/officeDocument/2006/relationships/notesMaster" Target="/ppt/notesMasters/notesMaster1.xml" Id="Rbabfd9e30de946a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3f86f6b585e46c9" /><Relationship Type="http://schemas.openxmlformats.org/officeDocument/2006/relationships/notesMaster" Target="/ppt/notesMasters/notesMaster1.xml" Id="Rb0254e061552420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af9c75f56224ba5" /><Relationship Type="http://schemas.openxmlformats.org/officeDocument/2006/relationships/notesMaster" Target="/ppt/notesMasters/notesMaster1.xml" Id="R116c540d2ffb46d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4bbc37f3f4e491d" /><Relationship Type="http://schemas.openxmlformats.org/officeDocument/2006/relationships/notesMaster" Target="/ppt/notesMasters/notesMaster1.xml" Id="R27424192dbcb48c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ae3f5ffe2be4516" /><Relationship Type="http://schemas.openxmlformats.org/officeDocument/2006/relationships/notesMaster" Target="/ppt/notesMasters/notesMaster1.xml" Id="R1c315f7db11b4d9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299e76a9291472d" /><Relationship Type="http://schemas.openxmlformats.org/officeDocument/2006/relationships/notesMaster" Target="/ppt/notesMasters/notesMaster1.xml" Id="R81ecefe3efca4b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汇报讲稿：数据库正在直接触发生成、嵌入和多模态分析。本课题研究这些数据进入模型服务前，如何被组织、估计和调度。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汇报讲稿：本页回答“AI 算子已经进入数据库工作流”。先陈述现象或设计，再用底部结论收束并转入下一页。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https://docs.snowflake.com/en/user-guide/snowflake-cortex/aisql</a:t>
            </a:r>
          </a:p>
          <a:p xmlns:a="http://schemas.openxmlformats.org/drawingml/2006/main">
            <a:pPr>
              <a:buNone/>
              <a:defRPr sz="1000" b="0"/>
            </a:pPr>
            <a:r>
              <a:t>- https://cloud.google.com/bigquery/docs/generate-text</a:t>
            </a:r>
          </a:p>
          <a:p xmlns:a="http://schemas.openxmlformats.org/drawingml/2006/main">
            <a:pPr>
              <a:buNone/>
              <a:defRPr sz="1000" b="0"/>
            </a:pPr>
            <a:r>
              <a:t>- https://docs.oracle.com/en/database/oracle/oracle-database/23/vecse/vector_embedding.html</a:t>
            </a:r>
          </a:p>
          <a:p xmlns:a="http://schemas.openxmlformats.org/drawingml/2006/main">
            <a:pPr>
              <a:buNone/>
              <a:defRPr sz="1000" b="0"/>
            </a:pPr>
            <a:r>
              <a:t>- https://github.com/timescale/pgai</a:t>
            </a:r>
          </a:p>
          <a:p xmlns:a="http://schemas.openxmlformats.org/drawingml/2006/main">
            <a:pPr>
              <a:buNone/>
              <a:defRPr sz="1000" b="0"/>
            </a:pPr>
            <a:r>
              <a:t>- https://github.com/pgvector/pgvector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汇报讲稿：本页回答“AI 算子形成新的外部执行链路”。先陈述现象或设计，再用底部结论收束并转入下一页。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汇报讲稿：本页回答“代表工作推进了相邻层”。先陈述现象或设计，再用底部结论收束并转入下一页。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opening/literature/reading_list.md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opening/report/opening_report.md#2-国内外研究现状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汇报讲稿：本页回答“AI Data Infra 仍缺少上游执行闭环”。先陈述现象或设计，再用底部结论收束并转入下一页。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figures/opening_figure_set/main_png/P05_研究空白_AI数据执行层.png</a:t>
            </a:r>
          </a:p>
          <a:p xmlns:a="http://schemas.openxmlformats.org/drawingml/2006/main">
            <a:pPr>
              <a:buNone/>
              <a:defRPr sz="1000" b="0"/>
            </a:pPr>
            <a:r>
              <a:t>- opening/claim_matrix.md#1-冻结题目与系统抽象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汇报讲稿：先看左侧：统一数据库端到端合同下，三条静态路径接近，说明静态基线很强。再看右侧：同一 Chat 任务却落入过量排队或欠供给。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experiments/results/opening_database_e2e_text_refeed_20260808/README.md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experiments/results/opening_text_native_single_job_formal_20260808/README.md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汇报讲稿：这一页按 work、state、capacity 三层讲。行数隐藏工作量，配置上限不是运行状态，继续增压也不等于有效供给。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experiments/results/local_vllm_qwen15b_baseline/sharegpt_burstgpt_token_budget_vs_fixed_timeout300_20260719.csv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experiments/results/dual_gpu_slo_ewma_flush_formal_20260729/README.md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experiments/results/dual_gpu_active_work_saturation_20260729/README.md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汇报讲稿：本页回答“图像把 work 扩展为多阶段”。先陈述现象或设计，再用底部结论收束并转入下一页。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motivation/results/gpu/image_clip_preprocess_variants_20260801/README.md</a:t>
            </a:r>
          </a:p>
          <a:p xmlns:a="http://schemas.openxmlformats.org/drawingml/2006/main">
            <a:pPr>
              <a:buNone/>
              <a:defRPr sz="1000" b="0"/>
            </a:pPr>
            <a:r>
              <a:t>- motivation/results/gpu/image_clip_transfer_ceiling_20260803/README.md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汇报讲稿：本页回答“四 Job 并发同时影响 Short 与 Long”。先陈述现象或设计，再用底部结论收束并转入下一页。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experiments/results/opening_fourjob_interference_20260809/README.md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汇报讲稿：四项设计要求权重相同；它们在系统结构上仍归入两项研究内容，代价估计是共同输入。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汇报讲稿：本页回答“AI 数据执行层形成反馈闭环”。先陈述现象或设计，再用底部结论收束并转入下一页。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figures/opening_figure_set/main_png/P11_系统架构_数据组织与状态调度闭环.png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opening/report/opening_report.md#4-研究内容与技术路线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汇报讲稿：本页回答“WorkDescriptor 连接组织与调度”。先陈述现象或设计，再用底部结论收束并转入下一页。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figures/opening_figure_set/main_png/P12_研究内容一_WorkUnit与数据组织.png</a:t>
            </a:r>
          </a:p>
          <a:p xmlns:a="http://schemas.openxmlformats.org/drawingml/2006/main">
            <a:pPr>
              <a:buNone/>
              <a:defRPr sz="1000" b="0"/>
            </a:pPr>
            <a:r>
              <a:t>- code/src/planning/work.py</a:t>
            </a:r>
          </a:p>
          <a:p xmlns:a="http://schemas.openxmlformats.org/drawingml/2006/main">
            <a:pPr>
              <a:buNone/>
              <a:defRPr sz="1000" b="0"/>
            </a:pPr>
            <a:r>
              <a:t>- code/src/modalities/image/contracts.py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汇报讲稿：本页回答“数据组织没有全局最优”。先陈述现象或设计，再用底部结论收束并转入下一页。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experiments/results/rc1_data_organization/README.md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汇报讲稿：本页回答“总容量固定，份额随活跃集调整”。先陈述现象或设计，再用底部结论收束并转入下一页。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figures/opening_figure_set/main_png/P14_研究内容二_状态感知提交与多作业调度.png</a:t>
            </a:r>
          </a:p>
          <a:p xmlns:a="http://schemas.openxmlformats.org/drawingml/2006/main">
            <a:pPr>
              <a:buNone/>
              <a:defRPr sz="1000" b="0"/>
            </a:pPr>
            <a:r>
              <a:t>- opening/claim_matrix.md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opening/report/opening_report.md#42-研究内容二容量感知的提交路由与多作业调度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汇报讲稿：先强调 full/quarter 只是控制额度损失，真正方法比较是同上限 static 与 shared。总效率提高不代表每个作业都改善。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experiments/results/opening_fourjob_interference_20260809/README.md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汇报讲稿：左侧回答是否排对配置，右侧展示 20 个场景的损失分布。中位数为零并不代表所有场景安全，因此保留最坏损失门。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experiments/results/operator_cost_profile_dual4090_formal_v2_cache_on_20260807/README.md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汇报讲稿：本页回答“图像 baseline 分层解释能力边界”。先陈述现象或设计，再用底部结论收束并转入下一页。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experiments/results/image_ai_embed_operator_formal_20260803/README.md</a:t>
            </a:r>
          </a:p>
          <a:p xmlns:a="http://schemas.openxmlformats.org/drawingml/2006/main">
            <a:pPr>
              <a:buNone/>
              <a:defRPr sz="1000" b="0"/>
            </a:pPr>
            <a:r>
              <a:t>- feasibility/results/vllm_clip_pooling_gate_20260804/README.md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汇报讲稿：本页回答“图像四 Job 重现任务级干扰”。先陈述现象或设计，再用底部结论收束并转入下一页。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experiments/results/opening_image_native_fourjob_formal_20260810/README.md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experiments/results/opening_image_project_fourjob_observe_only_formal_20260810/README.md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汇报讲稿：本页回答“研究基础支撑后续逐层验证”。先陈述现象或设计，再用底部结论收束并转入下一页。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figures/opening_figure_set/main_png/P19_研究基础与后续工作计划.png</a:t>
            </a:r>
          </a:p>
          <a:p xmlns:a="http://schemas.openxmlformats.org/drawingml/2006/main">
            <a:pPr>
              <a:buNone/>
              <a:defRPr sz="1000" b="0"/>
            </a:pPr>
            <a:r>
              <a:t>- opening/opening_defense_outline_20260808.md#第-19-页主实验用同上限强静态-ab-逐层验证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汇报讲稿：回到 AI-Native Data Infra：本课题不覆盖全部平台，而是把数据库任务到模型服务之间这一段做成可估计、可感知、可调度的闭环。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opening/report/opening_report.md#7-预期成果创新点与风险控制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80f798be3b4277" /><Relationship Type="http://schemas.openxmlformats.org/officeDocument/2006/relationships/image" Target="/ppt/media/image.jpeg" Id="R8da3c9bcd0f84b5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0fee38bc9549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2281f17e1d4c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374126e295412f" /><Relationship Type="http://schemas.openxmlformats.org/officeDocument/2006/relationships/image" Target="/ppt/media/image.jpeg" Id="Reb11e874784e44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f811ca7cd974243" /><Relationship Type="http://schemas.openxmlformats.org/officeDocument/2006/relationships/image" Target="/ppt/media/image.jpeg" Id="R6c49e54f65f54b0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bcc8fa4deb84a7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b097a798f22468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9e12ee67ce140e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74a1cd441f46b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95dd7b6555749b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6d4e22e1545401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c1666184e1c47e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6a5740d7bdc418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c4e9a6d603c4ee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1342daf7c834b4c" /></Relationships>
</file>

<file path=ppt/slideLayouts/slideLayout1.xml><?xml version="1.0" encoding="utf-8"?>
<p:sldLayout xmlns:p="http://schemas.openxmlformats.org/presentationml/2006/main" showMasterSp="0" preserve="1" userDrawn="1">
  <p:cSld name="标题幻灯片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619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3c9bcd0f84b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17" y="9525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BFCB351-E1E5-4857-9445-3C0938C5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21217" y="3589339"/>
            <a:ext cx="11590867" cy="55563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</a:pPr>
            <a:endParaRPr sz="2000" b="0" i="0" u="none" kern="1200" cap="none" spc="0" baseline="0">
              <a:ln>
                <a:noFill/>
              </a:ln>
              <a:solidFill>
                <a:srgbClr val="FF33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19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5396EB-6B5E-4A6F-B478-35E72A8237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Font typeface="Wingdings"/>
              <a:buNone/>
              <a:defRPr b="1">
                <a:solidFill>
                  <a:srgbClr val="0000CC"/>
                </a:solidFill>
                <a:latin typeface="Times"/>
                <a:ea typeface="Times"/>
                <a:cs typeface="Times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单击此处编辑母版副标题样式</a:t>
            </a:r>
            <a:endParaRPr/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C4896E42-C145-4209-AA23-4AA296C08C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908720"/>
            <a:ext cx="10972800" cy="863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11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DC08F10-CCB9-4E21-87D7-D74E373944D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245225"/>
            <a:ext cx="2844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2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B1F4432-B30A-462E-8D67-33077B3006A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245225"/>
            <a:ext cx="3860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59F0B66-D1AF-4A08-ABE6-E1122E698F5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245225"/>
            <a:ext cx="2844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1E8F414-7BA4-4BF8-AFEE-BEC3D900B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978FBC1-3301-4187-9427-B5E11983A77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AC307AF-C397-4291-9A22-DD32417AB4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4558658-CCB1-4F60-98BD-4838F22D8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025C85B-E07E-4390-A16E-34452EE981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543E4D85-0484-407D-8582-968BEDCAC2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564F251F-C5D2-452F-A52A-D78EA876A8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1AE8EE0-1B8E-4F47-93D8-58FD13E682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0" preserve="1" userDrawn="1">
  <p:cSld name="1_标题幻灯片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619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1e874784e44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17" y="9525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13619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A5691E9-F4EA-49AE-B257-DDA09514C3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Font typeface="Wingdings"/>
              <a:buNone/>
              <a:defRPr b="1">
                <a:solidFill>
                  <a:srgbClr val="0000CC"/>
                </a:solidFill>
                <a:latin typeface="Times"/>
                <a:ea typeface="Times"/>
                <a:cs typeface="Times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单击此处编辑母版副标题样式</a:t>
            </a:r>
            <a:endParaRPr/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E6E750B8-5300-44F9-B2CB-A4CAC0D243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908720"/>
            <a:ext cx="10972800" cy="863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11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81627F1-C389-4129-B0F0-F386468EEF2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245225"/>
            <a:ext cx="2844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2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6A06EBC2-E106-439B-8564-7FC0E76EF64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245225"/>
            <a:ext cx="3860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A2BAB78-F595-4061-9820-78391D2EB9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245225"/>
            <a:ext cx="2844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27FA0B-9E1A-4CCB-AF4D-5B95961855B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6A689A8-1720-4772-B72D-B573F05D4A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874C0D3-234D-4165-8DA2-BDA366DB87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05FBC53-D111-4236-AA0A-EB7EEB2D37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EF34C-1495-4DDF-857A-BC64FC9730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pic>
        <p:nvPicPr>
          <p:cNvPr id="13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49e54f65f54b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17" y="9525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38D315-DA65-4C0E-903A-3A828C9FB3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5488FA-5B33-4A38-95B6-6C9159C81B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E4FD035-A86F-4BA6-9499-791955F123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E2B70F1-32F4-4098-8E92-E540C38394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85C0CD3-EFA9-46BA-8C0C-D3A86EB53D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F04735-E317-4806-B340-875DB62D31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8A0A3F6-8D14-4DD8-9387-4AE9AE07AB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B9D59F9-9532-427F-A3AF-EB14DD1147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FCE9946-F695-48A3-AC96-8F216112CA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DA36B2-3892-4AD0-84EF-27160EE7E4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9C4990-7FFA-4FFA-A898-5B3491D0A9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7A59B69-4A06-4F97-8C03-72F937828F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012650A-727E-4C39-AC4B-06EC352BA57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E8498CA-14FB-4D41-B667-B7B8DE854D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44C0DD-838F-46F1-8AC0-2498F17E3A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6E4911C-F768-46E7-A02A-68797E79B0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416AE5-85AF-4400-A74B-D3A0C1E379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CD81E9-85A8-479E-8F28-CFE62DB589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D76929C-7E8E-40FB-9326-7F0588B8671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F8B5BF1-12D3-4129-A0E6-0F328166A59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6F46ABD-A08D-41D5-9552-0B1AFC420B9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2B5BD36-AD68-4DC5-8E57-FA833F3A80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58F38D4-8BEE-4DAC-A7B4-88C89DCC4C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06BEE58-5D48-4A09-8577-0BE1B1A7AA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F9BC95-4DE0-4F44-9294-D8734B7216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AA0FAD8-064B-45BA-9FFA-A9457CAC21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261278B-67F3-48A3-AEE2-0742DC710A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007B669-97AC-4D90-99FE-F7CEB7A9DE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37F2E03-2251-42D3-AEA1-54F5551F86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3EFA2BD-CD98-41E2-8B33-38B618D1C6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E7A03B3-1209-45F9-8C9D-748285B880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D9A6B6-8A53-4A13-9CD7-EDB1A7C16C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FA1B11-773C-4DD3-9AEE-79F4AB2F56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927460-D7AB-4E56-8C59-E85D351534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822737D-FD8F-4520-B20F-E1ED680E13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647B796-312D-40EB-BC85-9E366575CB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5EFE053-4978-4297-B653-5B991F47DF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761ED9-6B18-4990-A7CE-7572FE9857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6C63169-5F70-45DC-9B57-690C6BAB92D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单击图标添加图片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C1A210E-1950-446A-9319-C8F3D8C6F87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62922A6-D77C-4E48-B06C-27DF1A6C3B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14C8B34-6CFC-4ABB-A2D1-B1842F915D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B46DE8F-7D6C-490E-AB13-BAB85D5A14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E43362B-E29C-4569-872A-A8B356E95B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081B1E-D1D9-49D5-8B01-2C1295CEF1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66EE62D-9C79-4D6E-92D1-9BBBC892AD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A6E86F-8723-4D65-ABE8-1FC91DA80F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4B2FCA-2181-4825-8D76-AFC748B07E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4EC4236-CB14-46A8-941E-CF92531CA8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0C4FF8-22FF-4F2C-9439-96095B7CB6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0698874-6169-43A2-A9CD-425C96E972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FDA4207-8CB3-4CC3-B2A1-993ED5343A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40BC3CF-B20B-41DC-B8B7-E402367454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ba291a2771514172" /><Relationship Type="http://schemas.openxmlformats.org/officeDocument/2006/relationships/theme" Target="/ppt/slideMasters/theme/theme2.xml" Id="R747306fc791047a2" /><Relationship Type="http://schemas.openxmlformats.org/officeDocument/2006/relationships/slideLayout" Target="/ppt/slideLayouts/slideLayout1.xml" Id="R229c5dc80b594cba" /><Relationship Type="http://schemas.openxmlformats.org/officeDocument/2006/relationships/slideLayout" Target="/ppt/slideLayouts/slideLayout2.xml" Id="Ra001d224962b4cf4" /><Relationship Type="http://schemas.openxmlformats.org/officeDocument/2006/relationships/slideLayout" Target="/ppt/slideLayouts/slideLayout3.xml" Id="R8e4ca8a7e7564fde" /><Relationship Type="http://schemas.openxmlformats.org/officeDocument/2006/relationships/slideLayout" Target="/ppt/slideLayouts/slideLayout4.xml" Id="Reaa0314c2ad243d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jpeg" Id="R7b13c769019745ad" /><Relationship Type="http://schemas.openxmlformats.org/officeDocument/2006/relationships/theme" Target="/ppt/slideMasters/theme/theme3.xml" Id="R0f24746583794960" /><Relationship Type="http://schemas.openxmlformats.org/officeDocument/2006/relationships/slideLayout" Target="/ppt/slideLayouts/slideLayout5.xml" Id="Rc452f4d8acd64f39" /><Relationship Type="http://schemas.openxmlformats.org/officeDocument/2006/relationships/slideLayout" Target="/ppt/slideLayouts/slideLayout6.xml" Id="Rb6174b97e0c04896" /><Relationship Type="http://schemas.openxmlformats.org/officeDocument/2006/relationships/slideLayout" Target="/ppt/slideLayouts/slideLayout7.xml" Id="R4ad12d0b31424644" /><Relationship Type="http://schemas.openxmlformats.org/officeDocument/2006/relationships/slideLayout" Target="/ppt/slideLayouts/slideLayout8.xml" Id="R0e61c3c8e0c14672" /><Relationship Type="http://schemas.openxmlformats.org/officeDocument/2006/relationships/slideLayout" Target="/ppt/slideLayouts/slideLayout9.xml" Id="R4cb7a76857694604" /><Relationship Type="http://schemas.openxmlformats.org/officeDocument/2006/relationships/slideLayout" Target="/ppt/slideLayouts/slideLayout10.xml" Id="R6bba42d33e844de1" /><Relationship Type="http://schemas.openxmlformats.org/officeDocument/2006/relationships/slideLayout" Target="/ppt/slideLayouts/slideLayout11.xml" Id="Ree1d49af6b5848b6" /><Relationship Type="http://schemas.openxmlformats.org/officeDocument/2006/relationships/slideLayout" Target="/ppt/slideLayouts/slideLayout12.xml" Id="Rdd5115c85d6544ef" /><Relationship Type="http://schemas.openxmlformats.org/officeDocument/2006/relationships/slideLayout" Target="/ppt/slideLayouts/slideLayout13.xml" Id="R25feac06d606481d" /><Relationship Type="http://schemas.openxmlformats.org/officeDocument/2006/relationships/slideLayout" Target="/ppt/slideLayouts/slideLayout14.xml" Id="R7f60eb1991ad4ddb" /><Relationship Type="http://schemas.openxmlformats.org/officeDocument/2006/relationships/slideLayout" Target="/ppt/slideLayouts/slideLayout15.xml" Id="R3a4d7f08671f4e8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517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291a27715141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350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135170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36B2E5C-1652-4330-BE5D-C605052BF2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836613"/>
            <a:ext cx="109728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模板</a:t>
            </a:r>
            <a:r>
              <a:t>Chapter</a:t>
            </a:r>
            <a:endParaRPr/>
          </a:p>
        </p:txBody>
      </p:sp>
      <p:sp>
        <p:nvSpPr>
          <p:cNvPr id="102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140B016-DD5A-425A-A1F9-2D18FC436F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916113"/>
            <a:ext cx="10972800" cy="4525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第一级</a:t>
            </a:r>
            <a:r>
              <a:t>abcd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r>
              <a:t>adb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r>
              <a:t>kljaskf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135172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37CEC0C-A984-4F84-882D-3A78936949B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245225"/>
            <a:ext cx="284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5173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78C509B-C574-4FEA-BF2C-66B1F24F3A8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245225"/>
            <a:ext cx="386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517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96BCBE3-75BE-4518-80F3-1940570A17A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245225"/>
            <a:ext cx="284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032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88F4C6F-E3B2-432F-ADEC-BC45D61A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1" y="1668463"/>
            <a:ext cx="10968567" cy="3175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schemeClr val="tx1"/>
              </a:solidFill>
              <a:latin typeface="Tahoma"/>
              <a:ea typeface="Tahoma"/>
              <a:cs typeface="Tahom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9c5dc80b594cba"/>
    <p:sldLayoutId xmlns:r="http://schemas.openxmlformats.org/officeDocument/2006/relationships" id="2147483650" r:id="Ra001d224962b4cf4"/>
    <p:sldLayoutId xmlns:r="http://schemas.openxmlformats.org/officeDocument/2006/relationships" id="2147483651" r:id="R8e4ca8a7e7564fde"/>
    <p:sldLayoutId xmlns:r="http://schemas.openxmlformats.org/officeDocument/2006/relationships" id="2147483652" r:id="Reaa0314c2ad243d1"/>
  </p:sldLayoutIdLst>
  <p:hf hdr="0" ftr="0" dt="0"/>
  <p:txStyles>
    <p:titleStyle>
      <a:lvl1pPr xmlns:a="http://schemas.openxmlformats.org/drawingml/2006/main" algn="ctr">
        <a:spcBef>
          <a:spcPct val="0"/>
        </a:spcBef>
        <a:spcAft>
          <a:spcPct val="0"/>
        </a:spcAft>
        <a:buNone/>
        <a:defRPr sz="3600" b="0" kern="1200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lt"/>
          <a:cs typeface="+mj-lt"/>
        </a:defRPr>
      </a:lvl1pPr>
      <a:lvl2pPr xmlns:a="http://schemas.openxmlformats.org/drawingml/2006/main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2pPr>
      <a:lvl3pPr xmlns:a="http://schemas.openxmlformats.org/drawingml/2006/main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3pPr>
      <a:lvl4pPr xmlns:a="http://schemas.openxmlformats.org/drawingml/2006/main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4pPr>
      <a:lvl5pPr xmlns:a="http://schemas.openxmlformats.org/drawingml/2006/main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5pPr>
      <a:lvl6pPr xmlns:a="http://schemas.openxmlformats.org/drawingml/2006/main" marL="457200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6pPr>
      <a:lvl7pPr xmlns:a="http://schemas.openxmlformats.org/drawingml/2006/main" marL="914400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7pPr>
      <a:lvl8pPr xmlns:a="http://schemas.openxmlformats.org/drawingml/2006/main" marL="1371600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8pPr>
      <a:lvl9pPr xmlns:a="http://schemas.openxmlformats.org/drawingml/2006/main" marL="1828800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9pPr>
    </p:titleStyle>
    <p:bodyStyle>
      <a:lvl1pPr xmlns:a="http://schemas.openxmlformats.org/drawingml/2006/main" marL="342900" indent="-342900" algn="l">
        <a:spcBef>
          <a:spcPct val="20000"/>
        </a:spcBef>
        <a:spcAft>
          <a:spcPct val="0"/>
        </a:spcAft>
        <a:buClr>
          <a:srgbClr val="3366FF"/>
        </a:buClr>
        <a:buSzPct val="75000"/>
        <a:buFont typeface="Wingdings"/>
        <a:buChar char="ª"/>
        <a:defRPr sz="36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ct val="20000"/>
        </a:spcBef>
        <a:spcAft>
          <a:spcPct val="0"/>
        </a:spcAft>
        <a:buClr>
          <a:srgbClr val="990033"/>
        </a:buClr>
        <a:buSzPct val="80000"/>
        <a:buFont typeface="Wingdings"/>
        <a:buChar char="Ø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spcBef>
          <a:spcPct val="20000"/>
        </a:spcBef>
        <a:spcAft>
          <a:spcPct val="0"/>
        </a:spcAft>
        <a:buClr>
          <a:srgbClr val="FF0000"/>
        </a:buClr>
        <a:buChar char="•"/>
        <a:defRPr sz="2400" b="1" kern="1200">
          <a:solidFill>
            <a:schemeClr val="tx1"/>
          </a:solidFill>
          <a:latin typeface="Comic Sans MS"/>
          <a:ea typeface="Comic Sans MS"/>
          <a:cs typeface="Comic Sans MS"/>
        </a:defRPr>
      </a:lvl3pPr>
      <a:lvl4pPr xmlns:a="http://schemas.openxmlformats.org/drawingml/2006/main" marL="1600200" indent="-228600" algn="l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A00C0D9-D0DC-4EF7-AECF-FC7B016A6F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1E4D2F9-C16A-4014-BC87-F5BA7A039F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DB05990-3FB7-4F07-86FE-7927121C527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99A19BD-E6E4-4346-9E0A-939132F26A7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60640C9-F3FE-49C4-B594-ECB131BA99A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pic>
        <p:nvPicPr>
          <p:cNvPr id="15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3c769019745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350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F881C27-4B2A-4F53-9727-86CCDC0D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1" y="1668463"/>
            <a:ext cx="10968567" cy="3175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schemeClr val="tx1"/>
              </a:solidFill>
              <a:latin typeface="Tahoma"/>
              <a:ea typeface="Tahoma"/>
              <a:cs typeface="Tahom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4" r:id="Rc452f4d8acd64f39"/>
    <p:sldLayoutId xmlns:r="http://schemas.openxmlformats.org/officeDocument/2006/relationships" id="2147483655" r:id="Rb6174b97e0c04896"/>
    <p:sldLayoutId xmlns:r="http://schemas.openxmlformats.org/officeDocument/2006/relationships" id="2147483656" r:id="R4ad12d0b31424644"/>
    <p:sldLayoutId xmlns:r="http://schemas.openxmlformats.org/officeDocument/2006/relationships" id="2147483657" r:id="R0e61c3c8e0c14672"/>
    <p:sldLayoutId xmlns:r="http://schemas.openxmlformats.org/officeDocument/2006/relationships" id="2147483658" r:id="R4cb7a76857694604"/>
    <p:sldLayoutId xmlns:r="http://schemas.openxmlformats.org/officeDocument/2006/relationships" id="2147483659" r:id="R6bba42d33e844de1"/>
    <p:sldLayoutId xmlns:r="http://schemas.openxmlformats.org/officeDocument/2006/relationships" id="2147483660" r:id="Ree1d49af6b5848b6"/>
    <p:sldLayoutId xmlns:r="http://schemas.openxmlformats.org/officeDocument/2006/relationships" id="2147483661" r:id="Rdd5115c85d6544ef"/>
    <p:sldLayoutId xmlns:r="http://schemas.openxmlformats.org/officeDocument/2006/relationships" id="2147483662" r:id="R25feac06d606481d"/>
    <p:sldLayoutId xmlns:r="http://schemas.openxmlformats.org/officeDocument/2006/relationships" id="2147483663" r:id="R7f60eb1991ad4ddb"/>
    <p:sldLayoutId xmlns:r="http://schemas.openxmlformats.org/officeDocument/2006/relationships" id="2147483664" r:id="R3a4d7f08671f4e83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Lucida Sans"/>
        <a:ea typeface="黑体"/>
        <a:cs typeface=""/>
      </a:majorFont>
      <a:minorFont>
        <a:latin typeface="Berlin Sans FB"/>
        <a:ea typeface="黑体"/>
        <a:cs typeface=""/>
      </a:minorFont>
    </a:fontScheme>
    <a:fmtScheme name="1_自定义设计方案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14dc07bb74b31" /><Relationship Type="http://schemas.openxmlformats.org/officeDocument/2006/relationships/notesSlide" Target="/ppt/notesSlides/notesSlide1.xml" Id="R829c0b8355fc40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b41f88831ff470d" /><Relationship Type="http://schemas.openxmlformats.org/officeDocument/2006/relationships/image" Target="/ppt/media/image.png" Id="R40b80aebc6a442e2" /><Relationship Type="http://schemas.openxmlformats.org/officeDocument/2006/relationships/notesSlide" Target="/ppt/notesSlides/notesSlide2.xml" Id="R73d884f78eb740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792ce1eed674880" /><Relationship Type="http://schemas.openxmlformats.org/officeDocument/2006/relationships/image" Target="/ppt/media/image2.png" Id="R80df43fa5c9f41f3" /><Relationship Type="http://schemas.openxmlformats.org/officeDocument/2006/relationships/notesSlide" Target="/ppt/notesSlides/notesSlide3.xml" Id="Rd25214586a7540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72e441dfd2f4d80" /><Relationship Type="http://schemas.openxmlformats.org/officeDocument/2006/relationships/image" Target="/ppt/media/image3.png" Id="R43111897f9d24a68" /><Relationship Type="http://schemas.openxmlformats.org/officeDocument/2006/relationships/notesSlide" Target="/ppt/notesSlides/notesSlide4.xml" Id="Re5870b764d3640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a467fc93223457e" /><Relationship Type="http://schemas.openxmlformats.org/officeDocument/2006/relationships/image" Target="/ppt/media/image4.png" Id="R965ff03ef2844d30" /><Relationship Type="http://schemas.openxmlformats.org/officeDocument/2006/relationships/notesSlide" Target="/ppt/notesSlides/notesSlide5.xml" Id="Rfab401eae43846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a04e204e5794332" /><Relationship Type="http://schemas.openxmlformats.org/officeDocument/2006/relationships/image" Target="/ppt/media/image5.png" Id="R7292e237de9940c4" /><Relationship Type="http://schemas.openxmlformats.org/officeDocument/2006/relationships/notesSlide" Target="/ppt/notesSlides/notesSlide6.xml" Id="R8cf66f49bbec49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ea51732d004476e" /><Relationship Type="http://schemas.openxmlformats.org/officeDocument/2006/relationships/image" Target="/ppt/media/image6.png" Id="Ref07c344f4da46ab" /><Relationship Type="http://schemas.openxmlformats.org/officeDocument/2006/relationships/notesSlide" Target="/ppt/notesSlides/notesSlide7.xml" Id="Re67ca5451e7241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e7b6a336415481c" /><Relationship Type="http://schemas.openxmlformats.org/officeDocument/2006/relationships/image" Target="/ppt/media/image7.png" Id="R938b626be1dd45a0" /><Relationship Type="http://schemas.openxmlformats.org/officeDocument/2006/relationships/notesSlide" Target="/ppt/notesSlides/notesSlide8.xml" Id="R4052c32b651546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b71840c7ea84e6d" /><Relationship Type="http://schemas.openxmlformats.org/officeDocument/2006/relationships/image" Target="/ppt/media/image8.png" Id="Rd08a045d5f184dfd" /><Relationship Type="http://schemas.openxmlformats.org/officeDocument/2006/relationships/notesSlide" Target="/ppt/notesSlides/notesSlide9.xml" Id="Rbd8d84d4522640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62665d312c94212" /><Relationship Type="http://schemas.openxmlformats.org/officeDocument/2006/relationships/notesSlide" Target="/ppt/notesSlides/notesSlide10.xml" Id="R02de300e33c54e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5d721c88fb644a0" /><Relationship Type="http://schemas.openxmlformats.org/officeDocument/2006/relationships/image" Target="/ppt/media/image9.png" Id="R457768594279449e" /><Relationship Type="http://schemas.openxmlformats.org/officeDocument/2006/relationships/notesSlide" Target="/ppt/notesSlides/notesSlide11.xml" Id="R0d64e4a327404e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3a5476a0194491d" /><Relationship Type="http://schemas.openxmlformats.org/officeDocument/2006/relationships/image" Target="/ppt/media/image10.png" Id="Rc39e2810605e44e8" /><Relationship Type="http://schemas.openxmlformats.org/officeDocument/2006/relationships/notesSlide" Target="/ppt/notesSlides/notesSlide12.xml" Id="R0704cc400b9d4fe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cfe2ae83501432f" /><Relationship Type="http://schemas.openxmlformats.org/officeDocument/2006/relationships/image" Target="/ppt/media/image11.png" Id="Rbc40232dddde413d" /><Relationship Type="http://schemas.openxmlformats.org/officeDocument/2006/relationships/notesSlide" Target="/ppt/notesSlides/notesSlide13.xml" Id="R8ba2aa83c0694a5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5479caf31784b0e" /><Relationship Type="http://schemas.openxmlformats.org/officeDocument/2006/relationships/image" Target="/ppt/media/image12.png" Id="Re3678205d7874a6a" /><Relationship Type="http://schemas.openxmlformats.org/officeDocument/2006/relationships/notesSlide" Target="/ppt/notesSlides/notesSlide14.xml" Id="Re33dcbfefdc64f2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7f6c4c58f994c5d" /><Relationship Type="http://schemas.openxmlformats.org/officeDocument/2006/relationships/image" Target="/ppt/media/image13.png" Id="R9cc76cdd77044dde" /><Relationship Type="http://schemas.openxmlformats.org/officeDocument/2006/relationships/notesSlide" Target="/ppt/notesSlides/notesSlide15.xml" Id="Rf108463d083345f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b1fe4d734a24e89" /><Relationship Type="http://schemas.openxmlformats.org/officeDocument/2006/relationships/image" Target="/ppt/media/image14.png" Id="R24a97d6f1afa4c0f" /><Relationship Type="http://schemas.openxmlformats.org/officeDocument/2006/relationships/notesSlide" Target="/ppt/notesSlides/notesSlide16.xml" Id="Rfcb4876ffeba497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d7330d7340747da" /><Relationship Type="http://schemas.openxmlformats.org/officeDocument/2006/relationships/image" Target="/ppt/media/image15.png" Id="Rbaaca6a183574dc1" /><Relationship Type="http://schemas.openxmlformats.org/officeDocument/2006/relationships/notesSlide" Target="/ppt/notesSlides/notesSlide17.xml" Id="Re61e478001bb45a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cf139d2247a46a3" /><Relationship Type="http://schemas.openxmlformats.org/officeDocument/2006/relationships/image" Target="/ppt/media/image16.png" Id="Rcb71b554bc824ec2" /><Relationship Type="http://schemas.openxmlformats.org/officeDocument/2006/relationships/notesSlide" Target="/ppt/notesSlides/notesSlide18.xml" Id="Ra666c74496b1447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4adeb5a810a43c9" /><Relationship Type="http://schemas.openxmlformats.org/officeDocument/2006/relationships/image" Target="/ppt/media/image17.png" Id="Rfac85f97c44446eb" /><Relationship Type="http://schemas.openxmlformats.org/officeDocument/2006/relationships/notesSlide" Target="/ppt/notesSlides/notesSlide19.xml" Id="R6841ea26a4af486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4ce4a426e664d67" /><Relationship Type="http://schemas.openxmlformats.org/officeDocument/2006/relationships/notesSlide" Target="/ppt/notesSlides/notesSlide20.xml" Id="Re7c29a4ac43d44f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15024799-1CC6-4588-B14E-AB4E7BFE3B2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12899" y="3788918"/>
            <a:ext cx="8412480" cy="365760"/>
          </a:xfrm>
        </p:spPr>
        <p:txBody>
          <a:bodyPr xmlns:a="http://schemas.openxmlformats.org/drawingml/2006/main" lIns="0" rIns="0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526078"/>
                </a:solidFill>
                <a:latin typeface="微软雅黑"/>
                <a:ea typeface="微软雅黑"/>
                <a:cs typeface="微软雅黑"/>
              </a:rPr>
              <a:t>面向 AI Data Execution Layer 的 work-unit 构造与状态感知调度</a:t>
            </a:r>
            <a:endParaRPr sz="1400">
              <a:solidFill>
                <a:srgbClr val="6B7280"/>
              </a:solidFill>
            </a:endParaRP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C6F99C8C-491B-475B-A051-891BF4EAC6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7060" y="2492375"/>
            <a:ext cx="10469880" cy="1005840"/>
          </a:xfrm>
        </p:spPr>
        <p:txBody>
          <a:bodyPr xmlns:a="http://schemas.openxmlformats.org/drawingml/2006/main" lIns="0" rIns="0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000000"/>
                </a:solidFill>
              </a:rPr>
              <a:t>数据库 AI 负载的执行优化与调度研究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630EE88-CC36-4843-B533-311D07D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320" y="4220845"/>
            <a:ext cx="8595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报告人：____________    指导老师：____________</a:t>
            </a:r>
            <a:endParaRPr sz="160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106027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F90E21-DBD3-40F8-A980-D12524A7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E80F08C-3D11-4187-8DBE-13C3D65F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AI 算子已经进入数据库工作流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b80aebc6a442e2"/>
          <a:stretch xmlns:a="http://schemas.openxmlformats.org/drawingml/2006/main"/>
        </p:blipFill>
        <p:spPr>
          <a:xfrm xmlns:a="http://schemas.openxmlformats.org/drawingml/2006/main">
            <a:off x="1524000" y="169545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8957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F90E21-DBD3-40F8-A980-D12524A7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E80F08C-3D11-4187-8DBE-13C3D65F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AI 算子形成新的外部执行链路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f43fa5c9f41f3"/>
          <a:stretch xmlns:a="http://schemas.openxmlformats.org/drawingml/2006/main"/>
        </p:blipFill>
        <p:spPr>
          <a:xfrm xmlns:a="http://schemas.openxmlformats.org/drawingml/2006/main">
            <a:off x="1524000" y="169545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8957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F90E21-DBD3-40F8-A980-D12524A7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E80F08C-3D11-4187-8DBE-13C3D65F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代表工作推进了相邻层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11897f9d24a68"/>
          <a:stretch xmlns:a="http://schemas.openxmlformats.org/drawingml/2006/main"/>
        </p:blipFill>
        <p:spPr>
          <a:xfrm xmlns:a="http://schemas.openxmlformats.org/drawingml/2006/main">
            <a:off x="1524000" y="169545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8957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AI Data Infra 仍缺少上游执行闭环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数据库知道 Job、SLO 与结果语义；模型服务知道 running、waiting、KV 与完成节奏。中间层需要统一 work、state、control 与 cost 接口。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本课题研究 Database 与 Model Service 之间的 AI Data Execution Layer。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6A5FC-674E-49C1-8CD7-09DDE2B9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5ff03ef2844d30"/>
          <a:stretch xmlns:a="http://schemas.openxmlformats.org/drawingml/2006/main"/>
        </p:blipFill>
        <p:spPr>
          <a:xfrm xmlns:a="http://schemas.openxmlformats.org/drawingml/2006/main">
            <a:off x="2507051" y="1700530"/>
            <a:ext cx="6534009" cy="36753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同一任务会落入不同服务状态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左：统一 source/sink 的产品 database-E2E；右：同一 ShareGPT manifest 的官方 Chat graph。两条轨分别回答正确性边界与服务供给状态。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现有路径的关键差异不仅是 JCT，还包括欠供给、有效供给与过量排队。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2e237de9940c4"/>
          <a:stretch xmlns:a="http://schemas.openxmlformats.org/drawingml/2006/main"/>
        </p:blipFill>
        <p:spPr>
          <a:xfrm xmlns:a="http://schemas.openxmlformats.org/drawingml/2006/main">
            <a:off x="1991995" y="2052341"/>
            <a:ext cx="7564120" cy="2971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记录数和静态上限都不是运行状态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同行数的 token work 可相差 14.3×；相同 W65K 在不同 offered load 下呈现不同 running/MFU；容量扫描存在最小近饱和区。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需要可比较的 work、新鲜状态快照和保持总上限不变的份额控制。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7c344f4da46ab"/>
          <a:stretch xmlns:a="http://schemas.openxmlformats.org/drawingml/2006/main"/>
        </p:blipFill>
        <p:spPr>
          <a:xfrm xmlns:a="http://schemas.openxmlformats.org/drawingml/2006/main">
            <a:off x="1991995" y="2041115"/>
            <a:ext cx="7564120" cy="299421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图像把 work 扩展为多阶段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CPU prepare、host-to-device transfer 与 model forward 的代价形态明显不同；继续增大 active window 还会带来等待与回退。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跨模态接口应表达 source/prepare/model/result stage，而非单一图片数。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b626be1dd45a0"/>
          <a:stretch xmlns:a="http://schemas.openxmlformats.org/drawingml/2006/main"/>
        </p:blipFill>
        <p:spPr>
          <a:xfrm xmlns:a="http://schemas.openxmlformats.org/drawingml/2006/main">
            <a:off x="1991995" y="2039221"/>
            <a:ext cx="7564120" cy="29979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四 Job 并发同时影响 Short 与 Long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每条原生路径内部比较 four-job JCT / isolated JCT。Short 与三个 Long Job 均受影响，但退化幅度和压力形态不同。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作业到达、活跃、drain 与公平需要模型服务上游的任务级管理。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a045d5f184dfd"/>
          <a:stretch xmlns:a="http://schemas.openxmlformats.org/drawingml/2006/main"/>
        </p:blipFill>
        <p:spPr>
          <a:xfrm xmlns:a="http://schemas.openxmlformats.org/drawingml/2006/main">
            <a:off x="1991995" y="1751766"/>
            <a:ext cx="7564120" cy="35729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F90E21-DBD3-40F8-A980-D12524A7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E80F08C-3D11-4187-8DBE-13C3D65F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实验现象导出四项设计要求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D12081-7C09-419D-A564-77E2962A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097280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Work 表征 → staged WorkDescriptor；运行状态 → fresh stage/service/job snapshot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多 Job 干扰 → 额度借用、完成回收与公平保护；配置风险 → profile + residual，以 ranking/regret 验收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04FBB0-0AB1-43E6-A0FA-BF62FAFE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09521BE-906E-4D9D-A1C2-D6735935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2F6FEB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Work Unit、状态感知、动态调度与代价估计具有同等证据要求。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65189579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AI 数据执行层形成反馈闭环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Organizer 决定一个 work unit 包含什么；Scheduler 决定何时、向哪里、以多少 active work 提交；代价估计同时服务两者。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研究发生在数据库与模型服务之间，不修改模型内部 batching。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6A5FC-674E-49C1-8CD7-09DDE2B9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768594279449e"/>
          <a:stretch xmlns:a="http://schemas.openxmlformats.org/drawingml/2006/main"/>
        </p:blipFill>
        <p:spPr>
          <a:xfrm xmlns:a="http://schemas.openxmlformats.org/drawingml/2006/main">
            <a:off x="2507051" y="1700530"/>
            <a:ext cx="6534009" cy="36753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WorkDescriptor 连接组织与调度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文本表达 prompt/output token 与 prefix locality；图像表达 encoded bytes、prepare、tensor 与 model work。共同字段包括 deadline、uncertainty 与 calibration signature。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字段不是清单：每个字段都要对应组织、路由、准入或公平决策。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ED548-754F-4DED-93B1-96841B4A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9e2810605e44e8"/>
          <a:stretch xmlns:a="http://schemas.openxmlformats.org/drawingml/2006/main"/>
        </p:blipFill>
        <p:spPr>
          <a:xfrm xmlns:a="http://schemas.openxmlformats.org/drawingml/2006/main">
            <a:off x="2507051" y="1700530"/>
            <a:ext cx="6534009" cy="36753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数据组织没有全局最优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低压力下五种策略近似中性；高压力下重排策略的 cache hit 与吞吐同步下降。颜色对应组织策略，实线保持输入顺序，虚线改变排序或装箱。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balance 与 locality 可联合约束，但实验臂的排序/装箱策略互斥比较。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0232dddde413d"/>
          <a:stretch xmlns:a="http://schemas.openxmlformats.org/drawingml/2006/main"/>
        </p:blipFill>
        <p:spPr>
          <a:xfrm xmlns:a="http://schemas.openxmlformats.org/drawingml/2006/main">
            <a:off x="1991995" y="1852609"/>
            <a:ext cx="7564120" cy="337122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总容量固定，份额随活跃集调整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先离线标定当前配置的稳定总上限；运行时仅在活跃 Job 间借用空闲份额、完成即回收，并以 freshness、SLO debt 与公平 deficit 决定释放顺序。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状态缺失或过期时回退全局 FIFO/DRR；简单策略足够好则不引入复杂控制。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F1471-720F-48AA-928A-3A215188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78205d7874a6a"/>
          <a:stretch xmlns:a="http://schemas.openxmlformats.org/drawingml/2006/main"/>
        </p:blipFill>
        <p:spPr>
          <a:xfrm xmlns:a="http://schemas.openxmlformats.org/drawingml/2006/main">
            <a:off x="2507051" y="1700530"/>
            <a:ext cx="6534009" cy="36753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共享调度存在效率—公平权衡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Project 的 full/quarter 控制先分离额度损失，再比较同上限 static 与 shared。shared 提高组吞吐与 MFU，但各 Job 收益和 Jain fairness 并不总是同向。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动态调度必须同时报告效率、隔离与公平，不能只看总吞吐。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76cdd77044dde"/>
          <a:stretch xmlns:a="http://schemas.openxmlformats.org/drawingml/2006/main"/>
        </p:blipFill>
        <p:spPr>
          <a:xfrm xmlns:a="http://schemas.openxmlformats.org/drawingml/2006/main">
            <a:off x="2053967" y="1700530"/>
            <a:ext cx="7440176" cy="36753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代价估计要评价决策质量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20 个 context 的完整点云展示每个估计器的选择损失；另报告配置 pairwise accuracy、平均与最坏 regret。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逐行 MAE 更低不保证配置选择更好；代价估计以 ranking/regret 验收。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97d6f1afa4c0f"/>
          <a:stretch xmlns:a="http://schemas.openxmlformats.org/drawingml/2006/main"/>
        </p:blipFill>
        <p:spPr>
          <a:xfrm xmlns:a="http://schemas.openxmlformats.org/drawingml/2006/main">
            <a:off x="1991995" y="1815678"/>
            <a:ext cx="7564120" cy="34450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03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图像 baseline 分层解释能力边界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Direct CLIP 是容量参照；Daft Built-in 与 Ray Data 是原生 baseline；Project 是冻结静态方法参考；vLLM pooling 当前 capability gate 未通过。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12K 结构诊断与 120K matched-resource 正式比较必须分开解释。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ca6a183574dc1"/>
          <a:stretch xmlns:a="http://schemas.openxmlformats.org/drawingml/2006/main"/>
        </p:blipFill>
        <p:spPr>
          <a:xfrm xmlns:a="http://schemas.openxmlformats.org/drawingml/2006/main">
            <a:off x="1991995" y="1906996"/>
            <a:ext cx="7564120" cy="32624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03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图像四 Job 重现任务级干扰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Daft Built-in、Ray Data 与 Project 分别按自身 isolated JCT 归一化。Project static/shared 只展示份额改变，不把 observe-only snapshot 写成动态收益。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统一 work/state 接口具有跨模态价值，但阶段字段必须随模态变化。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1b554bc824ec2"/>
          <a:stretch xmlns:a="http://schemas.openxmlformats.org/drawingml/2006/main"/>
        </p:blipFill>
        <p:spPr>
          <a:xfrm xmlns:a="http://schemas.openxmlformats.org/drawingml/2006/main">
            <a:off x="2059552" y="1700530"/>
            <a:ext cx="7429006" cy="36753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03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研究基础支撑后续逐层验证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已有基础覆盖执行闭环、WorkDescriptor、共享 credit 和正式 trace；后续按数据组织、状态与公平调度、代价估计和外部有效性逐层验证。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每一步固定比较合同并保存状态—动作—结果 trace。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85f97c44446eb"/>
          <a:stretch xmlns:a="http://schemas.openxmlformats.org/drawingml/2006/main"/>
        </p:blipFill>
        <p:spPr>
          <a:xfrm xmlns:a="http://schemas.openxmlformats.org/drawingml/2006/main">
            <a:off x="2507051" y="1700530"/>
            <a:ext cx="6534009" cy="36753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3CC47C4-6B93-4280-87F4-1507C309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7636CA5-5415-46B5-A009-553D1CFC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预期贡献：可估计、可感知、可调度的 AI 数据执行方法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C5E2ACA-F899-4CA4-8DD3-D6BBE8E9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097280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研究内容一：面向 AI workload 的分阶段 work-unit 构造与组织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研究内容二：固定总容量下的状态感知提交、路由与多作业协调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共同使能：以配置排序和决策损失验收的轻量代价估计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跨模态验证：文本 AI_COMPLETE 与图像 AI_EMBED/AI_CLASSIFY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3D98E87-56FA-4F0B-87E0-8CA3B965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DB3E26C-FCE1-47E2-823A-BF2DEB82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588C7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最终贡献是 AI-Native Data Infra 中一段可复现、可证伪的上游执行闭环。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71171957"/>
      </p:ext>
    </p:extLst>
  </p:cSld>
</p:sld>
</file>

<file path=ppt/theme/theme1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Lucida Sans"/>
        <a:ea typeface="黑体"/>
        <a:cs typeface=""/>
      </a:majorFont>
      <a:minorFont>
        <a:latin typeface="Berlin Sans FB"/>
        <a:ea typeface="黑体"/>
        <a:cs typeface=""/>
      </a:minorFont>
    </a:fontScheme>
    <a:fmtScheme name="1_自定义设计方案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2026-08-12T06:22:49.4820000Z</dcterms:created>
  <dcterms:modified xsi:type="dcterms:W3CDTF">2026-08-12T06:22:49.4820000Z</dcterms:modified>
</coreProperties>
</file>