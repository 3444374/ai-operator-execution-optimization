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059937fc10e4c1e" /><Relationship Type="http://schemas.openxmlformats.org/officeDocument/2006/relationships/extended-properties" Target="/docProps/app.xml" Id="Rf52c7ee05e7b4bf3" /><Relationship Type="http://schemas.openxmlformats.org/officeDocument/2006/relationships/officeDocument" Target="/ppt/presentation.xml" Id="R2c7147700dc249e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e72d355ea664ac8"/>
    <p:sldMasterId xmlns:r="http://schemas.openxmlformats.org/officeDocument/2006/relationships" id="2147483653" r:id="Rbc1d9ea40f504ba0"/>
  </p:sldMasterIdLst>
  <p:notesMasterIdLst>
    <p:notesMasterId xmlns:r="http://schemas.openxmlformats.org/officeDocument/2006/relationships" r:id="R68bdd16c7ffe49a2"/>
  </p:notesMasterIdLst>
  <p:sldIdLst>
    <p:sldId xmlns:r="http://schemas.openxmlformats.org/officeDocument/2006/relationships" id="256" r:id="R50983ecafcf14dcf"/>
    <p:sldId xmlns:r="http://schemas.openxmlformats.org/officeDocument/2006/relationships" id="257" r:id="Rf7bbe82950ba4979"/>
    <p:sldId xmlns:r="http://schemas.openxmlformats.org/officeDocument/2006/relationships" id="258" r:id="Rabfa3ab8c23943a9"/>
    <p:sldId xmlns:r="http://schemas.openxmlformats.org/officeDocument/2006/relationships" id="259" r:id="R0dfb554c83754406"/>
    <p:sldId xmlns:r="http://schemas.openxmlformats.org/officeDocument/2006/relationships" id="260" r:id="R3549f47f3c2e4b45"/>
    <p:sldId xmlns:r="http://schemas.openxmlformats.org/officeDocument/2006/relationships" id="261" r:id="R733d87e356f94869"/>
    <p:sldId xmlns:r="http://schemas.openxmlformats.org/officeDocument/2006/relationships" id="262" r:id="R2175f2f0888d4941"/>
    <p:sldId xmlns:r="http://schemas.openxmlformats.org/officeDocument/2006/relationships" id="263" r:id="R137804fe6a244005"/>
    <p:sldId xmlns:r="http://schemas.openxmlformats.org/officeDocument/2006/relationships" id="264" r:id="Rb99e2c4ec7414102"/>
    <p:sldId xmlns:r="http://schemas.openxmlformats.org/officeDocument/2006/relationships" id="265" r:id="Rc843d0796df84b2f"/>
    <p:sldId xmlns:r="http://schemas.openxmlformats.org/officeDocument/2006/relationships" id="266" r:id="Rdb59f9e8f1554ebe"/>
    <p:sldId xmlns:r="http://schemas.openxmlformats.org/officeDocument/2006/relationships" id="267" r:id="R68efcb045a4d4b0f"/>
    <p:sldId xmlns:r="http://schemas.openxmlformats.org/officeDocument/2006/relationships" id="268" r:id="R5ef6590c25ef489e"/>
    <p:sldId xmlns:r="http://schemas.openxmlformats.org/officeDocument/2006/relationships" id="269" r:id="R770ea0bc2fa24c79"/>
    <p:sldId xmlns:r="http://schemas.openxmlformats.org/officeDocument/2006/relationships" id="270" r:id="R02628d8754414ea1"/>
    <p:sldId xmlns:r="http://schemas.openxmlformats.org/officeDocument/2006/relationships" id="271" r:id="Rb3954c6feec84ded"/>
    <p:sldId xmlns:r="http://schemas.openxmlformats.org/officeDocument/2006/relationships" id="272" r:id="R31feab7d43d048d4"/>
    <p:sldId xmlns:r="http://schemas.openxmlformats.org/officeDocument/2006/relationships" id="273" r:id="Rf59f2a628e504bed"/>
    <p:sldId xmlns:r="http://schemas.openxmlformats.org/officeDocument/2006/relationships" id="274" r:id="R8986b2644e344ed1"/>
    <p:sldId xmlns:r="http://schemas.openxmlformats.org/officeDocument/2006/relationships" id="275" r:id="R0ab7417974d94b1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68b02917d08461e" /><Relationship Type="http://schemas.openxmlformats.org/officeDocument/2006/relationships/slideMaster" Target="/ppt/slideMasters/slideMaster1.xml" Id="Rce72d355ea664ac8" /><Relationship Type="http://schemas.openxmlformats.org/officeDocument/2006/relationships/slideMaster" Target="/ppt/slideMasters/slideMaster2.xml" Id="Rbc1d9ea40f504ba0" /><Relationship Type="http://schemas.openxmlformats.org/officeDocument/2006/relationships/notesMaster" Target="/ppt/notesMasters/notesMaster1.xml" Id="R68bdd16c7ffe49a2" /><Relationship Type="http://schemas.openxmlformats.org/officeDocument/2006/relationships/presProps" Target="/ppt/presProps.xml" Id="R6b3b71c0e8164d2a" /><Relationship Type="http://schemas.openxmlformats.org/officeDocument/2006/relationships/viewProps" Target="/ppt/viewProps.xml" Id="R1639eaced4674d73" /><Relationship Type="http://schemas.openxmlformats.org/officeDocument/2006/relationships/tableStyles" Target="/ppt/tableStyles.xml" Id="R411a8eead5c84c42" /><Relationship Type="http://schemas.openxmlformats.org/officeDocument/2006/relationships/slide" Target="/ppt/slides/slide1.xml" Id="R50983ecafcf14dcf" /><Relationship Type="http://schemas.openxmlformats.org/officeDocument/2006/relationships/slide" Target="/ppt/slides/slide2.xml" Id="Rf7bbe82950ba4979" /><Relationship Type="http://schemas.openxmlformats.org/officeDocument/2006/relationships/slide" Target="/ppt/slides/slide3.xml" Id="Rabfa3ab8c23943a9" /><Relationship Type="http://schemas.openxmlformats.org/officeDocument/2006/relationships/slide" Target="/ppt/slides/slide4.xml" Id="R0dfb554c83754406" /><Relationship Type="http://schemas.openxmlformats.org/officeDocument/2006/relationships/slide" Target="/ppt/slides/slide5.xml" Id="R3549f47f3c2e4b45" /><Relationship Type="http://schemas.openxmlformats.org/officeDocument/2006/relationships/slide" Target="/ppt/slides/slide6.xml" Id="R733d87e356f94869" /><Relationship Type="http://schemas.openxmlformats.org/officeDocument/2006/relationships/slide" Target="/ppt/slides/slide7.xml" Id="R2175f2f0888d4941" /><Relationship Type="http://schemas.openxmlformats.org/officeDocument/2006/relationships/slide" Target="/ppt/slides/slide8.xml" Id="R137804fe6a244005" /><Relationship Type="http://schemas.openxmlformats.org/officeDocument/2006/relationships/slide" Target="/ppt/slides/slide9.xml" Id="Rb99e2c4ec7414102" /><Relationship Type="http://schemas.openxmlformats.org/officeDocument/2006/relationships/slide" Target="/ppt/slides/slide10.xml" Id="Rc843d0796df84b2f" /><Relationship Type="http://schemas.openxmlformats.org/officeDocument/2006/relationships/slide" Target="/ppt/slides/slide11.xml" Id="Rdb59f9e8f1554ebe" /><Relationship Type="http://schemas.openxmlformats.org/officeDocument/2006/relationships/slide" Target="/ppt/slides/slide12.xml" Id="R68efcb045a4d4b0f" /><Relationship Type="http://schemas.openxmlformats.org/officeDocument/2006/relationships/slide" Target="/ppt/slides/slide13.xml" Id="R5ef6590c25ef489e" /><Relationship Type="http://schemas.openxmlformats.org/officeDocument/2006/relationships/slide" Target="/ppt/slides/slide14.xml" Id="R770ea0bc2fa24c79" /><Relationship Type="http://schemas.openxmlformats.org/officeDocument/2006/relationships/slide" Target="/ppt/slides/slide15.xml" Id="R02628d8754414ea1" /><Relationship Type="http://schemas.openxmlformats.org/officeDocument/2006/relationships/slide" Target="/ppt/slides/slide16.xml" Id="Rb3954c6feec84ded" /><Relationship Type="http://schemas.openxmlformats.org/officeDocument/2006/relationships/slide" Target="/ppt/slides/slide17.xml" Id="R31feab7d43d048d4" /><Relationship Type="http://schemas.openxmlformats.org/officeDocument/2006/relationships/slide" Target="/ppt/slides/slide18.xml" Id="Rf59f2a628e504bed" /><Relationship Type="http://schemas.openxmlformats.org/officeDocument/2006/relationships/slide" Target="/ppt/slides/slide19.xml" Id="R8986b2644e344ed1" /><Relationship Type="http://schemas.openxmlformats.org/officeDocument/2006/relationships/slide" Target="/ppt/slides/slide20.xml" Id="R0ab7417974d94b1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8dadd148391e483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1_自定义设计方案">
  <a:themeElements>
    <a:clrScheme name="1_自定义设计方案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1_自定义设计方案">
      <a:majorFont>
        <a:latin typeface="Lucida Sans"/>
        <a:ea typeface="黑体"/>
        <a:cs typeface=""/>
      </a:majorFont>
      <a:minorFont>
        <a:latin typeface="Berlin Sans FB"/>
        <a:ea typeface="黑体"/>
        <a:cs typeface=""/>
      </a:minorFont>
    </a:fontScheme>
    <a:fmtScheme name="1_自定义设计方案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ae6b25241374d49" /><Relationship Type="http://schemas.openxmlformats.org/officeDocument/2006/relationships/notesMaster" Target="/ppt/notesMasters/notesMaster1.xml" Id="R9c7ee47d935a414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0e1b7c08df347cb" /><Relationship Type="http://schemas.openxmlformats.org/officeDocument/2006/relationships/notesMaster" Target="/ppt/notesMasters/notesMaster1.xml" Id="Rf5ad5592ccce4fa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4fe272e0a75496b" /><Relationship Type="http://schemas.openxmlformats.org/officeDocument/2006/relationships/notesMaster" Target="/ppt/notesMasters/notesMaster1.xml" Id="R11e3dba8f1bd47b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56a9b9e4c9944b4" /><Relationship Type="http://schemas.openxmlformats.org/officeDocument/2006/relationships/notesMaster" Target="/ppt/notesMasters/notesMaster1.xml" Id="Re8870da56b194d8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d63b2554a024b55" /><Relationship Type="http://schemas.openxmlformats.org/officeDocument/2006/relationships/notesMaster" Target="/ppt/notesMasters/notesMaster1.xml" Id="R5277191fdba142d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705875bf13a4896" /><Relationship Type="http://schemas.openxmlformats.org/officeDocument/2006/relationships/notesMaster" Target="/ppt/notesMasters/notesMaster1.xml" Id="R889957f48c5b447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628ba5d2eb34fd1" /><Relationship Type="http://schemas.openxmlformats.org/officeDocument/2006/relationships/notesMaster" Target="/ppt/notesMasters/notesMaster1.xml" Id="Rc226e17aa8924a4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1a29e8e724945cf" /><Relationship Type="http://schemas.openxmlformats.org/officeDocument/2006/relationships/notesMaster" Target="/ppt/notesMasters/notesMaster1.xml" Id="Ra40accc6d26d4bb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4a43ea0bebe40f2" /><Relationship Type="http://schemas.openxmlformats.org/officeDocument/2006/relationships/notesMaster" Target="/ppt/notesMasters/notesMaster1.xml" Id="Raaa359f750e442c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07f798b23f34e70" /><Relationship Type="http://schemas.openxmlformats.org/officeDocument/2006/relationships/notesMaster" Target="/ppt/notesMasters/notesMaster1.xml" Id="Rc04dc581db994d9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52c4b01e6c44d46" /><Relationship Type="http://schemas.openxmlformats.org/officeDocument/2006/relationships/notesMaster" Target="/ppt/notesMasters/notesMaster1.xml" Id="Rcaf3a3710399408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3bbb1aaae9441c9" /><Relationship Type="http://schemas.openxmlformats.org/officeDocument/2006/relationships/notesMaster" Target="/ppt/notesMasters/notesMaster1.xml" Id="R952323e4f2934e2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b5a697969f54433" /><Relationship Type="http://schemas.openxmlformats.org/officeDocument/2006/relationships/notesMaster" Target="/ppt/notesMasters/notesMaster1.xml" Id="Re20cfec5ce4340e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b419f95047541be" /><Relationship Type="http://schemas.openxmlformats.org/officeDocument/2006/relationships/notesMaster" Target="/ppt/notesMasters/notesMaster1.xml" Id="R4be51fd9b2434a0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9d8bb77ac694df1" /><Relationship Type="http://schemas.openxmlformats.org/officeDocument/2006/relationships/notesMaster" Target="/ppt/notesMasters/notesMaster1.xml" Id="R5f40f1559d7d407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47a084752ae4fa5" /><Relationship Type="http://schemas.openxmlformats.org/officeDocument/2006/relationships/notesMaster" Target="/ppt/notesMasters/notesMaster1.xml" Id="R76eaad700c8b4f4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383fddd1c0a4445" /><Relationship Type="http://schemas.openxmlformats.org/officeDocument/2006/relationships/notesMaster" Target="/ppt/notesMasters/notesMaster1.xml" Id="R8f0dee56e7aa4c2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1f9180e94fc345ce" /><Relationship Type="http://schemas.openxmlformats.org/officeDocument/2006/relationships/notesMaster" Target="/ppt/notesMasters/notesMaster1.xml" Id="R37a90f8b26e346f5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759b05a85564e1a" /><Relationship Type="http://schemas.openxmlformats.org/officeDocument/2006/relationships/notesMaster" Target="/ppt/notesMasters/notesMaster1.xml" Id="R4f479f5611fc4cd8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f5c6660b1c2e4e65" /><Relationship Type="http://schemas.openxmlformats.org/officeDocument/2006/relationships/notesMaster" Target="/ppt/notesMasters/notesMaster1.xml" Id="R624c50e1f5bf493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汇报讲稿：数据库正在直接触发生成、嵌入和多模态分析。本课题研究这些数据进入模型服务前，如何被组织、估计和调度。</a:t>
            </a:r>
          </a:p>
          <a:p xmlns:a="http://schemas.openxmlformats.org/drawingml/2006/main">
            <a:pPr>
              <a:buNone/>
              <a:defRPr sz="1100" b="1"/>
            </a:pPr>
            <a:r>
              <a:t/>
            </a:r>
          </a:p>
          <a:p xmlns:a="http://schemas.openxmlformats.org/drawingml/2006/main">
            <a:pPr>
              <a:buNone/>
              <a:defRPr sz="1000" b="0"/>
            </a:pPr>
            <a:r>
              <a:t>答辩提示：数据图只在成立的比较合同内解读；现有 observe-only 或 preliminary 结果不替代后续同上限 A/B。</a:t>
            </a:r>
          </a:p>
          <a:p xmlns:a="http://schemas.openxmlformats.org/drawingml/2006/main">
            <a:pPr>
              <a:buNone/>
              <a:defRPr sz="1100" b="0"/>
            </a:pPr>
            <a:r>
              <a:t/>
            </a:r>
          </a:p>
          <a:p xmlns:a="http://schemas.openxmlformats.org/drawingml/2006/main">
            <a:pPr>
              <a:buNone/>
              <a:defRPr sz="1100" b="1"/>
            </a:pPr>
            <a:r>
              <a:t>[Sources]</a:t>
            </a:r>
          </a:p>
          <a:p xmlns:a="http://schemas.openxmlformats.org/drawingml/2006/main">
            <a:pPr>
              <a:buNone/>
              <a:defRPr sz="1000" b="0"/>
            </a:pPr>
            <a:r>
              <a:t>- opening/report/opening_report.md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汇报讲稿：本页回答“AI 算子已经进入数据库工作流”。先陈述现象或设计，再用底部结论收束并转入下一页。</a:t>
            </a:r>
          </a:p>
          <a:p xmlns:a="http://schemas.openxmlformats.org/drawingml/2006/main">
            <a:pPr>
              <a:buNone/>
              <a:defRPr sz="1100" b="1"/>
            </a:pPr>
            <a:r>
              <a:t/>
            </a:r>
          </a:p>
          <a:p xmlns:a="http://schemas.openxmlformats.org/drawingml/2006/main">
            <a:pPr>
              <a:buNone/>
              <a:defRPr sz="1000" b="0"/>
            </a:pPr>
            <a:r>
              <a:t>答辩提示：数据图只在成立的比较合同内解读；现有 observe-only 或 preliminary 结果不替代后续同上限 A/B。</a:t>
            </a:r>
          </a:p>
          <a:p xmlns:a="http://schemas.openxmlformats.org/drawingml/2006/main">
            <a:pPr>
              <a:buNone/>
              <a:defRPr sz="1100" b="0"/>
            </a:pPr>
            <a:r>
              <a:t/>
            </a:r>
          </a:p>
          <a:p xmlns:a="http://schemas.openxmlformats.org/drawingml/2006/main">
            <a:pPr>
              <a:buNone/>
              <a:defRPr sz="1100" b="1"/>
            </a:pPr>
            <a:r>
              <a:t>[Sources]</a:t>
            </a:r>
          </a:p>
          <a:p xmlns:a="http://schemas.openxmlformats.org/drawingml/2006/main">
            <a:pPr>
              <a:buNone/>
              <a:defRPr sz="1000" b="0"/>
            </a:pPr>
            <a:r>
              <a:t>- https://docs.snowflake.com/en/user-guide/snowflake-cortex/aisql</a:t>
            </a:r>
          </a:p>
          <a:p xmlns:a="http://schemas.openxmlformats.org/drawingml/2006/main">
            <a:pPr>
              <a:buNone/>
              <a:defRPr sz="1000" b="0"/>
            </a:pPr>
            <a:r>
              <a:t>- https://cloud.google.com/bigquery/docs/generate-text</a:t>
            </a:r>
          </a:p>
          <a:p xmlns:a="http://schemas.openxmlformats.org/drawingml/2006/main">
            <a:pPr>
              <a:buNone/>
              <a:defRPr sz="1000" b="0"/>
            </a:pPr>
            <a:r>
              <a:t>- https://docs.oracle.com/en/database/oracle/oracle-database/23/vecse/vector_embedding.html</a:t>
            </a:r>
          </a:p>
          <a:p xmlns:a="http://schemas.openxmlformats.org/drawingml/2006/main">
            <a:pPr>
              <a:buNone/>
              <a:defRPr sz="1000" b="0"/>
            </a:pPr>
            <a:r>
              <a:t>- https://github.com/timescale/pgai</a:t>
            </a:r>
          </a:p>
          <a:p xmlns:a="http://schemas.openxmlformats.org/drawingml/2006/main">
            <a:pPr>
              <a:buNone/>
              <a:defRPr sz="1000" b="0"/>
            </a:pPr>
            <a:r>
              <a:t>- https://github.com/pgvector/pgvector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汇报讲稿：本页回答“AI 算子形成新的外部执行链路”。先陈述现象或设计，再用底部结论收束并转入下一页。</a:t>
            </a:r>
          </a:p>
          <a:p xmlns:a="http://schemas.openxmlformats.org/drawingml/2006/main">
            <a:pPr>
              <a:buNone/>
              <a:defRPr sz="1100" b="1"/>
            </a:pPr>
            <a:r>
              <a:t/>
            </a:r>
          </a:p>
          <a:p xmlns:a="http://schemas.openxmlformats.org/drawingml/2006/main">
            <a:pPr>
              <a:buNone/>
              <a:defRPr sz="1000" b="0"/>
            </a:pPr>
            <a:r>
              <a:t>答辩提示：数据图只在成立的比较合同内解读；现有 observe-only 或 preliminary 结果不替代后续同上限 A/B。</a:t>
            </a:r>
          </a:p>
          <a:p xmlns:a="http://schemas.openxmlformats.org/drawingml/2006/main">
            <a:pPr>
              <a:buNone/>
              <a:defRPr sz="1100" b="0"/>
            </a:pPr>
            <a:r>
              <a:t/>
            </a:r>
          </a:p>
          <a:p xmlns:a="http://schemas.openxmlformats.org/drawingml/2006/main">
            <a:pPr>
              <a:buNone/>
              <a:defRPr sz="1100" b="1"/>
            </a:pPr>
            <a:r>
              <a:t>[Sources]</a:t>
            </a:r>
          </a:p>
          <a:p xmlns:a="http://schemas.openxmlformats.org/drawingml/2006/main">
            <a:pPr>
              <a:buNone/>
              <a:defRPr sz="1000" b="0"/>
            </a:pPr>
            <a:r>
              <a:t>- opening/report/opening_report.md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汇报讲稿：本页回答“代表工作推进了相邻层”。先陈述现象或设计，再用底部结论收束并转入下一页。</a:t>
            </a:r>
          </a:p>
          <a:p xmlns:a="http://schemas.openxmlformats.org/drawingml/2006/main">
            <a:pPr>
              <a:buNone/>
              <a:defRPr sz="1100" b="1"/>
            </a:pPr>
            <a:r>
              <a:t/>
            </a:r>
          </a:p>
          <a:p xmlns:a="http://schemas.openxmlformats.org/drawingml/2006/main">
            <a:pPr>
              <a:buNone/>
              <a:defRPr sz="1000" b="0"/>
            </a:pPr>
            <a:r>
              <a:t>答辩提示：数据图只在成立的比较合同内解读；现有 observe-only 或 preliminary 结果不替代后续同上限 A/B。</a:t>
            </a:r>
          </a:p>
          <a:p xmlns:a="http://schemas.openxmlformats.org/drawingml/2006/main">
            <a:pPr>
              <a:buNone/>
              <a:defRPr sz="1100" b="0"/>
            </a:pPr>
            <a:r>
              <a:t/>
            </a:r>
          </a:p>
          <a:p xmlns:a="http://schemas.openxmlformats.org/drawingml/2006/main">
            <a:pPr>
              <a:buNone/>
              <a:defRPr sz="1100" b="1"/>
            </a:pPr>
            <a:r>
              <a:t>[Sources]</a:t>
            </a:r>
          </a:p>
          <a:p xmlns:a="http://schemas.openxmlformats.org/drawingml/2006/main">
            <a:pPr>
              <a:buNone/>
              <a:defRPr sz="1000" b="0"/>
            </a:pPr>
            <a:r>
              <a:t>- opening/literature/reading_list.md</a:t>
            </a:r>
          </a:p>
          <a:p xmlns:a="http://schemas.openxmlformats.org/drawingml/2006/main">
            <a:pPr>
              <a:buNone/>
              <a:defRPr sz="1000" b="0"/>
            </a:pPr>
            <a:r>
              <a:t>- opening/report/opening_report.md#2-国内外研究现状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汇报讲稿：本页回答“AI Data Infra 仍缺少上游执行闭环”。先陈述现象或设计，再用底部结论收束并转入下一页。</a:t>
            </a:r>
          </a:p>
          <a:p xmlns:a="http://schemas.openxmlformats.org/drawingml/2006/main">
            <a:pPr>
              <a:buNone/>
              <a:defRPr sz="1100" b="1"/>
            </a:pPr>
            <a:r>
              <a:t/>
            </a:r>
          </a:p>
          <a:p xmlns:a="http://schemas.openxmlformats.org/drawingml/2006/main">
            <a:pPr>
              <a:buNone/>
              <a:defRPr sz="1000" b="0"/>
            </a:pPr>
            <a:r>
              <a:t>答辩提示：数据图只在成立的比较合同内解读；现有 observe-only 或 preliminary 结果不替代后续同上限 A/B。</a:t>
            </a:r>
          </a:p>
          <a:p xmlns:a="http://schemas.openxmlformats.org/drawingml/2006/main">
            <a:pPr>
              <a:buNone/>
              <a:defRPr sz="1100" b="0"/>
            </a:pPr>
            <a:r>
              <a:t/>
            </a:r>
          </a:p>
          <a:p xmlns:a="http://schemas.openxmlformats.org/drawingml/2006/main">
            <a:pPr>
              <a:buNone/>
              <a:defRPr sz="1100" b="1"/>
            </a:pPr>
            <a:r>
              <a:t>[Sources]</a:t>
            </a:r>
          </a:p>
          <a:p xmlns:a="http://schemas.openxmlformats.org/drawingml/2006/main">
            <a:pPr>
              <a:buNone/>
              <a:defRPr sz="1000" b="0"/>
            </a:pPr>
            <a:r>
              <a:t>- figures/opening_figure_set/main_png/P05_研究空白_AI数据执行层.png</a:t>
            </a:r>
          </a:p>
          <a:p xmlns:a="http://schemas.openxmlformats.org/drawingml/2006/main">
            <a:pPr>
              <a:buNone/>
              <a:defRPr sz="1000" b="0"/>
            </a:pPr>
            <a:r>
              <a:t>- opening/claim_matrix.md#1-冻结题目与系统抽象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汇报讲稿：先看左侧：统一数据库端到端合同下，三条静态路径接近，说明静态基线很强。再看右侧：同一 Chat 任务却落入过量排队或欠供给。</a:t>
            </a:r>
          </a:p>
          <a:p xmlns:a="http://schemas.openxmlformats.org/drawingml/2006/main">
            <a:pPr>
              <a:buNone/>
              <a:defRPr sz="1100" b="1"/>
            </a:pPr>
            <a:r>
              <a:t/>
            </a:r>
          </a:p>
          <a:p xmlns:a="http://schemas.openxmlformats.org/drawingml/2006/main">
            <a:pPr>
              <a:buNone/>
              <a:defRPr sz="1000" b="0"/>
            </a:pPr>
            <a:r>
              <a:t>答辩提示：数据图只在成立的比较合同内解读；现有 observe-only 或 preliminary 结果不替代后续同上限 A/B。</a:t>
            </a:r>
          </a:p>
          <a:p xmlns:a="http://schemas.openxmlformats.org/drawingml/2006/main">
            <a:pPr>
              <a:buNone/>
              <a:defRPr sz="1100" b="0"/>
            </a:pPr>
            <a:r>
              <a:t/>
            </a:r>
          </a:p>
          <a:p xmlns:a="http://schemas.openxmlformats.org/drawingml/2006/main">
            <a:pPr>
              <a:buNone/>
              <a:defRPr sz="1100" b="1"/>
            </a:pPr>
            <a:r>
              <a:t>[Sources]</a:t>
            </a:r>
          </a:p>
          <a:p xmlns:a="http://schemas.openxmlformats.org/drawingml/2006/main">
            <a:pPr>
              <a:buNone/>
              <a:defRPr sz="1000" b="0"/>
            </a:pPr>
            <a:r>
              <a:t>- experiments/results/opening_database_e2e_text_refeed_20260808/README.md</a:t>
            </a:r>
          </a:p>
          <a:p xmlns:a="http://schemas.openxmlformats.org/drawingml/2006/main">
            <a:pPr>
              <a:buNone/>
              <a:defRPr sz="1000" b="0"/>
            </a:pPr>
            <a:r>
              <a:t>- experiments/results/opening_text_native_single_job_formal_20260808/README.md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汇报讲稿：这一页按 work、state、capacity 三层讲。行数隐藏工作量，配置上限不是运行状态，继续增压也不等于有效供给。</a:t>
            </a:r>
          </a:p>
          <a:p xmlns:a="http://schemas.openxmlformats.org/drawingml/2006/main">
            <a:pPr>
              <a:buNone/>
              <a:defRPr sz="1100" b="1"/>
            </a:pPr>
            <a:r>
              <a:t/>
            </a:r>
          </a:p>
          <a:p xmlns:a="http://schemas.openxmlformats.org/drawingml/2006/main">
            <a:pPr>
              <a:buNone/>
              <a:defRPr sz="1000" b="0"/>
            </a:pPr>
            <a:r>
              <a:t>答辩提示：数据图只在成立的比较合同内解读；现有 observe-only 或 preliminary 结果不替代后续同上限 A/B。</a:t>
            </a:r>
          </a:p>
          <a:p xmlns:a="http://schemas.openxmlformats.org/drawingml/2006/main">
            <a:pPr>
              <a:buNone/>
              <a:defRPr sz="1100" b="0"/>
            </a:pPr>
            <a:r>
              <a:t/>
            </a:r>
          </a:p>
          <a:p xmlns:a="http://schemas.openxmlformats.org/drawingml/2006/main">
            <a:pPr>
              <a:buNone/>
              <a:defRPr sz="1100" b="1"/>
            </a:pPr>
            <a:r>
              <a:t>[Sources]</a:t>
            </a:r>
          </a:p>
          <a:p xmlns:a="http://schemas.openxmlformats.org/drawingml/2006/main">
            <a:pPr>
              <a:buNone/>
              <a:defRPr sz="1000" b="0"/>
            </a:pPr>
            <a:r>
              <a:t>- experiments/results/local_vllm_qwen15b_baseline/sharegpt_burstgpt_token_budget_vs_fixed_timeout300_20260719.csv</a:t>
            </a:r>
          </a:p>
          <a:p xmlns:a="http://schemas.openxmlformats.org/drawingml/2006/main">
            <a:pPr>
              <a:buNone/>
              <a:defRPr sz="1000" b="0"/>
            </a:pPr>
            <a:r>
              <a:t>- experiments/results/dual_gpu_slo_ewma_flush_formal_20260729/README.md</a:t>
            </a:r>
          </a:p>
          <a:p xmlns:a="http://schemas.openxmlformats.org/drawingml/2006/main">
            <a:pPr>
              <a:buNone/>
              <a:defRPr sz="1000" b="0"/>
            </a:pPr>
            <a:r>
              <a:t>- experiments/results/dual_gpu_active_work_saturation_20260729/README.md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汇报讲稿：本页回答“图像把 work 扩展为多阶段”。先陈述现象或设计，再用底部结论收束并转入下一页。</a:t>
            </a:r>
          </a:p>
          <a:p xmlns:a="http://schemas.openxmlformats.org/drawingml/2006/main">
            <a:pPr>
              <a:buNone/>
              <a:defRPr sz="1100" b="1"/>
            </a:pPr>
            <a:r>
              <a:t/>
            </a:r>
          </a:p>
          <a:p xmlns:a="http://schemas.openxmlformats.org/drawingml/2006/main">
            <a:pPr>
              <a:buNone/>
              <a:defRPr sz="1000" b="0"/>
            </a:pPr>
            <a:r>
              <a:t>答辩提示：数据图只在成立的比较合同内解读；现有 observe-only 或 preliminary 结果不替代后续同上限 A/B。</a:t>
            </a:r>
          </a:p>
          <a:p xmlns:a="http://schemas.openxmlformats.org/drawingml/2006/main">
            <a:pPr>
              <a:buNone/>
              <a:defRPr sz="1100" b="0"/>
            </a:pPr>
            <a:r>
              <a:t/>
            </a:r>
          </a:p>
          <a:p xmlns:a="http://schemas.openxmlformats.org/drawingml/2006/main">
            <a:pPr>
              <a:buNone/>
              <a:defRPr sz="1100" b="1"/>
            </a:pPr>
            <a:r>
              <a:t>[Sources]</a:t>
            </a:r>
          </a:p>
          <a:p xmlns:a="http://schemas.openxmlformats.org/drawingml/2006/main">
            <a:pPr>
              <a:buNone/>
              <a:defRPr sz="1000" b="0"/>
            </a:pPr>
            <a:r>
              <a:t>- motivation/results/gpu/image_clip_preprocess_variants_20260801/README.md</a:t>
            </a:r>
          </a:p>
          <a:p xmlns:a="http://schemas.openxmlformats.org/drawingml/2006/main">
            <a:pPr>
              <a:buNone/>
              <a:defRPr sz="1000" b="0"/>
            </a:pPr>
            <a:r>
              <a:t>- motivation/results/gpu/image_clip_transfer_ceiling_20260803/README.md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汇报讲稿：本页回答“四 Job 并发同时影响 Short 与 Long”。先陈述现象或设计，再用底部结论收束并转入下一页。</a:t>
            </a:r>
          </a:p>
          <a:p xmlns:a="http://schemas.openxmlformats.org/drawingml/2006/main">
            <a:pPr>
              <a:buNone/>
              <a:defRPr sz="1100" b="1"/>
            </a:pPr>
            <a:r>
              <a:t/>
            </a:r>
          </a:p>
          <a:p xmlns:a="http://schemas.openxmlformats.org/drawingml/2006/main">
            <a:pPr>
              <a:buNone/>
              <a:defRPr sz="1000" b="0"/>
            </a:pPr>
            <a:r>
              <a:t>答辩提示：数据图只在成立的比较合同内解读；现有 observe-only 或 preliminary 结果不替代后续同上限 A/B。</a:t>
            </a:r>
          </a:p>
          <a:p xmlns:a="http://schemas.openxmlformats.org/drawingml/2006/main">
            <a:pPr>
              <a:buNone/>
              <a:defRPr sz="1100" b="0"/>
            </a:pPr>
            <a:r>
              <a:t/>
            </a:r>
          </a:p>
          <a:p xmlns:a="http://schemas.openxmlformats.org/drawingml/2006/main">
            <a:pPr>
              <a:buNone/>
              <a:defRPr sz="1100" b="1"/>
            </a:pPr>
            <a:r>
              <a:t>[Sources]</a:t>
            </a:r>
          </a:p>
          <a:p xmlns:a="http://schemas.openxmlformats.org/drawingml/2006/main">
            <a:pPr>
              <a:buNone/>
              <a:defRPr sz="1000" b="0"/>
            </a:pPr>
            <a:r>
              <a:t>- experiments/results/opening_fourjob_interference_20260809/README.md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汇报讲稿：四项设计要求权重相同；它们在系统结构上仍归入两项研究内容，代价估计是共同输入。</a:t>
            </a:r>
          </a:p>
          <a:p xmlns:a="http://schemas.openxmlformats.org/drawingml/2006/main">
            <a:pPr>
              <a:buNone/>
              <a:defRPr sz="1100" b="1"/>
            </a:pPr>
            <a:r>
              <a:t/>
            </a:r>
          </a:p>
          <a:p xmlns:a="http://schemas.openxmlformats.org/drawingml/2006/main">
            <a:pPr>
              <a:buNone/>
              <a:defRPr sz="1000" b="0"/>
            </a:pPr>
            <a:r>
              <a:t>答辩提示：数据图只在成立的比较合同内解读；现有 observe-only 或 preliminary 结果不替代后续同上限 A/B。</a:t>
            </a:r>
          </a:p>
          <a:p xmlns:a="http://schemas.openxmlformats.org/drawingml/2006/main">
            <a:pPr>
              <a:buNone/>
              <a:defRPr sz="1100" b="0"/>
            </a:pPr>
            <a:r>
              <a:t/>
            </a:r>
          </a:p>
          <a:p xmlns:a="http://schemas.openxmlformats.org/drawingml/2006/main">
            <a:pPr>
              <a:buNone/>
              <a:defRPr sz="1100" b="1"/>
            </a:pPr>
            <a:r>
              <a:t>[Sources]</a:t>
            </a:r>
          </a:p>
          <a:p xmlns:a="http://schemas.openxmlformats.org/drawingml/2006/main">
            <a:pPr>
              <a:buNone/>
              <a:defRPr sz="1000" b="0"/>
            </a:pPr>
            <a:r>
              <a:t>- opening/report/opening_report.md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汇报讲稿：本页回答“AI 数据执行层形成反馈闭环”。先陈述现象或设计，再用底部结论收束并转入下一页。</a:t>
            </a:r>
          </a:p>
          <a:p xmlns:a="http://schemas.openxmlformats.org/drawingml/2006/main">
            <a:pPr>
              <a:buNone/>
              <a:defRPr sz="1100" b="1"/>
            </a:pPr>
            <a:r>
              <a:t/>
            </a:r>
          </a:p>
          <a:p xmlns:a="http://schemas.openxmlformats.org/drawingml/2006/main">
            <a:pPr>
              <a:buNone/>
              <a:defRPr sz="1000" b="0"/>
            </a:pPr>
            <a:r>
              <a:t>答辩提示：数据图只在成立的比较合同内解读；现有 observe-only 或 preliminary 结果不替代后续同上限 A/B。</a:t>
            </a:r>
          </a:p>
          <a:p xmlns:a="http://schemas.openxmlformats.org/drawingml/2006/main">
            <a:pPr>
              <a:buNone/>
              <a:defRPr sz="1100" b="0"/>
            </a:pPr>
            <a:r>
              <a:t/>
            </a:r>
          </a:p>
          <a:p xmlns:a="http://schemas.openxmlformats.org/drawingml/2006/main">
            <a:pPr>
              <a:buNone/>
              <a:defRPr sz="1100" b="1"/>
            </a:pPr>
            <a:r>
              <a:t>[Sources]</a:t>
            </a:r>
          </a:p>
          <a:p xmlns:a="http://schemas.openxmlformats.org/drawingml/2006/main">
            <a:pPr>
              <a:buNone/>
              <a:defRPr sz="1000" b="0"/>
            </a:pPr>
            <a:r>
              <a:t>- figures/opening_figure_set/main_png/P11_系统架构_数据组织与状态调度闭环.png</a:t>
            </a:r>
          </a:p>
          <a:p xmlns:a="http://schemas.openxmlformats.org/drawingml/2006/main">
            <a:pPr>
              <a:buNone/>
              <a:defRPr sz="1000" b="0"/>
            </a:pPr>
            <a:r>
              <a:t>- opening/report/opening_report.md#4-研究内容与技术路线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汇报讲稿：本页回答“WorkDescriptor 连接组织与调度”。先陈述现象或设计，再用底部结论收束并转入下一页。</a:t>
            </a:r>
          </a:p>
          <a:p xmlns:a="http://schemas.openxmlformats.org/drawingml/2006/main">
            <a:pPr>
              <a:buNone/>
              <a:defRPr sz="1100" b="1"/>
            </a:pPr>
            <a:r>
              <a:t/>
            </a:r>
          </a:p>
          <a:p xmlns:a="http://schemas.openxmlformats.org/drawingml/2006/main">
            <a:pPr>
              <a:buNone/>
              <a:defRPr sz="1000" b="0"/>
            </a:pPr>
            <a:r>
              <a:t>答辩提示：数据图只在成立的比较合同内解读；现有 observe-only 或 preliminary 结果不替代后续同上限 A/B。</a:t>
            </a:r>
          </a:p>
          <a:p xmlns:a="http://schemas.openxmlformats.org/drawingml/2006/main">
            <a:pPr>
              <a:buNone/>
              <a:defRPr sz="1100" b="0"/>
            </a:pPr>
            <a:r>
              <a:t/>
            </a:r>
          </a:p>
          <a:p xmlns:a="http://schemas.openxmlformats.org/drawingml/2006/main">
            <a:pPr>
              <a:buNone/>
              <a:defRPr sz="1100" b="1"/>
            </a:pPr>
            <a:r>
              <a:t>[Sources]</a:t>
            </a:r>
          </a:p>
          <a:p xmlns:a="http://schemas.openxmlformats.org/drawingml/2006/main">
            <a:pPr>
              <a:buNone/>
              <a:defRPr sz="1000" b="0"/>
            </a:pPr>
            <a:r>
              <a:t>- figures/opening_figure_set/main_png/P12_研究内容一_WorkUnit与数据组织.png</a:t>
            </a:r>
          </a:p>
          <a:p xmlns:a="http://schemas.openxmlformats.org/drawingml/2006/main">
            <a:pPr>
              <a:buNone/>
              <a:defRPr sz="1000" b="0"/>
            </a:pPr>
            <a:r>
              <a:t>- code/src/planning/work.py</a:t>
            </a:r>
          </a:p>
          <a:p xmlns:a="http://schemas.openxmlformats.org/drawingml/2006/main">
            <a:pPr>
              <a:buNone/>
              <a:defRPr sz="1000" b="0"/>
            </a:pPr>
            <a:r>
              <a:t>- code/src/modalities/image/contracts.py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汇报讲稿：本页回答“数据组织没有全局最优”。先陈述现象或设计，再用底部结论收束并转入下一页。</a:t>
            </a:r>
          </a:p>
          <a:p xmlns:a="http://schemas.openxmlformats.org/drawingml/2006/main">
            <a:pPr>
              <a:buNone/>
              <a:defRPr sz="1100" b="1"/>
            </a:pPr>
            <a:r>
              <a:t/>
            </a:r>
          </a:p>
          <a:p xmlns:a="http://schemas.openxmlformats.org/drawingml/2006/main">
            <a:pPr>
              <a:buNone/>
              <a:defRPr sz="1000" b="0"/>
            </a:pPr>
            <a:r>
              <a:t>答辩提示：数据图只在成立的比较合同内解读；现有 observe-only 或 preliminary 结果不替代后续同上限 A/B。</a:t>
            </a:r>
          </a:p>
          <a:p xmlns:a="http://schemas.openxmlformats.org/drawingml/2006/main">
            <a:pPr>
              <a:buNone/>
              <a:defRPr sz="1100" b="0"/>
            </a:pPr>
            <a:r>
              <a:t/>
            </a:r>
          </a:p>
          <a:p xmlns:a="http://schemas.openxmlformats.org/drawingml/2006/main">
            <a:pPr>
              <a:buNone/>
              <a:defRPr sz="1100" b="1"/>
            </a:pPr>
            <a:r>
              <a:t>[Sources]</a:t>
            </a:r>
          </a:p>
          <a:p xmlns:a="http://schemas.openxmlformats.org/drawingml/2006/main">
            <a:pPr>
              <a:buNone/>
              <a:defRPr sz="1000" b="0"/>
            </a:pPr>
            <a:r>
              <a:t>- experiments/results/rc1_data_organization/README.md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汇报讲稿：本页回答“总容量固定，份额随活跃集调整”。先陈述现象或设计，再用底部结论收束并转入下一页。</a:t>
            </a:r>
          </a:p>
          <a:p xmlns:a="http://schemas.openxmlformats.org/drawingml/2006/main">
            <a:pPr>
              <a:buNone/>
              <a:defRPr sz="1100" b="1"/>
            </a:pPr>
            <a:r>
              <a:t/>
            </a:r>
          </a:p>
          <a:p xmlns:a="http://schemas.openxmlformats.org/drawingml/2006/main">
            <a:pPr>
              <a:buNone/>
              <a:defRPr sz="1000" b="0"/>
            </a:pPr>
            <a:r>
              <a:t>答辩提示：数据图只在成立的比较合同内解读；现有 observe-only 或 preliminary 结果不替代后续同上限 A/B。</a:t>
            </a:r>
          </a:p>
          <a:p xmlns:a="http://schemas.openxmlformats.org/drawingml/2006/main">
            <a:pPr>
              <a:buNone/>
              <a:defRPr sz="1100" b="0"/>
            </a:pPr>
            <a:r>
              <a:t/>
            </a:r>
          </a:p>
          <a:p xmlns:a="http://schemas.openxmlformats.org/drawingml/2006/main">
            <a:pPr>
              <a:buNone/>
              <a:defRPr sz="1100" b="1"/>
            </a:pPr>
            <a:r>
              <a:t>[Sources]</a:t>
            </a:r>
          </a:p>
          <a:p xmlns:a="http://schemas.openxmlformats.org/drawingml/2006/main">
            <a:pPr>
              <a:buNone/>
              <a:defRPr sz="1000" b="0"/>
            </a:pPr>
            <a:r>
              <a:t>- figures/opening_figure_set/main_png/P14_研究内容二_状态感知提交与多作业调度.png</a:t>
            </a:r>
          </a:p>
          <a:p xmlns:a="http://schemas.openxmlformats.org/drawingml/2006/main">
            <a:pPr>
              <a:buNone/>
              <a:defRPr sz="1000" b="0"/>
            </a:pPr>
            <a:r>
              <a:t>- opening/claim_matrix.md</a:t>
            </a:r>
          </a:p>
          <a:p xmlns:a="http://schemas.openxmlformats.org/drawingml/2006/main">
            <a:pPr>
              <a:buNone/>
              <a:defRPr sz="1000" b="0"/>
            </a:pPr>
            <a:r>
              <a:t>- opening/report/opening_report.md#42-研究内容二容量感知的提交路由与多作业调度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汇报讲稿：先强调 full/quarter 只是控制额度损失，真正方法比较是同上限 static 与 shared。总效率提高不代表每个作业都改善。</a:t>
            </a:r>
          </a:p>
          <a:p xmlns:a="http://schemas.openxmlformats.org/drawingml/2006/main">
            <a:pPr>
              <a:buNone/>
              <a:defRPr sz="1100" b="1"/>
            </a:pPr>
            <a:r>
              <a:t/>
            </a:r>
          </a:p>
          <a:p xmlns:a="http://schemas.openxmlformats.org/drawingml/2006/main">
            <a:pPr>
              <a:buNone/>
              <a:defRPr sz="1000" b="0"/>
            </a:pPr>
            <a:r>
              <a:t>答辩提示：数据图只在成立的比较合同内解读；现有 observe-only 或 preliminary 结果不替代后续同上限 A/B。</a:t>
            </a:r>
          </a:p>
          <a:p xmlns:a="http://schemas.openxmlformats.org/drawingml/2006/main">
            <a:pPr>
              <a:buNone/>
              <a:defRPr sz="1100" b="0"/>
            </a:pPr>
            <a:r>
              <a:t/>
            </a:r>
          </a:p>
          <a:p xmlns:a="http://schemas.openxmlformats.org/drawingml/2006/main">
            <a:pPr>
              <a:buNone/>
              <a:defRPr sz="1100" b="1"/>
            </a:pPr>
            <a:r>
              <a:t>[Sources]</a:t>
            </a:r>
          </a:p>
          <a:p xmlns:a="http://schemas.openxmlformats.org/drawingml/2006/main">
            <a:pPr>
              <a:buNone/>
              <a:defRPr sz="1000" b="0"/>
            </a:pPr>
            <a:r>
              <a:t>- experiments/results/opening_fourjob_interference_20260809/README.md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汇报讲稿：左侧回答是否排对配置，右侧展示 20 个场景的损失分布。中位数为零并不代表所有场景安全，因此保留最坏损失门。</a:t>
            </a:r>
          </a:p>
          <a:p xmlns:a="http://schemas.openxmlformats.org/drawingml/2006/main">
            <a:pPr>
              <a:buNone/>
              <a:defRPr sz="1100" b="1"/>
            </a:pPr>
            <a:r>
              <a:t/>
            </a:r>
          </a:p>
          <a:p xmlns:a="http://schemas.openxmlformats.org/drawingml/2006/main">
            <a:pPr>
              <a:buNone/>
              <a:defRPr sz="1000" b="0"/>
            </a:pPr>
            <a:r>
              <a:t>答辩提示：数据图只在成立的比较合同内解读；现有 observe-only 或 preliminary 结果不替代后续同上限 A/B。</a:t>
            </a:r>
          </a:p>
          <a:p xmlns:a="http://schemas.openxmlformats.org/drawingml/2006/main">
            <a:pPr>
              <a:buNone/>
              <a:defRPr sz="1100" b="0"/>
            </a:pPr>
            <a:r>
              <a:t/>
            </a:r>
          </a:p>
          <a:p xmlns:a="http://schemas.openxmlformats.org/drawingml/2006/main">
            <a:pPr>
              <a:buNone/>
              <a:defRPr sz="1100" b="1"/>
            </a:pPr>
            <a:r>
              <a:t>[Sources]</a:t>
            </a:r>
          </a:p>
          <a:p xmlns:a="http://schemas.openxmlformats.org/drawingml/2006/main">
            <a:pPr>
              <a:buNone/>
              <a:defRPr sz="1000" b="0"/>
            </a:pPr>
            <a:r>
              <a:t>- experiments/results/operator_cost_profile_dual4090_formal_v2_cache_on_20260807/README.md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汇报讲稿：本页回答“图像 baseline 分层解释能力边界”。先陈述现象或设计，再用底部结论收束并转入下一页。</a:t>
            </a:r>
          </a:p>
          <a:p xmlns:a="http://schemas.openxmlformats.org/drawingml/2006/main">
            <a:pPr>
              <a:buNone/>
              <a:defRPr sz="1100" b="1"/>
            </a:pPr>
            <a:r>
              <a:t/>
            </a:r>
          </a:p>
          <a:p xmlns:a="http://schemas.openxmlformats.org/drawingml/2006/main">
            <a:pPr>
              <a:buNone/>
              <a:defRPr sz="1000" b="0"/>
            </a:pPr>
            <a:r>
              <a:t>答辩提示：数据图只在成立的比较合同内解读；现有 observe-only 或 preliminary 结果不替代后续同上限 A/B。</a:t>
            </a:r>
          </a:p>
          <a:p xmlns:a="http://schemas.openxmlformats.org/drawingml/2006/main">
            <a:pPr>
              <a:buNone/>
              <a:defRPr sz="1100" b="0"/>
            </a:pPr>
            <a:r>
              <a:t/>
            </a:r>
          </a:p>
          <a:p xmlns:a="http://schemas.openxmlformats.org/drawingml/2006/main">
            <a:pPr>
              <a:buNone/>
              <a:defRPr sz="1100" b="1"/>
            </a:pPr>
            <a:r>
              <a:t>[Sources]</a:t>
            </a:r>
          </a:p>
          <a:p xmlns:a="http://schemas.openxmlformats.org/drawingml/2006/main">
            <a:pPr>
              <a:buNone/>
              <a:defRPr sz="1000" b="0"/>
            </a:pPr>
            <a:r>
              <a:t>- experiments/results/image_ai_embed_operator_formal_20260803/README.md</a:t>
            </a:r>
          </a:p>
          <a:p xmlns:a="http://schemas.openxmlformats.org/drawingml/2006/main">
            <a:pPr>
              <a:buNone/>
              <a:defRPr sz="1000" b="0"/>
            </a:pPr>
            <a:r>
              <a:t>- feasibility/results/vllm_clip_pooling_gate_20260804/README.md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汇报讲稿：本页回答“图像四 Job 重现任务级干扰”。先陈述现象或设计，再用底部结论收束并转入下一页。</a:t>
            </a:r>
          </a:p>
          <a:p xmlns:a="http://schemas.openxmlformats.org/drawingml/2006/main">
            <a:pPr>
              <a:buNone/>
              <a:defRPr sz="1100" b="1"/>
            </a:pPr>
            <a:r>
              <a:t/>
            </a:r>
          </a:p>
          <a:p xmlns:a="http://schemas.openxmlformats.org/drawingml/2006/main">
            <a:pPr>
              <a:buNone/>
              <a:defRPr sz="1000" b="0"/>
            </a:pPr>
            <a:r>
              <a:t>答辩提示：数据图只在成立的比较合同内解读；现有 observe-only 或 preliminary 结果不替代后续同上限 A/B。</a:t>
            </a:r>
          </a:p>
          <a:p xmlns:a="http://schemas.openxmlformats.org/drawingml/2006/main">
            <a:pPr>
              <a:buNone/>
              <a:defRPr sz="1100" b="0"/>
            </a:pPr>
            <a:r>
              <a:t/>
            </a:r>
          </a:p>
          <a:p xmlns:a="http://schemas.openxmlformats.org/drawingml/2006/main">
            <a:pPr>
              <a:buNone/>
              <a:defRPr sz="1100" b="1"/>
            </a:pPr>
            <a:r>
              <a:t>[Sources]</a:t>
            </a:r>
          </a:p>
          <a:p xmlns:a="http://schemas.openxmlformats.org/drawingml/2006/main">
            <a:pPr>
              <a:buNone/>
              <a:defRPr sz="1000" b="0"/>
            </a:pPr>
            <a:r>
              <a:t>- experiments/results/opening_image_native_fourjob_formal_20260810/README.md</a:t>
            </a:r>
          </a:p>
          <a:p xmlns:a="http://schemas.openxmlformats.org/drawingml/2006/main">
            <a:pPr>
              <a:buNone/>
              <a:defRPr sz="1000" b="0"/>
            </a:pPr>
            <a:r>
              <a:t>- experiments/results/opening_image_project_fourjob_observe_only_formal_20260810/README.md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汇报讲稿：本页回答“研究基础支撑后续逐层验证”。先陈述现象或设计，再用底部结论收束并转入下一页。</a:t>
            </a:r>
          </a:p>
          <a:p xmlns:a="http://schemas.openxmlformats.org/drawingml/2006/main">
            <a:pPr>
              <a:buNone/>
              <a:defRPr sz="1100" b="1"/>
            </a:pPr>
            <a:r>
              <a:t/>
            </a:r>
          </a:p>
          <a:p xmlns:a="http://schemas.openxmlformats.org/drawingml/2006/main">
            <a:pPr>
              <a:buNone/>
              <a:defRPr sz="1000" b="0"/>
            </a:pPr>
            <a:r>
              <a:t>答辩提示：数据图只在成立的比较合同内解读；现有 observe-only 或 preliminary 结果不替代后续同上限 A/B。</a:t>
            </a:r>
          </a:p>
          <a:p xmlns:a="http://schemas.openxmlformats.org/drawingml/2006/main">
            <a:pPr>
              <a:buNone/>
              <a:defRPr sz="1100" b="0"/>
            </a:pPr>
            <a:r>
              <a:t/>
            </a:r>
          </a:p>
          <a:p xmlns:a="http://schemas.openxmlformats.org/drawingml/2006/main">
            <a:pPr>
              <a:buNone/>
              <a:defRPr sz="1100" b="1"/>
            </a:pPr>
            <a:r>
              <a:t>[Sources]</a:t>
            </a:r>
          </a:p>
          <a:p xmlns:a="http://schemas.openxmlformats.org/drawingml/2006/main">
            <a:pPr>
              <a:buNone/>
              <a:defRPr sz="1000" b="0"/>
            </a:pPr>
            <a:r>
              <a:t>- figures/opening_figure_set/main_png/P19_研究基础与后续工作计划.png</a:t>
            </a:r>
          </a:p>
          <a:p xmlns:a="http://schemas.openxmlformats.org/drawingml/2006/main">
            <a:pPr>
              <a:buNone/>
              <a:defRPr sz="1000" b="0"/>
            </a:pPr>
            <a:r>
              <a:t>- opening/opening_defense_outline_20260808.md#第-19-页主实验用同上限强静态-ab-逐层验证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汇报讲稿：回到 AI-Native Data Infra：本课题不覆盖全部平台，而是把数据库任务到模型服务之间这一段做成可估计、可感知、可调度的闭环。</a:t>
            </a:r>
          </a:p>
          <a:p xmlns:a="http://schemas.openxmlformats.org/drawingml/2006/main">
            <a:pPr>
              <a:buNone/>
              <a:defRPr sz="1100" b="1"/>
            </a:pPr>
            <a:r>
              <a:t/>
            </a:r>
          </a:p>
          <a:p xmlns:a="http://schemas.openxmlformats.org/drawingml/2006/main">
            <a:pPr>
              <a:buNone/>
              <a:defRPr sz="1000" b="0"/>
            </a:pPr>
            <a:r>
              <a:t>答辩提示：数据图只在成立的比较合同内解读；现有 observe-only 或 preliminary 结果不替代后续同上限 A/B。</a:t>
            </a:r>
          </a:p>
          <a:p xmlns:a="http://schemas.openxmlformats.org/drawingml/2006/main">
            <a:pPr>
              <a:buNone/>
              <a:defRPr sz="1100" b="0"/>
            </a:pPr>
            <a:r>
              <a:t/>
            </a:r>
          </a:p>
          <a:p xmlns:a="http://schemas.openxmlformats.org/drawingml/2006/main">
            <a:pPr>
              <a:buNone/>
              <a:defRPr sz="1100" b="1"/>
            </a:pPr>
            <a:r>
              <a:t>[Sources]</a:t>
            </a:r>
          </a:p>
          <a:p xmlns:a="http://schemas.openxmlformats.org/drawingml/2006/main">
            <a:pPr>
              <a:buNone/>
              <a:defRPr sz="1000" b="0"/>
            </a:pPr>
            <a:r>
              <a:t>- opening/report/opening_report.md#7-预期成果创新点与风险控制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a862cd92af40ea" /><Relationship Type="http://schemas.openxmlformats.org/officeDocument/2006/relationships/image" Target="/ppt/media/image.jpeg" Id="R928a18544530494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6785286314476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6b017f142649d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95c4b7a2e84130" /><Relationship Type="http://schemas.openxmlformats.org/officeDocument/2006/relationships/image" Target="/ppt/media/image.jpeg" Id="Rd30c18b903f44c2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fdce6b8183ab4a47" /><Relationship Type="http://schemas.openxmlformats.org/officeDocument/2006/relationships/image" Target="/ppt/media/image.jpeg" Id="Red8476cfabed41f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0efdba0362514ff9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e7689941f211426d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88ac3d043f854e36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c18f0682ad0c4a43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e6622cf30c064193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6cff18e137b449c6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173d24921f604415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d51ed80be65242d4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2226b450d3b747bb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8b15e7147af047e4" /></Relationships>
</file>

<file path=ppt/slideLayouts/slideLayout1.xml><?xml version="1.0" encoding="utf-8"?>
<p:sldLayout xmlns:p="http://schemas.openxmlformats.org/presentationml/2006/main" showMasterSp="0" preserve="1" userDrawn="1">
  <p:cSld name="标题幻灯片"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6197" name="图片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8a18544530494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117" y="9525"/>
            <a:ext cx="12192000" cy="6845300"/>
          </a:xfrm>
          <a:prstGeom xmlns:a="http://schemas.openxmlformats.org/drawingml/2006/main" prst="rect">
            <a:avLst/>
          </a:prstGeom>
          <a:ln xmlns:a="http://schemas.openxmlformats.org/drawingml/2006/main" w="9525">
            <a:noFill/>
          </a:ln>
        </p:spPr>
      </p:pic>
      <p:sp>
        <p:nvSpPr>
          <p:cNvPr id="2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1BFCB351-E1E5-4857-9445-3C0938C55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21217" y="3589339"/>
            <a:ext cx="11590867" cy="55563"/>
          </a:xfrm>
          <a:prstGeom xmlns:a="http://schemas.openxmlformats.org/drawingml/2006/main" prst="rect">
            <a:avLst/>
          </a:prstGeom>
          <a:gradFill xmlns:a="http://schemas.openxmlformats.org/drawingml/2006/main" rotWithShape="0">
            <a:gsLst>
              <a:gs pos="0">
                <a:schemeClr val="bg2"/>
              </a:gs>
              <a:gs pos="100000">
                <a:schemeClr val="bg1"/>
              </a:gs>
            </a:gsLst>
            <a:lin ang="0" scaled="1"/>
          </a:gradFill>
          <a:ln xmlns:a="http://schemas.openxmlformats.org/drawingml/2006/main">
            <a:noFill/>
          </a:ln>
        </p:spPr>
        <p:txBody>
          <a:bodyPr xmlns:a="http://schemas.openxmlformats.org/drawingml/2006/main" wrap="none" anchor="ctr"/>
          <a:lstStyle xmlns:a="http://schemas.openxmlformats.org/drawingml/2006/main">
            <a:lvl1pPr>
              <a:lnSpc>
                <a:spcPct val="110000"/>
              </a:lnSpc>
              <a:spcBef>
                <a:spcPct val="20000"/>
              </a:spcBef>
              <a:buClr>
                <a:srgbClr val="3366FF"/>
              </a:buClr>
              <a:buSzPct val="75000"/>
              <a:buFont typeface="Wingdings"/>
              <a:buNone/>
              <a:defRPr sz="2000">
                <a:solidFill>
                  <a:srgbClr val="FF3300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lnSpc>
                <a:spcPct val="110000"/>
              </a:lnSpc>
              <a:spcBef>
                <a:spcPct val="20000"/>
              </a:spcBef>
              <a:buClr>
                <a:srgbClr val="3366FF"/>
              </a:buClr>
              <a:buSzPct val="75000"/>
              <a:buFont typeface="Wingdings"/>
              <a:buNone/>
              <a:defRPr sz="2000">
                <a:solidFill>
                  <a:srgbClr val="FF3300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lnSpc>
                <a:spcPct val="110000"/>
              </a:lnSpc>
              <a:spcBef>
                <a:spcPct val="20000"/>
              </a:spcBef>
              <a:buClr>
                <a:srgbClr val="3366FF"/>
              </a:buClr>
              <a:buSzPct val="75000"/>
              <a:buFont typeface="Wingdings"/>
              <a:buNone/>
              <a:defRPr sz="2000">
                <a:solidFill>
                  <a:srgbClr val="FF3300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lnSpc>
                <a:spcPct val="110000"/>
              </a:lnSpc>
              <a:spcBef>
                <a:spcPct val="20000"/>
              </a:spcBef>
              <a:buClr>
                <a:srgbClr val="3366FF"/>
              </a:buClr>
              <a:buSzPct val="75000"/>
              <a:buFont typeface="Wingdings"/>
              <a:buNone/>
              <a:defRPr sz="2000">
                <a:solidFill>
                  <a:srgbClr val="FF3300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lnSpc>
                <a:spcPct val="110000"/>
              </a:lnSpc>
              <a:spcBef>
                <a:spcPct val="20000"/>
              </a:spcBef>
              <a:buClr>
                <a:srgbClr val="3366FF"/>
              </a:buClr>
              <a:buSzPct val="75000"/>
              <a:buFont typeface="Wingdings"/>
              <a:buNone/>
              <a:defRPr sz="2000">
                <a:solidFill>
                  <a:srgbClr val="FF3300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3366FF"/>
              </a:buClr>
              <a:buSzPct val="75000"/>
              <a:buFont typeface="Wingdings"/>
              <a:buNone/>
              <a:defRPr sz="2000">
                <a:solidFill>
                  <a:srgbClr val="FF3300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3366FF"/>
              </a:buClr>
              <a:buSzPct val="75000"/>
              <a:buFont typeface="Wingdings"/>
              <a:buNone/>
              <a:defRPr sz="2000">
                <a:solidFill>
                  <a:srgbClr val="FF3300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3366FF"/>
              </a:buClr>
              <a:buSzPct val="75000"/>
              <a:buFont typeface="Wingdings"/>
              <a:buNone/>
              <a:defRPr sz="2000">
                <a:solidFill>
                  <a:srgbClr val="FF3300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3366FF"/>
              </a:buClr>
              <a:buSzPct val="75000"/>
              <a:buFont typeface="Wingdings"/>
              <a:buNone/>
              <a:defRPr sz="2000">
                <a:solidFill>
                  <a:srgbClr val="FF33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marR="0" lvl="0" indent="0" algn="l" defTabSz="91440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3366FF"/>
              </a:buClr>
              <a:buSzPct val="75000"/>
              <a:buFont typeface="Wingdings"/>
              <a:buNone/>
            </a:pPr>
            <a:endParaRPr sz="2000" b="0" i="0" u="none" kern="1200" cap="none" spc="0" baseline="0">
              <a:ln>
                <a:noFill/>
              </a:ln>
              <a:solidFill>
                <a:srgbClr val="FF33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6195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25396EB-6B5E-4A6F-B478-35E72A82371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886200"/>
            <a:ext cx="85344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Font typeface="Wingdings"/>
              <a:buNone/>
              <a:defRPr b="1">
                <a:solidFill>
                  <a:srgbClr val="0000CC"/>
                </a:solidFill>
                <a:latin typeface="Times"/>
                <a:ea typeface="Times"/>
                <a:cs typeface="Times"/>
              </a:defRPr>
            </a:lvl1pPr>
          </a:lstStyle>
          <a:p xmlns:a="http://schemas.openxmlformats.org/drawingml/2006/main">
            <a:pPr lvl="0">
              <a:buNone/>
            </a:pPr>
            <a:r>
              <a:t>单击此处编辑母版副标题样式</a:t>
            </a:r>
            <a:endParaRPr/>
          </a:p>
        </p:txBody>
      </p:sp>
      <p:sp>
        <p:nvSpPr>
          <p:cNvPr id="10" name="标题 9">
            <a:extLst xmlns:a="http://schemas.openxmlformats.org/drawingml/2006/main">
              <a:ext uri="{FF2B5EF4-FFF2-40B4-BE49-F238E27FC236}">
                <a16:creationId xmlns:a16="http://schemas.microsoft.com/office/drawing/2014/main" id="{C4896E42-C145-4209-AA23-4AA296C08CB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47700" y="908720"/>
            <a:ext cx="10972800" cy="863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11" name="日期占位符 1">
            <a:extLst xmlns:a="http://schemas.openxmlformats.org/drawingml/2006/main">
              <a:ext uri="{FF2B5EF4-FFF2-40B4-BE49-F238E27FC236}">
                <a16:creationId xmlns:a16="http://schemas.microsoft.com/office/drawing/2014/main" id="{1DC08F10-CCB9-4E21-87D7-D74E373944DF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09600" y="6245225"/>
            <a:ext cx="28448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12" name="页脚占位符 2">
            <a:extLst xmlns:a="http://schemas.openxmlformats.org/drawingml/2006/main">
              <a:ext uri="{FF2B5EF4-FFF2-40B4-BE49-F238E27FC236}">
                <a16:creationId xmlns:a16="http://schemas.microsoft.com/office/drawing/2014/main" id="{3B1F4432-B30A-462E-8D67-33077B3006A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165600" y="6245225"/>
            <a:ext cx="38608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13" name="灯片编号占位符 8">
            <a:extLst xmlns:a="http://schemas.openxmlformats.org/drawingml/2006/main">
              <a:ext uri="{FF2B5EF4-FFF2-40B4-BE49-F238E27FC236}">
                <a16:creationId xmlns:a16="http://schemas.microsoft.com/office/drawing/2014/main" id="{859F0B66-D1AF-4A08-ABE6-E1122E698F5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737600" y="6245225"/>
            <a:ext cx="28448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C1E8F414-7BA4-4BF8-AFEE-BEC3D900BD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 sz="3600" b="0"/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3978FBC1-3301-4187-9427-B5E11983A77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BAC307AF-C397-4291-9A22-DD32417AB46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24558658-CCB1-4F60-98BD-4838F22D897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8025C85B-E07E-4390-A16E-34452EE981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日期占位符 1">
            <a:extLst xmlns:a="http://schemas.openxmlformats.org/drawingml/2006/main">
              <a:ext uri="{FF2B5EF4-FFF2-40B4-BE49-F238E27FC236}">
                <a16:creationId xmlns:a16="http://schemas.microsoft.com/office/drawing/2014/main" id="{543E4D85-0484-407D-8582-968BEDCAC21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3" name="页脚占位符 2">
            <a:extLst xmlns:a="http://schemas.openxmlformats.org/drawingml/2006/main">
              <a:ext uri="{FF2B5EF4-FFF2-40B4-BE49-F238E27FC236}">
                <a16:creationId xmlns:a16="http://schemas.microsoft.com/office/drawing/2014/main" id="{564F251F-C5D2-452F-A52A-D78EA876A8E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4" name="灯片编号占位符 3">
            <a:extLst xmlns:a="http://schemas.openxmlformats.org/drawingml/2006/main">
              <a:ext uri="{FF2B5EF4-FFF2-40B4-BE49-F238E27FC236}">
                <a16:creationId xmlns:a16="http://schemas.microsoft.com/office/drawing/2014/main" id="{F1AE8EE0-1B8E-4F47-93D8-58FD13E682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showMasterSp="0" preserve="1" userDrawn="1">
  <p:cSld name="1_标题幻灯片"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6197" name="图片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0c18b903f44c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117" y="9525"/>
            <a:ext cx="12192000" cy="6845300"/>
          </a:xfrm>
          <a:prstGeom xmlns:a="http://schemas.openxmlformats.org/drawingml/2006/main" prst="rect">
            <a:avLst/>
          </a:prstGeom>
          <a:ln xmlns:a="http://schemas.openxmlformats.org/drawingml/2006/main" w="9525">
            <a:noFill/>
          </a:ln>
        </p:spPr>
      </p:pic>
      <p:sp>
        <p:nvSpPr>
          <p:cNvPr id="136195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A5691E9-F4EA-49AE-B257-DDA09514C38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886200"/>
            <a:ext cx="85344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Font typeface="Wingdings"/>
              <a:buNone/>
              <a:defRPr b="1">
                <a:solidFill>
                  <a:srgbClr val="0000CC"/>
                </a:solidFill>
                <a:latin typeface="Times"/>
                <a:ea typeface="Times"/>
                <a:cs typeface="Times"/>
              </a:defRPr>
            </a:lvl1pPr>
          </a:lstStyle>
          <a:p xmlns:a="http://schemas.openxmlformats.org/drawingml/2006/main">
            <a:pPr lvl="0">
              <a:buNone/>
            </a:pPr>
            <a:r>
              <a:t>单击此处编辑母版副标题样式</a:t>
            </a:r>
            <a:endParaRPr/>
          </a:p>
        </p:txBody>
      </p:sp>
      <p:sp>
        <p:nvSpPr>
          <p:cNvPr id="10" name="标题 9">
            <a:extLst xmlns:a="http://schemas.openxmlformats.org/drawingml/2006/main">
              <a:ext uri="{FF2B5EF4-FFF2-40B4-BE49-F238E27FC236}">
                <a16:creationId xmlns:a16="http://schemas.microsoft.com/office/drawing/2014/main" id="{E6E750B8-5300-44F9-B2CB-A4CAC0D243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47700" y="908720"/>
            <a:ext cx="10972800" cy="863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11" name="日期占位符 1">
            <a:extLst xmlns:a="http://schemas.openxmlformats.org/drawingml/2006/main">
              <a:ext uri="{FF2B5EF4-FFF2-40B4-BE49-F238E27FC236}">
                <a16:creationId xmlns:a16="http://schemas.microsoft.com/office/drawing/2014/main" id="{181627F1-C389-4129-B0F0-F386468EEF2E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09600" y="6245225"/>
            <a:ext cx="28448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12" name="页脚占位符 2">
            <a:extLst xmlns:a="http://schemas.openxmlformats.org/drawingml/2006/main">
              <a:ext uri="{FF2B5EF4-FFF2-40B4-BE49-F238E27FC236}">
                <a16:creationId xmlns:a16="http://schemas.microsoft.com/office/drawing/2014/main" id="{6A06EBC2-E106-439B-8564-7FC0E76EF64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165600" y="6245225"/>
            <a:ext cx="38608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13" name="灯片编号占位符 8">
            <a:extLst xmlns:a="http://schemas.openxmlformats.org/drawingml/2006/main">
              <a:ext uri="{FF2B5EF4-FFF2-40B4-BE49-F238E27FC236}">
                <a16:creationId xmlns:a16="http://schemas.microsoft.com/office/drawing/2014/main" id="{4A2BAB78-F595-4061-9820-78391D2EB93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737600" y="6245225"/>
            <a:ext cx="28448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027FA0B-9E1A-4CCB-AF4D-5B95961855BC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C6A689A8-1720-4772-B72D-B573F05D4AB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单击此处编辑母版副标题样式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874C0D3-234D-4165-8DA2-BDA366DB873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05FBC53-D111-4236-AA0A-EB7EEB2D375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76EF34C-1495-4DDF-857A-BC64FC97308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pic>
        <p:nvPicPr>
          <p:cNvPr id="13" name="图片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8476cfabed41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117" y="9525"/>
            <a:ext cx="12192000" cy="6845300"/>
          </a:xfrm>
          <a:prstGeom xmlns:a="http://schemas.openxmlformats.org/drawingml/2006/main" prst="rect">
            <a:avLst/>
          </a:prstGeom>
          <a:ln xmlns:a="http://schemas.openxmlformats.org/drawingml/2006/main" w="9525">
            <a:noFill/>
          </a:ln>
        </p:spPr>
      </p:pic>
    </p:spTree>
  </p:cSld>
</p:sldLayout>
</file>

<file path=ppt/slideLayouts/slideLayout6.xml><?xml version="1.0" encoding="utf-8"?>
<p:sldLayout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538D315-DA65-4C0E-903A-3A828C9FB36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5488FA-5B33-4A38-95B6-6C9159C81BB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二级</a:t>
            </a:r>
            <a:endParaRPr/>
          </a:p>
          <a:p xmlns:a="http://schemas.openxmlformats.org/drawingml/2006/main">
            <a:pPr lvl="2">
              <a:buNone/>
            </a:pPr>
            <a:r>
              <a:t>三级</a:t>
            </a:r>
            <a:endParaRPr/>
          </a:p>
          <a:p xmlns:a="http://schemas.openxmlformats.org/drawingml/2006/main">
            <a:pPr lvl="3">
              <a:buNone/>
            </a:pPr>
            <a:r>
              <a:t>四级</a:t>
            </a:r>
            <a:endParaRPr/>
          </a:p>
          <a:p xmlns:a="http://schemas.openxmlformats.org/drawingml/2006/main">
            <a:pPr lvl="4">
              <a:buNone/>
            </a:pPr>
            <a:r>
              <a:t>五级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E4FD035-A86F-4BA6-9499-791955F123F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E2B70F1-32F4-4098-8E92-E540C38394C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85C0CD3-EFA9-46BA-8C0C-D3A86EB53DC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3F04735-E317-4806-B340-875DB62D31A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8A0A3F6-8D14-4DD8-9387-4AE9AE07AB7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B9D59F9-9532-427F-A3AF-EB14DD1147C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FCE9946-F695-48A3-AC96-8F216112CA6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CDA36B2-3892-4AD0-84EF-27160EE7E4B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99C4990-7FFA-4FFA-A898-5B3491D0A9A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7A59B69-4A06-4F97-8C03-72F937828F5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二级</a:t>
            </a:r>
            <a:endParaRPr/>
          </a:p>
          <a:p xmlns:a="http://schemas.openxmlformats.org/drawingml/2006/main">
            <a:pPr lvl="2">
              <a:buNone/>
            </a:pPr>
            <a:r>
              <a:t>三级</a:t>
            </a:r>
            <a:endParaRPr/>
          </a:p>
          <a:p xmlns:a="http://schemas.openxmlformats.org/drawingml/2006/main">
            <a:pPr lvl="3">
              <a:buNone/>
            </a:pPr>
            <a:r>
              <a:t>四级</a:t>
            </a:r>
            <a:endParaRPr/>
          </a:p>
          <a:p xmlns:a="http://schemas.openxmlformats.org/drawingml/2006/main">
            <a:pPr lvl="4">
              <a:buNone/>
            </a:pPr>
            <a:r>
              <a:t>五级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F012650A-727E-4C39-AC4B-06EC352BA57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二级</a:t>
            </a:r>
            <a:endParaRPr/>
          </a:p>
          <a:p xmlns:a="http://schemas.openxmlformats.org/drawingml/2006/main">
            <a:pPr lvl="2">
              <a:buNone/>
            </a:pPr>
            <a:r>
              <a:t>三级</a:t>
            </a:r>
            <a:endParaRPr/>
          </a:p>
          <a:p xmlns:a="http://schemas.openxmlformats.org/drawingml/2006/main">
            <a:pPr lvl="3">
              <a:buNone/>
            </a:pPr>
            <a:r>
              <a:t>四级</a:t>
            </a:r>
            <a:endParaRPr/>
          </a:p>
          <a:p xmlns:a="http://schemas.openxmlformats.org/drawingml/2006/main">
            <a:pPr lvl="4">
              <a:buNone/>
            </a:pPr>
            <a:r>
              <a:t>五级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E8498CA-14FB-4D41-B667-B7B8DE854DD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244C0DD-838F-46F1-8AC0-2498F17E3AF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6E4911C-F768-46E7-A02A-68797E79B05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0416AE5-85AF-4400-A74B-D3A0C1E3798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6CD81E9-85A8-479E-8F28-CFE62DB589F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D76929C-7E8E-40FB-9326-7F0588B8671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二级</a:t>
            </a:r>
            <a:endParaRPr/>
          </a:p>
          <a:p xmlns:a="http://schemas.openxmlformats.org/drawingml/2006/main">
            <a:pPr lvl="2">
              <a:buNone/>
            </a:pPr>
            <a:r>
              <a:t>三级</a:t>
            </a:r>
            <a:endParaRPr/>
          </a:p>
          <a:p xmlns:a="http://schemas.openxmlformats.org/drawingml/2006/main">
            <a:pPr lvl="3">
              <a:buNone/>
            </a:pPr>
            <a:r>
              <a:t>四级</a:t>
            </a:r>
            <a:endParaRPr/>
          </a:p>
          <a:p xmlns:a="http://schemas.openxmlformats.org/drawingml/2006/main">
            <a:pPr lvl="4">
              <a:buNone/>
            </a:pPr>
            <a:r>
              <a:t>五级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6F8B5BF1-12D3-4129-A0E6-0F328166A59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16F46ABD-A08D-41D5-9552-0B1AFC420B93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二级</a:t>
            </a:r>
            <a:endParaRPr/>
          </a:p>
          <a:p xmlns:a="http://schemas.openxmlformats.org/drawingml/2006/main">
            <a:pPr lvl="2">
              <a:buNone/>
            </a:pPr>
            <a:r>
              <a:t>三级</a:t>
            </a:r>
            <a:endParaRPr/>
          </a:p>
          <a:p xmlns:a="http://schemas.openxmlformats.org/drawingml/2006/main">
            <a:pPr lvl="3">
              <a:buNone/>
            </a:pPr>
            <a:r>
              <a:t>四级</a:t>
            </a:r>
            <a:endParaRPr/>
          </a:p>
          <a:p xmlns:a="http://schemas.openxmlformats.org/drawingml/2006/main">
            <a:pPr lvl="4">
              <a:buNone/>
            </a:pPr>
            <a:r>
              <a:t>五级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F2B5BD36-AD68-4DC5-8E57-FA833F3A807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E58F38D4-8BEE-4DAC-A7B4-88C89DCC4CB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206BEE58-5D48-4A09-8577-0BE1B1A7AA5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BF9BC95-4DE0-4F44-9294-D8734B7216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DAA0FAD8-064B-45BA-9FFA-A9457CAC21D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0261278B-67F3-48A3-AEE2-0742DC710A3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4007B669-97AC-4D90-99FE-F7CEB7A9DE7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B37F2E03-2251-42D3-AEA1-54F5551F860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C3EFA2BD-CD98-41E2-8B33-38B618D1C63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FE7A03B3-1209-45F9-8C9D-748285B8808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</p:spTree>
  </p:cSld>
</p:sldLayout>
</file>

<file path=ppt/slideLayouts/slideLayout12.xml><?xml version="1.0" encoding="utf-8"?>
<p:sldLayout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5D9A6B6-8A53-4A13-9CD7-EDB1A7C16CF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FA1B11-773C-4DD3-9AEE-79F4AB2F566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二级</a:t>
            </a:r>
            <a:endParaRPr/>
          </a:p>
          <a:p xmlns:a="http://schemas.openxmlformats.org/drawingml/2006/main">
            <a:pPr lvl="2">
              <a:buNone/>
            </a:pPr>
            <a:r>
              <a:t>三级</a:t>
            </a:r>
            <a:endParaRPr/>
          </a:p>
          <a:p xmlns:a="http://schemas.openxmlformats.org/drawingml/2006/main">
            <a:pPr lvl="3">
              <a:buNone/>
            </a:pPr>
            <a:r>
              <a:t>四级</a:t>
            </a:r>
            <a:endParaRPr/>
          </a:p>
          <a:p xmlns:a="http://schemas.openxmlformats.org/drawingml/2006/main">
            <a:pPr lvl="4">
              <a:buNone/>
            </a:pPr>
            <a:r>
              <a:t>五级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E927460-D7AB-4E56-8C59-E85D3515342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822737D-FD8F-4520-B20F-E1ED680E135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647B796-312D-40EB-BC85-9E366575CBA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5EFE053-4978-4297-B653-5B991F47DF3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</p:spTree>
  </p:cSld>
</p:sldLayout>
</file>

<file path=ppt/slideLayouts/slideLayout13.xml><?xml version="1.0" encoding="utf-8"?>
<p:sldLayout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0761ED9-6B18-4990-A7CE-7572FE98576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26C63169-5F70-45DC-9B57-690C6BAB92DB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单击图标添加图片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CC1A210E-1950-446A-9319-C8F3D8C6F87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62922A6-D77C-4E48-B06C-27DF1A6C3B7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14C8B34-6CFC-4ABB-A2D1-B1842F915DB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B46DE8F-7D6C-490E-AB13-BAB85D5A146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</p:spTree>
  </p:cSld>
</p:sldLayout>
</file>

<file path=ppt/slideLayouts/slideLayout14.xml><?xml version="1.0" encoding="utf-8"?>
<p:sldLayout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E43362B-E29C-4569-872A-A8B356E95B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4081B1E-D1D9-49D5-8B01-2C1295CEF1C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二级</a:t>
            </a:r>
            <a:endParaRPr/>
          </a:p>
          <a:p xmlns:a="http://schemas.openxmlformats.org/drawingml/2006/main">
            <a:pPr lvl="2">
              <a:buNone/>
            </a:pPr>
            <a:r>
              <a:t>三级</a:t>
            </a:r>
            <a:endParaRPr/>
          </a:p>
          <a:p xmlns:a="http://schemas.openxmlformats.org/drawingml/2006/main">
            <a:pPr lvl="3">
              <a:buNone/>
            </a:pPr>
            <a:r>
              <a:t>四级</a:t>
            </a:r>
            <a:endParaRPr/>
          </a:p>
          <a:p xmlns:a="http://schemas.openxmlformats.org/drawingml/2006/main">
            <a:pPr lvl="4">
              <a:buNone/>
            </a:pPr>
            <a:r>
              <a:t>五级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66EE62D-9C79-4D6E-92D1-9BBBC892AD3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2A6E86F-8723-4D65-ABE8-1FC91DA80FD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44B2FCA-2181-4825-8D76-AFC748B07EA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</p:spTree>
  </p:cSld>
</p:sldLayout>
</file>

<file path=ppt/slideLayouts/slideLayout15.xml><?xml version="1.0" encoding="utf-8"?>
<p:sldLayout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84EC4236-CB14-46A8-941E-CF92531CA80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5B0C4FF8-22FF-4F2C-9439-96095B7CB67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二级</a:t>
            </a:r>
            <a:endParaRPr/>
          </a:p>
          <a:p xmlns:a="http://schemas.openxmlformats.org/drawingml/2006/main">
            <a:pPr lvl="2">
              <a:buNone/>
            </a:pPr>
            <a:r>
              <a:t>三级</a:t>
            </a:r>
            <a:endParaRPr/>
          </a:p>
          <a:p xmlns:a="http://schemas.openxmlformats.org/drawingml/2006/main">
            <a:pPr lvl="3">
              <a:buNone/>
            </a:pPr>
            <a:r>
              <a:t>四级</a:t>
            </a:r>
            <a:endParaRPr/>
          </a:p>
          <a:p xmlns:a="http://schemas.openxmlformats.org/drawingml/2006/main">
            <a:pPr lvl="4">
              <a:buNone/>
            </a:pPr>
            <a:r>
              <a:t>五级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0698874-6169-43A2-A9CD-425C96E9721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FDA4207-8CB3-4CC3-B2A1-993ED5343A8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40BC3CF-B20B-41DC-B8B7-E402367454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image" Target="/ppt/media/image.jpeg" Id="R531be39d3f4d4417" /><Relationship Type="http://schemas.openxmlformats.org/officeDocument/2006/relationships/theme" Target="/ppt/slideMasters/theme/theme2.xml" Id="Rd0305bc552504752" /><Relationship Type="http://schemas.openxmlformats.org/officeDocument/2006/relationships/slideLayout" Target="/ppt/slideLayouts/slideLayout1.xml" Id="R6774aaf4022f4dde" /><Relationship Type="http://schemas.openxmlformats.org/officeDocument/2006/relationships/slideLayout" Target="/ppt/slideLayouts/slideLayout2.xml" Id="R2907cd1275a145f0" /><Relationship Type="http://schemas.openxmlformats.org/officeDocument/2006/relationships/slideLayout" Target="/ppt/slideLayouts/slideLayout3.xml" Id="Rc07ac18b63374e4b" /><Relationship Type="http://schemas.openxmlformats.org/officeDocument/2006/relationships/slideLayout" Target="/ppt/slideLayouts/slideLayout4.xml" Id="R069991e97ab84089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image" Target="/ppt/media/image.jpeg" Id="Rcec52703fe3a4ce6" /><Relationship Type="http://schemas.openxmlformats.org/officeDocument/2006/relationships/theme" Target="/ppt/slideMasters/theme/theme3.xml" Id="R505f23f90efa4700" /><Relationship Type="http://schemas.openxmlformats.org/officeDocument/2006/relationships/slideLayout" Target="/ppt/slideLayouts/slideLayout5.xml" Id="R611ae9fdfc814c62" /><Relationship Type="http://schemas.openxmlformats.org/officeDocument/2006/relationships/slideLayout" Target="/ppt/slideLayouts/slideLayout6.xml" Id="Rf02677ac07e74a1d" /><Relationship Type="http://schemas.openxmlformats.org/officeDocument/2006/relationships/slideLayout" Target="/ppt/slideLayouts/slideLayout7.xml" Id="R6a04485c49aa4d1d" /><Relationship Type="http://schemas.openxmlformats.org/officeDocument/2006/relationships/slideLayout" Target="/ppt/slideLayouts/slideLayout8.xml" Id="R5106855820e247d9" /><Relationship Type="http://schemas.openxmlformats.org/officeDocument/2006/relationships/slideLayout" Target="/ppt/slideLayouts/slideLayout9.xml" Id="R7218614daae14abb" /><Relationship Type="http://schemas.openxmlformats.org/officeDocument/2006/relationships/slideLayout" Target="/ppt/slideLayouts/slideLayout10.xml" Id="R20530dce48bc4a0b" /><Relationship Type="http://schemas.openxmlformats.org/officeDocument/2006/relationships/slideLayout" Target="/ppt/slideLayouts/slideLayout11.xml" Id="R6b80278f2ea64335" /><Relationship Type="http://schemas.openxmlformats.org/officeDocument/2006/relationships/slideLayout" Target="/ppt/slideLayouts/slideLayout12.xml" Id="R90c7bc8638264ed2" /><Relationship Type="http://schemas.openxmlformats.org/officeDocument/2006/relationships/slideLayout" Target="/ppt/slideLayouts/slideLayout13.xml" Id="R8647a99860a8403c" /><Relationship Type="http://schemas.openxmlformats.org/officeDocument/2006/relationships/slideLayout" Target="/ppt/slideLayouts/slideLayout14.xml" Id="Rdcbed58325dd4af6" /><Relationship Type="http://schemas.openxmlformats.org/officeDocument/2006/relationships/slideLayout" Target="/ppt/slideLayouts/slideLayout15.xml" Id="R29f1df74458b4609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5176" name="图片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1be39d3f4d44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350"/>
            <a:ext cx="12192000" cy="6845300"/>
          </a:xfrm>
          <a:prstGeom xmlns:a="http://schemas.openxmlformats.org/drawingml/2006/main" prst="rect">
            <a:avLst/>
          </a:prstGeom>
          <a:ln xmlns:a="http://schemas.openxmlformats.org/drawingml/2006/main" w="9525">
            <a:noFill/>
          </a:ln>
        </p:spPr>
      </p:pic>
      <p:sp>
        <p:nvSpPr>
          <p:cNvPr id="135170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36B2E5C-1652-4330-BE5D-C605052BF21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0" y="836613"/>
            <a:ext cx="10972800" cy="86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模板</a:t>
            </a:r>
            <a:r>
              <a:t>Chapter</a:t>
            </a:r>
            <a:endParaRPr/>
          </a:p>
        </p:txBody>
      </p:sp>
      <p:sp>
        <p:nvSpPr>
          <p:cNvPr id="1028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140B016-DD5A-425A-A1F9-2D18FC436F2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1916113"/>
            <a:ext cx="10972800" cy="45259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第一级</a:t>
            </a:r>
            <a:r>
              <a:t>abcd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r>
              <a:t>adb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r>
              <a:t>kljaskf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135172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37CEC0C-A984-4F84-882D-3A78936949BD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09600" y="6245225"/>
            <a:ext cx="2844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>
            <a:lvl1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  <a:defRPr sz="14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135173" name="Rectangle 5">
            <a:extLst xmlns:a="http://schemas.openxmlformats.org/drawingml/2006/main">
              <a:ext uri="{FF2B5EF4-FFF2-40B4-BE49-F238E27FC236}">
                <a16:creationId xmlns:a16="http://schemas.microsoft.com/office/drawing/2014/main" id="{F78C509B-C574-4FEA-BF2C-66B1F24F3A85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165600" y="6245225"/>
            <a:ext cx="3860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>
            <a:lvl1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  <a:defRPr sz="14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135174" name="Rectangle 6">
            <a:extLst xmlns:a="http://schemas.openxmlformats.org/drawingml/2006/main">
              <a:ext uri="{FF2B5EF4-FFF2-40B4-BE49-F238E27FC236}">
                <a16:creationId xmlns:a16="http://schemas.microsoft.com/office/drawing/2014/main" id="{096BCBE3-75BE-4518-80F3-1940570A17A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737600" y="6245225"/>
            <a:ext cx="2844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>
            <a:lvl1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  <a:defRPr sz="14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1032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688F4C6F-E3B2-432F-ADEC-BC45D61A5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1" y="1668463"/>
            <a:ext cx="10968567" cy="31750"/>
          </a:xfrm>
          <a:prstGeom xmlns:a="http://schemas.openxmlformats.org/drawingml/2006/main" prst="rect">
            <a:avLst/>
          </a:prstGeom>
          <a:gradFill xmlns:a="http://schemas.openxmlformats.org/drawingml/2006/main" rotWithShape="0">
            <a:gsLst>
              <a:gs pos="0">
                <a:schemeClr val="bg2"/>
              </a:gs>
              <a:gs pos="100000">
                <a:schemeClr val="bg1"/>
              </a:gs>
            </a:gsLst>
            <a:lin ang="0" scaled="1"/>
          </a:gradFill>
          <a:ln xmlns:a="http://schemas.openxmlformats.org/drawingml/2006/main">
            <a:noFill/>
          </a:ln>
        </p:spPr>
        <p:txBody>
          <a:bodyPr xmlns:a="http://schemas.openxmlformats.org/drawingml/2006/main" wrap="none" anchor="ctr"/>
          <a:lstStyle xmlns:a="http://schemas.openxmlformats.org/drawingml/2006/main">
            <a:lvl1pPr>
              <a:lnSpc>
                <a:spcPct val="110000"/>
              </a:lnSpc>
              <a:spcBef>
                <a:spcPct val="20000"/>
              </a:spcBef>
              <a:buClr>
                <a:srgbClr val="3366FF"/>
              </a:buClr>
              <a:buSzPct val="75000"/>
              <a:buFont typeface="Wingdings"/>
              <a:buNone/>
              <a:defRPr sz="2000">
                <a:solidFill>
                  <a:srgbClr val="FF3300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lnSpc>
                <a:spcPct val="110000"/>
              </a:lnSpc>
              <a:spcBef>
                <a:spcPct val="20000"/>
              </a:spcBef>
              <a:buClr>
                <a:srgbClr val="3366FF"/>
              </a:buClr>
              <a:buSzPct val="75000"/>
              <a:buFont typeface="Wingdings"/>
              <a:buNone/>
              <a:defRPr sz="2000">
                <a:solidFill>
                  <a:srgbClr val="FF3300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lnSpc>
                <a:spcPct val="110000"/>
              </a:lnSpc>
              <a:spcBef>
                <a:spcPct val="20000"/>
              </a:spcBef>
              <a:buClr>
                <a:srgbClr val="3366FF"/>
              </a:buClr>
              <a:buSzPct val="75000"/>
              <a:buFont typeface="Wingdings"/>
              <a:buNone/>
              <a:defRPr sz="2000">
                <a:solidFill>
                  <a:srgbClr val="FF3300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lnSpc>
                <a:spcPct val="110000"/>
              </a:lnSpc>
              <a:spcBef>
                <a:spcPct val="20000"/>
              </a:spcBef>
              <a:buClr>
                <a:srgbClr val="3366FF"/>
              </a:buClr>
              <a:buSzPct val="75000"/>
              <a:buFont typeface="Wingdings"/>
              <a:buNone/>
              <a:defRPr sz="2000">
                <a:solidFill>
                  <a:srgbClr val="FF3300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lnSpc>
                <a:spcPct val="110000"/>
              </a:lnSpc>
              <a:spcBef>
                <a:spcPct val="20000"/>
              </a:spcBef>
              <a:buClr>
                <a:srgbClr val="3366FF"/>
              </a:buClr>
              <a:buSzPct val="75000"/>
              <a:buFont typeface="Wingdings"/>
              <a:buNone/>
              <a:defRPr sz="2000">
                <a:solidFill>
                  <a:srgbClr val="FF3300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3366FF"/>
              </a:buClr>
              <a:buSzPct val="75000"/>
              <a:buFont typeface="Wingdings"/>
              <a:buNone/>
              <a:defRPr sz="2000">
                <a:solidFill>
                  <a:srgbClr val="FF3300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3366FF"/>
              </a:buClr>
              <a:buSzPct val="75000"/>
              <a:buFont typeface="Wingdings"/>
              <a:buNone/>
              <a:defRPr sz="2000">
                <a:solidFill>
                  <a:srgbClr val="FF3300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3366FF"/>
              </a:buClr>
              <a:buSzPct val="75000"/>
              <a:buFont typeface="Wingdings"/>
              <a:buNone/>
              <a:defRPr sz="2000">
                <a:solidFill>
                  <a:srgbClr val="FF3300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3366FF"/>
              </a:buClr>
              <a:buSzPct val="75000"/>
              <a:buFont typeface="Wingdings"/>
              <a:buNone/>
              <a:defRPr sz="2000">
                <a:solidFill>
                  <a:srgbClr val="FF33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marR="0" lvl="0" indent="0" algn="ctr" defTabSz="9144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sz="2400" b="0" i="0" u="none" kern="1200" cap="none" spc="0" baseline="0">
              <a:ln>
                <a:noFill/>
              </a:ln>
              <a:solidFill>
                <a:schemeClr val="tx1"/>
              </a:solidFill>
              <a:latin typeface="Tahoma"/>
              <a:ea typeface="Tahoma"/>
              <a:cs typeface="Tahom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774aaf4022f4dde"/>
    <p:sldLayoutId xmlns:r="http://schemas.openxmlformats.org/officeDocument/2006/relationships" id="2147483650" r:id="R2907cd1275a145f0"/>
    <p:sldLayoutId xmlns:r="http://schemas.openxmlformats.org/officeDocument/2006/relationships" id="2147483651" r:id="Rc07ac18b63374e4b"/>
    <p:sldLayoutId xmlns:r="http://schemas.openxmlformats.org/officeDocument/2006/relationships" id="2147483652" r:id="R069991e97ab84089"/>
  </p:sldLayoutIdLst>
  <p:hf hdr="0" ftr="0" dt="0"/>
  <p:txStyles>
    <p:titleStyle>
      <a:lvl1pPr xmlns:a="http://schemas.openxmlformats.org/drawingml/2006/main" algn="ctr">
        <a:spcBef>
          <a:spcPct val="0"/>
        </a:spcBef>
        <a:spcAft>
          <a:spcPct val="0"/>
        </a:spcAft>
        <a:buNone/>
        <a:defRPr sz="3600" b="0" kern="1200">
          <a:solidFill>
            <a:srgbClr val="CC0000"/>
          </a:solidFill>
          <a:effectLst>
            <a:outerShdw blurRad="38100" dist="38100" dir="2700000" algn="tl">
              <a:srgbClr val="C0C0C0"/>
            </a:outerShdw>
          </a:effectLst>
          <a:latin typeface="+mj-lt"/>
          <a:ea typeface="+mj-lt"/>
          <a:cs typeface="+mj-lt"/>
        </a:defRPr>
      </a:lvl1pPr>
      <a:lvl2pPr xmlns:a="http://schemas.openxmlformats.org/drawingml/2006/main" algn="ctr">
        <a:spcBef>
          <a:spcPct val="0"/>
        </a:spcBef>
        <a:spcAft>
          <a:spcPct val="0"/>
        </a:spcAft>
        <a:buNone/>
        <a:defRPr sz="4400" b="1">
          <a:solidFill>
            <a:srgbClr val="CC0000"/>
          </a:solidFill>
          <a:effectLst>
            <a:outerShdw blurRad="38100" dist="38100" dir="2700000" algn="tl">
              <a:srgbClr val="C0C0C0"/>
            </a:outerShdw>
          </a:effectLst>
          <a:latin typeface="Lucida Sans"/>
          <a:ea typeface="Lucida Sans"/>
          <a:cs typeface="Lucida Sans"/>
        </a:defRPr>
      </a:lvl2pPr>
      <a:lvl3pPr xmlns:a="http://schemas.openxmlformats.org/drawingml/2006/main" algn="ctr">
        <a:spcBef>
          <a:spcPct val="0"/>
        </a:spcBef>
        <a:spcAft>
          <a:spcPct val="0"/>
        </a:spcAft>
        <a:buNone/>
        <a:defRPr sz="4400" b="1">
          <a:solidFill>
            <a:srgbClr val="CC0000"/>
          </a:solidFill>
          <a:effectLst>
            <a:outerShdw blurRad="38100" dist="38100" dir="2700000" algn="tl">
              <a:srgbClr val="C0C0C0"/>
            </a:outerShdw>
          </a:effectLst>
          <a:latin typeface="Lucida Sans"/>
          <a:ea typeface="Lucida Sans"/>
          <a:cs typeface="Lucida Sans"/>
        </a:defRPr>
      </a:lvl3pPr>
      <a:lvl4pPr xmlns:a="http://schemas.openxmlformats.org/drawingml/2006/main" algn="ctr">
        <a:spcBef>
          <a:spcPct val="0"/>
        </a:spcBef>
        <a:spcAft>
          <a:spcPct val="0"/>
        </a:spcAft>
        <a:buNone/>
        <a:defRPr sz="4400" b="1">
          <a:solidFill>
            <a:srgbClr val="CC0000"/>
          </a:solidFill>
          <a:effectLst>
            <a:outerShdw blurRad="38100" dist="38100" dir="2700000" algn="tl">
              <a:srgbClr val="C0C0C0"/>
            </a:outerShdw>
          </a:effectLst>
          <a:latin typeface="Lucida Sans"/>
          <a:ea typeface="Lucida Sans"/>
          <a:cs typeface="Lucida Sans"/>
        </a:defRPr>
      </a:lvl4pPr>
      <a:lvl5pPr xmlns:a="http://schemas.openxmlformats.org/drawingml/2006/main" algn="ctr">
        <a:spcBef>
          <a:spcPct val="0"/>
        </a:spcBef>
        <a:spcAft>
          <a:spcPct val="0"/>
        </a:spcAft>
        <a:buNone/>
        <a:defRPr sz="4400" b="1">
          <a:solidFill>
            <a:srgbClr val="CC0000"/>
          </a:solidFill>
          <a:effectLst>
            <a:outerShdw blurRad="38100" dist="38100" dir="2700000" algn="tl">
              <a:srgbClr val="C0C0C0"/>
            </a:outerShdw>
          </a:effectLst>
          <a:latin typeface="Lucida Sans"/>
          <a:ea typeface="Lucida Sans"/>
          <a:cs typeface="Lucida Sans"/>
        </a:defRPr>
      </a:lvl5pPr>
      <a:lvl6pPr xmlns:a="http://schemas.openxmlformats.org/drawingml/2006/main" marL="457200" algn="ctr">
        <a:spcBef>
          <a:spcPct val="0"/>
        </a:spcBef>
        <a:spcAft>
          <a:spcPct val="0"/>
        </a:spcAft>
        <a:buNone/>
        <a:defRPr sz="4400" b="1">
          <a:solidFill>
            <a:srgbClr val="CC0000"/>
          </a:solidFill>
          <a:effectLst>
            <a:outerShdw blurRad="38100" dist="38100" dir="2700000" algn="tl">
              <a:srgbClr val="C0C0C0"/>
            </a:outerShdw>
          </a:effectLst>
          <a:latin typeface="Lucida Sans"/>
          <a:ea typeface="Lucida Sans"/>
          <a:cs typeface="Lucida Sans"/>
        </a:defRPr>
      </a:lvl6pPr>
      <a:lvl7pPr xmlns:a="http://schemas.openxmlformats.org/drawingml/2006/main" marL="914400" algn="ctr">
        <a:spcBef>
          <a:spcPct val="0"/>
        </a:spcBef>
        <a:spcAft>
          <a:spcPct val="0"/>
        </a:spcAft>
        <a:buNone/>
        <a:defRPr sz="4400" b="1">
          <a:solidFill>
            <a:srgbClr val="CC0000"/>
          </a:solidFill>
          <a:effectLst>
            <a:outerShdw blurRad="38100" dist="38100" dir="2700000" algn="tl">
              <a:srgbClr val="C0C0C0"/>
            </a:outerShdw>
          </a:effectLst>
          <a:latin typeface="Lucida Sans"/>
          <a:ea typeface="Lucida Sans"/>
          <a:cs typeface="Lucida Sans"/>
        </a:defRPr>
      </a:lvl7pPr>
      <a:lvl8pPr xmlns:a="http://schemas.openxmlformats.org/drawingml/2006/main" marL="1371600" algn="ctr">
        <a:spcBef>
          <a:spcPct val="0"/>
        </a:spcBef>
        <a:spcAft>
          <a:spcPct val="0"/>
        </a:spcAft>
        <a:buNone/>
        <a:defRPr sz="4400" b="1">
          <a:solidFill>
            <a:srgbClr val="CC0000"/>
          </a:solidFill>
          <a:effectLst>
            <a:outerShdw blurRad="38100" dist="38100" dir="2700000" algn="tl">
              <a:srgbClr val="C0C0C0"/>
            </a:outerShdw>
          </a:effectLst>
          <a:latin typeface="Lucida Sans"/>
          <a:ea typeface="Lucida Sans"/>
          <a:cs typeface="Lucida Sans"/>
        </a:defRPr>
      </a:lvl8pPr>
      <a:lvl9pPr xmlns:a="http://schemas.openxmlformats.org/drawingml/2006/main" marL="1828800" algn="ctr">
        <a:spcBef>
          <a:spcPct val="0"/>
        </a:spcBef>
        <a:spcAft>
          <a:spcPct val="0"/>
        </a:spcAft>
        <a:buNone/>
        <a:defRPr sz="4400" b="1">
          <a:solidFill>
            <a:srgbClr val="CC0000"/>
          </a:solidFill>
          <a:effectLst>
            <a:outerShdw blurRad="38100" dist="38100" dir="2700000" algn="tl">
              <a:srgbClr val="C0C0C0"/>
            </a:outerShdw>
          </a:effectLst>
          <a:latin typeface="Lucida Sans"/>
          <a:ea typeface="Lucida Sans"/>
          <a:cs typeface="Lucida Sans"/>
        </a:defRPr>
      </a:lvl9pPr>
    </p:titleStyle>
    <p:bodyStyle>
      <a:lvl1pPr xmlns:a="http://schemas.openxmlformats.org/drawingml/2006/main" marL="342900" indent="-342900" algn="l">
        <a:spcBef>
          <a:spcPct val="20000"/>
        </a:spcBef>
        <a:spcAft>
          <a:spcPct val="0"/>
        </a:spcAft>
        <a:buClr>
          <a:srgbClr val="3366FF"/>
        </a:buClr>
        <a:buSzPct val="75000"/>
        <a:buFont typeface="Wingdings"/>
        <a:buChar char="ª"/>
        <a:defRPr sz="36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spcBef>
          <a:spcPct val="20000"/>
        </a:spcBef>
        <a:spcAft>
          <a:spcPct val="0"/>
        </a:spcAft>
        <a:buClr>
          <a:srgbClr val="990033"/>
        </a:buClr>
        <a:buSzPct val="80000"/>
        <a:buFont typeface="Wingdings"/>
        <a:buChar char="Ø"/>
        <a:defRPr sz="2800" kern="1200">
          <a:solidFill>
            <a:schemeClr val="tx1"/>
          </a:solidFill>
          <a:latin typeface="Arial"/>
          <a:ea typeface="Arial"/>
          <a:cs typeface="Arial"/>
        </a:defRPr>
      </a:lvl2pPr>
      <a:lvl3pPr xmlns:a="http://schemas.openxmlformats.org/drawingml/2006/main" marL="1143000" indent="-228600" algn="l">
        <a:spcBef>
          <a:spcPct val="20000"/>
        </a:spcBef>
        <a:spcAft>
          <a:spcPct val="0"/>
        </a:spcAft>
        <a:buClr>
          <a:srgbClr val="FF0000"/>
        </a:buClr>
        <a:buChar char="•"/>
        <a:defRPr sz="2400" b="1" kern="1200">
          <a:solidFill>
            <a:schemeClr val="tx1"/>
          </a:solidFill>
          <a:latin typeface="Comic Sans MS"/>
          <a:ea typeface="Comic Sans MS"/>
          <a:cs typeface="Comic Sans MS"/>
        </a:defRPr>
      </a:lvl3pPr>
      <a:lvl4pPr xmlns:a="http://schemas.openxmlformats.org/drawingml/2006/main" marL="1600200" indent="-228600" algn="l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Arial"/>
          <a:ea typeface="Arial"/>
          <a:cs typeface="Arial"/>
        </a:defRPr>
      </a:lvl4pPr>
      <a:lvl5pPr xmlns:a="http://schemas.openxmlformats.org/drawingml/2006/main" marL="2057400" indent="-228600" algn="l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Arial"/>
          <a:ea typeface="Arial"/>
          <a:cs typeface="Arial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4A00C0D9-D0DC-4EF7-AECF-FC7B016A6F8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1E4D2F9-C16A-4014-BC87-F5BA7A039FA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二级</a:t>
            </a:r>
            <a:endParaRPr/>
          </a:p>
          <a:p xmlns:a="http://schemas.openxmlformats.org/drawingml/2006/main">
            <a:pPr lvl="2">
              <a:buNone/>
            </a:pPr>
            <a:r>
              <a:t>三级</a:t>
            </a:r>
            <a:endParaRPr/>
          </a:p>
          <a:p xmlns:a="http://schemas.openxmlformats.org/drawingml/2006/main">
            <a:pPr lvl="3">
              <a:buNone/>
            </a:pPr>
            <a:r>
              <a:t>四级</a:t>
            </a:r>
            <a:endParaRPr/>
          </a:p>
          <a:p xmlns:a="http://schemas.openxmlformats.org/drawingml/2006/main">
            <a:pPr lvl="4">
              <a:buNone/>
            </a:pPr>
            <a:r>
              <a:t>五级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DB05990-3FB7-4F07-86FE-7927121C5279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99A19BD-E6E4-4346-9E0A-939132F26A7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60640C9-F3FE-49C4-B594-ECB131BA99A4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pic>
        <p:nvPicPr>
          <p:cNvPr id="15" name="图片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c52703fe3a4ce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350"/>
            <a:ext cx="12192000" cy="6845300"/>
          </a:xfrm>
          <a:prstGeom xmlns:a="http://schemas.openxmlformats.org/drawingml/2006/main" prst="rect">
            <a:avLst/>
          </a:prstGeom>
          <a:ln xmlns:a="http://schemas.openxmlformats.org/drawingml/2006/main" w="9525">
            <a:noFill/>
          </a:ln>
        </p:spPr>
      </p:pic>
      <p:sp>
        <p:nvSpPr>
          <p:cNvPr id="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3F881C27-4B2A-4F53-9727-86CCDC0D9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1" y="1668463"/>
            <a:ext cx="10968567" cy="31750"/>
          </a:xfrm>
          <a:prstGeom xmlns:a="http://schemas.openxmlformats.org/drawingml/2006/main" prst="rect">
            <a:avLst/>
          </a:prstGeom>
          <a:gradFill xmlns:a="http://schemas.openxmlformats.org/drawingml/2006/main" rotWithShape="0">
            <a:gsLst>
              <a:gs pos="0">
                <a:schemeClr val="bg2"/>
              </a:gs>
              <a:gs pos="100000">
                <a:schemeClr val="bg1"/>
              </a:gs>
            </a:gsLst>
            <a:lin ang="0" scaled="1"/>
          </a:gradFill>
          <a:ln xmlns:a="http://schemas.openxmlformats.org/drawingml/2006/main">
            <a:noFill/>
          </a:ln>
        </p:spPr>
        <p:txBody>
          <a:bodyPr xmlns:a="http://schemas.openxmlformats.org/drawingml/2006/main" wrap="none" anchor="ctr"/>
          <a:lstStyle xmlns:a="http://schemas.openxmlformats.org/drawingml/2006/main">
            <a:lvl1pPr>
              <a:lnSpc>
                <a:spcPct val="110000"/>
              </a:lnSpc>
              <a:spcBef>
                <a:spcPct val="20000"/>
              </a:spcBef>
              <a:buClr>
                <a:srgbClr val="3366FF"/>
              </a:buClr>
              <a:buSzPct val="75000"/>
              <a:buFont typeface="Wingdings"/>
              <a:buNone/>
              <a:defRPr sz="2000">
                <a:solidFill>
                  <a:srgbClr val="FF3300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lnSpc>
                <a:spcPct val="110000"/>
              </a:lnSpc>
              <a:spcBef>
                <a:spcPct val="20000"/>
              </a:spcBef>
              <a:buClr>
                <a:srgbClr val="3366FF"/>
              </a:buClr>
              <a:buSzPct val="75000"/>
              <a:buFont typeface="Wingdings"/>
              <a:buNone/>
              <a:defRPr sz="2000">
                <a:solidFill>
                  <a:srgbClr val="FF3300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lnSpc>
                <a:spcPct val="110000"/>
              </a:lnSpc>
              <a:spcBef>
                <a:spcPct val="20000"/>
              </a:spcBef>
              <a:buClr>
                <a:srgbClr val="3366FF"/>
              </a:buClr>
              <a:buSzPct val="75000"/>
              <a:buFont typeface="Wingdings"/>
              <a:buNone/>
              <a:defRPr sz="2000">
                <a:solidFill>
                  <a:srgbClr val="FF3300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lnSpc>
                <a:spcPct val="110000"/>
              </a:lnSpc>
              <a:spcBef>
                <a:spcPct val="20000"/>
              </a:spcBef>
              <a:buClr>
                <a:srgbClr val="3366FF"/>
              </a:buClr>
              <a:buSzPct val="75000"/>
              <a:buFont typeface="Wingdings"/>
              <a:buNone/>
              <a:defRPr sz="2000">
                <a:solidFill>
                  <a:srgbClr val="FF3300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lnSpc>
                <a:spcPct val="110000"/>
              </a:lnSpc>
              <a:spcBef>
                <a:spcPct val="20000"/>
              </a:spcBef>
              <a:buClr>
                <a:srgbClr val="3366FF"/>
              </a:buClr>
              <a:buSzPct val="75000"/>
              <a:buFont typeface="Wingdings"/>
              <a:buNone/>
              <a:defRPr sz="2000">
                <a:solidFill>
                  <a:srgbClr val="FF3300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3366FF"/>
              </a:buClr>
              <a:buSzPct val="75000"/>
              <a:buFont typeface="Wingdings"/>
              <a:buNone/>
              <a:defRPr sz="2000">
                <a:solidFill>
                  <a:srgbClr val="FF3300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3366FF"/>
              </a:buClr>
              <a:buSzPct val="75000"/>
              <a:buFont typeface="Wingdings"/>
              <a:buNone/>
              <a:defRPr sz="2000">
                <a:solidFill>
                  <a:srgbClr val="FF3300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3366FF"/>
              </a:buClr>
              <a:buSzPct val="75000"/>
              <a:buFont typeface="Wingdings"/>
              <a:buNone/>
              <a:defRPr sz="2000">
                <a:solidFill>
                  <a:srgbClr val="FF3300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3366FF"/>
              </a:buClr>
              <a:buSzPct val="75000"/>
              <a:buFont typeface="Wingdings"/>
              <a:buNone/>
              <a:defRPr sz="2000">
                <a:solidFill>
                  <a:srgbClr val="FF33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marR="0" lvl="0" indent="0" algn="ctr" defTabSz="9144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sz="2400" b="0" i="0" u="none" kern="1200" cap="none" spc="0" baseline="0">
              <a:ln>
                <a:noFill/>
              </a:ln>
              <a:solidFill>
                <a:schemeClr val="tx1"/>
              </a:solidFill>
              <a:latin typeface="Tahoma"/>
              <a:ea typeface="Tahoma"/>
              <a:cs typeface="Tahom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4" r:id="R611ae9fdfc814c62"/>
    <p:sldLayoutId xmlns:r="http://schemas.openxmlformats.org/officeDocument/2006/relationships" id="2147483655" r:id="Rf02677ac07e74a1d"/>
    <p:sldLayoutId xmlns:r="http://schemas.openxmlformats.org/officeDocument/2006/relationships" id="2147483656" r:id="R6a04485c49aa4d1d"/>
    <p:sldLayoutId xmlns:r="http://schemas.openxmlformats.org/officeDocument/2006/relationships" id="2147483657" r:id="R5106855820e247d9"/>
    <p:sldLayoutId xmlns:r="http://schemas.openxmlformats.org/officeDocument/2006/relationships" id="2147483658" r:id="R7218614daae14abb"/>
    <p:sldLayoutId xmlns:r="http://schemas.openxmlformats.org/officeDocument/2006/relationships" id="2147483659" r:id="R20530dce48bc4a0b"/>
    <p:sldLayoutId xmlns:r="http://schemas.openxmlformats.org/officeDocument/2006/relationships" id="2147483660" r:id="R6b80278f2ea64335"/>
    <p:sldLayoutId xmlns:r="http://schemas.openxmlformats.org/officeDocument/2006/relationships" id="2147483661" r:id="R90c7bc8638264ed2"/>
    <p:sldLayoutId xmlns:r="http://schemas.openxmlformats.org/officeDocument/2006/relationships" id="2147483662" r:id="R8647a99860a8403c"/>
    <p:sldLayoutId xmlns:r="http://schemas.openxmlformats.org/officeDocument/2006/relationships" id="2147483663" r:id="Rdcbed58325dd4af6"/>
    <p:sldLayoutId xmlns:r="http://schemas.openxmlformats.org/officeDocument/2006/relationships" id="2147483664" r:id="R29f1df74458b4609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1_自定义设计方案">
  <a:themeElements>
    <a:clrScheme name="1_自定义设计方案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1_自定义设计方案">
      <a:majorFont>
        <a:latin typeface="Lucida Sans"/>
        <a:ea typeface="黑体"/>
        <a:cs typeface=""/>
      </a:majorFont>
      <a:minorFont>
        <a:latin typeface="Berlin Sans FB"/>
        <a:ea typeface="黑体"/>
        <a:cs typeface=""/>
      </a:minorFont>
    </a:fontScheme>
    <a:fmtScheme name="1_自定义设计方案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2_自定义设计方案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6eef4323594ad9" /><Relationship Type="http://schemas.openxmlformats.org/officeDocument/2006/relationships/notesSlide" Target="/ppt/notesSlides/notesSlide1.xml" Id="Rb8a2585ddce14bb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227bac5d5234bb1" /><Relationship Type="http://schemas.openxmlformats.org/officeDocument/2006/relationships/image" Target="/ppt/media/image.png" Id="R37717c8eb71a42f8" /><Relationship Type="http://schemas.openxmlformats.org/officeDocument/2006/relationships/notesSlide" Target="/ppt/notesSlides/notesSlide2.xml" Id="Rc2d0ccb43b71427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21bff57570b4357" /><Relationship Type="http://schemas.openxmlformats.org/officeDocument/2006/relationships/image" Target="/ppt/media/image2.png" Id="R7e3b754568364ce2" /><Relationship Type="http://schemas.openxmlformats.org/officeDocument/2006/relationships/notesSlide" Target="/ppt/notesSlides/notesSlide3.xml" Id="Rbc5c6e354656437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8453b0cdf0b4d80" /><Relationship Type="http://schemas.openxmlformats.org/officeDocument/2006/relationships/image" Target="/ppt/media/image3.png" Id="R57a387d195ea4564" /><Relationship Type="http://schemas.openxmlformats.org/officeDocument/2006/relationships/notesSlide" Target="/ppt/notesSlides/notesSlide4.xml" Id="R36127a678446409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402b93273064528" /><Relationship Type="http://schemas.openxmlformats.org/officeDocument/2006/relationships/image" Target="/ppt/media/image4.png" Id="R2aad5ad184304fe1" /><Relationship Type="http://schemas.openxmlformats.org/officeDocument/2006/relationships/notesSlide" Target="/ppt/notesSlides/notesSlide5.xml" Id="R22a00472c8334b1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d80d7ef6bf84420" /><Relationship Type="http://schemas.openxmlformats.org/officeDocument/2006/relationships/image" Target="/ppt/media/image5.png" Id="Rd009f345a0a84958" /><Relationship Type="http://schemas.openxmlformats.org/officeDocument/2006/relationships/notesSlide" Target="/ppt/notesSlides/notesSlide6.xml" Id="Rd8b4c8ce731844f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399a5ded7c14938" /><Relationship Type="http://schemas.openxmlformats.org/officeDocument/2006/relationships/image" Target="/ppt/media/image6.png" Id="Rf2424530150f4d41" /><Relationship Type="http://schemas.openxmlformats.org/officeDocument/2006/relationships/notesSlide" Target="/ppt/notesSlides/notesSlide7.xml" Id="R9d64b928912f414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8e8e64e00644988" /><Relationship Type="http://schemas.openxmlformats.org/officeDocument/2006/relationships/image" Target="/ppt/media/image7.png" Id="Rd1d12e4e8f75484f" /><Relationship Type="http://schemas.openxmlformats.org/officeDocument/2006/relationships/notesSlide" Target="/ppt/notesSlides/notesSlide8.xml" Id="R7eb32652d32a46b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1fb9c72422e47f7" /><Relationship Type="http://schemas.openxmlformats.org/officeDocument/2006/relationships/image" Target="/ppt/media/image8.png" Id="Rb7b2c1b6e5f04f13" /><Relationship Type="http://schemas.openxmlformats.org/officeDocument/2006/relationships/notesSlide" Target="/ppt/notesSlides/notesSlide9.xml" Id="R1342484e269346a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4cc9b6177e9400a" /><Relationship Type="http://schemas.openxmlformats.org/officeDocument/2006/relationships/notesSlide" Target="/ppt/notesSlides/notesSlide10.xml" Id="R8b5415f35ad741d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4e33e782b714106" /><Relationship Type="http://schemas.openxmlformats.org/officeDocument/2006/relationships/image" Target="/ppt/media/image9.png" Id="R41eb5723eb874752" /><Relationship Type="http://schemas.openxmlformats.org/officeDocument/2006/relationships/notesSlide" Target="/ppt/notesSlides/notesSlide11.xml" Id="Rb9ce498a16c8470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5aec44fca434584" /><Relationship Type="http://schemas.openxmlformats.org/officeDocument/2006/relationships/image" Target="/ppt/media/image10.png" Id="Rca2910752b5f4d2a" /><Relationship Type="http://schemas.openxmlformats.org/officeDocument/2006/relationships/notesSlide" Target="/ppt/notesSlides/notesSlide12.xml" Id="Rb2ce0510ed71464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791585a42394e08" /><Relationship Type="http://schemas.openxmlformats.org/officeDocument/2006/relationships/image" Target="/ppt/media/image11.png" Id="R129e4362feae4e61" /><Relationship Type="http://schemas.openxmlformats.org/officeDocument/2006/relationships/notesSlide" Target="/ppt/notesSlides/notesSlide13.xml" Id="R5b0cd23c39d148c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e184de09bd043f1" /><Relationship Type="http://schemas.openxmlformats.org/officeDocument/2006/relationships/image" Target="/ppt/media/image12.png" Id="R627c7a3b93a446a1" /><Relationship Type="http://schemas.openxmlformats.org/officeDocument/2006/relationships/notesSlide" Target="/ppt/notesSlides/notesSlide14.xml" Id="Ra48b8a739bbf424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4d25d757f094730" /><Relationship Type="http://schemas.openxmlformats.org/officeDocument/2006/relationships/image" Target="/ppt/media/image13.png" Id="R545a7d124f324195" /><Relationship Type="http://schemas.openxmlformats.org/officeDocument/2006/relationships/notesSlide" Target="/ppt/notesSlides/notesSlide15.xml" Id="R1d6b7f79f51f4eb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dbfd5aa78b94ee2" /><Relationship Type="http://schemas.openxmlformats.org/officeDocument/2006/relationships/image" Target="/ppt/media/image14.png" Id="R9067587eee1c4f3f" /><Relationship Type="http://schemas.openxmlformats.org/officeDocument/2006/relationships/notesSlide" Target="/ppt/notesSlides/notesSlide16.xml" Id="Rbf47a44f963f4c0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5cb2ebcd16147ce" /><Relationship Type="http://schemas.openxmlformats.org/officeDocument/2006/relationships/image" Target="/ppt/media/image15.png" Id="Rfac9d68941e84847" /><Relationship Type="http://schemas.openxmlformats.org/officeDocument/2006/relationships/notesSlide" Target="/ppt/notesSlides/notesSlide17.xml" Id="Rb3eacf096ab544d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d51a707efbe4985" /><Relationship Type="http://schemas.openxmlformats.org/officeDocument/2006/relationships/image" Target="/ppt/media/image16.png" Id="R5c0b466f190841ec" /><Relationship Type="http://schemas.openxmlformats.org/officeDocument/2006/relationships/notesSlide" Target="/ppt/notesSlides/notesSlide18.xml" Id="R61269949db404609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ad3ce9adb354a30" /><Relationship Type="http://schemas.openxmlformats.org/officeDocument/2006/relationships/image" Target="/ppt/media/image17.png" Id="Ra733eb0fc8bb4aac" /><Relationship Type="http://schemas.openxmlformats.org/officeDocument/2006/relationships/notesSlide" Target="/ppt/notesSlides/notesSlide19.xml" Id="Rf8b67028ab974cf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a2e2df300b74f4b" /><Relationship Type="http://schemas.openxmlformats.org/officeDocument/2006/relationships/notesSlide" Target="/ppt/notesSlides/notesSlide20.xml" Id="R1d2987f3141247b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ubtitle 1">
            <a:extLst xmlns:a="http://schemas.openxmlformats.org/drawingml/2006/main">
              <a:ext uri="{FF2B5EF4-FFF2-40B4-BE49-F238E27FC236}">
                <a16:creationId xmlns:a16="http://schemas.microsoft.com/office/drawing/2014/main" id="{15024799-1CC6-4588-B14E-AB4E7BFE3B2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612899" y="3788918"/>
            <a:ext cx="8412480" cy="365760"/>
          </a:xfrm>
        </p:spPr>
        <p:txBody>
          <a:bodyPr xmlns:a="http://schemas.openxmlformats.org/drawingml/2006/main" lIns="0" rIns="0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00" b="0">
                <a:solidFill>
                  <a:srgbClr val="526078"/>
                </a:solidFill>
                <a:latin typeface="微软雅黑"/>
                <a:ea typeface="微软雅黑"/>
                <a:cs typeface="微软雅黑"/>
              </a:rPr>
              <a:t>面向 AI Data Execution Layer 的 work-unit 构造与状态感知调度</a:t>
            </a:r>
            <a:endParaRPr sz="1400">
              <a:solidFill>
                <a:srgbClr val="6B7280"/>
              </a:solidFill>
            </a:endParaRPr>
          </a:p>
        </p:txBody>
      </p:sp>
      <p:sp>
        <p:nvSpPr>
          <p:cNvPr id="3" name="Title 2">
            <a:extLst xmlns:a="http://schemas.openxmlformats.org/drawingml/2006/main">
              <a:ext uri="{FF2B5EF4-FFF2-40B4-BE49-F238E27FC236}">
                <a16:creationId xmlns:a16="http://schemas.microsoft.com/office/drawing/2014/main" id="{C6F99C8C-491B-475B-A051-891BF4EAC60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7060" y="2492375"/>
            <a:ext cx="10469880" cy="1005840"/>
          </a:xfrm>
        </p:spPr>
        <p:txBody>
          <a:bodyPr xmlns:a="http://schemas.openxmlformats.org/drawingml/2006/main" lIns="0" rIns="0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solidFill>
                  <a:srgbClr val="000000"/>
                </a:solidFill>
              </a:rPr>
              <a:t>数据库 AI 负载的执行优化与调度研究</a:t>
            </a:r>
            <a:endParaRPr sz="2800" b="1">
              <a:solidFill>
                <a:srgbClr val="000000"/>
              </a:solidFill>
            </a:endParaR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630EE88-CC36-4843-B533-311D07DE2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4320" y="4220845"/>
            <a:ext cx="8595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/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600" b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报告人：____________    指导老师：____________</a:t>
            </a:r>
            <a:endParaRPr sz="1600" b="0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91060270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6F90E21-DBD3-40F8-A980-D12524A74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978408"/>
            <a:ext cx="731520" cy="6492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8C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anchor="ctr"/>
          <a:lstStyle xmlns:a="http://schemas.openxmlformats.org/drawingml/2006/main"/>
          <a:p xmlns:a="http://schemas.openxmlformats.org/drawingml/2006/main">
            <a:pPr algn="ctr">
              <a:buNone/>
              <a:defRPr sz="3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t>01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E80F08C-3D11-4187-8DBE-13C3D65F2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1024128"/>
            <a:ext cx="9144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l">
              <a:buNone/>
              <a:defRPr sz="28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t>AI 算子已经进入数据库工作流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717c8eb71a42f8"/>
          <a:stretch xmlns:a="http://schemas.openxmlformats.org/drawingml/2006/main"/>
        </p:blipFill>
        <p:spPr>
          <a:xfrm xmlns:a="http://schemas.openxmlformats.org/drawingml/2006/main">
            <a:off x="1524000" y="1695450"/>
            <a:ext cx="9144000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189579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6F90E21-DBD3-40F8-A980-D12524A74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978408"/>
            <a:ext cx="731520" cy="6492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8C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anchor="ctr"/>
          <a:lstStyle xmlns:a="http://schemas.openxmlformats.org/drawingml/2006/main"/>
          <a:p xmlns:a="http://schemas.openxmlformats.org/drawingml/2006/main">
            <a:pPr algn="ctr">
              <a:buNone/>
              <a:defRPr sz="3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t>01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E80F08C-3D11-4187-8DBE-13C3D65F2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1024128"/>
            <a:ext cx="9144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l">
              <a:buNone/>
              <a:defRPr sz="28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t>AI 算子形成新的外部执行链路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3b754568364ce2"/>
          <a:stretch xmlns:a="http://schemas.openxmlformats.org/drawingml/2006/main"/>
        </p:blipFill>
        <p:spPr>
          <a:xfrm xmlns:a="http://schemas.openxmlformats.org/drawingml/2006/main">
            <a:off x="1524000" y="1695450"/>
            <a:ext cx="9144000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189579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6F90E21-DBD3-40F8-A980-D12524A74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978408"/>
            <a:ext cx="731520" cy="6492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8C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anchor="ctr"/>
          <a:lstStyle xmlns:a="http://schemas.openxmlformats.org/drawingml/2006/main"/>
          <a:p xmlns:a="http://schemas.openxmlformats.org/drawingml/2006/main">
            <a:pPr algn="ctr">
              <a:buNone/>
              <a:defRPr sz="3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t>01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E80F08C-3D11-4187-8DBE-13C3D65F2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1024128"/>
            <a:ext cx="9144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l">
              <a:buNone/>
              <a:defRPr sz="28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t>代表工作推进了相邻层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a387d195ea4564"/>
          <a:stretch xmlns:a="http://schemas.openxmlformats.org/drawingml/2006/main"/>
        </p:blipFill>
        <p:spPr>
          <a:xfrm xmlns:a="http://schemas.openxmlformats.org/drawingml/2006/main">
            <a:off x="1524000" y="1695450"/>
            <a:ext cx="9144000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189579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13EA05A-F3A5-4439-B39E-580196FE5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978408"/>
            <a:ext cx="731520" cy="6492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8C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anchor="ctr"/>
          <a:lstStyle xmlns:a="http://schemas.openxmlformats.org/drawingml/2006/main"/>
          <a:p xmlns:a="http://schemas.openxmlformats.org/drawingml/2006/main">
            <a:pPr algn="ctr">
              <a:buNone/>
              <a:defRPr sz="3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t>01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4485D81-33B0-4B98-8BAF-615975A1C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1024128"/>
            <a:ext cx="9144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l">
              <a:buNone/>
              <a:defRPr sz="28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t>AI Data Infra 仍缺少上游执行闭环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CE998A0-78D8-4183-BBD1-5D9FA0B53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412740"/>
            <a:ext cx="10928350" cy="9372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600"/>
              </a:spcAft>
              <a:buNone/>
              <a:defRPr sz="1500">
                <a:solidFill>
                  <a:srgbClr val="244C89"/>
                </a:solidFill>
                <a:latin typeface="微软雅黑"/>
                <a:ea typeface="微软雅黑"/>
                <a:cs typeface="微软雅黑"/>
              </a:defRPr>
            </a:pPr>
            <a:r>
              <a:rPr>
                <a:solidFill>
                  <a:srgbClr val="244C89"/>
                </a:solidFill>
              </a:rPr>
              <a:t>数据库知道 Job、SLO 与结果语义；模型服务知道 running、waiting、KV 与完成节奏。中间层需要统一 work、state、control 与 cost 接口。</a:t>
            </a:r>
            <a:endParaRPr>
              <a:solidFill>
                <a:srgbClr val="244C89"/>
              </a:solidFill>
            </a:endParaRP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1052E5B-0611-42E4-A3D2-2635C128D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" y="6318504"/>
            <a:ext cx="41148" cy="3291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0A45667-373E-466B-A9CB-7288C56AB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6318504"/>
            <a:ext cx="112014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rgbClr val="F97316"/>
                </a:solidFill>
                <a:latin typeface="微软雅黑"/>
                <a:ea typeface="微软雅黑"/>
                <a:cs typeface="微软雅黑"/>
              </a:defRPr>
            </a:pPr>
            <a:r>
              <a:rPr sz="1250"/>
              <a:t>本课题研究 Database 与 Model Service 之间的 AI Data Execution Layer。</a:t>
            </a:r>
            <a:endParaRPr sz="1250"/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86A5FC-674E-49C1-8CD7-09DDE2B96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1995" y="1700530"/>
            <a:ext cx="7564120" cy="36753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ad5ad184304fe1"/>
          <a:stretch xmlns:a="http://schemas.openxmlformats.org/drawingml/2006/main"/>
        </p:blipFill>
        <p:spPr>
          <a:xfrm xmlns:a="http://schemas.openxmlformats.org/drawingml/2006/main">
            <a:off x="2507051" y="1700530"/>
            <a:ext cx="6534009" cy="367538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283662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13EA05A-F3A5-4439-B39E-580196FE5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978408"/>
            <a:ext cx="731520" cy="6492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8C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anchor="ctr"/>
          <a:lstStyle xmlns:a="http://schemas.openxmlformats.org/drawingml/2006/main"/>
          <a:p xmlns:a="http://schemas.openxmlformats.org/drawingml/2006/main">
            <a:pPr algn="ctr">
              <a:buNone/>
              <a:defRPr sz="3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t>01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4485D81-33B0-4B98-8BAF-615975A1C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1024128"/>
            <a:ext cx="9144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l">
              <a:buNone/>
              <a:defRPr sz="28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t>同一任务会落入不同服务状态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CE998A0-78D8-4183-BBD1-5D9FA0B53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412740"/>
            <a:ext cx="10928350" cy="9372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600"/>
              </a:spcAft>
              <a:buNone/>
              <a:defRPr sz="1500">
                <a:solidFill>
                  <a:srgbClr val="244C89"/>
                </a:solidFill>
                <a:latin typeface="微软雅黑"/>
                <a:ea typeface="微软雅黑"/>
                <a:cs typeface="微软雅黑"/>
              </a:defRPr>
            </a:pPr>
            <a:r>
              <a:rPr>
                <a:solidFill>
                  <a:srgbClr val="244C89"/>
                </a:solidFill>
              </a:rPr>
              <a:t>左：统一 source/sink 的产品 database-E2E；右：同一 ShareGPT manifest 的官方 Chat graph。两条轨分别回答正确性边界与服务供给状态。</a:t>
            </a:r>
            <a:endParaRPr>
              <a:solidFill>
                <a:srgbClr val="244C89"/>
              </a:solidFill>
            </a:endParaRP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1052E5B-0611-42E4-A3D2-2635C128D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" y="6318504"/>
            <a:ext cx="41148" cy="3291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0A45667-373E-466B-A9CB-7288C56AB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6318504"/>
            <a:ext cx="112014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rgbClr val="F97316"/>
                </a:solidFill>
                <a:latin typeface="微软雅黑"/>
                <a:ea typeface="微软雅黑"/>
                <a:cs typeface="微软雅黑"/>
              </a:defRPr>
            </a:pPr>
            <a:r>
              <a:rPr sz="1250"/>
              <a:t>现有路径的关键差异不仅是 JCT，还包括欠供给、有效供给与过量排队。</a:t>
            </a:r>
            <a:endParaRPr sz="1250"/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FBE16E-5E17-4601-A325-D157BE5D6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1995" y="1700530"/>
            <a:ext cx="7564120" cy="36753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09f345a0a84958"/>
          <a:stretch xmlns:a="http://schemas.openxmlformats.org/drawingml/2006/main"/>
        </p:blipFill>
        <p:spPr>
          <a:xfrm xmlns:a="http://schemas.openxmlformats.org/drawingml/2006/main">
            <a:off x="1991995" y="2052341"/>
            <a:ext cx="7564120" cy="297175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283662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13EA05A-F3A5-4439-B39E-580196FE5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978408"/>
            <a:ext cx="731520" cy="6492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8C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anchor="ctr"/>
          <a:lstStyle xmlns:a="http://schemas.openxmlformats.org/drawingml/2006/main"/>
          <a:p xmlns:a="http://schemas.openxmlformats.org/drawingml/2006/main">
            <a:pPr algn="ctr">
              <a:buNone/>
              <a:defRPr sz="3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t>01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4485D81-33B0-4B98-8BAF-615975A1C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1024128"/>
            <a:ext cx="9144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l">
              <a:buNone/>
              <a:defRPr sz="28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t>记录数和静态上限都不是运行状态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CE998A0-78D8-4183-BBD1-5D9FA0B53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412740"/>
            <a:ext cx="10928350" cy="9372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600"/>
              </a:spcAft>
              <a:buNone/>
              <a:defRPr sz="1500">
                <a:solidFill>
                  <a:srgbClr val="244C89"/>
                </a:solidFill>
                <a:latin typeface="微软雅黑"/>
                <a:ea typeface="微软雅黑"/>
                <a:cs typeface="微软雅黑"/>
              </a:defRPr>
            </a:pPr>
            <a:r>
              <a:rPr>
                <a:solidFill>
                  <a:srgbClr val="244C89"/>
                </a:solidFill>
              </a:rPr>
              <a:t>同行数的 token work 可相差 14.3×；相同 W65K 在不同 offered load 下呈现不同 running/MFU；容量扫描存在最小近饱和区。</a:t>
            </a:r>
            <a:endParaRPr>
              <a:solidFill>
                <a:srgbClr val="244C89"/>
              </a:solidFill>
            </a:endParaRP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1052E5B-0611-42E4-A3D2-2635C128D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" y="6318504"/>
            <a:ext cx="41148" cy="3291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0A45667-373E-466B-A9CB-7288C56AB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6318504"/>
            <a:ext cx="112014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rgbClr val="F97316"/>
                </a:solidFill>
                <a:latin typeface="微软雅黑"/>
                <a:ea typeface="微软雅黑"/>
                <a:cs typeface="微软雅黑"/>
              </a:defRPr>
            </a:pPr>
            <a:r>
              <a:rPr sz="1250"/>
              <a:t>需要可比较的 work、新鲜状态快照和保持总上限不变的份额控制。</a:t>
            </a:r>
            <a:endParaRPr sz="1250"/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FBE16E-5E17-4601-A325-D157BE5D6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1995" y="1700530"/>
            <a:ext cx="7564120" cy="36753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424530150f4d41"/>
          <a:stretch xmlns:a="http://schemas.openxmlformats.org/drawingml/2006/main"/>
        </p:blipFill>
        <p:spPr>
          <a:xfrm xmlns:a="http://schemas.openxmlformats.org/drawingml/2006/main">
            <a:off x="1991995" y="2041115"/>
            <a:ext cx="7564120" cy="299421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283662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13EA05A-F3A5-4439-B39E-580196FE5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978408"/>
            <a:ext cx="731520" cy="6492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8C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anchor="ctr"/>
          <a:lstStyle xmlns:a="http://schemas.openxmlformats.org/drawingml/2006/main"/>
          <a:p xmlns:a="http://schemas.openxmlformats.org/drawingml/2006/main">
            <a:pPr algn="ctr">
              <a:buNone/>
              <a:defRPr sz="3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t>01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4485D81-33B0-4B98-8BAF-615975A1C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1024128"/>
            <a:ext cx="9144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l">
              <a:buNone/>
              <a:defRPr sz="28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t>图像把 work 扩展为多阶段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CE998A0-78D8-4183-BBD1-5D9FA0B53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412740"/>
            <a:ext cx="10928350" cy="9372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600"/>
              </a:spcAft>
              <a:buNone/>
              <a:defRPr sz="1500">
                <a:solidFill>
                  <a:srgbClr val="244C89"/>
                </a:solidFill>
                <a:latin typeface="微软雅黑"/>
                <a:ea typeface="微软雅黑"/>
                <a:cs typeface="微软雅黑"/>
              </a:defRPr>
            </a:pPr>
            <a:r>
              <a:rPr>
                <a:solidFill>
                  <a:srgbClr val="244C89"/>
                </a:solidFill>
              </a:rPr>
              <a:t>CPU prepare、host-to-device transfer 与 model forward 的代价形态明显不同；继续增大 active window 还会带来等待与回退。</a:t>
            </a:r>
            <a:endParaRPr>
              <a:solidFill>
                <a:srgbClr val="244C89"/>
              </a:solidFill>
            </a:endParaRP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1052E5B-0611-42E4-A3D2-2635C128D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" y="6318504"/>
            <a:ext cx="41148" cy="3291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0A45667-373E-466B-A9CB-7288C56AB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6318504"/>
            <a:ext cx="112014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rgbClr val="F97316"/>
                </a:solidFill>
                <a:latin typeface="微软雅黑"/>
                <a:ea typeface="微软雅黑"/>
                <a:cs typeface="微软雅黑"/>
              </a:defRPr>
            </a:pPr>
            <a:r>
              <a:rPr sz="1250"/>
              <a:t>跨模态接口应表达 source/prepare/model/result stage，而非单一图片数。</a:t>
            </a:r>
            <a:endParaRPr sz="1250"/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FBE16E-5E17-4601-A325-D157BE5D6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1995" y="1700530"/>
            <a:ext cx="7564120" cy="36753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d12e4e8f75484f"/>
          <a:stretch xmlns:a="http://schemas.openxmlformats.org/drawingml/2006/main"/>
        </p:blipFill>
        <p:spPr>
          <a:xfrm xmlns:a="http://schemas.openxmlformats.org/drawingml/2006/main">
            <a:off x="1991995" y="2039221"/>
            <a:ext cx="7564120" cy="2997997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283662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13EA05A-F3A5-4439-B39E-580196FE5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978408"/>
            <a:ext cx="731520" cy="6492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8C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anchor="ctr"/>
          <a:lstStyle xmlns:a="http://schemas.openxmlformats.org/drawingml/2006/main"/>
          <a:p xmlns:a="http://schemas.openxmlformats.org/drawingml/2006/main">
            <a:pPr algn="ctr">
              <a:buNone/>
              <a:defRPr sz="3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t>01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4485D81-33B0-4B98-8BAF-615975A1C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1024128"/>
            <a:ext cx="9144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l">
              <a:buNone/>
              <a:defRPr sz="28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t>四 Job 并发同时影响 Short 与 Long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CE998A0-78D8-4183-BBD1-5D9FA0B53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412740"/>
            <a:ext cx="10928350" cy="9372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600"/>
              </a:spcAft>
              <a:buNone/>
              <a:defRPr sz="1500">
                <a:solidFill>
                  <a:srgbClr val="244C89"/>
                </a:solidFill>
                <a:latin typeface="微软雅黑"/>
                <a:ea typeface="微软雅黑"/>
                <a:cs typeface="微软雅黑"/>
              </a:defRPr>
            </a:pPr>
            <a:r>
              <a:rPr>
                <a:solidFill>
                  <a:srgbClr val="244C89"/>
                </a:solidFill>
              </a:rPr>
              <a:t>每条原生路径内部比较 four-job JCT / isolated JCT。Short 与三个 Long Job 均受影响，但退化幅度和压力形态不同。</a:t>
            </a:r>
            <a:endParaRPr>
              <a:solidFill>
                <a:srgbClr val="244C89"/>
              </a:solidFill>
            </a:endParaRP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1052E5B-0611-42E4-A3D2-2635C128D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" y="6318504"/>
            <a:ext cx="41148" cy="3291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0A45667-373E-466B-A9CB-7288C56AB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6318504"/>
            <a:ext cx="112014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rgbClr val="F97316"/>
                </a:solidFill>
                <a:latin typeface="微软雅黑"/>
                <a:ea typeface="微软雅黑"/>
                <a:cs typeface="微软雅黑"/>
              </a:defRPr>
            </a:pPr>
            <a:r>
              <a:rPr sz="1250"/>
              <a:t>作业到达、活跃、drain 与公平需要模型服务上游的任务级管理。</a:t>
            </a:r>
            <a:endParaRPr sz="1250"/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FBE16E-5E17-4601-A325-D157BE5D6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1995" y="1700530"/>
            <a:ext cx="7564120" cy="36753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b2c1b6e5f04f13"/>
          <a:stretch xmlns:a="http://schemas.openxmlformats.org/drawingml/2006/main"/>
        </p:blipFill>
        <p:spPr>
          <a:xfrm xmlns:a="http://schemas.openxmlformats.org/drawingml/2006/main">
            <a:off x="1991995" y="1751766"/>
            <a:ext cx="7564120" cy="357290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2836621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6F90E21-DBD3-40F8-A980-D12524A74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978408"/>
            <a:ext cx="731520" cy="6492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8C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anchor="ctr"/>
          <a:lstStyle xmlns:a="http://schemas.openxmlformats.org/drawingml/2006/main"/>
          <a:p xmlns:a="http://schemas.openxmlformats.org/drawingml/2006/main">
            <a:pPr algn="ctr">
              <a:buNone/>
              <a:defRPr sz="3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t>02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E80F08C-3D11-4187-8DBE-13C3D65F2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1024128"/>
            <a:ext cx="9144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l">
              <a:buNone/>
              <a:defRPr sz="28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t>实验现象导出四项设计要求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FD12081-7C09-419D-A564-77E2962AE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920240"/>
            <a:ext cx="10972800" cy="3200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  <a:defRPr sz="1500">
                <a:solidFill>
                  <a:srgbClr val="244C89"/>
                </a:solidFill>
                <a:latin typeface="微软雅黑"/>
                <a:ea typeface="微软雅黑"/>
                <a:cs typeface="微软雅黑"/>
              </a:defRPr>
            </a:pPr>
            <a:r>
              <a:rPr>
                <a:solidFill>
                  <a:srgbClr val="244C89"/>
                </a:solidFill>
              </a:rPr>
              <a:t>Work 表征 → staged WorkDescriptor；运行状态 → fresh stage/service/job snapshot</a:t>
            </a:r>
            <a:endParaRPr>
              <a:solidFill>
                <a:srgbClr val="244C89"/>
              </a:solidFill>
            </a:endParaRPr>
          </a:p>
          <a:p xmlns:a="http://schemas.openxmlformats.org/drawingml/2006/main">
            <a:pPr>
              <a:spcAft>
                <a:spcPts val="800"/>
              </a:spcAft>
              <a:buNone/>
              <a:defRPr sz="150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>
                <a:solidFill>
                  <a:srgbClr val="244C89"/>
                </a:solidFill>
              </a:rPr>
              <a:t>多 Job 干扰 → 额度借用、完成回收与公平保护；配置风险 → profile + residual，以 ranking/regret 验收</a:t>
            </a:r>
            <a:endParaRPr>
              <a:solidFill>
                <a:srgbClr val="244C89"/>
              </a:solidFill>
            </a:endParaRP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7D04FBB0-0AB1-43E6-A0FA-BF62FAFE8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" y="6318504"/>
            <a:ext cx="41148" cy="3291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09521BE-906E-4D9D-A1C2-D67359359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6318504"/>
            <a:ext cx="112014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rgbClr val="2F6FEB"/>
                </a:solidFill>
                <a:latin typeface="微软雅黑"/>
                <a:ea typeface="微软雅黑"/>
                <a:cs typeface="微软雅黑"/>
              </a:defRPr>
            </a:pPr>
            <a:r>
              <a:rPr sz="1250"/>
              <a:t>Work Unit、状态感知、动态调度与代价估计具有同等证据要求。</a:t>
            </a:r>
            <a:endParaRPr sz="1250"/>
          </a:p>
        </p:txBody>
      </p:sp>
    </p:spTree>
    <p:extLst>
      <p:ext uri="{BB962C8B-B14F-4D97-AF65-F5344CB8AC3E}">
        <p14:creationId xmlns:p14="http://schemas.microsoft.com/office/powerpoint/2010/main" val="651895794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13EA05A-F3A5-4439-B39E-580196FE5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978408"/>
            <a:ext cx="731520" cy="6492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8C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anchor="ctr"/>
          <a:lstStyle xmlns:a="http://schemas.openxmlformats.org/drawingml/2006/main"/>
          <a:p xmlns:a="http://schemas.openxmlformats.org/drawingml/2006/main">
            <a:pPr algn="ctr">
              <a:buNone/>
              <a:defRPr sz="3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t>02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4485D81-33B0-4B98-8BAF-615975A1C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1024128"/>
            <a:ext cx="9144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l">
              <a:buNone/>
              <a:defRPr sz="28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t>AI 数据执行层形成反馈闭环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CE998A0-78D8-4183-BBD1-5D9FA0B53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412740"/>
            <a:ext cx="10928350" cy="9372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600"/>
              </a:spcAft>
              <a:buNone/>
              <a:defRPr sz="1500">
                <a:solidFill>
                  <a:srgbClr val="244C89"/>
                </a:solidFill>
                <a:latin typeface="微软雅黑"/>
                <a:ea typeface="微软雅黑"/>
                <a:cs typeface="微软雅黑"/>
              </a:defRPr>
            </a:pPr>
            <a:r>
              <a:rPr>
                <a:solidFill>
                  <a:srgbClr val="244C89"/>
                </a:solidFill>
              </a:rPr>
              <a:t>Organizer 决定一个 work unit 包含什么；Scheduler 决定何时、向哪里、以多少 active work 提交；代价估计同时服务两者。</a:t>
            </a:r>
            <a:endParaRPr>
              <a:solidFill>
                <a:srgbClr val="244C89"/>
              </a:solidFill>
            </a:endParaRP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1052E5B-0611-42E4-A3D2-2635C128D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" y="6318504"/>
            <a:ext cx="41148" cy="3291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0A45667-373E-466B-A9CB-7288C56AB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6318504"/>
            <a:ext cx="112014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rgbClr val="F97316"/>
                </a:solidFill>
                <a:latin typeface="微软雅黑"/>
                <a:ea typeface="微软雅黑"/>
                <a:cs typeface="微软雅黑"/>
              </a:defRPr>
            </a:pPr>
            <a:r>
              <a:rPr sz="1250"/>
              <a:t>研究发生在数据库与模型服务之间，不修改模型内部 batching。</a:t>
            </a:r>
            <a:endParaRPr sz="1250"/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86A5FC-674E-49C1-8CD7-09DDE2B96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1995" y="1700530"/>
            <a:ext cx="7564120" cy="36753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eb5723eb874752"/>
          <a:stretch xmlns:a="http://schemas.openxmlformats.org/drawingml/2006/main"/>
        </p:blipFill>
        <p:spPr>
          <a:xfrm xmlns:a="http://schemas.openxmlformats.org/drawingml/2006/main">
            <a:off x="2507051" y="1700530"/>
            <a:ext cx="6534009" cy="367538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2836621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13EA05A-F3A5-4439-B39E-580196FE5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978408"/>
            <a:ext cx="731520" cy="6492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8C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anchor="ctr"/>
          <a:lstStyle xmlns:a="http://schemas.openxmlformats.org/drawingml/2006/main"/>
          <a:p xmlns:a="http://schemas.openxmlformats.org/drawingml/2006/main">
            <a:pPr algn="ctr">
              <a:buNone/>
              <a:defRPr sz="3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t>02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4485D81-33B0-4B98-8BAF-615975A1C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1024128"/>
            <a:ext cx="9144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l">
              <a:buNone/>
              <a:defRPr sz="28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t>WorkDescriptor 连接组织与调度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CE998A0-78D8-4183-BBD1-5D9FA0B53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412740"/>
            <a:ext cx="10928350" cy="9372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600"/>
              </a:spcAft>
              <a:buNone/>
              <a:defRPr sz="1500">
                <a:solidFill>
                  <a:srgbClr val="244C89"/>
                </a:solidFill>
                <a:latin typeface="微软雅黑"/>
                <a:ea typeface="微软雅黑"/>
                <a:cs typeface="微软雅黑"/>
              </a:defRPr>
            </a:pPr>
            <a:r>
              <a:rPr>
                <a:solidFill>
                  <a:srgbClr val="244C89"/>
                </a:solidFill>
              </a:rPr>
              <a:t>文本表达 prompt/output token 与 prefix locality；图像表达 encoded bytes、prepare、tensor 与 model work。共同字段包括 deadline、uncertainty 与 calibration signature。</a:t>
            </a:r>
            <a:endParaRPr>
              <a:solidFill>
                <a:srgbClr val="244C89"/>
              </a:solidFill>
            </a:endParaRP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1052E5B-0611-42E4-A3D2-2635C128D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" y="6318504"/>
            <a:ext cx="41148" cy="3291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0A45667-373E-466B-A9CB-7288C56AB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6318504"/>
            <a:ext cx="112014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rgbClr val="F97316"/>
                </a:solidFill>
                <a:latin typeface="微软雅黑"/>
                <a:ea typeface="微软雅黑"/>
                <a:cs typeface="微软雅黑"/>
              </a:defRPr>
            </a:pPr>
            <a:r>
              <a:rPr sz="1250"/>
              <a:t>字段不是清单：每个字段都要对应组织、路由、准入或公平决策。</a:t>
            </a:r>
            <a:endParaRPr sz="1250"/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9ED548-754F-4DED-93B1-96841B4AB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1995" y="1700530"/>
            <a:ext cx="7564120" cy="36753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2910752b5f4d2a"/>
          <a:stretch xmlns:a="http://schemas.openxmlformats.org/drawingml/2006/main"/>
        </p:blipFill>
        <p:spPr>
          <a:xfrm xmlns:a="http://schemas.openxmlformats.org/drawingml/2006/main">
            <a:off x="2507051" y="1700530"/>
            <a:ext cx="6534009" cy="367538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2836621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13EA05A-F3A5-4439-B39E-580196FE5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978408"/>
            <a:ext cx="731520" cy="6492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8C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anchor="ctr"/>
          <a:lstStyle xmlns:a="http://schemas.openxmlformats.org/drawingml/2006/main"/>
          <a:p xmlns:a="http://schemas.openxmlformats.org/drawingml/2006/main">
            <a:pPr algn="ctr">
              <a:buNone/>
              <a:defRPr sz="3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t>02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4485D81-33B0-4B98-8BAF-615975A1C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1024128"/>
            <a:ext cx="9144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l">
              <a:buNone/>
              <a:defRPr sz="28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t>数据组织没有全局最优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CE998A0-78D8-4183-BBD1-5D9FA0B53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412740"/>
            <a:ext cx="10928350" cy="9372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600"/>
              </a:spcAft>
              <a:buNone/>
              <a:defRPr sz="1500">
                <a:solidFill>
                  <a:srgbClr val="244C89"/>
                </a:solidFill>
                <a:latin typeface="微软雅黑"/>
                <a:ea typeface="微软雅黑"/>
                <a:cs typeface="微软雅黑"/>
              </a:defRPr>
            </a:pPr>
            <a:r>
              <a:rPr>
                <a:solidFill>
                  <a:srgbClr val="244C89"/>
                </a:solidFill>
              </a:rPr>
              <a:t>低压力下五种策略近似中性；高压力下重排策略的 cache hit 与吞吐同步下降。颜色对应组织策略，实线保持输入顺序，虚线改变排序或装箱。</a:t>
            </a:r>
            <a:endParaRPr>
              <a:solidFill>
                <a:srgbClr val="244C89"/>
              </a:solidFill>
            </a:endParaRP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1052E5B-0611-42E4-A3D2-2635C128D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" y="6318504"/>
            <a:ext cx="41148" cy="3291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0A45667-373E-466B-A9CB-7288C56AB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6318504"/>
            <a:ext cx="112014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rgbClr val="F97316"/>
                </a:solidFill>
                <a:latin typeface="微软雅黑"/>
                <a:ea typeface="微软雅黑"/>
                <a:cs typeface="微软雅黑"/>
              </a:defRPr>
            </a:pPr>
            <a:r>
              <a:rPr sz="1250"/>
              <a:t>balance 与 locality 可联合约束，但实验臂的排序/装箱策略互斥比较。</a:t>
            </a:r>
            <a:endParaRPr sz="1250"/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FBE16E-5E17-4601-A325-D157BE5D6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1995" y="1700530"/>
            <a:ext cx="7564120" cy="36753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9e4362feae4e61"/>
          <a:stretch xmlns:a="http://schemas.openxmlformats.org/drawingml/2006/main"/>
        </p:blipFill>
        <p:spPr>
          <a:xfrm xmlns:a="http://schemas.openxmlformats.org/drawingml/2006/main">
            <a:off x="1991995" y="1852609"/>
            <a:ext cx="7564120" cy="337122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2836621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13EA05A-F3A5-4439-B39E-580196FE5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978408"/>
            <a:ext cx="731520" cy="6492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8C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anchor="ctr"/>
          <a:lstStyle xmlns:a="http://schemas.openxmlformats.org/drawingml/2006/main"/>
          <a:p xmlns:a="http://schemas.openxmlformats.org/drawingml/2006/main">
            <a:pPr algn="ctr">
              <a:buNone/>
              <a:defRPr sz="3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t>02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4485D81-33B0-4B98-8BAF-615975A1C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1024128"/>
            <a:ext cx="9144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l">
              <a:buNone/>
              <a:defRPr sz="28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t>总容量固定，份额随活跃集调整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CE998A0-78D8-4183-BBD1-5D9FA0B53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412740"/>
            <a:ext cx="10928350" cy="9372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600"/>
              </a:spcAft>
              <a:buNone/>
              <a:defRPr sz="1500">
                <a:solidFill>
                  <a:srgbClr val="244C89"/>
                </a:solidFill>
                <a:latin typeface="微软雅黑"/>
                <a:ea typeface="微软雅黑"/>
                <a:cs typeface="微软雅黑"/>
              </a:defRPr>
            </a:pPr>
            <a:r>
              <a:rPr>
                <a:solidFill>
                  <a:srgbClr val="244C89"/>
                </a:solidFill>
              </a:rPr>
              <a:t>先离线标定当前配置的稳定总上限；运行时仅在活跃 Job 间借用空闲份额、完成即回收，并以 freshness、SLO debt 与公平 deficit 决定释放顺序。</a:t>
            </a:r>
            <a:endParaRPr>
              <a:solidFill>
                <a:srgbClr val="244C89"/>
              </a:solidFill>
            </a:endParaRP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1052E5B-0611-42E4-A3D2-2635C128D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" y="6318504"/>
            <a:ext cx="41148" cy="3291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0A45667-373E-466B-A9CB-7288C56AB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6318504"/>
            <a:ext cx="112014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rgbClr val="F97316"/>
                </a:solidFill>
                <a:latin typeface="微软雅黑"/>
                <a:ea typeface="微软雅黑"/>
                <a:cs typeface="微软雅黑"/>
              </a:defRPr>
            </a:pPr>
            <a:r>
              <a:rPr sz="1250"/>
              <a:t>状态缺失或过期时回退全局 FIFO/DRR；简单策略足够好则不引入复杂控制。</a:t>
            </a:r>
            <a:endParaRPr sz="1250"/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8F1471-720F-48AA-928A-3A2151887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1995" y="1700530"/>
            <a:ext cx="7564120" cy="36753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7c7a3b93a446a1"/>
          <a:stretch xmlns:a="http://schemas.openxmlformats.org/drawingml/2006/main"/>
        </p:blipFill>
        <p:spPr>
          <a:xfrm xmlns:a="http://schemas.openxmlformats.org/drawingml/2006/main">
            <a:off x="2507051" y="1700530"/>
            <a:ext cx="6534009" cy="367538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2836621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13EA05A-F3A5-4439-B39E-580196FE5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978408"/>
            <a:ext cx="731520" cy="6492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8C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anchor="ctr"/>
          <a:lstStyle xmlns:a="http://schemas.openxmlformats.org/drawingml/2006/main"/>
          <a:p xmlns:a="http://schemas.openxmlformats.org/drawingml/2006/main">
            <a:pPr algn="ctr">
              <a:buNone/>
              <a:defRPr sz="3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t>02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4485D81-33B0-4B98-8BAF-615975A1C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1024128"/>
            <a:ext cx="9144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l">
              <a:buNone/>
              <a:defRPr sz="28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t>共享调度存在效率—公平权衡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CE998A0-78D8-4183-BBD1-5D9FA0B53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412740"/>
            <a:ext cx="10928350" cy="9372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600"/>
              </a:spcAft>
              <a:buNone/>
              <a:defRPr sz="1500">
                <a:solidFill>
                  <a:srgbClr val="244C89"/>
                </a:solidFill>
                <a:latin typeface="微软雅黑"/>
                <a:ea typeface="微软雅黑"/>
                <a:cs typeface="微软雅黑"/>
              </a:defRPr>
            </a:pPr>
            <a:r>
              <a:rPr>
                <a:solidFill>
                  <a:srgbClr val="244C89"/>
                </a:solidFill>
              </a:rPr>
              <a:t>Project 的 full/quarter 控制先分离额度损失，再比较同上限 static 与 shared。shared 提高组吞吐与 MFU，但各 Job 收益和 Jain fairness 并不总是同向。</a:t>
            </a:r>
            <a:endParaRPr>
              <a:solidFill>
                <a:srgbClr val="244C89"/>
              </a:solidFill>
            </a:endParaRP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1052E5B-0611-42E4-A3D2-2635C128D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" y="6318504"/>
            <a:ext cx="41148" cy="3291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0A45667-373E-466B-A9CB-7288C56AB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6318504"/>
            <a:ext cx="112014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rgbClr val="F97316"/>
                </a:solidFill>
                <a:latin typeface="微软雅黑"/>
                <a:ea typeface="微软雅黑"/>
                <a:cs typeface="微软雅黑"/>
              </a:defRPr>
            </a:pPr>
            <a:r>
              <a:rPr sz="1250"/>
              <a:t>动态调度必须同时报告效率、隔离与公平，不能只看总吞吐。</a:t>
            </a:r>
            <a:endParaRPr sz="1250"/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FBE16E-5E17-4601-A325-D157BE5D6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1995" y="1700530"/>
            <a:ext cx="7564120" cy="36753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5a7d124f324195"/>
          <a:stretch xmlns:a="http://schemas.openxmlformats.org/drawingml/2006/main"/>
        </p:blipFill>
        <p:spPr>
          <a:xfrm xmlns:a="http://schemas.openxmlformats.org/drawingml/2006/main">
            <a:off x="2053967" y="1700530"/>
            <a:ext cx="7440176" cy="367538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2836621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13EA05A-F3A5-4439-B39E-580196FE5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978408"/>
            <a:ext cx="731520" cy="6492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8C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anchor="ctr"/>
          <a:lstStyle xmlns:a="http://schemas.openxmlformats.org/drawingml/2006/main"/>
          <a:p xmlns:a="http://schemas.openxmlformats.org/drawingml/2006/main">
            <a:pPr algn="ctr">
              <a:buNone/>
              <a:defRPr sz="3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t>02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4485D81-33B0-4B98-8BAF-615975A1C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1024128"/>
            <a:ext cx="9144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l">
              <a:buNone/>
              <a:defRPr sz="28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t>代价估计要评价决策质量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CE998A0-78D8-4183-BBD1-5D9FA0B53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412740"/>
            <a:ext cx="10928350" cy="9372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600"/>
              </a:spcAft>
              <a:buNone/>
              <a:defRPr sz="1500">
                <a:solidFill>
                  <a:srgbClr val="244C89"/>
                </a:solidFill>
                <a:latin typeface="微软雅黑"/>
                <a:ea typeface="微软雅黑"/>
                <a:cs typeface="微软雅黑"/>
              </a:defRPr>
            </a:pPr>
            <a:r>
              <a:rPr>
                <a:solidFill>
                  <a:srgbClr val="244C89"/>
                </a:solidFill>
              </a:rPr>
              <a:t>20 个 context 的完整点云展示每个估计器的选择损失；另报告配置 pairwise accuracy、平均与最坏 regret。</a:t>
            </a:r>
            <a:endParaRPr>
              <a:solidFill>
                <a:srgbClr val="244C89"/>
              </a:solidFill>
            </a:endParaRP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1052E5B-0611-42E4-A3D2-2635C128D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" y="6318504"/>
            <a:ext cx="41148" cy="3291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0A45667-373E-466B-A9CB-7288C56AB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6318504"/>
            <a:ext cx="112014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rgbClr val="F97316"/>
                </a:solidFill>
                <a:latin typeface="微软雅黑"/>
                <a:ea typeface="微软雅黑"/>
                <a:cs typeface="微软雅黑"/>
              </a:defRPr>
            </a:pPr>
            <a:r>
              <a:rPr sz="1250"/>
              <a:t>逐行 MAE 更低不保证配置选择更好；代价估计以 ranking/regret 验收。</a:t>
            </a:r>
            <a:endParaRPr sz="1250"/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FBE16E-5E17-4601-A325-D157BE5D6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1995" y="1700530"/>
            <a:ext cx="7564120" cy="36753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67587eee1c4f3f"/>
          <a:stretch xmlns:a="http://schemas.openxmlformats.org/drawingml/2006/main"/>
        </p:blipFill>
        <p:spPr>
          <a:xfrm xmlns:a="http://schemas.openxmlformats.org/drawingml/2006/main">
            <a:off x="1991995" y="1815678"/>
            <a:ext cx="7564120" cy="344508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2836621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13EA05A-F3A5-4439-B39E-580196FE5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978408"/>
            <a:ext cx="731520" cy="6492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8C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anchor="ctr"/>
          <a:lstStyle xmlns:a="http://schemas.openxmlformats.org/drawingml/2006/main"/>
          <a:p xmlns:a="http://schemas.openxmlformats.org/drawingml/2006/main">
            <a:pPr algn="ctr">
              <a:buNone/>
              <a:defRPr sz="3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t>03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4485D81-33B0-4B98-8BAF-615975A1C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1024128"/>
            <a:ext cx="9144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l">
              <a:buNone/>
              <a:defRPr sz="28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t>图像 baseline 分层解释能力边界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CE998A0-78D8-4183-BBD1-5D9FA0B53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412740"/>
            <a:ext cx="10928350" cy="9372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600"/>
              </a:spcAft>
              <a:buNone/>
              <a:defRPr sz="1500">
                <a:solidFill>
                  <a:srgbClr val="244C89"/>
                </a:solidFill>
                <a:latin typeface="微软雅黑"/>
                <a:ea typeface="微软雅黑"/>
                <a:cs typeface="微软雅黑"/>
              </a:defRPr>
            </a:pPr>
            <a:r>
              <a:rPr>
                <a:solidFill>
                  <a:srgbClr val="244C89"/>
                </a:solidFill>
              </a:rPr>
              <a:t>Direct CLIP 是容量参照；Daft Built-in 与 Ray Data 是原生 baseline；Project 是冻结静态方法参考；vLLM pooling 当前 capability gate 未通过。</a:t>
            </a:r>
            <a:endParaRPr>
              <a:solidFill>
                <a:srgbClr val="244C89"/>
              </a:solidFill>
            </a:endParaRP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1052E5B-0611-42E4-A3D2-2635C128D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" y="6318504"/>
            <a:ext cx="41148" cy="3291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0A45667-373E-466B-A9CB-7288C56AB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6318504"/>
            <a:ext cx="112014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rgbClr val="F97316"/>
                </a:solidFill>
                <a:latin typeface="微软雅黑"/>
                <a:ea typeface="微软雅黑"/>
                <a:cs typeface="微软雅黑"/>
              </a:defRPr>
            </a:pPr>
            <a:r>
              <a:rPr sz="1250"/>
              <a:t>12K 结构诊断与 120K matched-resource 正式比较必须分开解释。</a:t>
            </a:r>
            <a:endParaRPr sz="1250"/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FBE16E-5E17-4601-A325-D157BE5D6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1995" y="1700530"/>
            <a:ext cx="7564120" cy="36753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c9d68941e84847"/>
          <a:stretch xmlns:a="http://schemas.openxmlformats.org/drawingml/2006/main"/>
        </p:blipFill>
        <p:spPr>
          <a:xfrm xmlns:a="http://schemas.openxmlformats.org/drawingml/2006/main">
            <a:off x="1991995" y="1906996"/>
            <a:ext cx="7564120" cy="326244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2836621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13EA05A-F3A5-4439-B39E-580196FE5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978408"/>
            <a:ext cx="731520" cy="6492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8C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anchor="ctr"/>
          <a:lstStyle xmlns:a="http://schemas.openxmlformats.org/drawingml/2006/main"/>
          <a:p xmlns:a="http://schemas.openxmlformats.org/drawingml/2006/main">
            <a:pPr algn="ctr">
              <a:buNone/>
              <a:defRPr sz="3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t>03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4485D81-33B0-4B98-8BAF-615975A1C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1024128"/>
            <a:ext cx="9144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l">
              <a:buNone/>
              <a:defRPr sz="28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t>图像四 Job 重现任务级干扰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CE998A0-78D8-4183-BBD1-5D9FA0B53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412740"/>
            <a:ext cx="10928350" cy="9372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600"/>
              </a:spcAft>
              <a:buNone/>
              <a:defRPr sz="1500">
                <a:solidFill>
                  <a:srgbClr val="244C89"/>
                </a:solidFill>
                <a:latin typeface="微软雅黑"/>
                <a:ea typeface="微软雅黑"/>
                <a:cs typeface="微软雅黑"/>
              </a:defRPr>
            </a:pPr>
            <a:r>
              <a:rPr>
                <a:solidFill>
                  <a:srgbClr val="244C89"/>
                </a:solidFill>
              </a:rPr>
              <a:t>Daft Built-in、Ray Data 与 Project 分别按自身 isolated JCT 归一化。Project static/shared 只展示份额改变，不把 observe-only snapshot 写成动态收益。</a:t>
            </a:r>
            <a:endParaRPr>
              <a:solidFill>
                <a:srgbClr val="244C89"/>
              </a:solidFill>
            </a:endParaRP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1052E5B-0611-42E4-A3D2-2635C128D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" y="6318504"/>
            <a:ext cx="41148" cy="3291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0A45667-373E-466B-A9CB-7288C56AB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6318504"/>
            <a:ext cx="112014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rgbClr val="F97316"/>
                </a:solidFill>
                <a:latin typeface="微软雅黑"/>
                <a:ea typeface="微软雅黑"/>
                <a:cs typeface="微软雅黑"/>
              </a:defRPr>
            </a:pPr>
            <a:r>
              <a:rPr sz="1250"/>
              <a:t>统一 work/state 接口具有跨模态价值，但阶段字段必须随模态变化。</a:t>
            </a:r>
            <a:endParaRPr sz="1250"/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FBE16E-5E17-4601-A325-D157BE5D6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1995" y="1700530"/>
            <a:ext cx="7564120" cy="36753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0b466f190841ec"/>
          <a:stretch xmlns:a="http://schemas.openxmlformats.org/drawingml/2006/main"/>
        </p:blipFill>
        <p:spPr>
          <a:xfrm xmlns:a="http://schemas.openxmlformats.org/drawingml/2006/main">
            <a:off x="2059552" y="1700530"/>
            <a:ext cx="7429006" cy="367538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2836621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13EA05A-F3A5-4439-B39E-580196FE5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978408"/>
            <a:ext cx="731520" cy="6492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8C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anchor="ctr"/>
          <a:lstStyle xmlns:a="http://schemas.openxmlformats.org/drawingml/2006/main"/>
          <a:p xmlns:a="http://schemas.openxmlformats.org/drawingml/2006/main">
            <a:pPr algn="ctr">
              <a:buNone/>
              <a:defRPr sz="3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t>03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4485D81-33B0-4B98-8BAF-615975A1C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1024128"/>
            <a:ext cx="9144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l">
              <a:buNone/>
              <a:defRPr sz="28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t>研究基础支撑后续逐层验证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CE998A0-78D8-4183-BBD1-5D9FA0B53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412740"/>
            <a:ext cx="10928350" cy="9372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600"/>
              </a:spcAft>
              <a:buNone/>
              <a:defRPr sz="1500">
                <a:solidFill>
                  <a:srgbClr val="244C89"/>
                </a:solidFill>
                <a:latin typeface="微软雅黑"/>
                <a:ea typeface="微软雅黑"/>
                <a:cs typeface="微软雅黑"/>
              </a:defRPr>
            </a:pPr>
            <a:r>
              <a:rPr>
                <a:solidFill>
                  <a:srgbClr val="244C89"/>
                </a:solidFill>
              </a:rPr>
              <a:t>已有基础覆盖执行闭环、WorkDescriptor、共享 credit 和正式 trace；后续按数据组织、状态与公平调度、代价估计和外部有效性逐层验证。</a:t>
            </a:r>
            <a:endParaRPr>
              <a:solidFill>
                <a:srgbClr val="244C89"/>
              </a:solidFill>
            </a:endParaRP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1052E5B-0611-42E4-A3D2-2635C128D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" y="6318504"/>
            <a:ext cx="41148" cy="3291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0A45667-373E-466B-A9CB-7288C56AB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6318504"/>
            <a:ext cx="112014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rgbClr val="F97316"/>
                </a:solidFill>
                <a:latin typeface="微软雅黑"/>
                <a:ea typeface="微软雅黑"/>
                <a:cs typeface="微软雅黑"/>
              </a:defRPr>
            </a:pPr>
            <a:r>
              <a:rPr sz="1250"/>
              <a:t>每一步固定比较合同并保存状态—动作—结果 trace。</a:t>
            </a:r>
            <a:endParaRPr sz="1250"/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FBE16E-5E17-4601-A325-D157BE5D6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1995" y="1700530"/>
            <a:ext cx="7564120" cy="36753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33eb0fc8bb4aac"/>
          <a:stretch xmlns:a="http://schemas.openxmlformats.org/drawingml/2006/main"/>
        </p:blipFill>
        <p:spPr>
          <a:xfrm xmlns:a="http://schemas.openxmlformats.org/drawingml/2006/main">
            <a:off x="2507051" y="1700530"/>
            <a:ext cx="6534009" cy="367538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2836621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23CC47C4-6B93-4280-87F4-1507C3093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978408"/>
            <a:ext cx="731520" cy="6492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8C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7636CA5-5415-46B5-A009-553D1CFC4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1024128"/>
            <a:ext cx="9144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l">
              <a:buNone/>
              <a:defRPr sz="28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t>预期贡献：可估计、可感知、可调度的 AI 数据执行方法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C5E2ACA-F899-4CA4-8DD3-D6BBE8E96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920240"/>
            <a:ext cx="10972800" cy="3200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  <a:defRPr sz="1500">
                <a:solidFill>
                  <a:srgbClr val="244C89"/>
                </a:solidFill>
                <a:latin typeface="微软雅黑"/>
                <a:ea typeface="微软雅黑"/>
                <a:cs typeface="微软雅黑"/>
              </a:defRPr>
            </a:pPr>
            <a:r>
              <a:rPr>
                <a:solidFill>
                  <a:srgbClr val="244C89"/>
                </a:solidFill>
              </a:rPr>
              <a:t>■ 研究内容一：面向 AI workload 的分阶段 work-unit 构造与组织</a:t>
            </a:r>
            <a:endParaRPr>
              <a:solidFill>
                <a:srgbClr val="244C89"/>
              </a:solidFill>
            </a:endParaRPr>
          </a:p>
          <a:p xmlns:a="http://schemas.openxmlformats.org/drawingml/2006/main">
            <a:pPr>
              <a:spcAft>
                <a:spcPts val="800"/>
              </a:spcAft>
              <a:buNone/>
              <a:defRPr sz="150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>
                <a:solidFill>
                  <a:srgbClr val="244C89"/>
                </a:solidFill>
              </a:rPr>
              <a:t>■ 研究内容二：固定总容量下的状态感知提交、路由与多作业协调</a:t>
            </a:r>
            <a:endParaRPr>
              <a:solidFill>
                <a:srgbClr val="244C89"/>
              </a:solidFill>
            </a:endParaRPr>
          </a:p>
          <a:p xmlns:a="http://schemas.openxmlformats.org/drawingml/2006/main">
            <a:pPr>
              <a:spcAft>
                <a:spcPts val="800"/>
              </a:spcAft>
              <a:buNone/>
              <a:defRPr sz="150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>
                <a:solidFill>
                  <a:srgbClr val="244C89"/>
                </a:solidFill>
              </a:rPr>
              <a:t>■ 共同使能：以配置排序和决策损失验收的轻量代价估计</a:t>
            </a:r>
            <a:endParaRPr>
              <a:solidFill>
                <a:srgbClr val="244C89"/>
              </a:solidFill>
            </a:endParaRPr>
          </a:p>
          <a:p xmlns:a="http://schemas.openxmlformats.org/drawingml/2006/main">
            <a:pPr>
              <a:spcAft>
                <a:spcPts val="800"/>
              </a:spcAft>
              <a:buNone/>
              <a:defRPr sz="150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>
                <a:solidFill>
                  <a:srgbClr val="244C89"/>
                </a:solidFill>
              </a:rPr>
              <a:t>■ 跨模态验证：文本 AI_COMPLETE 与图像 AI_EMBED/AI_CLASSIFY</a:t>
            </a:r>
            <a:endParaRPr>
              <a:solidFill>
                <a:srgbClr val="244C89"/>
              </a:solidFill>
            </a:endParaRP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73D98E87-56FA-4F0B-87E0-8CA3B965A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" y="6318504"/>
            <a:ext cx="41148" cy="3291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DB3E26C-FCE1-47E2-823A-BF2DEB828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6318504"/>
            <a:ext cx="112014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rgbClr val="1588C7"/>
                </a:solidFill>
                <a:latin typeface="微软雅黑"/>
                <a:ea typeface="微软雅黑"/>
                <a:cs typeface="微软雅黑"/>
              </a:defRPr>
            </a:pPr>
            <a:r>
              <a:rPr sz="1250"/>
              <a:t>最终贡献是 AI-Native Data Infra 中一段可复现、可证伪的上游执行闭环。</a:t>
            </a:r>
            <a:endParaRPr sz="1250"/>
          </a:p>
        </p:txBody>
      </p:sp>
    </p:spTree>
    <p:extLst>
      <p:ext uri="{BB962C8B-B14F-4D97-AF65-F5344CB8AC3E}">
        <p14:creationId xmlns:p14="http://schemas.microsoft.com/office/powerpoint/2010/main" val="71171957"/>
      </p:ext>
    </p:extLst>
  </p:cSld>
</p:sld>
</file>

<file path=ppt/theme/theme1.xml><?xml version="1.0" encoding="utf-8"?>
<a:theme xmlns:a="http://schemas.openxmlformats.org/drawingml/2006/main" name="1_自定义设计方案">
  <a:themeElements>
    <a:clrScheme name="1_自定义设计方案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1_自定义设计方案">
      <a:majorFont>
        <a:latin typeface="Lucida Sans"/>
        <a:ea typeface="黑体"/>
        <a:cs typeface=""/>
      </a:majorFont>
      <a:minorFont>
        <a:latin typeface="Berlin Sans FB"/>
        <a:ea typeface="黑体"/>
        <a:cs typeface=""/>
      </a:minorFont>
    </a:fontScheme>
    <a:fmtScheme name="1_自定义设计方案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2026-08-12T05:58:50.2530000Z</dcterms:created>
  <dcterms:modified xsi:type="dcterms:W3CDTF">2026-08-12T05:58:50.2530000Z</dcterms:modified>
</coreProperties>
</file>