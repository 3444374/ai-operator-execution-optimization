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ce6656ddb24b33" /><Relationship Type="http://schemas.openxmlformats.org/officeDocument/2006/relationships/extended-properties" Target="/docProps/app.xml" Id="R9e4f2a346db4473c" /><Relationship Type="http://schemas.openxmlformats.org/officeDocument/2006/relationships/officeDocument" Target="/ppt/presentation.xml" Id="Re127aa42090e4c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d3fc7677084d2a"/>
    <p:sldMasterId xmlns:r="http://schemas.openxmlformats.org/officeDocument/2006/relationships" id="2147483653" r:id="Rc463572fd1554841"/>
  </p:sldMasterIdLst>
  <p:notesMasterIdLst>
    <p:notesMasterId xmlns:r="http://schemas.openxmlformats.org/officeDocument/2006/relationships" r:id="R09265eb57134431d"/>
  </p:notesMasterIdLst>
  <p:sldIdLst>
    <p:sldId xmlns:r="http://schemas.openxmlformats.org/officeDocument/2006/relationships" id="256" r:id="R80f46e5091f04746"/>
    <p:sldId xmlns:r="http://schemas.openxmlformats.org/officeDocument/2006/relationships" id="257" r:id="R8a08a7329b56468c"/>
    <p:sldId xmlns:r="http://schemas.openxmlformats.org/officeDocument/2006/relationships" id="258" r:id="Rde53aafd85414a5e"/>
    <p:sldId xmlns:r="http://schemas.openxmlformats.org/officeDocument/2006/relationships" id="259" r:id="R37d78d48e17e431c"/>
    <p:sldId xmlns:r="http://schemas.openxmlformats.org/officeDocument/2006/relationships" id="260" r:id="R4fc490114edb473b"/>
    <p:sldId xmlns:r="http://schemas.openxmlformats.org/officeDocument/2006/relationships" id="261" r:id="R6127c0483cef46d3"/>
    <p:sldId xmlns:r="http://schemas.openxmlformats.org/officeDocument/2006/relationships" id="262" r:id="R0e0ea607e6d04515"/>
    <p:sldId xmlns:r="http://schemas.openxmlformats.org/officeDocument/2006/relationships" id="263" r:id="Rda122ea0f43e4146"/>
    <p:sldId xmlns:r="http://schemas.openxmlformats.org/officeDocument/2006/relationships" id="264" r:id="Ref2015d6e8174c86"/>
    <p:sldId xmlns:r="http://schemas.openxmlformats.org/officeDocument/2006/relationships" id="265" r:id="R4c4f6d174d6a4d5c"/>
    <p:sldId xmlns:r="http://schemas.openxmlformats.org/officeDocument/2006/relationships" id="266" r:id="Ra56b615577594dc5"/>
    <p:sldId xmlns:r="http://schemas.openxmlformats.org/officeDocument/2006/relationships" id="267" r:id="R6578336b7b9949fd"/>
    <p:sldId xmlns:r="http://schemas.openxmlformats.org/officeDocument/2006/relationships" id="268" r:id="Ra4fa9bccf0754efc"/>
    <p:sldId xmlns:r="http://schemas.openxmlformats.org/officeDocument/2006/relationships" id="269" r:id="Recf662d4fe554a5a"/>
    <p:sldId xmlns:r="http://schemas.openxmlformats.org/officeDocument/2006/relationships" id="270" r:id="R31a7fd9d1f5545bc"/>
    <p:sldId xmlns:r="http://schemas.openxmlformats.org/officeDocument/2006/relationships" id="271" r:id="Re7e8f276a6fd467c"/>
    <p:sldId xmlns:r="http://schemas.openxmlformats.org/officeDocument/2006/relationships" id="272" r:id="Rfb13eba14f094e72"/>
    <p:sldId xmlns:r="http://schemas.openxmlformats.org/officeDocument/2006/relationships" id="273" r:id="R4c5ce444eb1549e3"/>
    <p:sldId xmlns:r="http://schemas.openxmlformats.org/officeDocument/2006/relationships" id="274" r:id="Rd90e6221cb8f4510"/>
    <p:sldId xmlns:r="http://schemas.openxmlformats.org/officeDocument/2006/relationships" id="275" r:id="Rd36e1a766c9042eb"/>
    <p:sldId xmlns:r="http://schemas.openxmlformats.org/officeDocument/2006/relationships" id="276" r:id="R3d368286e5634a18"/>
    <p:sldId xmlns:r="http://schemas.openxmlformats.org/officeDocument/2006/relationships" id="277" r:id="R8a8045a52b864b15"/>
    <p:sldId xmlns:r="http://schemas.openxmlformats.org/officeDocument/2006/relationships" id="278" r:id="R84fb379159964c75"/>
    <p:sldId xmlns:r="http://schemas.openxmlformats.org/officeDocument/2006/relationships" id="279" r:id="R0be78f49cd584641"/>
    <p:sldId xmlns:r="http://schemas.openxmlformats.org/officeDocument/2006/relationships" id="280" r:id="Rfbff8ac00e284783"/>
    <p:sldId xmlns:r="http://schemas.openxmlformats.org/officeDocument/2006/relationships" id="281" r:id="R777d123982f7446c"/>
    <p:sldId xmlns:r="http://schemas.openxmlformats.org/officeDocument/2006/relationships" id="282" r:id="R412a445d33434632"/>
    <p:sldId xmlns:r="http://schemas.openxmlformats.org/officeDocument/2006/relationships" id="283" r:id="Ra08fbe366f6d4186"/>
    <p:sldId xmlns:r="http://schemas.openxmlformats.org/officeDocument/2006/relationships" id="284" r:id="R023ba509d9a04ada"/>
    <p:sldId xmlns:r="http://schemas.openxmlformats.org/officeDocument/2006/relationships" id="285" r:id="R6d28c6a5d3344eba"/>
    <p:sldId xmlns:r="http://schemas.openxmlformats.org/officeDocument/2006/relationships" id="286" r:id="R9e788e9e613c48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47D2557-9050-45F3-9E77-591402EB7796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2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2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2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2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2"/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2"/>
          </a:solidFill>
        </a:fill>
      </a:tcStyle>
    </a:firstRow>
    <a:neCell>
      <a:tcStyle>
        <a:tcBdr>
          <a:left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2"/>
              </a:solidFill>
              <a:prstDash val="solid"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cfd1e415ef4803" /><Relationship Type="http://schemas.openxmlformats.org/officeDocument/2006/relationships/slideMaster" Target="/ppt/slideMasters/slideMaster1.xml" Id="Rb6d3fc7677084d2a" /><Relationship Type="http://schemas.openxmlformats.org/officeDocument/2006/relationships/slideMaster" Target="/ppt/slideMasters/slideMaster2.xml" Id="Rc463572fd1554841" /><Relationship Type="http://schemas.openxmlformats.org/officeDocument/2006/relationships/notesMaster" Target="/ppt/notesMasters/notesMaster1.xml" Id="R09265eb57134431d" /><Relationship Type="http://schemas.openxmlformats.org/officeDocument/2006/relationships/presProps" Target="/ppt/presProps.xml" Id="R07503678118d43c8" /><Relationship Type="http://schemas.openxmlformats.org/officeDocument/2006/relationships/viewProps" Target="/ppt/viewProps.xml" Id="R04f7a0e4410c4e3d" /><Relationship Type="http://schemas.openxmlformats.org/officeDocument/2006/relationships/tableStyles" Target="/ppt/tableStyles.xml" Id="Redb03900386b447b" /><Relationship Type="http://schemas.openxmlformats.org/officeDocument/2006/relationships/slide" Target="/ppt/slides/slide1.xml" Id="R80f46e5091f04746" /><Relationship Type="http://schemas.openxmlformats.org/officeDocument/2006/relationships/slide" Target="/ppt/slides/slide2.xml" Id="R8a08a7329b56468c" /><Relationship Type="http://schemas.openxmlformats.org/officeDocument/2006/relationships/slide" Target="/ppt/slides/slide3.xml" Id="Rde53aafd85414a5e" /><Relationship Type="http://schemas.openxmlformats.org/officeDocument/2006/relationships/slide" Target="/ppt/slides/slide4.xml" Id="R37d78d48e17e431c" /><Relationship Type="http://schemas.openxmlformats.org/officeDocument/2006/relationships/slide" Target="/ppt/slides/slide5.xml" Id="R4fc490114edb473b" /><Relationship Type="http://schemas.openxmlformats.org/officeDocument/2006/relationships/slide" Target="/ppt/slides/slide6.xml" Id="R6127c0483cef46d3" /><Relationship Type="http://schemas.openxmlformats.org/officeDocument/2006/relationships/slide" Target="/ppt/slides/slide7.xml" Id="R0e0ea607e6d04515" /><Relationship Type="http://schemas.openxmlformats.org/officeDocument/2006/relationships/slide" Target="/ppt/slides/slide8.xml" Id="Rda122ea0f43e4146" /><Relationship Type="http://schemas.openxmlformats.org/officeDocument/2006/relationships/slide" Target="/ppt/slides/slide9.xml" Id="Ref2015d6e8174c86" /><Relationship Type="http://schemas.openxmlformats.org/officeDocument/2006/relationships/slide" Target="/ppt/slides/slide10.xml" Id="R4c4f6d174d6a4d5c" /><Relationship Type="http://schemas.openxmlformats.org/officeDocument/2006/relationships/slide" Target="/ppt/slides/slide11.xml" Id="Ra56b615577594dc5" /><Relationship Type="http://schemas.openxmlformats.org/officeDocument/2006/relationships/slide" Target="/ppt/slides/slide12.xml" Id="R6578336b7b9949fd" /><Relationship Type="http://schemas.openxmlformats.org/officeDocument/2006/relationships/slide" Target="/ppt/slides/slide13.xml" Id="Ra4fa9bccf0754efc" /><Relationship Type="http://schemas.openxmlformats.org/officeDocument/2006/relationships/slide" Target="/ppt/slides/slide14.xml" Id="Recf662d4fe554a5a" /><Relationship Type="http://schemas.openxmlformats.org/officeDocument/2006/relationships/slide" Target="/ppt/slides/slide15.xml" Id="R31a7fd9d1f5545bc" /><Relationship Type="http://schemas.openxmlformats.org/officeDocument/2006/relationships/slide" Target="/ppt/slides/slide16.xml" Id="Re7e8f276a6fd467c" /><Relationship Type="http://schemas.openxmlformats.org/officeDocument/2006/relationships/slide" Target="/ppt/slides/slide17.xml" Id="Rfb13eba14f094e72" /><Relationship Type="http://schemas.openxmlformats.org/officeDocument/2006/relationships/slide" Target="/ppt/slides/slide18.xml" Id="R4c5ce444eb1549e3" /><Relationship Type="http://schemas.openxmlformats.org/officeDocument/2006/relationships/slide" Target="/ppt/slides/slide19.xml" Id="Rd90e6221cb8f4510" /><Relationship Type="http://schemas.openxmlformats.org/officeDocument/2006/relationships/slide" Target="/ppt/slides/slide20.xml" Id="Rd36e1a766c9042eb" /><Relationship Type="http://schemas.openxmlformats.org/officeDocument/2006/relationships/slide" Target="/ppt/slides/slide21.xml" Id="R3d368286e5634a18" /><Relationship Type="http://schemas.openxmlformats.org/officeDocument/2006/relationships/slide" Target="/ppt/slides/slide22.xml" Id="R8a8045a52b864b15" /><Relationship Type="http://schemas.openxmlformats.org/officeDocument/2006/relationships/slide" Target="/ppt/slides/slide23.xml" Id="R84fb379159964c75" /><Relationship Type="http://schemas.openxmlformats.org/officeDocument/2006/relationships/slide" Target="/ppt/slides/slide24.xml" Id="R0be78f49cd584641" /><Relationship Type="http://schemas.openxmlformats.org/officeDocument/2006/relationships/slide" Target="/ppt/slides/slide25.xml" Id="Rfbff8ac00e284783" /><Relationship Type="http://schemas.openxmlformats.org/officeDocument/2006/relationships/slide" Target="/ppt/slides/slide26.xml" Id="R777d123982f7446c" /><Relationship Type="http://schemas.openxmlformats.org/officeDocument/2006/relationships/slide" Target="/ppt/slides/slide27.xml" Id="R412a445d33434632" /><Relationship Type="http://schemas.openxmlformats.org/officeDocument/2006/relationships/slide" Target="/ppt/slides/slide28.xml" Id="Ra08fbe366f6d4186" /><Relationship Type="http://schemas.openxmlformats.org/officeDocument/2006/relationships/slide" Target="/ppt/slides/slide29.xml" Id="R023ba509d9a04ada" /><Relationship Type="http://schemas.openxmlformats.org/officeDocument/2006/relationships/slide" Target="/ppt/slides/slide30.xml" Id="R6d28c6a5d3344eba" /><Relationship Type="http://schemas.openxmlformats.org/officeDocument/2006/relationships/slide" Target="/ppt/slides/slide31.xml" Id="R9e788e9e613c48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f6a540cea8e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8a7ec04174ee4" /><Relationship Type="http://schemas.openxmlformats.org/officeDocument/2006/relationships/notesMaster" Target="/ppt/notesMasters/notesMaster1.xml" Id="R2e3e5fa7e94b4a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9f29ee5ce640a4" /><Relationship Type="http://schemas.openxmlformats.org/officeDocument/2006/relationships/notesMaster" Target="/ppt/notesMasters/notesMaster1.xml" Id="Rd8723e4224074a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f652def81f4722" /><Relationship Type="http://schemas.openxmlformats.org/officeDocument/2006/relationships/notesMaster" Target="/ppt/notesMasters/notesMaster1.xml" Id="R468232693eda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c28cdc42924075" /><Relationship Type="http://schemas.openxmlformats.org/officeDocument/2006/relationships/notesMaster" Target="/ppt/notesMasters/notesMaster1.xml" Id="R66695794ff9f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f5a33c5dff482c" /><Relationship Type="http://schemas.openxmlformats.org/officeDocument/2006/relationships/notesMaster" Target="/ppt/notesMasters/notesMaster1.xml" Id="Rc63fc32f11254e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0988b7ebf049f9" /><Relationship Type="http://schemas.openxmlformats.org/officeDocument/2006/relationships/notesMaster" Target="/ppt/notesMasters/notesMaster1.xml" Id="R2f21ffedc6cd45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14199112cf4b2d" /><Relationship Type="http://schemas.openxmlformats.org/officeDocument/2006/relationships/notesMaster" Target="/ppt/notesMasters/notesMaster1.xml" Id="Rdfb940b29f164d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164c94d525444d" /><Relationship Type="http://schemas.openxmlformats.org/officeDocument/2006/relationships/notesMaster" Target="/ppt/notesMasters/notesMaster1.xml" Id="Rb9357d3c91994e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85bca13f174545" /><Relationship Type="http://schemas.openxmlformats.org/officeDocument/2006/relationships/notesMaster" Target="/ppt/notesMasters/notesMaster1.xml" Id="Rcce56839533a4f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7b719d82ec4487" /><Relationship Type="http://schemas.openxmlformats.org/officeDocument/2006/relationships/notesMaster" Target="/ppt/notesMasters/notesMaster1.xml" Id="R0e4648c2c1d447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03b3fc5a334501" /><Relationship Type="http://schemas.openxmlformats.org/officeDocument/2006/relationships/notesMaster" Target="/ppt/notesMasters/notesMaster1.xml" Id="R6d59ae013aed49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903f48ea8641e1" /><Relationship Type="http://schemas.openxmlformats.org/officeDocument/2006/relationships/notesMaster" Target="/ppt/notesMasters/notesMaster1.xml" Id="Re16daacbf50641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8df8154dcd4846" /><Relationship Type="http://schemas.openxmlformats.org/officeDocument/2006/relationships/notesMaster" Target="/ppt/notesMasters/notesMaster1.xml" Id="Rdecbcdc9063141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33ec63e1414829" /><Relationship Type="http://schemas.openxmlformats.org/officeDocument/2006/relationships/notesMaster" Target="/ppt/notesMasters/notesMaster1.xml" Id="Re0487af8eec949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453e69d58046ee" /><Relationship Type="http://schemas.openxmlformats.org/officeDocument/2006/relationships/notesMaster" Target="/ppt/notesMasters/notesMaster1.xml" Id="R7aa3c7c5fafc48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e32cc8aaf54cbc" /><Relationship Type="http://schemas.openxmlformats.org/officeDocument/2006/relationships/notesMaster" Target="/ppt/notesMasters/notesMaster1.xml" Id="R660f936de7d246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01ced44c734588" /><Relationship Type="http://schemas.openxmlformats.org/officeDocument/2006/relationships/notesMaster" Target="/ppt/notesMasters/notesMaster1.xml" Id="Rc7112dbdec064e3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5e2b21388840be" /><Relationship Type="http://schemas.openxmlformats.org/officeDocument/2006/relationships/notesMaster" Target="/ppt/notesMasters/notesMaster1.xml" Id="R99f3789b334645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24676ce7704646" /><Relationship Type="http://schemas.openxmlformats.org/officeDocument/2006/relationships/notesMaster" Target="/ppt/notesMasters/notesMaster1.xml" Id="R44982af13c3b43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37d19c4d28441b" /><Relationship Type="http://schemas.openxmlformats.org/officeDocument/2006/relationships/notesMaster" Target="/ppt/notesMasters/notesMaster1.xml" Id="Rd36987304c0a46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847bb62b214ee8" /><Relationship Type="http://schemas.openxmlformats.org/officeDocument/2006/relationships/notesMaster" Target="/ppt/notesMasters/notesMaster1.xml" Id="Rf17072adea8847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1f2c4b86a34b86" /><Relationship Type="http://schemas.openxmlformats.org/officeDocument/2006/relationships/notesMaster" Target="/ppt/notesMasters/notesMaster1.xml" Id="Rfd42ec45d5624b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d01d8dd25a4cbe" /><Relationship Type="http://schemas.openxmlformats.org/officeDocument/2006/relationships/notesMaster" Target="/ppt/notesMasters/notesMaster1.xml" Id="R89c298dea29b430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10fd587cea4dfa" /><Relationship Type="http://schemas.openxmlformats.org/officeDocument/2006/relationships/notesMaster" Target="/ppt/notesMasters/notesMaster1.xml" Id="R7af3baf1e44e472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69913d5090f4876" /><Relationship Type="http://schemas.openxmlformats.org/officeDocument/2006/relationships/notesMaster" Target="/ppt/notesMasters/notesMaster1.xml" Id="Rf5f093a1b6714e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1aedb520a24223" /><Relationship Type="http://schemas.openxmlformats.org/officeDocument/2006/relationships/notesMaster" Target="/ppt/notesMasters/notesMaster1.xml" Id="R0a2d6e845fa14cd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ca27a3947f429c" /><Relationship Type="http://schemas.openxmlformats.org/officeDocument/2006/relationships/notesMaster" Target="/ppt/notesMasters/notesMaster1.xml" Id="Rc16cfa3e42cc4ab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3cc6e95a416446f" /><Relationship Type="http://schemas.openxmlformats.org/officeDocument/2006/relationships/notesMaster" Target="/ppt/notesMasters/notesMaster1.xml" Id="R3f79c3e041774f9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7c6d4e28884d47" /><Relationship Type="http://schemas.openxmlformats.org/officeDocument/2006/relationships/notesMaster" Target="/ppt/notesMasters/notesMaster1.xml" Id="R06b5a55a128949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6fed35e0e64aeb" /><Relationship Type="http://schemas.openxmlformats.org/officeDocument/2006/relationships/notesMaster" Target="/ppt/notesMasters/notesMaster1.xml" Id="Rde9f7d42afa0468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d095d0103484eff" /><Relationship Type="http://schemas.openxmlformats.org/officeDocument/2006/relationships/notesMaster" Target="/ppt/notesMasters/notesMaster1.xml" Id="Re6968be90c2648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汇报讲稿：本页围绕“数据库 AI 负载的执行优化与调度研究”推进。先说明页面中的事实或代表工作，再解释它如何提出下一页要回答的问题。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汇报讲稿：本页围绕“● 01 研究背景与研究空白</a:t>
            </a:r>
            <a:endParaRPr/>
          </a:p>
          <a:p xmlns:a="http://schemas.openxmlformats.org/drawingml/2006/main">
            <a:r>
              <a:t>○ 02 动机实验与设计要求</a:t>
            </a:r>
            <a:endParaRPr/>
          </a:p>
          <a:p xmlns:a="http://schemas.openxmlformats.org/drawingml/2006/main">
            <a:r>
              <a:t>○ 03 研究方案、策略关系与验证</a:t>
            </a:r>
            <a:endParaRPr/>
          </a:p>
          <a:p xmlns:a="http://schemas.openxmlformats.org/drawingml/2006/main">
            <a:r>
              <a:t>○ 04 研究基础、计划与预期贡献”推进。先说明页面中的事实或代表工作，再解释它如何提出下一页要回答的问题。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opening/opening_defense_outline_20260808.md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汇报讲稿：本页围绕“研究背景｜数据库成为 AI 任务入口”推进。先说明页面中的事实或代表工作，再解释它如何提出下一页要回答的问题。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opening/report/opening_report.md#1-选题背景与意义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汇报讲稿：本页围绕“研究背景｜AI 算子改变传统数据执行假设”推进。先说明页面中的事实或代表工作，再解释它如何提出下一页要回答的问题。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opening/report/opening_report.md#2-国内外研究现状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汇报讲稿：本页围绕“研究现状｜数据库 AI 优化算子语义”推进。先说明页面中的事实或代表工作，再解释它如何提出下一页要回答的问题。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research/top15_ranked_papers.md</a:t>
            </a:r>
            <a:endParaRPr/>
          </a:p>
          <a:p xmlns:a="http://schemas.openxmlformats.org/drawingml/2006/main">
            <a:r>
              <a:t>- opening/literature/top15_reading_notes/lotus_pvldb2025.md</a:t>
            </a:r>
            <a:endParaRPr/>
          </a:p>
          <a:p xmlns:a="http://schemas.openxmlformats.org/drawingml/2006/main">
            <a:r>
              <a:t>- opening/literature/top15_reading_notes/galois_sigmod2025.md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汇报讲稿：本页围绕“研究现状｜数据执行系统提供异构流水线机制”推进。先说明页面中的事实或代表工作，再解释它如何提出下一页要回答的问题。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research/top15_ranked_papers.md</a:t>
            </a:r>
            <a:endParaRPr/>
          </a:p>
          <a:p xmlns:a="http://schemas.openxmlformats.org/drawingml/2006/main">
            <a:r>
              <a:t>- research/reading_notes/ray_data_streaming_batch_2025.md</a:t>
            </a:r>
            <a:endParaRPr/>
          </a:p>
          <a:p xmlns:a="http://schemas.openxmlformats.org/drawingml/2006/main">
            <a:r>
              <a:t>- opening/report/opening_report.md#23-分布式数据执行与异构流水线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汇报讲稿：本页围绕“研究现状｜模型服务优化已到达请求”推进。先说明页面中的事实或代表工作，再解释它如何提出下一页要回答的问题。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research/top15_ranked_papers.md</a:t>
            </a:r>
            <a:endParaRPr/>
          </a:p>
          <a:p xmlns:a="http://schemas.openxmlformats.org/drawingml/2006/main">
            <a:r>
              <a:t>- research/reading_notes/vllm_sosp2023.md</a:t>
            </a:r>
            <a:endParaRPr/>
          </a:p>
          <a:p xmlns:a="http://schemas.openxmlformats.org/drawingml/2006/main">
            <a:r>
              <a:t>- research/reading_notes/orca_osdi2022.md</a:t>
            </a:r>
            <a:endParaRPr/>
          </a:p>
          <a:p xmlns:a="http://schemas.openxmlformats.org/drawingml/2006/main">
            <a:r>
              <a:t>- research/reading_notes/vtc_osdi2024.md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汇报讲稿：本页围绕“研究现状｜代价研究开始支撑 AI 配置选择”推进。先说明页面中的事实或代表工作，再解释它如何提出下一页要回答的问题。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research/top15_ranked_papers.md</a:t>
            </a:r>
            <a:endParaRPr/>
          </a:p>
          <a:p xmlns:a="http://schemas.openxmlformats.org/drawingml/2006/main">
            <a:r>
              <a:t>- research/reading_notes/graceful_udf_cost_icde2025.md</a:t>
            </a:r>
            <a:endParaRPr/>
          </a:p>
          <a:p xmlns:a="http://schemas.openxmlformats.org/drawingml/2006/main">
            <a:r>
              <a:t>- research/reading_notes/costream_icde2024.md</a:t>
            </a:r>
            <a:endParaRPr/>
          </a:p>
          <a:p xmlns:a="http://schemas.openxmlformats.org/drawingml/2006/main">
            <a:r>
              <a:t>- research/reading_notes/abacus_pvldb2026.md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汇报讲稿：本页围绕“研究空白｜AI Data Execution Layer 缺少上游闭环”推进。先说明页面中的事实或代表工作，再解释它如何提出下一页要回答的问题。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opening/claim_matrix.md#1-冻结题目与系统抽象</a:t>
            </a:r>
            <a:endParaRPr/>
          </a:p>
          <a:p xmlns:a="http://schemas.openxmlformats.org/drawingml/2006/main">
            <a:r>
              <a:t>- opening/report/opening_report.md#3-研究目标与关键问题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汇报讲稿：本页围绕“○ 01 研究背景与研究空白</a:t>
            </a:r>
            <a:endParaRPr/>
          </a:p>
          <a:p xmlns:a="http://schemas.openxmlformats.org/drawingml/2006/main">
            <a:r>
              <a:t>● 02 动机实验与设计要求</a:t>
            </a:r>
            <a:endParaRPr/>
          </a:p>
          <a:p xmlns:a="http://schemas.openxmlformats.org/drawingml/2006/main">
            <a:r>
              <a:t>○ 03 研究方案、策略关系与验证</a:t>
            </a:r>
            <a:endParaRPr/>
          </a:p>
          <a:p xmlns:a="http://schemas.openxmlformats.org/drawingml/2006/main">
            <a:r>
              <a:t>○ 04 研究基础、计划与预期贡献”推进。先说明页面中的事实或代表工作，再解释它如何提出下一页要回答的问题。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opening/opening_defense_outline_20260808.md#32-逐页结构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汇报讲稿：本页围绕“动机证据｜不同执行图形成不同服务状态”推进。先说明页面中的事实或代表工作，再解释它如何提出下一页要回答的问题。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experiments/results/opening_database_e2e_text_refeed_20260808/README.md</a:t>
            </a:r>
            <a:endParaRPr/>
          </a:p>
          <a:p xmlns:a="http://schemas.openxmlformats.org/drawingml/2006/main">
            <a:r>
              <a:t>- experiments/results/opening_text_native_single_job_formal_20260808/README.md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汇报讲稿：本页围绕“动机证据｜行数和静态上限不能描述工作状态”推进。先说明页面中的事实或代表工作，再解释它如何提出下一页要回答的问题。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experiments/results/dual_gpu_active_work_saturation_20260729/README.md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汇报讲稿：本页围绕“动机证据｜图像任务暴露多阶段失配”推进。先说明页面中的事实或代表工作，再解释它如何提出下一页要回答的问题。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motivation/results/gpu/image_clip_preprocess_variants_20260801/README.md</a:t>
            </a:r>
            <a:endParaRPr/>
          </a:p>
          <a:p xmlns:a="http://schemas.openxmlformats.org/drawingml/2006/main">
            <a:r>
              <a:t>- motivation/results/gpu/image_clip_transfer_ceiling_20260803/README.md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汇报讲稿：本页围绕“动机证据｜四作业并发同时干扰短作业与长作业”推进。先说明页面中的事实或代表工作，再解释它如何提出下一页要回答的问题。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experiments/results/opening_fourjob_interference_20260809/README.md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汇报讲稿：本页围绕“设计要求｜动机现象导出两项研究内容和共同支撑”推进。先说明页面中的事实或代表工作，再解释它如何提出下一页要回答的问题。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opening/opening_defense_outline_20260808.md#第-10-页实验现象导出四项同等重要的设计要求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汇报讲稿：本页围绕“○ 01 研究背景与研究空白</a:t>
            </a:r>
            <a:endParaRPr/>
          </a:p>
          <a:p xmlns:a="http://schemas.openxmlformats.org/drawingml/2006/main">
            <a:r>
              <a:t>○ 02 动机实验与设计要求</a:t>
            </a:r>
            <a:endParaRPr/>
          </a:p>
          <a:p xmlns:a="http://schemas.openxmlformats.org/drawingml/2006/main">
            <a:r>
              <a:t>● 03 研究方案、策略关系与验证</a:t>
            </a:r>
            <a:endParaRPr/>
          </a:p>
          <a:p xmlns:a="http://schemas.openxmlformats.org/drawingml/2006/main">
            <a:r>
              <a:t>○ 04 研究基础、计划与预期贡献”推进。先说明页面中的事实或代表工作，再解释它如何提出下一页要回答的问题。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opening/report/opening_report.md#4-研究内容与技术路线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汇报讲稿：本页围绕“总体方案｜前向工作描述与反向状态组成闭环”推进。先说明页面中的事实或代表工作，再解释它如何提出下一页要回答的问题。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opening/report/opening_report.md#41-总体系统架构</a:t>
            </a:r>
            <a:endParaRPr/>
          </a:p>
          <a:p xmlns:a="http://schemas.openxmlformats.org/drawingml/2006/main">
            <a:r>
              <a:t>- figures/opening_figure_set/README.md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汇报讲稿：本页围绕“研究内容一｜工作描述连接数据组织与调度”推进。先说明页面中的事实或代表工作，再解释它如何提出下一页要回答的问题。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opening/report/opening_report.md#411-workdescriptor</a:t>
            </a:r>
            <a:endParaRPr/>
          </a:p>
          <a:p xmlns:a="http://schemas.openxmlformats.org/drawingml/2006/main">
            <a:r>
              <a:t>- code/src/planning/work.py</a:t>
            </a:r>
            <a:endParaRPr/>
          </a:p>
          <a:p xmlns:a="http://schemas.openxmlformats.org/drawingml/2006/main">
            <a:r>
              <a:t>- code/src/modalities/image/contracts.py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汇报讲稿：本页围绕“研究内容一｜数据组织权衡工作量均衡与局部性”推进。先说明页面中的事实或代表工作，再解释它如何提出下一页要回答的问题。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experiments/results/rc1_data_organization/README.md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汇报讲稿：本页围绕“研究内容二｜固定总容量下动态释放工作额度”推进。先说明页面中的事实或代表工作，再解释它如何提出下一页要回答的问题。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opening/report/opening_report.md#42-研究内容二容量感知的提交路由与多作业调度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汇报讲稿：本页围绕“研究内容二｜共享额度权衡效率、隔离与公平”推进。先说明页面中的事实或代表工作，再解释它如何提出下一页要回答的问题。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experiments/results/opening_fourjob_interference_20260809/README.md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汇报讲稿：本页围绕“共同支撑｜代价估计以配置排序和决策损失评价”推进。先说明页面中的事实或代表工作，再解释它如何提出下一页要回答的问题。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experiments/results/operator_cost_profile_dual4090_formal_v2_cache_on_20260807/README.md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汇报讲稿：本页围绕“跨模态验证｜图像基线先确认路径与能力边界”推进。先说明页面中的事实或代表工作，再解释它如何提出下一页要回答的问题。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experiments/results/image_ai_embed_operator_formal_20260803/README.md</a:t>
            </a:r>
            <a:endParaRPr/>
          </a:p>
          <a:p xmlns:a="http://schemas.openxmlformats.org/drawingml/2006/main">
            <a:r>
              <a:t>- feasibility/results/vllm_clip_pooling_gate_20260804/README.md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汇报讲稿：本页围绕“跨模态验证｜图像四作业重现任务级干扰”推进。先说明页面中的事实或代表工作，再解释它如何提出下一页要回答的问题。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experiments/results/opening_image_native_fourjob_formal_20260810/README.md</a:t>
            </a:r>
            <a:endParaRPr/>
          </a:p>
          <a:p xmlns:a="http://schemas.openxmlformats.org/drawingml/2006/main">
            <a:r>
              <a:t>- experiments/results/opening_image_project_fourjob_observe_only_formal_20260810/README.md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汇报讲稿：本页围绕“验证方案｜策略独立搜索后拼接，再检验联合收益”推进。先说明页面中的事实或代表工作，再解释它如何提出下一页要回答的问题。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AGENTS.md#1-项目目标</a:t>
            </a:r>
            <a:endParaRPr/>
          </a:p>
          <a:p xmlns:a="http://schemas.openxmlformats.org/drawingml/2006/main">
            <a:r>
              <a:t>- opening/report/opening_report.md#44-策略关系与联合验证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汇报讲稿：本页围绕“○ 01 研究背景与研究空白</a:t>
            </a:r>
            <a:endParaRPr/>
          </a:p>
          <a:p xmlns:a="http://schemas.openxmlformats.org/drawingml/2006/main">
            <a:r>
              <a:t>○ 02 动机实验与设计要求</a:t>
            </a:r>
            <a:endParaRPr/>
          </a:p>
          <a:p xmlns:a="http://schemas.openxmlformats.org/drawingml/2006/main">
            <a:r>
              <a:t>○ 03 研究方案、策略关系与验证</a:t>
            </a:r>
            <a:endParaRPr/>
          </a:p>
          <a:p xmlns:a="http://schemas.openxmlformats.org/drawingml/2006/main">
            <a:r>
              <a:t>● 04 研究基础、计划与预期贡献”推进。先说明页面中的事实或代表工作，再解释它如何提出下一页要回答的问题。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opening/report/opening_report.md#6-工作基础与进度安排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汇报讲稿：本页围绕“研究基础｜现有链路支撑后续动态验证”推进。先说明页面中的事实或代表工作，再解释它如何提出下一页要回答的问题。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opening/report/opening_report.md#6-工作基础与进度安排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汇报讲稿：本页围绕“验证标准｜保持资源与最大在途工作量一致”推进。先说明页面中的事实或代表工作，再解释它如何提出下一页要回答的问题。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opening/opening_defense_outline_20260808.md#第-19-页主实验用同上限强静态-ab-逐层验证</a:t>
            </a:r>
            <a:endParaRPr/>
          </a:p>
          <a:p xmlns:a="http://schemas.openxmlformats.org/drawingml/2006/main">
            <a:r>
              <a:t>- AGENTS.md#7-5-实验执行与结果记录流程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汇报讲稿：本页围绕“研究计划｜优先补动态证据并保留负结果路径”推进。先说明页面中的事实或代表工作，再解释它如何提出下一页要回答的问题。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opening/report/opening_report.md#62-后续进度安排</a:t>
            </a:r>
            <a:endParaRPr/>
          </a:p>
          <a:p xmlns:a="http://schemas.openxmlformats.org/drawingml/2006/main">
            <a:r>
              <a:t>- opening/claim_matrix.md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汇报讲稿：本页围绕“预期贡献｜两项方法、共同支撑与跨模态验证”推进。先说明页面中的事实或代表工作，再解释它如何提出下一页要回答的问题。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opening/report/opening_report.md#7-预期成果创新点与风险控制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汇报讲稿：本页围绕“谢谢，请各位老师批评指正”推进。先说明页面中的事实或代表工作，再解释它如何提出下一页要回答的问题。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答辩备注：实验数字只在各自比较合同内解读；已实现但未完成正式对照的机制写为研究计划，不写成已证明收益。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opening/report/opening_report.md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f9172072044e9" /><Relationship Type="http://schemas.openxmlformats.org/officeDocument/2006/relationships/image" Target="/ppt/media/image.jpeg" Id="R8284701775ea46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58c1710024d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70a07abd34c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6c670f4fd4e2d" /><Relationship Type="http://schemas.openxmlformats.org/officeDocument/2006/relationships/image" Target="/ppt/media/image.jpeg" Id="Rab448a18b10c4c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3950d03eb241bb" /><Relationship Type="http://schemas.openxmlformats.org/officeDocument/2006/relationships/image" Target="/ppt/media/image.jpeg" Id="Rca6d8227a6ea46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18f8fd7d364c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abf5a7bdc54e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aeb176dd9a46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b132aeb54a494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9c7b418c364c7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74c7aa016a403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ddb4aa2a4b4fc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156361573b4f8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be3fc04c7b4c6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0671a75baf47a8" /></Relationships>
</file>

<file path=ppt/slideLayouts/slideLayout1.xml><?xml version="1.0" encoding="utf-8"?>
<p:sldLayout xmlns:p="http://schemas.openxmlformats.org/presentationml/2006/main" showMasterSp="0" preserve="1" userDrawn="1">
  <p:cSld name="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4701775ea46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222E9E-1882-42A3-9A15-A7673612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217" y="3589339"/>
            <a:ext cx="11590867" cy="55563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FF33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09542B-EF03-408A-BF40-B05432C59C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88A96CD7-2AF2-41DD-B345-B28D68778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F3F377D-ABDE-4959-A072-A0F42AC3302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D76924E-2C95-4CFB-929E-ECE9B24ED1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0CAA574-32AC-4E86-9872-67AE74AEE0D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09C569B-CF30-49B3-9E23-17815E25A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47DB3D1-D0E6-4010-B1CF-F997B28CB1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3253DE4-F0F5-4851-96AF-F18F368D16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587E58-44C0-444F-BBDB-84CA92086E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6D2633C-3914-477B-9D1D-333F14B25B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4D0E6B-65EE-4877-B61C-B0C4252B55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F1F1B8E-590B-4226-8B62-6C3321569D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905B41A-3925-424B-9678-6BC8C6651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1_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48a18b10c4c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D57C8A-F5B3-41A3-BAD4-5C1DED8ED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FE8FF97D-9854-44B2-9CA0-88937D572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15BC003-835E-4871-B433-05B1C03082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A120910-223B-491E-ABB5-03826D1D797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315B5E1-7C48-4656-94A5-97B6A27610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0A558A-9BCB-49B3-8E9A-EAF623C7D62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23BC938-4EA9-4527-91C9-60123B0D60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F63096-4AC8-42DD-983F-23D1D52DDE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79267E-715D-4D61-95A4-91950EDD18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C91B86-7F5F-4964-A4B2-911E73642B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d8227a6ea46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3B4DE3-8E38-4730-B76D-CEE084DA89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418E4B-5EC9-49DD-9438-E228F466A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D5C5C8-860A-46F5-8064-574AEA9E18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9A80DC-8BA3-4ACD-B12B-40961B33E3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224AB2-AC1A-4A2E-A425-56039E792A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155C3C-EA82-43C8-BF20-ACD9ACC01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553718-805B-4756-B2F4-878267C1C1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832BAE-1DF8-45DE-9E6C-508F782EC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D6D79B-89E2-4BA1-B5C2-5E6B594154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DE1085-539C-4EF4-910F-91050E05C0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5B073F-22BD-4C43-963F-1154302F6B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2B46FB-F907-4084-9838-A3714F0F86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4EE977-8730-4CB6-928F-AC1063C367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8F780FD-241E-42A6-A38E-B0EE6BC47A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4D0FC5-AC2B-4FD1-ABA8-8BA34B212A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0AE183-7BE8-4420-8E70-71EC64F2C7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45F9C7-34E9-4544-B1F8-999C0277A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37D2DA-2DF6-4E98-8ADE-00EB4B0231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C671C71-03DF-4B89-8DDE-1A6173501D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5B3E027-05EB-4BC1-B6ED-3CF4B02757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6B38FB-2B25-4C20-A204-32CA9F26349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BF15AD8-9F12-4BCC-840C-C7A5895A7F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508ED55-8370-4D40-90F3-B30851FC13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32A7FE-621E-427F-85AB-9DF9BDB2C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A8E4FB-20CC-49DD-8A39-58AE964C0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977C2E7-5986-47A4-B0F0-67E26CCB6B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48ECBF0-6A1B-4ABA-B749-67F429E16C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C07778C-2C10-4196-BF0D-E48950AD84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977EF17-7B0C-4D2C-A52F-78A063AC43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1AFA257-DBE2-4570-B0A9-DA7D21BBBF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31A052-2523-4AD9-963B-47EE22BD01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E01BAE-A1BB-455F-AFE4-95A664AAEE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422695-A052-4696-8B44-DC75E88D02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45AD2B-F8FC-4CDC-ABEC-5FC1F15A5C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62C5FA7-D6EB-4318-84DB-909735A0D9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D125A36-9A08-49B4-A263-5728F234D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7E2BCD-76FE-4E78-AB90-94F8B72DC9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91CAA6-215B-4C5C-BE97-051E08AD2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D15D9E-A7BC-4B47-AC4A-BB34B7FF989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AFD5EC-D47C-468B-8DFD-32F90E065E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92CBEA3-E363-45FF-811B-3F1E3E73C8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E3D04E-7A69-466E-AB3D-BDF591FDC0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9F9D3F1-6EA4-4F89-B1FD-1BC37AC16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9632D4-B56B-42CF-ABDF-7E007C821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271C85-CCBF-4959-A89D-556204C360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580DEB-8DFD-4E98-880C-1E9BB05106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B7373C-8A35-4C6B-A44C-1A38FB3765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E10527-445B-4CF3-B1E8-340E04D4B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FFF648E-34B0-4C41-AA29-77D3D1D9D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E69B854-4839-444E-8035-8D287E6EAD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404D35-BDDB-491A-93AB-EE290D67F7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5CE570-529C-4475-9B87-999F2F4225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0D4CF5-A6BC-4B42-A07C-1709AB0DDB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54010579a4784ac1" /><Relationship Type="http://schemas.openxmlformats.org/officeDocument/2006/relationships/theme" Target="/ppt/slideMasters/theme/theme2.xml" Id="R9ecf5f7f812d4e38" /><Relationship Type="http://schemas.openxmlformats.org/officeDocument/2006/relationships/slideLayout" Target="/ppt/slideLayouts/slideLayout1.xml" Id="Re66770e3dc4c4512" /><Relationship Type="http://schemas.openxmlformats.org/officeDocument/2006/relationships/slideLayout" Target="/ppt/slideLayouts/slideLayout2.xml" Id="R0e37e4ea54a7486c" /><Relationship Type="http://schemas.openxmlformats.org/officeDocument/2006/relationships/slideLayout" Target="/ppt/slideLayouts/slideLayout3.xml" Id="Rf3bb38cb60c84a37" /><Relationship Type="http://schemas.openxmlformats.org/officeDocument/2006/relationships/slideLayout" Target="/ppt/slideLayouts/slideLayout4.xml" Id="R101e0a2d5299453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b8a3b1d273f74e39" /><Relationship Type="http://schemas.openxmlformats.org/officeDocument/2006/relationships/theme" Target="/ppt/slideMasters/theme/theme3.xml" Id="R8025477d461b43ec" /><Relationship Type="http://schemas.openxmlformats.org/officeDocument/2006/relationships/slideLayout" Target="/ppt/slideLayouts/slideLayout5.xml" Id="R45b5893c51ad4748" /><Relationship Type="http://schemas.openxmlformats.org/officeDocument/2006/relationships/slideLayout" Target="/ppt/slideLayouts/slideLayout6.xml" Id="R50e94f00a30f4e9c" /><Relationship Type="http://schemas.openxmlformats.org/officeDocument/2006/relationships/slideLayout" Target="/ppt/slideLayouts/slideLayout7.xml" Id="R4569e87636a644a6" /><Relationship Type="http://schemas.openxmlformats.org/officeDocument/2006/relationships/slideLayout" Target="/ppt/slideLayouts/slideLayout8.xml" Id="R4cb1de4f5e914ad0" /><Relationship Type="http://schemas.openxmlformats.org/officeDocument/2006/relationships/slideLayout" Target="/ppt/slideLayouts/slideLayout9.xml" Id="R670dd8567e4441ca" /><Relationship Type="http://schemas.openxmlformats.org/officeDocument/2006/relationships/slideLayout" Target="/ppt/slideLayouts/slideLayout10.xml" Id="Re949721b66b145fd" /><Relationship Type="http://schemas.openxmlformats.org/officeDocument/2006/relationships/slideLayout" Target="/ppt/slideLayouts/slideLayout11.xml" Id="Rd5d50c32c4bf4598" /><Relationship Type="http://schemas.openxmlformats.org/officeDocument/2006/relationships/slideLayout" Target="/ppt/slideLayouts/slideLayout12.xml" Id="R6dc5e1b8621f4b9e" /><Relationship Type="http://schemas.openxmlformats.org/officeDocument/2006/relationships/slideLayout" Target="/ppt/slideLayouts/slideLayout13.xml" Id="Rb22d21adcd4848de" /><Relationship Type="http://schemas.openxmlformats.org/officeDocument/2006/relationships/slideLayout" Target="/ppt/slideLayouts/slideLayout14.xml" Id="Ra96709e5ba9f4f5a" /><Relationship Type="http://schemas.openxmlformats.org/officeDocument/2006/relationships/slideLayout" Target="/ppt/slideLayouts/slideLayout15.xml" Id="R6c0fb47f893b422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17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10579a4784a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517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527E7F8-6695-4B8C-B674-9077AFC03E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36613"/>
            <a:ext cx="109728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模板</a:t>
            </a:r>
            <a:r>
              <a:t>Chapter</a:t>
            </a:r>
            <a:endParaRPr/>
          </a:p>
        </p:txBody>
      </p:sp>
      <p:sp>
        <p:nvSpPr>
          <p:cNvPr id="10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72FA946-28A0-4E1B-ADFB-C3D4954AFE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16113"/>
            <a:ext cx="109728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第一级</a:t>
            </a:r>
            <a:r>
              <a:t>abcd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r>
              <a:t>adb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r>
              <a:t>kljaskf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3517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17EAD6A-4696-4EAB-82C7-939536D2F6D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2109D7F-D625-4A09-B7EC-FDB65E67857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3DC4F6F-CF30-4966-AF8D-DADAEA1F129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FFBD3B-12B6-4036-819C-AD11EECC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770e3dc4c4512"/>
    <p:sldLayoutId xmlns:r="http://schemas.openxmlformats.org/officeDocument/2006/relationships" id="2147483650" r:id="R0e37e4ea54a7486c"/>
    <p:sldLayoutId xmlns:r="http://schemas.openxmlformats.org/officeDocument/2006/relationships" id="2147483651" r:id="Rf3bb38cb60c84a37"/>
    <p:sldLayoutId xmlns:r="http://schemas.openxmlformats.org/officeDocument/2006/relationships" id="2147483652" r:id="R101e0a2d52994531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/>
        <a:buChar char="ª"/>
        <a:defRPr sz="3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/>
        <a:buChar char="Ø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/>
          <a:ea typeface="Comic Sans MS"/>
          <a:cs typeface="Comic Sans MS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1F6E4F7-8EF5-403E-92D9-AED56D518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3650A4-B099-46C7-9047-3D1FF8CB4C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5C4973-C158-453F-9244-110B2AB009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614E15-99D9-459C-A384-1E4EA35620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19A9F3-E357-4527-9B31-3948CCCF63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3b1d273f74e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1862153-ABA3-4D4D-A826-69D95CA5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45b5893c51ad4748"/>
    <p:sldLayoutId xmlns:r="http://schemas.openxmlformats.org/officeDocument/2006/relationships" id="2147483655" r:id="R50e94f00a30f4e9c"/>
    <p:sldLayoutId xmlns:r="http://schemas.openxmlformats.org/officeDocument/2006/relationships" id="2147483656" r:id="R4569e87636a644a6"/>
    <p:sldLayoutId xmlns:r="http://schemas.openxmlformats.org/officeDocument/2006/relationships" id="2147483657" r:id="R4cb1de4f5e914ad0"/>
    <p:sldLayoutId xmlns:r="http://schemas.openxmlformats.org/officeDocument/2006/relationships" id="2147483658" r:id="R670dd8567e4441ca"/>
    <p:sldLayoutId xmlns:r="http://schemas.openxmlformats.org/officeDocument/2006/relationships" id="2147483659" r:id="Re949721b66b145fd"/>
    <p:sldLayoutId xmlns:r="http://schemas.openxmlformats.org/officeDocument/2006/relationships" id="2147483660" r:id="Rd5d50c32c4bf4598"/>
    <p:sldLayoutId xmlns:r="http://schemas.openxmlformats.org/officeDocument/2006/relationships" id="2147483661" r:id="R6dc5e1b8621f4b9e"/>
    <p:sldLayoutId xmlns:r="http://schemas.openxmlformats.org/officeDocument/2006/relationships" id="2147483662" r:id="Rb22d21adcd4848de"/>
    <p:sldLayoutId xmlns:r="http://schemas.openxmlformats.org/officeDocument/2006/relationships" id="2147483663" r:id="Ra96709e5ba9f4f5a"/>
    <p:sldLayoutId xmlns:r="http://schemas.openxmlformats.org/officeDocument/2006/relationships" id="2147483664" r:id="R6c0fb47f893b422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ff73a0aa2742d7" /><Relationship Type="http://schemas.openxmlformats.org/officeDocument/2006/relationships/image" Target="/ppt/media/image2.jpeg" Id="Ra91dda90e7484c1d" /><Relationship Type="http://schemas.openxmlformats.org/officeDocument/2006/relationships/image" Target="/ppt/media/image3.jpeg" Id="R0d1498af8a7e4682" /><Relationship Type="http://schemas.openxmlformats.org/officeDocument/2006/relationships/notesSlide" Target="/ppt/notesSlides/notesSlide1.xml" Id="R8fd1e9b30eda4a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87f1105cd4239" /><Relationship Type="http://schemas.openxmlformats.org/officeDocument/2006/relationships/notesSlide" Target="/ppt/notesSlides/notesSlide2.xml" Id="R323a046166cd4d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c40c11ce01843fd" /><Relationship Type="http://schemas.openxmlformats.org/officeDocument/2006/relationships/image" Target="/ppt/media/image.png" Id="R21e40686680a4e23" /><Relationship Type="http://schemas.openxmlformats.org/officeDocument/2006/relationships/notesSlide" Target="/ppt/notesSlides/notesSlide3.xml" Id="Ra9e4d17de13a44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61ad40de4b34f9e" /><Relationship Type="http://schemas.openxmlformats.org/officeDocument/2006/relationships/image" Target="/ppt/media/image2.png" Id="Rbf5d4f99d2764047" /><Relationship Type="http://schemas.openxmlformats.org/officeDocument/2006/relationships/notesSlide" Target="/ppt/notesSlides/notesSlide4.xml" Id="R2ac86839ba6944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79ba623fb4d75" /><Relationship Type="http://schemas.openxmlformats.org/officeDocument/2006/relationships/image" Target="/ppt/media/image3.png" Id="R76adc70c263d48ef" /><Relationship Type="http://schemas.openxmlformats.org/officeDocument/2006/relationships/notesSlide" Target="/ppt/notesSlides/notesSlide5.xml" Id="Re406828c6aa24f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bc3c01a9b43d5" /><Relationship Type="http://schemas.openxmlformats.org/officeDocument/2006/relationships/image" Target="/ppt/media/image4.png" Id="Rc96d00bbc95940fa" /><Relationship Type="http://schemas.openxmlformats.org/officeDocument/2006/relationships/notesSlide" Target="/ppt/notesSlides/notesSlide6.xml" Id="Rfc29f7c96a464c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dbd620d884eee" /><Relationship Type="http://schemas.openxmlformats.org/officeDocument/2006/relationships/image" Target="/ppt/media/image5.png" Id="R5a14cb0e1cbe4b0d" /><Relationship Type="http://schemas.openxmlformats.org/officeDocument/2006/relationships/notesSlide" Target="/ppt/notesSlides/notesSlide7.xml" Id="R8c0689313dc344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f738309ff604a3f" /><Relationship Type="http://schemas.openxmlformats.org/officeDocument/2006/relationships/image" Target="/ppt/media/image6.png" Id="Rde6e302cafe94339" /><Relationship Type="http://schemas.openxmlformats.org/officeDocument/2006/relationships/notesSlide" Target="/ppt/notesSlides/notesSlide8.xml" Id="R6463b7fd9a744e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c859ecdf96047d1" /><Relationship Type="http://schemas.openxmlformats.org/officeDocument/2006/relationships/image" Target="/ppt/media/image7.png" Id="R075b16aeffae48fe" /><Relationship Type="http://schemas.openxmlformats.org/officeDocument/2006/relationships/notesSlide" Target="/ppt/notesSlides/notesSlide9.xml" Id="Rc5404a2403034a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540e951d84c98" /><Relationship Type="http://schemas.openxmlformats.org/officeDocument/2006/relationships/notesSlide" Target="/ppt/notesSlides/notesSlide10.xml" Id="Rc7c45c9d344246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b93429ecadb4841" /><Relationship Type="http://schemas.openxmlformats.org/officeDocument/2006/relationships/image" Target="/ppt/media/image8.png" Id="R0d309f69170a431e" /><Relationship Type="http://schemas.openxmlformats.org/officeDocument/2006/relationships/notesSlide" Target="/ppt/notesSlides/notesSlide11.xml" Id="R741cee350f394d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0582abe4c5244dd" /><Relationship Type="http://schemas.openxmlformats.org/officeDocument/2006/relationships/image" Target="/ppt/media/image9.png" Id="R6d9ed4a66dc54fb5" /><Relationship Type="http://schemas.openxmlformats.org/officeDocument/2006/relationships/notesSlide" Target="/ppt/notesSlides/notesSlide12.xml" Id="R200e61dfef2548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9662959d75d47a5" /><Relationship Type="http://schemas.openxmlformats.org/officeDocument/2006/relationships/image" Target="/ppt/media/image10.png" Id="Rbeef7c22eb8f4321" /><Relationship Type="http://schemas.openxmlformats.org/officeDocument/2006/relationships/notesSlide" Target="/ppt/notesSlides/notesSlide13.xml" Id="Rbfb6f14e706c47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0dd54bd1789407a" /><Relationship Type="http://schemas.openxmlformats.org/officeDocument/2006/relationships/image" Target="/ppt/media/image11.png" Id="R49e653733c514e9c" /><Relationship Type="http://schemas.openxmlformats.org/officeDocument/2006/relationships/notesSlide" Target="/ppt/notesSlides/notesSlide14.xml" Id="R373493b1694746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22f2ddad6415b" /><Relationship Type="http://schemas.openxmlformats.org/officeDocument/2006/relationships/notesSlide" Target="/ppt/notesSlides/notesSlide15.xml" Id="Rc7dce378bbc347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1536bfe8d4c3e" /><Relationship Type="http://schemas.openxmlformats.org/officeDocument/2006/relationships/notesSlide" Target="/ppt/notesSlides/notesSlide16.xml" Id="R021349bd198c42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52a707559da4334" /><Relationship Type="http://schemas.openxmlformats.org/officeDocument/2006/relationships/image" Target="/ppt/media/image12.png" Id="R6281c112599447b5" /><Relationship Type="http://schemas.openxmlformats.org/officeDocument/2006/relationships/notesSlide" Target="/ppt/notesSlides/notesSlide17.xml" Id="R3d02a071ad6c4e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6df141f92af4814" /><Relationship Type="http://schemas.openxmlformats.org/officeDocument/2006/relationships/image" Target="/ppt/media/image13.png" Id="R69d02e06519242aa" /><Relationship Type="http://schemas.openxmlformats.org/officeDocument/2006/relationships/notesSlide" Target="/ppt/notesSlides/notesSlide18.xml" Id="R3ba5d82e325947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90ba79d0e654719" /><Relationship Type="http://schemas.openxmlformats.org/officeDocument/2006/relationships/image" Target="/ppt/media/image14.png" Id="R5c8f4902062747b6" /><Relationship Type="http://schemas.openxmlformats.org/officeDocument/2006/relationships/notesSlide" Target="/ppt/notesSlides/notesSlide19.xml" Id="R74b56b3c4c6c41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6c05124891c4a1c" /><Relationship Type="http://schemas.openxmlformats.org/officeDocument/2006/relationships/image" Target="/ppt/media/image15.png" Id="R02dfaec9844c4212" /><Relationship Type="http://schemas.openxmlformats.org/officeDocument/2006/relationships/notesSlide" Target="/ppt/notesSlides/notesSlide20.xml" Id="Rdeb39d1039ac42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d9a7a18fb4e4c90" /><Relationship Type="http://schemas.openxmlformats.org/officeDocument/2006/relationships/image" Target="/ppt/media/image16.png" Id="R96683d19524d4df3" /><Relationship Type="http://schemas.openxmlformats.org/officeDocument/2006/relationships/notesSlide" Target="/ppt/notesSlides/notesSlide21.xml" Id="R3e852a764f1645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5367d14796b4fe0" /><Relationship Type="http://schemas.openxmlformats.org/officeDocument/2006/relationships/image" Target="/ppt/media/image17.png" Id="Rf29425547dcc4bb5" /><Relationship Type="http://schemas.openxmlformats.org/officeDocument/2006/relationships/notesSlide" Target="/ppt/notesSlides/notesSlide22.xml" Id="Rdd88e376230a4c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dd9ff9fa29c4093" /><Relationship Type="http://schemas.openxmlformats.org/officeDocument/2006/relationships/image" Target="/ppt/media/image18.png" Id="Rd7cf3824564a41f7" /><Relationship Type="http://schemas.openxmlformats.org/officeDocument/2006/relationships/notesSlide" Target="/ppt/notesSlides/notesSlide23.xml" Id="Ree860056d73a450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468b653b1644539" /><Relationship Type="http://schemas.openxmlformats.org/officeDocument/2006/relationships/image" Target="/ppt/media/image19.png" Id="Rcac77a94b3264ff0" /><Relationship Type="http://schemas.openxmlformats.org/officeDocument/2006/relationships/notesSlide" Target="/ppt/notesSlides/notesSlide24.xml" Id="Rb6f8b2bf78d7458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c2c6e9e704fa0" /><Relationship Type="http://schemas.openxmlformats.org/officeDocument/2006/relationships/notesSlide" Target="/ppt/notesSlides/notesSlide25.xml" Id="R8672709d403246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f691b70f3f4da4" /><Relationship Type="http://schemas.openxmlformats.org/officeDocument/2006/relationships/notesSlide" Target="/ppt/notesSlides/notesSlide26.xml" Id="R15e320ca5ca444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1203ff0dfec4817" /><Relationship Type="http://schemas.openxmlformats.org/officeDocument/2006/relationships/image" Target="/ppt/media/image20.png" Id="R9881d089c56745d7" /><Relationship Type="http://schemas.openxmlformats.org/officeDocument/2006/relationships/notesSlide" Target="/ppt/notesSlides/notesSlide27.xml" Id="R3790cc79862c4f2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b92453aaa4208" /><Relationship Type="http://schemas.openxmlformats.org/officeDocument/2006/relationships/notesSlide" Target="/ppt/notesSlides/notesSlide28.xml" Id="R433e28b551794bb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4d8348fde463e" /><Relationship Type="http://schemas.openxmlformats.org/officeDocument/2006/relationships/notesSlide" Target="/ppt/notesSlides/notesSlide29.xml" Id="R45005ab1e2bb4ac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269d850a54d8f" /><Relationship Type="http://schemas.openxmlformats.org/officeDocument/2006/relationships/notesSlide" Target="/ppt/notesSlides/notesSlide30.xml" Id="Rdbb7b33451c64ac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d037348c994aff" /><Relationship Type="http://schemas.openxmlformats.org/officeDocument/2006/relationships/image" Target="/ppt/media/image2.jpeg" Id="R332109814d494913" /><Relationship Type="http://schemas.openxmlformats.org/officeDocument/2006/relationships/image" Target="/ppt/media/image3.jpeg" Id="Rfaa6248a9ada4abb" /><Relationship Type="http://schemas.openxmlformats.org/officeDocument/2006/relationships/notesSlide" Target="/ppt/notesSlides/notesSlide31.xml" Id="Ra284767573534d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dda90e7484c1d"/>
          <a:srcRect xmlns:a="http://schemas.openxmlformats.org/drawingml/2006/main" l="0" t="41239" r="0" b="27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43452"/>
            <a:ext cx="12192000" cy="2014548"/>
          </a:xfrm>
        </p:spPr>
      </p:pic>
      <p:pic>
        <p:nvPicPr>
          <p:cNvPr id="2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498af8a7e4682"/>
          <a:srcRect xmlns:a="http://schemas.openxmlformats.org/drawingml/2006/main" l="0" t="27368" r="0" b="30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92149"/>
            <a:ext cx="12192000" cy="2356583"/>
          </a:xfrm>
        </p:spPr>
      </p:pic>
      <p:sp>
        <p:nvSpPr>
          <p:cNvPr id="16" name="标题 1">
            <a:extLst xmlns:a="http://schemas.openxmlformats.org/drawingml/2006/main">
              <a:ext uri="{FF2B5EF4-FFF2-40B4-BE49-F238E27FC236}">
                <a16:creationId xmlns:a16="http://schemas.microsoft.com/office/drawing/2014/main" id="{E6320648-2AB0-459E-851B-229983D1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815" y="2847664"/>
            <a:ext cx="2915816" cy="43204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b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 b="0">
                <a:solidFill>
                  <a:schemeClr val="accent1">
                    <a:lumMod val="25000"/>
                  </a:schemeClr>
                </a:solidFill>
              </a:rPr>
              <a:t>华中科技大学</a:t>
            </a:r>
            <a:endParaRPr sz="2000" b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DDB2AB16-894B-4FA6-8609-7630AF020B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59496" y="3269990"/>
            <a:ext cx="9080679" cy="66306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数据库 AI 负载的执行优化与调度研究</a:t>
            </a:r>
            <a:endParaRPr sz="2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658DEA-2DC9-4F82-8CC3-ED72403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96" y="4087119"/>
            <a:ext cx="8352928" cy="909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sz="1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报告人：____________</a:t>
            </a:r>
            <a:endParaRPr sz="1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sz="1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指导教师：____________</a:t>
            </a:r>
            <a:endParaRPr sz="1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8967231C-C715-47DE-8132-5662DAB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660" y="4005064"/>
            <a:ext cx="5042404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620619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552984D-C723-4E56-B096-DAAA46A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1052736"/>
            <a:ext cx="877463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提纲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C848B-AC53-475B-AE9B-2F8C102D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E83C6-EFB7-4384-9F85-832DB6C4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01 研究背景与研究空白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3C018-B77F-4F3C-8D4C-81F0F147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719D4-B9BF-4D45-BD3A-54176706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02 动机实验与设计要求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DAC62-C0C6-435F-856B-C1EF49A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58865-6191-475B-B1A3-E1598468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03 研究方案、策略关系与验证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8898C-78E2-4B51-9E4E-222BC204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F19C0D-EC4C-4AB7-BAE9-80AFC7E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04 研究基础、计划与预期贡献</a:t>
            </a:r>
          </a:p>
        </p:txBody>
      </p:sp>
    </p:spTree>
    <p:extLst>
      <p:ext uri="{BB962C8B-B14F-4D97-AF65-F5344CB8AC3E}">
        <p14:creationId xmlns:p14="http://schemas.microsoft.com/office/powerpoint/2010/main" val="4007614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研究背景｜数据库成为 AI 任务入口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Snowflake Cortex AISQL、BigQuery ML/AI、Oracle AI Vector Search 与 PostgreSQL pgai/pgvector 已支持生成、嵌入、过滤和分类。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图示说明：数据库负责发起任务与管理结果，模型调用却经过请求组织、数据准备、GPU 服务和写回。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本页结论：数据库成为 AI 任务入口后，查询边界已经延伸到模型服务之前。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下一问题：传统算子的执行假设能否直接覆盖这条链路？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40686680a4e23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研究背景｜AI 算子改变传统数据执行假设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传统算子通常以行数、字节和本地资源估计成本；AI 算子还受 token/frame、CPU prepare、传输、模型队列、KV 与输出长度影响。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图示说明：数据库只看到记录与结果，模型服务只看到已到达请求，中间阶段没有统一状态所有者。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本页结论：固定行数、固定 batch 和固定并发不足以描述端到端执行。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下一问题：相邻研究分别解决了哪些层，仍缺什么接口？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d4f99d2764047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77523C6-C525-49EE-97D3-CA982EDC2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372DC55-21B3-4278-A585-0D2497B8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研究现状｜数据库 AI 优化算子语义</a:t>
            </a:r>
            <a:endParaRPr sz="2800"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51B471C-2494-4261-8B97-6AC0F31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57375"/>
            <a:ext cx="4619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代表工作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LOTUS：语义算子与质量约束优化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Galois：基于大模型的 SQL 逻辑与物理计划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GaussML：数据库内机器学习算子与代价估计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Cortex AISQL：生产级 AI SQL 与模型调用优化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</a:pPr>
            <a:r>
              <a:rPr>
                <a:solidFill>
                  <a:schemeClr val="tx1"/>
                </a:solidFill>
                <a:latin typeface="Segoe UI Light"/>
                <a:ea typeface="Segoe UI Light"/>
                <a:cs typeface="Segoe UI Light"/>
              </a:rPr>
              <a:t/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已解决：算子语义、计划与调用成本。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仍缺少：外部数据阶段、实时服务压力和多作业共享状态。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B5A485E-DE9C-46FC-BA9F-7708973D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86375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2E2E2E"/>
                </a:solidFill>
              </a:defRPr>
            </a:pPr>
            <a:r>
              <a:rPr sz="1088" b="1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图示说明：Cortex AISQL 把多类 AI 算子接入 SQL 执行，但模型请求到达服务前的 work 成形与状态反馈仍需单独处理。</a:t>
            </a:r>
            <a:endParaRPr b="1"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>
              <a:defRPr sz="1088">
                <a:solidFill>
                  <a:srgbClr val="2E2E2E"/>
                </a:solidFill>
              </a:defRPr>
            </a:pPr>
            <a:r>
              <a:rPr sz="1088" b="1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下一问题：通用数据执行框架是否已经拥有这段跨层闭环？</a:t>
            </a:r>
            <a:endParaRPr b="1">
              <a:latin typeface="Segoe UI Light"/>
              <a:ea typeface="Segoe UI Light"/>
              <a:cs typeface="Segoe UI Light"/>
            </a:endParaRP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dc70c263d48ef"/>
          <a:stretch xmlns:a="http://schemas.openxmlformats.org/drawingml/2006/main"/>
        </p:blipFill>
        <p:spPr>
          <a:xfrm xmlns:a="http://schemas.openxmlformats.org/drawingml/2006/main">
            <a:off x="5095875" y="1837302"/>
            <a:ext cx="6667500" cy="32786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978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77523C6-C525-49EE-97D3-CA982EDC2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372DC55-21B3-4278-A585-0D2497B8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研究现状｜数据执行系统提供异构流水线机制</a:t>
            </a:r>
            <a:endParaRPr sz="2800"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51B471C-2494-4261-8B97-6AC0F31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57375"/>
            <a:ext cx="4619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代表工作与系统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Ray：任务/执行器与分布式资源调度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Ray Data Streaming Batch：CPU/GPU 流水线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Daft：Arrow/Rust、分区与批次抽象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NeuStream：流处理与深度学习服务流水线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</a:pPr>
            <a:r>
              <a:rPr>
                <a:solidFill>
                  <a:schemeClr val="tx1"/>
                </a:solidFill>
                <a:latin typeface="Segoe UI Light"/>
                <a:ea typeface="Segoe UI Light"/>
                <a:cs typeface="Segoe UI Light"/>
              </a:rPr>
              <a:t/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已解决：数据分区、批执行、异步与背压。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仍缺少：统一分阶段工作量、模型状态与数据库结果语义。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B5A485E-DE9C-46FC-BA9F-7708973D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86375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2E2E2E"/>
                </a:solidFill>
              </a:defRPr>
            </a:pPr>
            <a:r>
              <a:rPr sz="1088" b="1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图示说明：Ray 通过任务、对象存储和局部性调度组织分布式执行，说明通用框架已经提供异构执行的基础机制。</a:t>
            </a:r>
            <a:endParaRPr b="1"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>
              <a:defRPr sz="1088">
                <a:solidFill>
                  <a:srgbClr val="2E2E2E"/>
                </a:solidFill>
              </a:defRPr>
            </a:pPr>
            <a:r>
              <a:rPr sz="1088" b="1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本页结论：框架机制不会自动获得数据库任务语义和模型运行状态。</a:t>
            </a:r>
            <a:endParaRPr b="1"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>
              <a:defRPr sz="1088">
                <a:solidFill>
                  <a:srgbClr val="2E2E2E"/>
                </a:solidFill>
              </a:defRPr>
            </a:pPr>
            <a:r>
              <a:rPr sz="1088" b="1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下一问题：模型服务内部调度能否反向管理数据库作业？</a:t>
            </a:r>
            <a:endParaRPr b="1">
              <a:latin typeface="Segoe UI Light"/>
              <a:ea typeface="Segoe UI Light"/>
              <a:cs typeface="Segoe UI Light"/>
            </a:endParaRP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d00bbc95940fa"/>
          <a:stretch xmlns:a="http://schemas.openxmlformats.org/drawingml/2006/main"/>
        </p:blipFill>
        <p:spPr>
          <a:xfrm xmlns:a="http://schemas.openxmlformats.org/drawingml/2006/main">
            <a:off x="5095875" y="2636375"/>
            <a:ext cx="6667500" cy="16805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978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77523C6-C525-49EE-97D3-CA982EDC2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372DC55-21B3-4278-A585-0D2497B8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研究现状｜模型服务优化已到达请求</a:t>
            </a:r>
            <a:endParaRPr sz="2800"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751B471C-2494-4261-8B97-6AC0F31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57375"/>
            <a:ext cx="4619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代表工作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Orca：迭代级调度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vLLM：PagedAttention 与连续批处理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Sarathi-Serve：分块预填充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• VTC：资源有效利用的多租户公平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</a:pPr>
            <a:r>
              <a:rPr>
                <a:solidFill>
                  <a:schemeClr val="tx1"/>
                </a:solidFill>
                <a:latin typeface="Segoe UI Light"/>
                <a:ea typeface="Segoe UI Light"/>
                <a:cs typeface="Segoe UI Light"/>
              </a:rPr>
              <a:t/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已解决：KV、批处理、预填充/解码与服务内公平。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 algn="just" defTabSz="266700">
              <a:lnSpc>
                <a:spcPct val="150000"/>
              </a:lnSpc>
              <a:spcBef>
                <a:spcPts val="500"/>
              </a:spcBef>
              <a:buClrTx/>
              <a:buSzTx/>
              <a:buFontTx/>
              <a:buNone/>
              <a:defRPr sz="1200">
                <a:solidFill>
                  <a:srgbClr val="2E2E2E"/>
                </a:solidFill>
              </a:defRPr>
            </a:pPr>
            <a:r>
              <a:rPr sz="1200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仍缺少：数据源积压、作业剩余工作量、局部性与写回语义。</a:t>
            </a:r>
            <a:endParaRPr>
              <a:solidFill>
                <a:schemeClr val="tx1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B5A485E-DE9C-46FC-BA9F-7708973D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86375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2E2E2E"/>
                </a:solidFill>
              </a:defRPr>
            </a:pPr>
            <a:r>
              <a:rPr sz="1088" b="1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图示说明：vLLM 以服务端请求和 KV block 为基本对象。</a:t>
            </a:r>
            <a:endParaRPr b="1"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>
              <a:defRPr sz="1088">
                <a:solidFill>
                  <a:srgbClr val="2E2E2E"/>
                </a:solidFill>
              </a:defRPr>
            </a:pPr>
            <a:r>
              <a:rPr sz="1088" b="1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本页结论：本课题不重复服务内部 batching，而是控制请求到达服务前的组织、提交与路由。</a:t>
            </a:r>
            <a:endParaRPr b="1">
              <a:latin typeface="Segoe UI Light"/>
              <a:ea typeface="Segoe UI Light"/>
              <a:cs typeface="Segoe UI Light"/>
            </a:endParaRPr>
          </a:p>
          <a:p xmlns:a="http://schemas.openxmlformats.org/drawingml/2006/main">
            <a:pPr>
              <a:defRPr sz="1088">
                <a:solidFill>
                  <a:srgbClr val="2E2E2E"/>
                </a:solidFill>
              </a:defRPr>
            </a:pPr>
            <a:r>
              <a:rPr sz="1088" b="1">
                <a:solidFill>
                  <a:srgbClr val="2E2E2E"/>
                </a:solidFill>
                <a:latin typeface="Segoe UI Light"/>
                <a:ea typeface="Segoe UI Light"/>
                <a:cs typeface="Segoe UI Light"/>
              </a:rPr>
              <a:t>下一问题：这些控制动作怎样获得可比较的代价信号？</a:t>
            </a:r>
            <a:endParaRPr b="1">
              <a:latin typeface="Segoe UI Light"/>
              <a:ea typeface="Segoe UI Light"/>
              <a:cs typeface="Segoe UI Light"/>
            </a:endParaRP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4cb0e1cbe4b0d"/>
          <a:stretch xmlns:a="http://schemas.openxmlformats.org/drawingml/2006/main"/>
        </p:blipFill>
        <p:spPr>
          <a:xfrm xmlns:a="http://schemas.openxmlformats.org/drawingml/2006/main">
            <a:off x="5095875" y="2167708"/>
            <a:ext cx="6667500" cy="26178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978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研究现状｜代价研究开始支撑 AI 配置选择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GRACEFUL 估计用户自定义函数的服务代价，COSTREAM 学习跨资源放置成本，Abacus 面向语义算子做多目标计划选择。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图示说明：数据库 AI、数据执行、模型服务与代价决策各有强工作，但三类关键信息仍分散在不同层。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本页结论：预测误差不是终点，代价信号还要能支撑组织、容量与路由选择。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下一问题：谁同时拥有数据库作业、分阶段工作量和模型服务状态？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e302cafe94339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研究空白｜AI Data Execution Layer 缺少上游闭环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该层需要把记录转换为可比较的分阶段工作量，观测数据源、准备、模型、结果阶段与服务状态，并在固定容量内控制准入、路由和多作业额度。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图示说明：数据库提供作业、服务目标和结果语义；模型服务提供运行/等待请求、KV 与完成节奏；中间层连接两侧。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研究边界：不修改数据库内核、vLLM 调度器、模型结构或 GPU 内核。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下一问题：现有执行路径究竟会落入哪些供给和排队状态？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b16aeffae48fe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552984D-C723-4E56-B096-DAAA46A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1052736"/>
            <a:ext cx="877463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提纲 · 动机实验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CC1EF-D1B3-40ED-A006-FB3855B7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12BDB-3EBE-4F92-88D2-A44A53C7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01 研究背景与研究空白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7DDE4-84C3-46F3-818C-84772810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9D52F-E24C-4834-86CA-873DE001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02 动机实验与设计要求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A5978-868B-4260-8409-7A8BF24A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37595-FC06-4762-9865-92C2ED19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03 研究方案、策略关系与验证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4F6EF-84D6-49A4-8141-A213D60D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7A14F-E345-40D1-AEA1-DBA18BD1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04 研究基础、计划与预期贡献</a:t>
            </a:r>
          </a:p>
        </p:txBody>
      </p:sp>
    </p:spTree>
    <p:extLst>
      <p:ext uri="{BB962C8B-B14F-4D97-AF65-F5344CB8AC3E}">
        <p14:creationId xmlns:p14="http://schemas.microsoft.com/office/powerpoint/2010/main" val="4007614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动机证据｜不同执行图形成不同服务状态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实验现象：均匀负载下的三种固定配置表现接近；同一受控对话负载中，Daft 两条官方路径出现大量等待与高 KV 占用，Ray Data 当前官方路径则供给不足。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系统含义：作业完成时间接近或等待队列为零，都不能单独说明运行状态健康；执行图决定请求到达模型服务的节奏。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设计对应：运行时需联合观察工作速率、运行/等待请求、KV 占用、尾延迟与任务进度。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比较原则：先验证数据读取、结果写回和输出质量，再观察各官方执行路径的外部服务压力。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09f69170a431e"/>
          <a:stretch xmlns:a="http://schemas.openxmlformats.org/drawingml/2006/main"/>
        </p:blipFill>
        <p:spPr>
          <a:xfrm xmlns:a="http://schemas.openxmlformats.org/drawingml/2006/main">
            <a:off x="1610030" y="1809750"/>
            <a:ext cx="8971941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动机证据｜行数和静态上限不能描述工作状态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实验现象：固定 16 行时，一批输入的 token 工作量最小 474、最大 6,793，相差 14.3 倍；相同的每端点 65,536 在途 token 上限，在高负载与到达受限场景下呈现不同 GPU 活跃度。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系统含义：容量扫描存在最小近饱和区，继续增加在途工作量的吞吐收益很小，但请求尾延迟继续上升；容量上限不是在线状态。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设计对应：需要分阶段工作描述、新鲜状态快照与固定容量边界内的控制动作。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ed4a66dc54fb5"/>
          <a:stretch xmlns:a="http://schemas.openxmlformats.org/drawingml/2006/main"/>
        </p:blipFill>
        <p:spPr>
          <a:xfrm xmlns:a="http://schemas.openxmlformats.org/drawingml/2006/main">
            <a:off x="1644629" y="1809750"/>
            <a:ext cx="890274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动机证据｜图像任务暴露多阶段失配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实验现象：实用批次下，CPU 解码与归一化时间是 GPU 模型执行时间的 13.8–31.2 倍；普通内存、锁页内存和 GPU 常驻输入的传输代价也不同。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系统含义：活动窗口从 16 增到 32 只有小幅收益，继续增到 64 出现等待或性能回退；图片数量不能代表真实工作量。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设计对应：跨模态公共接口需要表达数据源、准备、模型和结果四个阶段。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f7c22eb8f4321"/>
          <a:stretch xmlns:a="http://schemas.openxmlformats.org/drawingml/2006/main"/>
        </p:blipFill>
        <p:spPr>
          <a:xfrm xmlns:a="http://schemas.openxmlformats.org/drawingml/2006/main">
            <a:off x="1652122" y="1809750"/>
            <a:ext cx="8887755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动机证据｜四作业并发同时干扰短作业与长作业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实验现象：Daft 本地执行、Daft 分布式执行和 Ray Data 中，短作业与三个长作业的完成时间均退化，但幅度和服务压力形态不同。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系统含义：模型服务只看到请求，无法直接管理数据库作业的到达、活跃、排空和公平；只保护短作业也不足以描述系统。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设计对应：需要每作业已完成/剩余工作量、共享额度、隔离约束与 Jain 公平性。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比较边界：每条原生路径只与自身单作业隔离运行比较，不做跨框架绝对排名。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653733c514e9c"/>
          <a:stretch xmlns:a="http://schemas.openxmlformats.org/drawingml/2006/main"/>
        </p:blipFill>
        <p:spPr>
          <a:xfrm xmlns:a="http://schemas.openxmlformats.org/drawingml/2006/main">
            <a:off x="2365067" y="1809750"/>
            <a:ext cx="7461866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1FDC85ED-A154-4263-ACA4-64C102047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04F356F-0847-4096-A5F3-C8E5ED4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设计要求｜动机现象导出两项研究内容和共同支撑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39" name="矩形 3">
            <a:extLst xmlns:a="http://schemas.openxmlformats.org/drawingml/2006/main">
              <a:ext uri="{FF2B5EF4-FFF2-40B4-BE49-F238E27FC236}">
                <a16:creationId xmlns:a16="http://schemas.microsoft.com/office/drawing/2014/main" id="{F3DD148A-4F0C-4B37-BD83-9ECFCE1F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19084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0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D450345A-7271-4406-8E83-06A2A67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03" y="2784811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1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15B3BC11-6293-46F5-86B5-B411A1E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921" y="2780568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5" name="矩形 19">
            <a:extLst xmlns:a="http://schemas.openxmlformats.org/drawingml/2006/main">
              <a:ext uri="{FF2B5EF4-FFF2-40B4-BE49-F238E27FC236}">
                <a16:creationId xmlns:a16="http://schemas.microsoft.com/office/drawing/2014/main" id="{4942928E-9866-4373-929C-6CD4EF2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380583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7" name="矩形 21">
            <a:extLst xmlns:a="http://schemas.openxmlformats.org/drawingml/2006/main">
              <a:ext uri="{FF2B5EF4-FFF2-40B4-BE49-F238E27FC236}">
                <a16:creationId xmlns:a16="http://schemas.microsoft.com/office/drawing/2014/main" id="{1A112BB0-5A1D-45F8-8B93-28C7B81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88" y="478945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8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2A8B9150-39DD-45D0-8B3E-D9DCF8B6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76363" y="2789256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9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0C98F0F3-7E36-4F09-8A94-C9C1155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2681" y="2785013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53" name="矩形 28">
            <a:extLst xmlns:a="http://schemas.openxmlformats.org/drawingml/2006/main">
              <a:ext uri="{FF2B5EF4-FFF2-40B4-BE49-F238E27FC236}">
                <a16:creationId xmlns:a16="http://schemas.microsoft.com/office/drawing/2014/main" id="{C2A91BA6-48AD-45B4-BB34-C174ACB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33" y="381282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5" name="矩形 30">
            <a:extLst xmlns:a="http://schemas.openxmlformats.org/drawingml/2006/main">
              <a:ext uri="{FF2B5EF4-FFF2-40B4-BE49-F238E27FC236}">
                <a16:creationId xmlns:a16="http://schemas.microsoft.com/office/drawing/2014/main" id="{5A227317-3936-43AD-8126-3F86001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068" y="51215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6" name="intro">
            <a:extLst xmlns:a="http://schemas.openxmlformats.org/drawingml/2006/main">
              <a:ext uri="{FF2B5EF4-FFF2-40B4-BE49-F238E27FC236}">
                <a16:creationId xmlns:a16="http://schemas.microsoft.com/office/drawing/2014/main" id="{08976310-A602-4012-BB42-605ADFC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动机实验不是结果堆叠：每个现象都对应一个设计对象、一个控制边界和一组后续对照实验。</a:t>
            </a:r>
          </a:p>
        </p:txBody>
      </p:sp>
      <p:sp>
        <p:nvSpPr>
          <p:cNvPr id="1048657" name="left-label">
            <a:extLst xmlns:a="http://schemas.openxmlformats.org/drawingml/2006/main">
              <a:ext uri="{FF2B5EF4-FFF2-40B4-BE49-F238E27FC236}">
                <a16:creationId xmlns:a16="http://schemas.microsoft.com/office/drawing/2014/main" id="{D99FAB9D-F6DB-47D8-81AC-764E3401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研究内容一</a:t>
            </a:r>
          </a:p>
        </p:txBody>
      </p:sp>
      <p:sp>
        <p:nvSpPr>
          <p:cNvPr id="1048658" name="left-title">
            <a:extLst xmlns:a="http://schemas.openxmlformats.org/drawingml/2006/main">
              <a:ext uri="{FF2B5EF4-FFF2-40B4-BE49-F238E27FC236}">
                <a16:creationId xmlns:a16="http://schemas.microsoft.com/office/drawing/2014/main" id="{FA8AABF8-0983-4770-A6AD-78CD28DD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工作单元与数据组织</a:t>
            </a:r>
          </a:p>
        </p:txBody>
      </p:sp>
      <p:sp>
        <p:nvSpPr>
          <p:cNvPr id="1048659" name="right-label">
            <a:extLst xmlns:a="http://schemas.openxmlformats.org/drawingml/2006/main">
              <a:ext uri="{FF2B5EF4-FFF2-40B4-BE49-F238E27FC236}">
                <a16:creationId xmlns:a16="http://schemas.microsoft.com/office/drawing/2014/main" id="{2BDDA804-2D52-48BF-842F-3523B88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研究内容二</a:t>
            </a:r>
          </a:p>
        </p:txBody>
      </p:sp>
      <p:sp>
        <p:nvSpPr>
          <p:cNvPr id="104866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085DD08B-2225-4C1B-B0D8-3CF3336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状态感知提交与多作业调度</a:t>
            </a:r>
          </a:p>
        </p:txBody>
      </p:sp>
      <p:sp>
        <p:nvSpPr>
          <p:cNvPr id="1048661" name="left-point-1">
            <a:extLst xmlns:a="http://schemas.openxmlformats.org/drawingml/2006/main">
              <a:ext uri="{FF2B5EF4-FFF2-40B4-BE49-F238E27FC236}">
                <a16:creationId xmlns:a16="http://schemas.microsoft.com/office/drawing/2014/main" id="{E08F8A15-143A-4CEA-A6EC-3170E126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同行数工作量相差 14.3×，图像又呈多阶段失配。</a:t>
            </a:r>
          </a:p>
        </p:txBody>
      </p:sp>
      <p:sp>
        <p:nvSpPr>
          <p:cNvPr id="1048662" name="left-point-2">
            <a:extLst xmlns:a="http://schemas.openxmlformats.org/drawingml/2006/main">
              <a:ext uri="{FF2B5EF4-FFF2-40B4-BE49-F238E27FC236}">
                <a16:creationId xmlns:a16="http://schemas.microsoft.com/office/drawing/2014/main" id="{E5CE66DC-C055-4F15-8880-4DD5D5AA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因此先构造分阶段工作描述，再比较工作量预算、均衡与局部性；固定调度，只改变组织。</a:t>
            </a:r>
          </a:p>
        </p:txBody>
      </p:sp>
      <p:sp>
        <p:nvSpPr>
          <p:cNvPr id="1048663" name="right-point-1">
            <a:extLst xmlns:a="http://schemas.openxmlformats.org/drawingml/2006/main">
              <a:ext uri="{FF2B5EF4-FFF2-40B4-BE49-F238E27FC236}">
                <a16:creationId xmlns:a16="http://schemas.microsoft.com/office/drawing/2014/main" id="{BA755815-966C-4C3C-8205-92C8AAEF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同一上限对应不同状态，多作业出现效率、隔离与公平冲突。</a:t>
            </a:r>
          </a:p>
        </p:txBody>
      </p:sp>
      <p:sp>
        <p:nvSpPr>
          <p:cNvPr id="1048664" name="right-point-2">
            <a:extLst xmlns:a="http://schemas.openxmlformats.org/drawingml/2006/main">
              <a:ext uri="{FF2B5EF4-FFF2-40B4-BE49-F238E27FC236}">
                <a16:creationId xmlns:a16="http://schemas.microsoft.com/office/drawing/2014/main" id="{F601E0EF-729F-4AA7-A2F0-F0CD99DC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因此保持 GPU 资源和最大在途工作量不变，比较准入、路由、空闲份额借用、有序释放与公平保护；代价估计同时服务两项内容。</a:t>
            </a:r>
          </a:p>
        </p:txBody>
      </p:sp>
    </p:spTree>
    <p:extLst>
      <p:ext uri="{BB962C8B-B14F-4D97-AF65-F5344CB8AC3E}">
        <p14:creationId xmlns:p14="http://schemas.microsoft.com/office/powerpoint/2010/main" val="109447180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552984D-C723-4E56-B096-DAAA46A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1052736"/>
            <a:ext cx="877463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提纲 · 研究方案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2F4F0-7377-445D-8F3E-DA44CDE0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51A3B-834F-4F1E-AB8C-A0B25A26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01 研究背景与研究空白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6F6AB-F5A4-4C48-9CD2-6E6D440F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B81E5-E3BF-4974-A34B-D93EFA70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02 动机实验与设计要求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3DFAC-6158-4F01-AEA3-A8E2221D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C20AA-CB27-43C8-8960-8DA9AB2E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03 研究方案、策略关系与验证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E26587-9ABE-4736-861B-F51629E0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1FD0A-E7C6-4D64-83CB-8295E951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04 研究基础、计划与预期贡献</a:t>
            </a:r>
          </a:p>
        </p:txBody>
      </p:sp>
    </p:spTree>
    <p:extLst>
      <p:ext uri="{BB962C8B-B14F-4D97-AF65-F5344CB8AC3E}">
        <p14:creationId xmlns:p14="http://schemas.microsoft.com/office/powerpoint/2010/main" val="4007614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总体方案｜前向工作描述与反向状态组成闭环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前向链路：数据库/数据帧 → 工作描述与代价 → 数据组织 → 调度 → GPU 执行 → 结果写回。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图示说明：组织器决定一个工作单元包含什么；调度器决定何时、向哪里、以多少在途工作量提交；请求完成后更新状态与剩余工作量。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本页结论：两项研究内容可独立消融，但共享工作描述、运行状态快照和代价信号。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下一步：先定义组织与调度共同消费的数据结构。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1c112599447b5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研究内容一｜工作描述连接数据组织与调度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公共字段包括记录/作业标识、数据源/准备/模型/结果工作量、局部性、到达时间/期限、不确定区间与校准签名。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图示说明：文本映射输入/输出 token、前缀局部性与结果字节；图像映射编码字节、解码/缩放、张量/模型工作量与向量结果字节。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本页结论：工作描述是研究内容一的输出，也是研究内容二的输入。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边界：字段先采用可解释的最小集合，只有决策收益证明需要时才增加复杂度。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02e06519242aa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研究内容一｜数据组织权衡工作量均衡与局部性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候选策略包括固定行数、按 token/图像帧预算保序成批、长度对齐、最佳适配装箱与行数上限；一次消融中互斥比较。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图示说明：低压力下五种策略近似中性；高 KV 压力下，重排/装箱会破坏前缀组，缓存命中率与吞吐同步下降。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策略关系：工作量预算约束单元大小，均衡控制填充，局部性约束重排范围。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本页结论：先独立搜索最小有效组织策略，再与调度策略拼接。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f4902062747b6"/>
          <a:stretch xmlns:a="http://schemas.openxmlformats.org/drawingml/2006/main"/>
        </p:blipFill>
        <p:spPr>
          <a:xfrm xmlns:a="http://schemas.openxmlformats.org/drawingml/2006/main">
            <a:off x="2141663" y="1809750"/>
            <a:ext cx="7908675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研究内容二｜固定总容量下动态释放工作额度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离线按机器、模型、协议和负载校准最小饱和容量边界；在线观测每作业待准备、在途、剩余、已完成工作量，以及运行/等待请求与 KV 占用。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图示说明：空闲份额可以借用；新作业到达后不抢占已进入服务的请求，只在请求完成、归还额度时回收未来份额。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回退：状态过期、校准签名不符或额度账本异常时，退回先到先服务或公平队列，并保持总上限不变。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本页结论：动态控制对象是释放顺序与份额，不是持续猜测新的总并发。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faec9844c4212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研究内容二｜共享额度权衡效率、隔离与公平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实验现象：单作业全容量与四分之一容量控制组先分离额度损失；同一总上限下，共享额度相对静态分区提高作业组吞吐与 GPU 计算利用率，但不同作业收益不均，Jain 公平性下降。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系统含义：提高资源有效利用并不保证每个作业同时改善，吞吐、隔离和公平是并列目标。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设计对应：空闲份额借用提高资源利用；每作业保底/上限、工作量欠账和服务目标保护约束隔离。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83d19524d4df3"/>
          <a:stretch xmlns:a="http://schemas.openxmlformats.org/drawingml/2006/main"/>
        </p:blipFill>
        <p:spPr>
          <a:xfrm xmlns:a="http://schemas.openxmlformats.org/drawingml/2006/main">
            <a:off x="2528888" y="1809750"/>
            <a:ext cx="7134225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共同支撑｜代价估计以配置排序和决策损失评价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实验现象：429 个正式观测覆盖 20 组负载与服务配置，每组比较四个在途工作量候选；混合模型排序准确率 0.808，平均决策损失 2.90%，最坏损失 14.72%。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系统含义：单点执行时间误差更低，不保证能选对组织、容量或路由配置；当前结果只说明初步可行。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设计对应：采用解析工作量特征、少量剖析校准和残差修正，同时报告相对排序准确率与平均、中位、最坏决策损失。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425547dcc4bb5"/>
          <a:stretch xmlns:a="http://schemas.openxmlformats.org/drawingml/2006/main"/>
        </p:blipFill>
        <p:spPr>
          <a:xfrm xmlns:a="http://schemas.openxmlformats.org/drawingml/2006/main">
            <a:off x="2235271" y="1809750"/>
            <a:ext cx="7721459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跨模态验证｜图像基线先确认路径与能力边界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实验现象：12 万条同资源重复实验中，本课题的固定配置相对 Ray Data 呈现约 13%–15% 的可重复作业完成时间改善；1.2 万条实验只用于检查执行结构。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系统含义：直接调用、框架原生路径和本课题方法承担不同角色，不能混为一个总排行榜；Daft 内置路径在 2 万条时出现对象存储空间不足。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设计对应：先分别建立直接调用、框架原生与本课题方法的可比较设置，再验证状态感知方法的增量；无法完成规定规模或输出语义不一致的路径不报告性能数值。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f3824564a41f7"/>
          <a:stretch xmlns:a="http://schemas.openxmlformats.org/drawingml/2006/main"/>
        </p:blipFill>
        <p:spPr>
          <a:xfrm xmlns:a="http://schemas.openxmlformats.org/drawingml/2006/main">
            <a:off x="2010555" y="1809750"/>
            <a:ext cx="8170891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跨模态验证｜图像四作业重现任务级干扰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实验现象：Daft 内置 AI 函数、Ray Data 与本课题执行路径均出现作业级干扰，但短作业和长作业的退化形态不同。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系统含义：图像同样需要每作业分阶段工作量、活跃/剩余状态、共享额度与隔离约束；本课题现有状态数据仅用于观测，尚未驱动控制动作。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设计对应：工作描述、状态快照与额度接口跨模态复用，只有数据源、准备和模型阶段的字段映射不同。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比较边界：每条路径只与自身单作业隔离运行比较，不做跨框架绝对排名。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77a94b3264ff0"/>
          <a:stretch xmlns:a="http://schemas.openxmlformats.org/drawingml/2006/main"/>
        </p:blipFill>
        <p:spPr>
          <a:xfrm xmlns:a="http://schemas.openxmlformats.org/drawingml/2006/main">
            <a:off x="2553691" y="1809750"/>
            <a:ext cx="7084618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1FDC85ED-A154-4263-ACA4-64C102047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04F356F-0847-4096-A5F3-C8E5ED4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验证方案｜策略独立搜索后拼接，再检验联合收益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39" name="矩形 3">
            <a:extLst xmlns:a="http://schemas.openxmlformats.org/drawingml/2006/main">
              <a:ext uri="{FF2B5EF4-FFF2-40B4-BE49-F238E27FC236}">
                <a16:creationId xmlns:a16="http://schemas.microsoft.com/office/drawing/2014/main" id="{F3DD148A-4F0C-4B37-BD83-9ECFCE1F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19084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0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D450345A-7271-4406-8E83-06A2A67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03" y="2784811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1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15B3BC11-6293-46F5-86B5-B411A1E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921" y="2780568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5" name="矩形 19">
            <a:extLst xmlns:a="http://schemas.openxmlformats.org/drawingml/2006/main">
              <a:ext uri="{FF2B5EF4-FFF2-40B4-BE49-F238E27FC236}">
                <a16:creationId xmlns:a16="http://schemas.microsoft.com/office/drawing/2014/main" id="{4942928E-9866-4373-929C-6CD4EF2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380583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7" name="矩形 21">
            <a:extLst xmlns:a="http://schemas.openxmlformats.org/drawingml/2006/main">
              <a:ext uri="{FF2B5EF4-FFF2-40B4-BE49-F238E27FC236}">
                <a16:creationId xmlns:a16="http://schemas.microsoft.com/office/drawing/2014/main" id="{1A112BB0-5A1D-45F8-8B93-28C7B81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88" y="478945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8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2A8B9150-39DD-45D0-8B3E-D9DCF8B6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76363" y="2789256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9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0C98F0F3-7E36-4F09-8A94-C9C1155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2681" y="2785013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53" name="矩形 28">
            <a:extLst xmlns:a="http://schemas.openxmlformats.org/drawingml/2006/main">
              <a:ext uri="{FF2B5EF4-FFF2-40B4-BE49-F238E27FC236}">
                <a16:creationId xmlns:a16="http://schemas.microsoft.com/office/drawing/2014/main" id="{C2A91BA6-48AD-45B4-BB34-C174ACB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33" y="381282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5" name="矩形 30">
            <a:extLst xmlns:a="http://schemas.openxmlformats.org/drawingml/2006/main">
              <a:ext uri="{FF2B5EF4-FFF2-40B4-BE49-F238E27FC236}">
                <a16:creationId xmlns:a16="http://schemas.microsoft.com/office/drawing/2014/main" id="{5A227317-3936-43AD-8126-3F86001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068" y="51215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6" name="intro">
            <a:extLst xmlns:a="http://schemas.openxmlformats.org/drawingml/2006/main">
              <a:ext uri="{FF2B5EF4-FFF2-40B4-BE49-F238E27FC236}">
                <a16:creationId xmlns:a16="http://schemas.microsoft.com/office/drawing/2014/main" id="{2469AC59-7D30-4268-A50D-FE0A119B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研究内容一与二需要各自可归因；共同接口不意味着所有参数必须一次联合搜索。</a:t>
            </a:r>
          </a:p>
        </p:txBody>
      </p:sp>
      <p:sp>
        <p:nvSpPr>
          <p:cNvPr id="1048657" name="left-label">
            <a:extLst xmlns:a="http://schemas.openxmlformats.org/drawingml/2006/main">
              <a:ext uri="{FF2B5EF4-FFF2-40B4-BE49-F238E27FC236}">
                <a16:creationId xmlns:a16="http://schemas.microsoft.com/office/drawing/2014/main" id="{9F95D7BD-EDDB-49C1-8C44-07D5F40A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分层路线</a:t>
            </a:r>
          </a:p>
        </p:txBody>
      </p:sp>
      <p:sp>
        <p:nvSpPr>
          <p:cNvPr id="1048658" name="left-title">
            <a:extLst xmlns:a="http://schemas.openxmlformats.org/drawingml/2006/main">
              <a:ext uri="{FF2B5EF4-FFF2-40B4-BE49-F238E27FC236}">
                <a16:creationId xmlns:a16="http://schemas.microsoft.com/office/drawing/2014/main" id="{EFF68E90-71EF-44BC-9F96-B03B49B1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独立搜索 → 选定 → 拼接</a:t>
            </a:r>
          </a:p>
        </p:txBody>
      </p:sp>
      <p:sp>
        <p:nvSpPr>
          <p:cNvPr id="1048659" name="right-label">
            <a:extLst xmlns:a="http://schemas.openxmlformats.org/drawingml/2006/main">
              <a:ext uri="{FF2B5EF4-FFF2-40B4-BE49-F238E27FC236}">
                <a16:creationId xmlns:a16="http://schemas.microsoft.com/office/drawing/2014/main" id="{975B88AE-5374-4E13-BCFD-DA387EF1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交互检验</a:t>
            </a:r>
          </a:p>
        </p:txBody>
      </p:sp>
      <p:sp>
        <p:nvSpPr>
          <p:cNvPr id="104866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1BB96131-8AA4-4889-8747-FE36CFB4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拼接方案 ↔ 联合参数搜索</a:t>
            </a:r>
          </a:p>
        </p:txBody>
      </p:sp>
      <p:sp>
        <p:nvSpPr>
          <p:cNvPr id="1048661" name="left-point-1">
            <a:extLst xmlns:a="http://schemas.openxmlformats.org/drawingml/2006/main">
              <a:ext uri="{FF2B5EF4-FFF2-40B4-BE49-F238E27FC236}">
                <a16:creationId xmlns:a16="http://schemas.microsoft.com/office/drawing/2014/main" id="{DD5EF357-CFD5-448F-8F5A-F761BCA7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先固定调度，搜索工作量预算、均衡与局部性的最小有效组合。</a:t>
            </a:r>
          </a:p>
        </p:txBody>
      </p:sp>
      <p:sp>
        <p:nvSpPr>
          <p:cNvPr id="1048662" name="left-point-2">
            <a:extLst xmlns:a="http://schemas.openxmlformats.org/drawingml/2006/main">
              <a:ext uri="{FF2B5EF4-FFF2-40B4-BE49-F238E27FC236}">
                <a16:creationId xmlns:a16="http://schemas.microsoft.com/office/drawing/2014/main" id="{F943C274-61BE-4AFB-A08C-D444292F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再保持组织方法不变，比较先到先服务、静态分区、公平队列、状态感知准入、路由与共享份额。</a:t>
            </a:r>
          </a:p>
        </p:txBody>
      </p:sp>
      <p:sp>
        <p:nvSpPr>
          <p:cNvPr id="1048663" name="right-point-1">
            <a:extLst xmlns:a="http://schemas.openxmlformats.org/drawingml/2006/main">
              <a:ext uri="{FF2B5EF4-FFF2-40B4-BE49-F238E27FC236}">
                <a16:creationId xmlns:a16="http://schemas.microsoft.com/office/drawing/2014/main" id="{8C652EF2-8F3C-493D-913C-5FA2253F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联合显著优于拼接，说明组织状态与调度动作需要共同优化。</a:t>
            </a:r>
          </a:p>
        </p:txBody>
      </p:sp>
      <p:sp>
        <p:nvSpPr>
          <p:cNvPr id="1048664" name="right-point-2">
            <a:extLst xmlns:a="http://schemas.openxmlformats.org/drawingml/2006/main">
              <a:ext uri="{FF2B5EF4-FFF2-40B4-BE49-F238E27FC236}">
                <a16:creationId xmlns:a16="http://schemas.microsoft.com/office/drawing/2014/main" id="{BB27611D-FE5D-4C7B-94AB-EFF5B14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两者接近则采用分层方案；相对固定配置没有达到预设的最小改善幅度时，说明不适用场景并停止增加参数组合。</a:t>
            </a:r>
          </a:p>
        </p:txBody>
      </p:sp>
    </p:spTree>
    <p:extLst>
      <p:ext uri="{BB962C8B-B14F-4D97-AF65-F5344CB8AC3E}">
        <p14:creationId xmlns:p14="http://schemas.microsoft.com/office/powerpoint/2010/main" val="109447180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552984D-C723-4E56-B096-DAAA46A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1052736"/>
            <a:ext cx="877463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提纲 · 基础与计划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90D60-FB92-4312-9540-15D1FC43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CC3F3-8E24-4627-BA62-1A6CBCF3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01 研究背景与研究空白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52D02-72C5-4E4C-ADA9-6514148A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4337E-BC74-42FF-9FD7-3A0A8AFE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02 动机实验与设计要求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A70A3-5876-4246-99D1-D7366710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EB8A5-7120-4443-8CB4-C7D41733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03 研究方案、策略关系与验证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E911C-3E96-40E7-B848-65DBDC86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7A916-FE9B-4185-8385-D3A0780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71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F8F8F"/>
                </a:solidFill>
              </a:defRPr>
            </a:pPr>
            <a:r>
              <a:rPr sz="1725" b="0">
                <a:solidFill>
                  <a:srgbClr val="8F8F8F"/>
                </a:solidFill>
              </a:rPr>
              <a:t>04 研究基础、计划与预期贡献</a:t>
            </a:r>
          </a:p>
        </p:txBody>
      </p:sp>
    </p:spTree>
    <p:extLst>
      <p:ext uri="{BB962C8B-B14F-4D97-AF65-F5344CB8AC3E}">
        <p14:creationId xmlns:p14="http://schemas.microsoft.com/office/powerpoint/2010/main" val="40076144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D443DF-865B-41E5-98F2-ECB51009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73352"/>
            <a:ext cx="108813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2"/>
          </a:solidFill>
          <a:ln xmlns:a="http://schemas.openxmlformats.org/drawingml/2006/main">
            <a:solidFill>
              <a:srgbClr val="E2E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F5E05-BD4A-460C-BD7D-127E74A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69264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研究基础｜现有链路支撑后续动态验证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标题 3">
            <a:extLst xmlns:a="http://schemas.openxmlformats.org/drawingml/2006/main">
              <a:ext uri="{FF2B5EF4-FFF2-40B4-BE49-F238E27FC236}">
                <a16:creationId xmlns:a16="http://schemas.microsoft.com/office/drawing/2014/main" id="{50983580-35D3-45DB-BE2B-3801E01C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4" y="980728"/>
            <a:ext cx="730424" cy="555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FAA9D07-E45D-45B2-832F-25C0B8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已完成文本 vLLM、Daft、Ray 执行链路，工作描述、共享额度、完成即归还和可追踪运行记录；图像 CLIP 流水线与同资源原生基线也已闭环。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图示说明：已有结果承担动机、机制与可行性证据，不提前替代后续同总上限动态对照。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本页结论：工程链路可运行，关键缺口是状态感知有序释放、未参与校准场景的代价验证与跨模态动态增量。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342900" indent="-342900">
              <a:spcBef>
                <a:spcPts val="1000"/>
              </a:spcBef>
              <a:spcAft>
                <a:spcPts val="1000"/>
              </a:spcAft>
              <a:buFont typeface="Arial"/>
              <a:buChar char="•"/>
              <a:defRPr sz="1088">
                <a:solidFill>
                  <a:srgbClr val="2E2E2E"/>
                </a:solidFill>
              </a:defRPr>
            </a:pPr>
            <a:r>
              <a:rPr sz="1088">
                <a:solidFill>
                  <a:srgbClr val="2E2E2E"/>
                </a:solidFill>
              </a:rPr>
              <a:t>下一步：按统一实验合同逐层把机制验证为可归因结论。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1d089c56745d7"/>
          <a:stretch xmlns:a="http://schemas.openxmlformats.org/drawingml/2006/main"/>
        </p:blipFill>
        <p:spPr>
          <a:xfrm xmlns:a="http://schemas.openxmlformats.org/drawingml/2006/main">
            <a:off x="2963333" y="1809750"/>
            <a:ext cx="626533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389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1FDC85ED-A154-4263-ACA4-64C102047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04F356F-0847-4096-A5F3-C8E5ED4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验证标准｜保持资源与最大在途工作量一致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39" name="矩形 3">
            <a:extLst xmlns:a="http://schemas.openxmlformats.org/drawingml/2006/main">
              <a:ext uri="{FF2B5EF4-FFF2-40B4-BE49-F238E27FC236}">
                <a16:creationId xmlns:a16="http://schemas.microsoft.com/office/drawing/2014/main" id="{F3DD148A-4F0C-4B37-BD83-9ECFCE1F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19084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0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D450345A-7271-4406-8E83-06A2A67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03" y="2784811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1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15B3BC11-6293-46F5-86B5-B411A1E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921" y="2780568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5" name="矩形 19">
            <a:extLst xmlns:a="http://schemas.openxmlformats.org/drawingml/2006/main">
              <a:ext uri="{FF2B5EF4-FFF2-40B4-BE49-F238E27FC236}">
                <a16:creationId xmlns:a16="http://schemas.microsoft.com/office/drawing/2014/main" id="{4942928E-9866-4373-929C-6CD4EF2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380583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7" name="矩形 21">
            <a:extLst xmlns:a="http://schemas.openxmlformats.org/drawingml/2006/main">
              <a:ext uri="{FF2B5EF4-FFF2-40B4-BE49-F238E27FC236}">
                <a16:creationId xmlns:a16="http://schemas.microsoft.com/office/drawing/2014/main" id="{1A112BB0-5A1D-45F8-8B93-28C7B81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88" y="478945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8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2A8B9150-39DD-45D0-8B3E-D9DCF8B6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76363" y="2789256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9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0C98F0F3-7E36-4F09-8A94-C9C1155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2681" y="2785013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53" name="矩形 28">
            <a:extLst xmlns:a="http://schemas.openxmlformats.org/drawingml/2006/main">
              <a:ext uri="{FF2B5EF4-FFF2-40B4-BE49-F238E27FC236}">
                <a16:creationId xmlns:a16="http://schemas.microsoft.com/office/drawing/2014/main" id="{C2A91BA6-48AD-45B4-BB34-C174ACB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33" y="381282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5" name="矩形 30">
            <a:extLst xmlns:a="http://schemas.openxmlformats.org/drawingml/2006/main">
              <a:ext uri="{FF2B5EF4-FFF2-40B4-BE49-F238E27FC236}">
                <a16:creationId xmlns:a16="http://schemas.microsoft.com/office/drawing/2014/main" id="{5A227317-3936-43AD-8126-3F86001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068" y="51215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6" name="intro">
            <a:extLst xmlns:a="http://schemas.openxmlformats.org/drawingml/2006/main">
              <a:ext uri="{FF2B5EF4-FFF2-40B4-BE49-F238E27FC236}">
                <a16:creationId xmlns:a16="http://schemas.microsoft.com/office/drawing/2014/main" id="{700288EF-8415-4B4F-9BD8-9B091500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每个设计先检查结果正确、模型服务供给充足且重复实验稳定，再解释策略效果；不满足这些条件的实验不用于支持结论。</a:t>
            </a:r>
          </a:p>
        </p:txBody>
      </p:sp>
      <p:sp>
        <p:nvSpPr>
          <p:cNvPr id="1048657" name="left-label">
            <a:extLst xmlns:a="http://schemas.openxmlformats.org/drawingml/2006/main">
              <a:ext uri="{FF2B5EF4-FFF2-40B4-BE49-F238E27FC236}">
                <a16:creationId xmlns:a16="http://schemas.microsoft.com/office/drawing/2014/main" id="{6989F55A-4EDF-4AEE-8B09-DD5CE322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研究内容一</a:t>
            </a:r>
          </a:p>
        </p:txBody>
      </p:sp>
      <p:sp>
        <p:nvSpPr>
          <p:cNvPr id="1048658" name="left-title">
            <a:extLst xmlns:a="http://schemas.openxmlformats.org/drawingml/2006/main">
              <a:ext uri="{FF2B5EF4-FFF2-40B4-BE49-F238E27FC236}">
                <a16:creationId xmlns:a16="http://schemas.microsoft.com/office/drawing/2014/main" id="{4AC580DF-BBB9-4B36-A268-99ED2038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只改变数据组织</a:t>
            </a:r>
          </a:p>
        </p:txBody>
      </p:sp>
      <p:sp>
        <p:nvSpPr>
          <p:cNvPr id="1048659" name="right-label">
            <a:extLst xmlns:a="http://schemas.openxmlformats.org/drawingml/2006/main">
              <a:ext uri="{FF2B5EF4-FFF2-40B4-BE49-F238E27FC236}">
                <a16:creationId xmlns:a16="http://schemas.microsoft.com/office/drawing/2014/main" id="{3DE687CF-10EA-4934-9112-F0911DB5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研究内容二</a:t>
            </a:r>
          </a:p>
        </p:txBody>
      </p:sp>
      <p:sp>
        <p:nvSpPr>
          <p:cNvPr id="104866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E3CE2FBE-ED29-4EAE-8F9E-FEE5E749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只改变释放与份额</a:t>
            </a:r>
          </a:p>
        </p:txBody>
      </p:sp>
      <p:sp>
        <p:nvSpPr>
          <p:cNvPr id="1048661" name="left-point-1">
            <a:extLst xmlns:a="http://schemas.openxmlformats.org/drawingml/2006/main">
              <a:ext uri="{FF2B5EF4-FFF2-40B4-BE49-F238E27FC236}">
                <a16:creationId xmlns:a16="http://schemas.microsoft.com/office/drawing/2014/main" id="{75020D73-4F98-412F-A9B7-7398A345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固定行数/图片数 → 标量工作量预算 → 分阶段工作量 → 均衡/局部性。</a:t>
            </a:r>
          </a:p>
        </p:txBody>
      </p:sp>
      <p:sp>
        <p:nvSpPr>
          <p:cNvPr id="1048662" name="left-point-2">
            <a:extLst xmlns:a="http://schemas.openxmlformats.org/drawingml/2006/main">
              <a:ext uri="{FF2B5EF4-FFF2-40B4-BE49-F238E27FC236}">
                <a16:creationId xmlns:a16="http://schemas.microsoft.com/office/drawing/2014/main" id="{04BE6652-7BFC-40C7-887D-D7E70F19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固定资源、模型、调度与最大工作量；报告正确吞吐、作业完成时间、请求尾延迟、局部性与阶段计时。</a:t>
            </a:r>
          </a:p>
        </p:txBody>
      </p:sp>
      <p:sp>
        <p:nvSpPr>
          <p:cNvPr id="1048663" name="right-point-1">
            <a:extLst xmlns:a="http://schemas.openxmlformats.org/drawingml/2006/main">
              <a:ext uri="{FF2B5EF4-FFF2-40B4-BE49-F238E27FC236}">
                <a16:creationId xmlns:a16="http://schemas.microsoft.com/office/drawing/2014/main" id="{407E81AD-8141-4A28-96A6-D57E7794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全局先到先服务 → 静态分区 → 公平队列 → 状态感知准入、路由与共享。</a:t>
            </a:r>
          </a:p>
        </p:txBody>
      </p:sp>
      <p:sp>
        <p:nvSpPr>
          <p:cNvPr id="1048664" name="right-point-2">
            <a:extLst xmlns:a="http://schemas.openxmlformats.org/drawingml/2006/main">
              <a:ext uri="{FF2B5EF4-FFF2-40B4-BE49-F238E27FC236}">
                <a16:creationId xmlns:a16="http://schemas.microsoft.com/office/drawing/2014/main" id="{F4247006-E4D2-43E5-82E1-725CEE1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固定总并发和在途工作量；报告有效吞吐、模型计算利用率与能耗、隔离、公平性和状态—动作—结果轨迹。</a:t>
            </a:r>
          </a:p>
        </p:txBody>
      </p:sp>
    </p:spTree>
    <p:extLst>
      <p:ext uri="{BB962C8B-B14F-4D97-AF65-F5344CB8AC3E}">
        <p14:creationId xmlns:p14="http://schemas.microsoft.com/office/powerpoint/2010/main" val="109447180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1FDC85ED-A154-4263-ACA4-64C102047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04F356F-0847-4096-A5F3-C8E5ED4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研究计划｜优先补动态证据并保留负结果路径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39" name="矩形 3">
            <a:extLst xmlns:a="http://schemas.openxmlformats.org/drawingml/2006/main">
              <a:ext uri="{FF2B5EF4-FFF2-40B4-BE49-F238E27FC236}">
                <a16:creationId xmlns:a16="http://schemas.microsoft.com/office/drawing/2014/main" id="{F3DD148A-4F0C-4B37-BD83-9ECFCE1F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19084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0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D450345A-7271-4406-8E83-06A2A67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03" y="2784811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1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15B3BC11-6293-46F5-86B5-B411A1E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921" y="2780568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5" name="矩形 19">
            <a:extLst xmlns:a="http://schemas.openxmlformats.org/drawingml/2006/main">
              <a:ext uri="{FF2B5EF4-FFF2-40B4-BE49-F238E27FC236}">
                <a16:creationId xmlns:a16="http://schemas.microsoft.com/office/drawing/2014/main" id="{4942928E-9866-4373-929C-6CD4EF2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380583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7" name="矩形 21">
            <a:extLst xmlns:a="http://schemas.openxmlformats.org/drawingml/2006/main">
              <a:ext uri="{FF2B5EF4-FFF2-40B4-BE49-F238E27FC236}">
                <a16:creationId xmlns:a16="http://schemas.microsoft.com/office/drawing/2014/main" id="{1A112BB0-5A1D-45F8-8B93-28C7B81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88" y="478945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8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2A8B9150-39DD-45D0-8B3E-D9DCF8B6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76363" y="2789256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9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0C98F0F3-7E36-4F09-8A94-C9C1155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2681" y="2785013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53" name="矩形 28">
            <a:extLst xmlns:a="http://schemas.openxmlformats.org/drawingml/2006/main">
              <a:ext uri="{FF2B5EF4-FFF2-40B4-BE49-F238E27FC236}">
                <a16:creationId xmlns:a16="http://schemas.microsoft.com/office/drawing/2014/main" id="{C2A91BA6-48AD-45B4-BB34-C174ACB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33" y="381282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5" name="矩形 30">
            <a:extLst xmlns:a="http://schemas.openxmlformats.org/drawingml/2006/main">
              <a:ext uri="{FF2B5EF4-FFF2-40B4-BE49-F238E27FC236}">
                <a16:creationId xmlns:a16="http://schemas.microsoft.com/office/drawing/2014/main" id="{5A227317-3936-43AD-8126-3F86001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068" y="51215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6" name="intro">
            <a:extLst xmlns:a="http://schemas.openxmlformats.org/drawingml/2006/main">
              <a:ext uri="{FF2B5EF4-FFF2-40B4-BE49-F238E27FC236}">
                <a16:creationId xmlns:a16="http://schemas.microsoft.com/office/drawing/2014/main" id="{B5F19393-2808-4EC3-BED7-79134E62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开题后不继续横向增加数据库产品或追求更多正结果，重点在相同资源与最大在途工作量下比较方法，并验证能否推广到新场景。</a:t>
            </a:r>
          </a:p>
        </p:txBody>
      </p:sp>
      <p:sp>
        <p:nvSpPr>
          <p:cNvPr id="1048657" name="left-label">
            <a:extLst xmlns:a="http://schemas.openxmlformats.org/drawingml/2006/main">
              <a:ext uri="{FF2B5EF4-FFF2-40B4-BE49-F238E27FC236}">
                <a16:creationId xmlns:a16="http://schemas.microsoft.com/office/drawing/2014/main" id="{64A77FEC-BD8A-4F47-9E07-47F02F75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阶段计划</a:t>
            </a:r>
          </a:p>
        </p:txBody>
      </p:sp>
      <p:sp>
        <p:nvSpPr>
          <p:cNvPr id="1048658" name="left-title">
            <a:extLst xmlns:a="http://schemas.openxmlformats.org/drawingml/2006/main">
              <a:ext uri="{FF2B5EF4-FFF2-40B4-BE49-F238E27FC236}">
                <a16:creationId xmlns:a16="http://schemas.microsoft.com/office/drawing/2014/main" id="{B37A766B-4331-400F-81B7-02E6F28B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逐层完成论文证据</a:t>
            </a:r>
          </a:p>
        </p:txBody>
      </p:sp>
      <p:sp>
        <p:nvSpPr>
          <p:cNvPr id="1048659" name="right-label">
            <a:extLst xmlns:a="http://schemas.openxmlformats.org/drawingml/2006/main">
              <a:ext uri="{FF2B5EF4-FFF2-40B4-BE49-F238E27FC236}">
                <a16:creationId xmlns:a16="http://schemas.microsoft.com/office/drawing/2014/main" id="{F2F99AAF-042A-482E-8C54-B9E3D70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风险控制</a:t>
            </a:r>
          </a:p>
        </p:txBody>
      </p:sp>
      <p:sp>
        <p:nvSpPr>
          <p:cNvPr id="104866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E32B2BB7-9C2B-4F79-8210-7BB4B429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简单策略与阴性结论优先</a:t>
            </a:r>
          </a:p>
        </p:txBody>
      </p:sp>
      <p:sp>
        <p:nvSpPr>
          <p:cNvPr id="1048661" name="left-point-1">
            <a:extLst xmlns:a="http://schemas.openxmlformats.org/drawingml/2006/main">
              <a:ext uri="{FF2B5EF4-FFF2-40B4-BE49-F238E27FC236}">
                <a16:creationId xmlns:a16="http://schemas.microsoft.com/office/drawing/2014/main" id="{9BBC36E9-3125-455C-8E90-5826D6AB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2026.08–10：选定数据组织策略；在相同资源和最大在途工作量下，比较先到先服务、公平队列与状态感知有序释放。</a:t>
            </a:r>
          </a:p>
        </p:txBody>
      </p:sp>
      <p:sp>
        <p:nvSpPr>
          <p:cNvPr id="1048662" name="left-point-2">
            <a:extLst xmlns:a="http://schemas.openxmlformats.org/drawingml/2006/main">
              <a:ext uri="{FF2B5EF4-FFF2-40B4-BE49-F238E27FC236}">
                <a16:creationId xmlns:a16="http://schemas.microsoft.com/office/drawing/2014/main" id="{31C33914-6520-4B9B-A2F0-DB8376AC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2026.11–2027.03：未参与校准场景的代价验证、图像动态与联合检验；2027.04–06：整理、复现、论文。</a:t>
            </a:r>
          </a:p>
        </p:txBody>
      </p:sp>
      <p:sp>
        <p:nvSpPr>
          <p:cNvPr id="1048663" name="right-point-1">
            <a:extLst xmlns:a="http://schemas.openxmlformats.org/drawingml/2006/main">
              <a:ext uri="{FF2B5EF4-FFF2-40B4-BE49-F238E27FC236}">
                <a16:creationId xmlns:a16="http://schemas.microsoft.com/office/drawing/2014/main" id="{74063899-422E-41BA-B9B3-B632109E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若先到先服务或公平队列已达到同一效率—公平前沿，则采用简单策略，不增加控制器复杂度。</a:t>
            </a:r>
          </a:p>
        </p:txBody>
      </p:sp>
      <p:sp>
        <p:nvSpPr>
          <p:cNvPr id="1048664" name="right-point-2">
            <a:extLst xmlns:a="http://schemas.openxmlformats.org/drawingml/2006/main">
              <a:ext uri="{FF2B5EF4-FFF2-40B4-BE49-F238E27FC236}">
                <a16:creationId xmlns:a16="http://schemas.microsoft.com/office/drawing/2014/main" id="{511BA09B-4A69-410D-8B93-9402AC37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若图像持续由 CPU 数据准备主导，则把结论限定为异构流水线组织；动态方法没有达到预设改善幅度时，报告容量测量结果和不适用场景。</a:t>
            </a:r>
          </a:p>
        </p:txBody>
      </p:sp>
    </p:spTree>
    <p:extLst>
      <p:ext uri="{BB962C8B-B14F-4D97-AF65-F5344CB8AC3E}">
        <p14:creationId xmlns:p14="http://schemas.microsoft.com/office/powerpoint/2010/main" val="109447180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1FDC85ED-A154-4263-ACA4-64C102047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1384" y="980728"/>
            <a:ext cx="730424" cy="648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04F356F-0847-4096-A5F3-C8E5ED4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16" y="1052736"/>
            <a:ext cx="9422704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</a:rPr>
              <a:t>预期贡献｜两项方法、共同支撑与跨模态验证</a:t>
            </a:r>
            <a:endParaRPr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639" name="矩形 3">
            <a:extLst xmlns:a="http://schemas.openxmlformats.org/drawingml/2006/main">
              <a:ext uri="{FF2B5EF4-FFF2-40B4-BE49-F238E27FC236}">
                <a16:creationId xmlns:a16="http://schemas.microsoft.com/office/drawing/2014/main" id="{F3DD148A-4F0C-4B37-BD83-9ECFCE1F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19084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0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D450345A-7271-4406-8E83-06A2A671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603" y="2784811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1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15B3BC11-6293-46F5-86B5-B411A1E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921" y="2780568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5" name="矩形 19">
            <a:extLst xmlns:a="http://schemas.openxmlformats.org/drawingml/2006/main">
              <a:ext uri="{FF2B5EF4-FFF2-40B4-BE49-F238E27FC236}">
                <a16:creationId xmlns:a16="http://schemas.microsoft.com/office/drawing/2014/main" id="{4942928E-9866-4373-929C-6CD4EF2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3" y="380583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7" name="矩形 21">
            <a:extLst xmlns:a="http://schemas.openxmlformats.org/drawingml/2006/main">
              <a:ext uri="{FF2B5EF4-FFF2-40B4-BE49-F238E27FC236}">
                <a16:creationId xmlns:a16="http://schemas.microsoft.com/office/drawing/2014/main" id="{1A112BB0-5A1D-45F8-8B93-28C7B81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88" y="478945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48" name="íṡľíḍè-Arrow: Chevron 31">
            <a:extLst xmlns:a="http://schemas.openxmlformats.org/drawingml/2006/main">
              <a:ext uri="{FF2B5EF4-FFF2-40B4-BE49-F238E27FC236}">
                <a16:creationId xmlns:a16="http://schemas.microsoft.com/office/drawing/2014/main" id="{2A8B9150-39DD-45D0-8B3E-D9DCF8B6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76363" y="2789256"/>
            <a:ext cx="1725534" cy="764407"/>
          </a:xfrm>
          <a:prstGeom xmlns:a="http://schemas.openxmlformats.org/drawingml/2006/main" prst="chevron">
            <a:avLst>
              <a:gd name="adj" fmla="val 41391"/>
            </a:avLst>
          </a:prstGeom>
          <a:solidFill xmlns:a="http://schemas.openxmlformats.org/drawingml/2006/main">
            <a:srgbClr val="244C89"/>
          </a:solidFill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49" name="íṡľíḍè-Arrow: Chevron 37">
            <a:extLst xmlns:a="http://schemas.openxmlformats.org/drawingml/2006/main">
              <a:ext uri="{FF2B5EF4-FFF2-40B4-BE49-F238E27FC236}">
                <a16:creationId xmlns:a16="http://schemas.microsoft.com/office/drawing/2014/main" id="{0C98F0F3-7E36-4F09-8A94-C9C1155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2681" y="2785013"/>
            <a:ext cx="3243969" cy="764407"/>
          </a:xfrm>
          <a:prstGeom xmlns:a="http://schemas.openxmlformats.org/drawingml/2006/main" prst="chevron">
            <a:avLst>
              <a:gd name="adj" fmla="val 41391"/>
            </a:avLst>
          </a:prstGeom>
          <a:noFill xmlns:a="http://schemas.openxmlformats.org/drawingml/2006/main"/>
          <a:ln xmlns:a="http://schemas.openxmlformats.org/drawingml/2006/main" w="2857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015"/>
          </a:p>
        </p:txBody>
      </p:sp>
      <p:sp>
        <p:nvSpPr>
          <p:cNvPr id="1048653" name="矩形 28">
            <a:extLst xmlns:a="http://schemas.openxmlformats.org/drawingml/2006/main">
              <a:ext uri="{FF2B5EF4-FFF2-40B4-BE49-F238E27FC236}">
                <a16:creationId xmlns:a16="http://schemas.microsoft.com/office/drawing/2014/main" id="{C2A91BA6-48AD-45B4-BB34-C174ACB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733" y="3812822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5" name="矩形 30">
            <a:extLst xmlns:a="http://schemas.openxmlformats.org/drawingml/2006/main">
              <a:ext uri="{FF2B5EF4-FFF2-40B4-BE49-F238E27FC236}">
                <a16:creationId xmlns:a16="http://schemas.microsoft.com/office/drawing/2014/main" id="{5A227317-3936-43AD-8126-3F86001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068" y="5121557"/>
            <a:ext cx="256882" cy="251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1400">
              <a:latin typeface="思源黑体"/>
              <a:ea typeface="思源黑体"/>
              <a:cs typeface="思源黑体"/>
            </a:endParaRPr>
          </a:p>
        </p:txBody>
      </p:sp>
      <p:sp>
        <p:nvSpPr>
          <p:cNvPr id="1048656" name="intro">
            <a:extLst xmlns:a="http://schemas.openxmlformats.org/drawingml/2006/main">
              <a:ext uri="{FF2B5EF4-FFF2-40B4-BE49-F238E27FC236}">
                <a16:creationId xmlns:a16="http://schemas.microsoft.com/office/drawing/2014/main" id="{6ADF2097-A6E8-4E22-BA28-866038FC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目标不是让一次模型调用更快，而是让数据库 AI 任务形成可比较的工作量，并稳定、公平地使用固定 GPU 容量。</a:t>
            </a:r>
          </a:p>
        </p:txBody>
      </p:sp>
      <p:sp>
        <p:nvSpPr>
          <p:cNvPr id="1048657" name="left-label">
            <a:extLst xmlns:a="http://schemas.openxmlformats.org/drawingml/2006/main">
              <a:ext uri="{FF2B5EF4-FFF2-40B4-BE49-F238E27FC236}">
                <a16:creationId xmlns:a16="http://schemas.microsoft.com/office/drawing/2014/main" id="{22587EA1-7954-41BF-A69B-9BACC58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预期创新</a:t>
            </a:r>
          </a:p>
        </p:txBody>
      </p:sp>
      <p:sp>
        <p:nvSpPr>
          <p:cNvPr id="1048658" name="left-title">
            <a:extLst xmlns:a="http://schemas.openxmlformats.org/drawingml/2006/main">
              <a:ext uri="{FF2B5EF4-FFF2-40B4-BE49-F238E27FC236}">
                <a16:creationId xmlns:a16="http://schemas.microsoft.com/office/drawing/2014/main" id="{84147A8A-EDDE-49A8-B425-48C1C130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组织与调度方法</a:t>
            </a:r>
          </a:p>
        </p:txBody>
      </p:sp>
      <p:sp>
        <p:nvSpPr>
          <p:cNvPr id="1048659" name="right-label">
            <a:extLst xmlns:a="http://schemas.openxmlformats.org/drawingml/2006/main">
              <a:ext uri="{FF2B5EF4-FFF2-40B4-BE49-F238E27FC236}">
                <a16:creationId xmlns:a16="http://schemas.microsoft.com/office/drawing/2014/main" id="{E2A82E8B-A124-4895-9CCE-0A8782A7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908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共同支撑与产出</a:t>
            </a:r>
          </a:p>
        </p:txBody>
      </p:sp>
      <p:sp>
        <p:nvSpPr>
          <p:cNvPr id="104866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7DE6F078-4387-4C46-A806-CA640C23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决策评价与可复现验证</a:t>
            </a:r>
          </a:p>
        </p:txBody>
      </p:sp>
      <p:sp>
        <p:nvSpPr>
          <p:cNvPr id="1048661" name="left-point-1">
            <a:extLst xmlns:a="http://schemas.openxmlformats.org/drawingml/2006/main">
              <a:ext uri="{FF2B5EF4-FFF2-40B4-BE49-F238E27FC236}">
                <a16:creationId xmlns:a16="http://schemas.microsoft.com/office/drawing/2014/main" id="{845B151C-577D-413B-91E8-436FF914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统一 token/图像帧、分阶段工作量、局部性、期限和不确定性的工作描述。</a:t>
            </a:r>
          </a:p>
        </p:txBody>
      </p:sp>
      <p:sp>
        <p:nvSpPr>
          <p:cNvPr id="1048662" name="left-point-2">
            <a:extLst xmlns:a="http://schemas.openxmlformats.org/drawingml/2006/main">
              <a:ext uri="{FF2B5EF4-FFF2-40B4-BE49-F238E27FC236}">
                <a16:creationId xmlns:a16="http://schemas.microsoft.com/office/drawing/2014/main" id="{E0D899DB-3E74-459E-8285-B03FAFB4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在预先标定容量内，依据新鲜运行状态控制提交、路由与多作业份额，并约束服务目标、隔离和公平。</a:t>
            </a:r>
          </a:p>
        </p:txBody>
      </p:sp>
      <p:sp>
        <p:nvSpPr>
          <p:cNvPr id="1048663" name="right-point-1">
            <a:extLst xmlns:a="http://schemas.openxmlformats.org/drawingml/2006/main">
              <a:ext uri="{FF2B5EF4-FFF2-40B4-BE49-F238E27FC236}">
                <a16:creationId xmlns:a16="http://schemas.microsoft.com/office/drawing/2014/main" id="{48E54F72-B56E-4F49-85F4-729DC8DC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轻量代价估计以配置排序和决策损失验收；文本与图像复用同一策略接口。</a:t>
            </a:r>
          </a:p>
        </p:txBody>
      </p:sp>
      <p:sp>
        <p:nvSpPr>
          <p:cNvPr id="1048664" name="right-point-2">
            <a:extLst xmlns:a="http://schemas.openxmlformats.org/drawingml/2006/main">
              <a:ext uri="{FF2B5EF4-FFF2-40B4-BE49-F238E27FC236}">
                <a16:creationId xmlns:a16="http://schemas.microsoft.com/office/drawing/2014/main" id="{E118D809-8B4A-4C7A-966A-34C2448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0006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交付可复现实验系统、原始运行轨迹、结果报告和论文；明确适用条件与不适用场景。</a:t>
            </a:r>
          </a:p>
        </p:txBody>
      </p:sp>
    </p:spTree>
    <p:extLst>
      <p:ext uri="{BB962C8B-B14F-4D97-AF65-F5344CB8AC3E}">
        <p14:creationId xmlns:p14="http://schemas.microsoft.com/office/powerpoint/2010/main" val="109447180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109814d494913"/>
          <a:srcRect xmlns:a="http://schemas.openxmlformats.org/drawingml/2006/main" l="0" t="41239" r="0" b="27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43452"/>
            <a:ext cx="12192000" cy="2014548"/>
          </a:xfrm>
        </p:spPr>
      </p:pic>
      <p:pic>
        <p:nvPicPr>
          <p:cNvPr id="2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6248a9ada4abb"/>
          <a:srcRect xmlns:a="http://schemas.openxmlformats.org/drawingml/2006/main" l="0" t="27368" r="0" b="30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92149"/>
            <a:ext cx="12192000" cy="2356583"/>
          </a:xfrm>
        </p:spPr>
      </p:pic>
      <p:sp>
        <p:nvSpPr>
          <p:cNvPr id="16" name="标题 1">
            <a:extLst xmlns:a="http://schemas.openxmlformats.org/drawingml/2006/main">
              <a:ext uri="{FF2B5EF4-FFF2-40B4-BE49-F238E27FC236}">
                <a16:creationId xmlns:a16="http://schemas.microsoft.com/office/drawing/2014/main" id="{E6320648-2AB0-459E-851B-229983D1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815" y="2847664"/>
            <a:ext cx="2915816" cy="43204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b"/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 b="0">
                <a:solidFill>
                  <a:schemeClr val="accent1">
                    <a:lumMod val="25000"/>
                  </a:schemeClr>
                </a:solidFill>
              </a:rPr>
              <a:t>华中科技大学</a:t>
            </a:r>
            <a:endParaRPr sz="2000" b="0">
              <a:solidFill>
                <a:schemeClr val="accent1">
                  <a:lumMod val="25000"/>
                </a:schemeClr>
              </a:solidFill>
            </a:endParaR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DDB2AB16-894B-4FA6-8609-7630AF020B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59496" y="3269990"/>
            <a:ext cx="9080679" cy="66306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谢谢，请各位老师批评指正</a:t>
            </a:r>
            <a:endParaRPr sz="2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658DEA-2DC9-4F82-8CC3-ED72403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96" y="4087119"/>
            <a:ext cx="8352928" cy="909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sz="1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数据库 AI 负载的执行优化与调度研究</a:t>
            </a:r>
            <a:endParaRPr sz="1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8967231C-C715-47DE-8132-5662DAB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660" y="4005064"/>
            <a:ext cx="5042404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62061906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2026-08-12T09:16:38.2570000Z</dcterms:created>
  <dcterms:modified xsi:type="dcterms:W3CDTF">2026-08-12T09:16:38.2570000Z</dcterms:modified>
</coreProperties>
</file>