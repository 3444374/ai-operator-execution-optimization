
<file path=[Content_Types].xml><?xml version="1.0" encoding="utf-8"?>
<ns0:Types xmlns:ns0="http://schemas.openxmlformats.org/package/2006/content-types">
  <ns0:Default Extension="jpeg" ContentType="image/jpeg"/>
  <ns0:Default Extension="JPG" ContentType="image/.jp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docProps/custom.xml" ContentType="application/vnd.openxmlformats-officedocument.custom-properties+xml"/>
  <ns0:Override PartName="/ppt/handoutMasters/handoutMaster1.xml" ContentType="application/vnd.openxmlformats-officedocument.presentationml.handoutMaster+xml"/>
  <ns0:Override PartName="/ppt/notesMasters/notesMaster1.xml" ContentType="application/vnd.openxmlformats-officedocument.presentationml.notesMaster+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Masters/slideMaster1.xml" ContentType="application/vnd.openxmlformats-officedocument.presentationml.slideMaster+xml"/>
  <ns0:Override PartName="/ppt/tableStyles.xml" ContentType="application/vnd.openxmlformats-officedocument.presentationml.tableStyles+xml"/>
  <ns0:Override PartName="/ppt/theme/theme1.xml" ContentType="application/vnd.openxmlformats-officedocument.theme+xml"/>
  <ns0:Override PartName="/ppt/theme/theme2.xml" ContentType="application/vnd.openxmlformats-officedocument.theme+xml"/>
  <ns0:Override PartName="/ppt/theme/theme3.xml" ContentType="application/vnd.openxmlformats-officedocument.theme+xml"/>
  <ns0:Override PartName="/ppt/viewProps.xml" ContentType="application/vnd.openxmlformats-officedocument.presentationml.viewProps+xml"/>
  <ns0:Override PartName="/ppt/slides/slide26.xml" ContentType="application/vnd.openxmlformats-officedocument.presentationml.slide+xml"/>
  <ns0:Override PartName="/ppt/notesSlides/notesSlide26.xml" ContentType="application/vnd.openxmlformats-officedocument.presentationml.notesSlide+xml"/>
  <ns0:Override PartName="/ppt/tags/tag9_tf1.xml" ContentType="application/vnd.openxmlformats-officedocument.presentationml.tags+xml"/>
  <ns0:Override PartName="/ppt/tags/tag8_tf1.xml" ContentType="application/vnd.openxmlformats-officedocument.presentationml.tags+xml"/>
  <ns0:Override PartName="/ppt/tags/tag7_tf1.xml" ContentType="application/vnd.openxmlformats-officedocument.presentationml.tags+xml"/>
  <ns0:Override PartName="/ppt/tags/tag6_tf1.xml" ContentType="application/vnd.openxmlformats-officedocument.presentationml.tags+xml"/>
  <ns0:Override PartName="/ppt/tags/tag5_tf1.xml" ContentType="application/vnd.openxmlformats-officedocument.presentationml.tags+xml"/>
  <ns0:Override PartName="/ppt/tags/tag4_tf1.xml" ContentType="application/vnd.openxmlformats-officedocument.presentationml.tags+xml"/>
  <ns0:Override PartName="/ppt/tags/tag3_tf1.xml" ContentType="application/vnd.openxmlformats-officedocument.presentationml.tags+xml"/>
  <ns0:Override PartName="/ppt/tags/tag24_tf1.xml" ContentType="application/vnd.openxmlformats-officedocument.presentationml.tags+xml"/>
  <ns0:Override PartName="/ppt/tags/tag23_tf1.xml" ContentType="application/vnd.openxmlformats-officedocument.presentationml.tags+xml"/>
  <ns0:Override PartName="/ppt/tags/tag22_tf1.xml" ContentType="application/vnd.openxmlformats-officedocument.presentationml.tags+xml"/>
  <ns0:Override PartName="/ppt/tags/tag21_tf1.xml" ContentType="application/vnd.openxmlformats-officedocument.presentationml.tags+xml"/>
  <ns0:Override PartName="/ppt/tags/tag20_tf1.xml" ContentType="application/vnd.openxmlformats-officedocument.presentationml.tags+xml"/>
  <ns0:Override PartName="/ppt/tags/tag2_tf1.xml" ContentType="application/vnd.openxmlformats-officedocument.presentationml.tags+xml"/>
  <ns0:Override PartName="/ppt/tags/tag19_tf1.xml" ContentType="application/vnd.openxmlformats-officedocument.presentationml.tags+xml"/>
  <ns0:Override PartName="/ppt/tags/tag18_tf1.xml" ContentType="application/vnd.openxmlformats-officedocument.presentationml.tags+xml"/>
  <ns0:Override PartName="/ppt/tags/tag17_tf1.xml" ContentType="application/vnd.openxmlformats-officedocument.presentationml.tags+xml"/>
  <ns0:Override PartName="/ppt/tags/tag16_tf1.xml" ContentType="application/vnd.openxmlformats-officedocument.presentationml.tags+xml"/>
  <ns0:Override PartName="/ppt/tags/tag15_tf1.xml" ContentType="application/vnd.openxmlformats-officedocument.presentationml.tags+xml"/>
  <ns0:Override PartName="/ppt/tags/tag14_tf1.xml" ContentType="application/vnd.openxmlformats-officedocument.presentationml.tags+xml"/>
  <ns0:Override PartName="/ppt/tags/tag13_tf1.xml" ContentType="application/vnd.openxmlformats-officedocument.presentationml.tags+xml"/>
  <ns0:Override PartName="/ppt/tags/tag12_tf1.xml" ContentType="application/vnd.openxmlformats-officedocument.presentationml.tags+xml"/>
  <ns0:Override PartName="/ppt/tags/tag11_tf1.xml" ContentType="application/vnd.openxmlformats-officedocument.presentationml.tags+xml"/>
  <ns0:Override PartName="/ppt/tags/tag10_tf1.xml" ContentType="application/vnd.openxmlformats-officedocument.presentationml.tags+xml"/>
  <ns0:Override PartName="/ppt/tags/tag1_tf1.xml" ContentType="application/vnd.openxmlformats-officedocument.presentationml.tags+xml"/>
  <ns0:Override PartName="/ppt/slides/slide27.xml" ContentType="application/vnd.openxmlformats-officedocument.presentationml.slide+xml"/>
  <ns0:Override PartName="/ppt/notesSlides/notesSlide27.xml" ContentType="application/vnd.openxmlformats-officedocument.presentationml.notesSlide+xml"/>
  <ns0:Override PartName="/ppt/slides/slide28.xml" ContentType="application/vnd.openxmlformats-officedocument.presentationml.slide+xml"/>
  <ns0:Override PartName="/ppt/notesSlides/notesSlide28.xml" ContentType="application/vnd.openxmlformats-officedocument.presentationml.notesSlide+xml"/>
  <ns0:Override PartName="/ppt/slides/slide29.xml" ContentType="application/vnd.openxmlformats-officedocument.presentationml.slide+xml"/>
  <ns0:Override PartName="/ppt/notesSlides/notesSlide29.xml" ContentType="application/vnd.openxmlformats-officedocument.presentationml.notesSlide+xml"/>
  <ns0:Override PartName="/ppt/slides/slide30.xml" ContentType="application/vnd.openxmlformats-officedocument.presentationml.slide+xml"/>
  <ns0:Override PartName="/ppt/notesSlides/notesSlide30.xml" ContentType="application/vnd.openxmlformats-officedocument.presentationml.notesSlide+xml"/>
  <ns0:Override PartName="/ppt/slides/slide31.xml" ContentType="application/vnd.openxmlformats-officedocument.presentationml.slide+xml"/>
  <ns0:Override PartName="/ppt/notesSlides/notesSlide31.xml" ContentType="application/vnd.openxmlformats-officedocument.presentationml.notesSlide+xml"/>
  <ns0:Override PartName="/ppt/slides/slide32.xml" ContentType="application/vnd.openxmlformats-officedocument.presentationml.slide+xml"/>
  <ns0:Override PartName="/ppt/notesSlides/notesSlide32.xml" ContentType="application/vnd.openxmlformats-officedocument.presentationml.notesSlide+xml"/>
  <ns0:Override PartName="/ppt/slides/slide33.xml" ContentType="application/vnd.openxmlformats-officedocument.presentationml.slide+xml"/>
  <ns0:Override PartName="/ppt/notesSlides/notesSlide33.xml" ContentType="application/vnd.openxmlformats-officedocument.presentationml.notesSlide+xml"/>
  <ns0:Override PartName="/ppt/slides/slide34.xml" ContentType="application/vnd.openxmlformats-officedocument.presentationml.slide+xml"/>
  <ns0:Override PartName="/ppt/notesSlides/notesSlide34.xml" ContentType="application/vnd.openxmlformats-officedocument.presentationml.notesSlide+xml"/>
  <ns0:Override PartName="/ppt/slides/slide35.xml" ContentType="application/vnd.openxmlformats-officedocument.presentationml.slide+xml"/>
  <ns0:Override PartName="/ppt/notesSlides/notesSlide35.xml" ContentType="application/vnd.openxmlformats-officedocument.presentationml.notesSlide+xml"/>
  <ns0:Override PartName="/ppt/slides/slide36.xml" ContentType="application/vnd.openxmlformats-officedocument.presentationml.slide+xml"/>
  <ns0:Override PartName="/ppt/notesSlides/notesSlide36.xml" ContentType="application/vnd.openxmlformats-officedocument.presentationml.notesSlide+xml"/>
  <ns0:Override PartName="/ppt/tags/tag53_tf1.xml" ContentType="application/vnd.openxmlformats-officedocument.presentationml.tags+xml"/>
  <ns0:Override PartName="/ppt/tags/tag52_tf1.xml" ContentType="application/vnd.openxmlformats-officedocument.presentationml.tags+xml"/>
  <ns0:Override PartName="/ppt/tags/tag51_tf1.xml" ContentType="application/vnd.openxmlformats-officedocument.presentationml.tags+xml"/>
  <ns0:Override PartName="/ppt/tags/tag50_tf1.xml" ContentType="application/vnd.openxmlformats-officedocument.presentationml.tags+xml"/>
  <ns0:Override PartName="/ppt/tags/tag49_tf1.xml" ContentType="application/vnd.openxmlformats-officedocument.presentationml.tags+xml"/>
  <ns0:Override PartName="/ppt/tags/tag48_tf1.xml" ContentType="application/vnd.openxmlformats-officedocument.presentationml.tags+xml"/>
  <ns0:Override PartName="/ppt/tags/tag47_tf1.xml" ContentType="application/vnd.openxmlformats-officedocument.presentationml.tags+xml"/>
  <ns0:Override PartName="/ppt/tags/tag46_tf1.xml" ContentType="application/vnd.openxmlformats-officedocument.presentationml.tags+xml"/>
  <ns0:Override PartName="/ppt/tags/tag62_tf1.xml" ContentType="application/vnd.openxmlformats-officedocument.presentationml.tags+xml"/>
  <ns0:Override PartName="/ppt/tags/tag61_tf1.xml" ContentType="application/vnd.openxmlformats-officedocument.presentationml.tags+xml"/>
  <ns0:Override PartName="/ppt/tags/tag60_tf1.xml" ContentType="application/vnd.openxmlformats-officedocument.presentationml.tags+xml"/>
  <ns0:Override PartName="/ppt/tags/tag59_tf1.xml" ContentType="application/vnd.openxmlformats-officedocument.presentationml.tags+xml"/>
  <ns0:Override PartName="/ppt/tags/tag58_tf1.xml" ContentType="application/vnd.openxmlformats-officedocument.presentationml.tags+xml"/>
  <ns0:Override PartName="/ppt/tags/tag57_tf1.xml" ContentType="application/vnd.openxmlformats-officedocument.presentationml.tags+xml"/>
  <ns0:Override PartName="/ppt/tags/tag56_tf1.xml" ContentType="application/vnd.openxmlformats-officedocument.presentationml.tags+xml"/>
  <ns0:Override PartName="/ppt/tags/tag55_tf1.xml" ContentType="application/vnd.openxmlformats-officedocument.presentationml.tags+xml"/>
  <ns0:Override PartName="/ppt/tags/tag54_tf1.xml" ContentType="application/vnd.openxmlformats-officedocument.presentationml.tags+xml"/>
  <ns0:Override PartName="/ppt/tags/tag45_tf1.xml" ContentType="application/vnd.openxmlformats-officedocument.presentationml.tags+xml"/>
  <ns0:Override PartName="/ppt/slides/slide37.xml" ContentType="application/vnd.openxmlformats-officedocument.presentationml.slide+xml"/>
  <ns0:Override PartName="/ppt/notesSlides/notesSlide37.xml" ContentType="application/vnd.openxmlformats-officedocument.presentationml.notesSlide+xml"/>
  <ns0:Override PartName="/ppt/slides/slide38.xml" ContentType="application/vnd.openxmlformats-officedocument.presentationml.slide+xml"/>
  <ns0:Override PartName="/ppt/notesSlides/notesSlide38.xml" ContentType="application/vnd.openxmlformats-officedocument.presentationml.notesSlide+xml"/>
  <ns0:Override PartName="/ppt/slides/slide39.xml" ContentType="application/vnd.openxmlformats-officedocument.presentationml.slide+xml"/>
  <ns0:Override PartName="/ppt/notesSlides/notesSlide39.xml" ContentType="application/vnd.openxmlformats-officedocument.presentationml.notesSlide+xml"/>
  <ns0:Override PartName="/ppt/tags/tag71_tf1.xml" ContentType="application/vnd.openxmlformats-officedocument.presentationml.tags+xml"/>
  <ns0:Override PartName="/ppt/tags/tag70_tf1.xml" ContentType="application/vnd.openxmlformats-officedocument.presentationml.tags+xml"/>
  <ns0:Override PartName="/ppt/tags/tag69_tf1.xml" ContentType="application/vnd.openxmlformats-officedocument.presentationml.tags+xml"/>
  <ns0:Override PartName="/ppt/tags/tag68_tf1.xml" ContentType="application/vnd.openxmlformats-officedocument.presentationml.tags+xml"/>
  <ns0:Override PartName="/ppt/tags/tag67_tf1.xml" ContentType="application/vnd.openxmlformats-officedocument.presentationml.tags+xml"/>
  <ns0:Override PartName="/ppt/tags/tag66_tf1.xml" ContentType="application/vnd.openxmlformats-officedocument.presentationml.tags+xml"/>
  <ns0:Override PartName="/ppt/tags/tag65_tf1.xml" ContentType="application/vnd.openxmlformats-officedocument.presentationml.tags+xml"/>
  <ns0:Override PartName="/ppt/tags/tag64_tf1.xml" ContentType="application/vnd.openxmlformats-officedocument.presentationml.tags+xml"/>
  <ns0:Override PartName="/ppt/tags/tag74_tf1.xml" ContentType="application/vnd.openxmlformats-officedocument.presentationml.tags+xml"/>
  <ns0:Override PartName="/ppt/tags/tag73_tf1.xml" ContentType="application/vnd.openxmlformats-officedocument.presentationml.tags+xml"/>
  <ns0:Override PartName="/ppt/tags/tag72_tf1.xml" ContentType="application/vnd.openxmlformats-officedocument.presentationml.tags+xml"/>
  <ns0:Override PartName="/ppt/tags/tag63_tf1.xml" ContentType="application/vnd.openxmlformats-officedocument.presentationml.tags+xml"/>
  <ns0:Override PartName="/ppt/slides/slide40.xml" ContentType="application/vnd.openxmlformats-officedocument.presentationml.slide+xml"/>
  <ns0:Override PartName="/ppt/notesSlides/notesSlide40.xml" ContentType="application/vnd.openxmlformats-officedocument.presentationml.notesSlide+xml"/>
  <ns0:Override PartName="/ppt/slides/slide41.xml" ContentType="application/vnd.openxmlformats-officedocument.presentationml.slide+xml"/>
  <ns0:Override PartName="/ppt/notesSlides/notesSlide41.xml" ContentType="application/vnd.openxmlformats-officedocument.presentationml.notesSlide+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howSpecialPlsOnTitleSld="0">
  <p:sldMasterIdLst>
    <p:sldMasterId id="2147483648" r:id="rId1"/>
  </p:sldMasterIdLst>
  <p:notesMasterIdLst>
    <p:notesMasterId r:id="rId4"/>
  </p:notesMasterIdLst>
  <p:handoutMasterIdLst>
    <p:handoutMasterId r:id="rId29"/>
  </p:handout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ns3:sldGuideLst>
        <ns3:guide id="1" orient="horz" pos="2129" userDrawn="1">
          <ns3:clr>
            <a:srgbClr val="A4A3A4"/>
          </ns3:clr>
        </ns3:guide>
        <ns3:guide id="2" pos="2906" userDrawn="1">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Relationships xmlns="http://schemas.openxmlformats.org/package/2006/relationships"><Relationship Id="rId4" Type="http://schemas.openxmlformats.org/officeDocument/2006/relationships/notesMaster" Target="notesMasters/notesMaster1.xml" /><Relationship Id="rId32" Type="http://schemas.openxmlformats.org/officeDocument/2006/relationships/tableStyles" Target="tableStyles.xml" /><Relationship Id="rId31" Type="http://schemas.openxmlformats.org/officeDocument/2006/relationships/viewProps" Target="viewProps.xml" /><Relationship Id="rId30" Type="http://schemas.openxmlformats.org/officeDocument/2006/relationships/presProps" Target="presProps.xml" /><Relationship Id="rId29" Type="http://schemas.openxmlformats.org/officeDocument/2006/relationships/handoutMaster" Target="handoutMasters/handoutMaster1.xml" /><Relationship Id="rId2" Type="http://schemas.openxmlformats.org/officeDocument/2006/relationships/theme" Target="theme/theme1.xml" /><Relationship Id="rId1" Type="http://schemas.openxmlformats.org/officeDocument/2006/relationships/slideMaster" Target="slideMasters/slideMaster1.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汇报讲稿：本次开题关注数据库 AI 算子触发后的批处理执行过程，重点不是单个模型 kernel，也不是改造完整 Ray，而是数据库数据进入外部 worker、模型服务和写回阶段后的端到端系统问题。</a:t>
            </a:r>
          </a:p>
          <a:p>
            <a:endParaRPr lang="en-US" dirty="0"/>
          </a:p>
          <a:p>
            <a:r>
              <a:rPr lang="zh-CN" dirty="0"/>
              <a:t>答辩备注：如果被问题目是否过大，强调固定在 PostgreSQL、Arrow batch、Python/Ray task/actor、GPU-backed endpoint 和 writeback 这条可控链路上。</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汇报讲稿：汇报按问题驱动展开：先说明数据库 AI 算子为什么带来新的执行问题，再说明研究边界、研究内容、已有实验依据和后续计划。</a:t>
            </a:r>
          </a:p>
          <a:p>
            <a:endParaRPr lang="en-US" dirty="0"/>
          </a:p>
          <a:p>
            <a:r>
              <a:rPr lang="zh-CN" dirty="0"/>
              <a:t>答辩备注：目录页不要讲过细，重点让老师看到不是工程任务清单，而是问题、方法、评价和边界的闭环。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汇报讲稿：这一页先把研究对象收紧成一条可测链路：PostgreSQL 读数据，构造 Arrow 和 batch，交给 Python 或 Ray 执行，调用 GPU-backed 模型服务，最后汇聚并写回。</a:t>
            </a:r>
          </a:p>
          <a:p>
            <a:endParaRPr lang="en-US" dirty="0"/>
          </a:p>
          <a:p>
            <a:r>
              <a:rPr lang="zh-CN" dirty="0"/>
              <a:t>答辩备注：不要说成研究外部链路这个口语词，正式说法是数据库 AI 算子的批处理执行、模型服务调用和写回协同。</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汇报讲稿：现有系统提供了场景依据和机制依据，但很多托管 AI SQL 系统内部不可见，不能直接拿来做阶段画像。PostgreSQL 生态和 Ray/Daft/Lance 说明这条路线有落地对象，但本课题不等于做某个产品集成。</a:t>
            </a:r>
          </a:p>
          <a:p>
            <a:endParaRPr lang="en-US" dirty="0"/>
          </a:p>
          <a:p>
            <a:r>
              <a:rPr lang="zh-CN" dirty="0"/>
              <a:t>答辩备注：如果老师问相关工作是否充分，后续还会补 CCF-A 系统论文和官方文档引用；当前 PPT 先讲研究空缺。</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汇报讲稿：总体框架是三类数据库 AI 算子共享同一条可观测执行过程，再围绕模型服务感知调度、写回协同和多类算子策略边界展开。这样研究内容不是任务清单，而是围绕可检验问题组织。</a:t>
            </a:r>
          </a:p>
          <a:p>
            <a:endParaRPr lang="en-US" dirty="0"/>
          </a:p>
          <a:p>
            <a:r>
              <a:rPr lang="zh-CN" dirty="0"/>
              <a:t>答辩备注：图中如果现场需要解释，强调 AI_EMBED 只是第一条真实闭环，后续会扩展到 AI predicate 和 AI_COMPLETE。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汇报讲稿：研究内容分成三个可合并的大方向：模型服务感知调度、写回协同、多类算子策略边界。每个方向都回答为什么难、怎么做、怎么评价。</a:t>
            </a:r>
          </a:p>
          <a:p>
            <a:endParaRPr lang="en-US" dirty="0"/>
          </a:p>
          <a:p>
            <a:r>
              <a:rPr lang="zh-CN" dirty="0"/>
              <a:t>答辩备注：如果被问为什么没有把阶段画像作为研究内容，回答阶段画像是动机测试和评价基础，不是最终研究贡献本身。</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汇报讲稿：下面进入实验依据。这里要主动说明实验不是证明课题已经完成，而是证明问题真实、链路可测、后续优化点可展开。</a:t>
            </a:r>
          </a:p>
          <a:p>
            <a:endParaRPr lang="en-US" dirty="0"/>
          </a:p>
          <a:p>
            <a:r>
              <a:rPr lang="zh-CN" dirty="0"/>
              <a:t>答辩备注：强调真实 GPU-backed 证据优先于 fake/CPU 预研，fake/CPU 只解释变量来源。</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汇报讲稿：当前最重要的是已经有一条真实 GPU-backed AI_EMBED 闭环：本地 PostgreSQL 18.4、Arrow/batch、Python/Ray、CUDA endpoint、fan-in、writeback。它用于开题阶段动机和方法验证，不代表 PostgreSQL 18.3 内部平台最终性能。</a:t>
            </a:r>
          </a:p>
          <a:p>
            <a:endParaRPr lang="en-US" dirty="0"/>
          </a:p>
          <a:p>
            <a:r>
              <a:rPr lang="zh-CN" dirty="0"/>
              <a:t>答辩备注：答辩时要主动说明当前写回是 JSON text，后续会补 384 维 pgvector 写回。</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汇报讲稿：1024 行时，fine 逐行调用发起 1024 次 endpoint 请求，coalesced 只有 4 次请求，端到端耗时从 0.888 秒变成 11.925 秒。这个结果说明调用粒度本身就是系统成本。</a:t>
            </a:r>
          </a:p>
          <a:p>
            <a:endParaRPr lang="en-US" dirty="0"/>
          </a:p>
          <a:p>
            <a:r>
              <a:rPr lang="zh-CN" dirty="0"/>
              <a:t>答辩备注：不能解释成 GPU 更快或 kernel 优化；收益来自调用粒度和外部 operator 阶段，而不是模型内部优化。</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汇报讲稿：单 endpoint 下 Python、Ray task 和 Ray actor 接近，所以不能把 Ray 作为天然加速器。双 endpoint 下 Ray 通过并发 routing 降低 operator wall time，但端到端收益仍受 writeback 限制。</a:t>
            </a:r>
          </a:p>
          <a:p>
            <a:endParaRPr lang="en-US" dirty="0"/>
          </a:p>
          <a:p>
            <a:r>
              <a:rPr lang="zh-CN" dirty="0"/>
              <a:t>答辩备注：如果被问为什么还用 Ray，回答 Ray 是后续多 endpoint、bounded in-flight、actor pool 和 worker writeback 的可控实验 substrate。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汇报讲稿：16K 行时 operator wall time 是 6.473 秒，writeback 是 6.586 秒，两个阶段都接近端到端的一半。双 endpoint 后 operator 降低到 4.628 秒，但 writeback 仍有 6.363 秒。</a:t>
            </a:r>
          </a:p>
          <a:p>
            <a:endParaRPr lang="en-US" dirty="0"/>
          </a:p>
          <a:p>
            <a:r>
              <a:rPr lang="zh-CN" dirty="0"/>
              <a:t>答辩备注：当前写回是 JSON text，不代表 pgvector(384)。因此它是写回问题的动机，不是最终写回性能结论。</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汇报讲稿：这一页把证据等级讲清楚：真实 GPU-backed 画像是当前主证据；PG18.4 连接验证只说明环境可用；fake/CPU 预研只说明变量设计依据。</a:t>
            </a:r>
          </a:p>
          <a:p>
            <a:endParaRPr lang="en-US" dirty="0"/>
          </a:p>
          <a:p>
            <a:r>
              <a:rPr lang="zh-CN" dirty="0"/>
              <a:t>答辩备注：这是回应前面担心 opening 与项目割裂的问题：开题材料必须回到 motivation/results 和项目总纲，而不是让 feasibility 目录承担大纲职责。</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汇报讲稿：评价不只看端到端耗时，还要看阶段耗时、queue wait、bounded wait、writeback、tokens/s、GPU utilization 和消融。这样后续可以判断收益来自哪里，而不是只给一个总时间。</a:t>
            </a:r>
          </a:p>
          <a:p>
            <a:endParaRPr lang="en-US" dirty="0"/>
          </a:p>
          <a:p>
            <a:r>
              <a:rPr lang="zh-CN" dirty="0"/>
              <a:t>答辩备注：如果被问实验是否够学术，强调有对照组、消融、指标和适用边界。</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汇报讲稿：后续计划按先闭环、再消融、再扩展 workload 的顺序推进。每个阶段都有可以被证伪的实验目标，避免只朝一个预设结论跑。</a:t>
            </a:r>
          </a:p>
          <a:p>
            <a:endParaRPr lang="en-US" dirty="0"/>
          </a:p>
          <a:p>
            <a:r>
              <a:rPr lang="zh-CN" dirty="0"/>
              <a:t>答辩备注：如果学校或导师节点不同，时间可以调整；当前重点是顺序和依赖关系。</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汇报讲稿：预期创新点和三个研究内容一一对应：调度方法、写回协同、策略边界。强调都是预期创新点，还需要后续实验验证。</a:t>
            </a:r>
          </a:p>
          <a:p>
            <a:endParaRPr lang="en-US" dirty="0"/>
          </a:p>
          <a:p>
            <a:r>
              <a:rPr lang="zh-CN" dirty="0"/>
              <a:t>答辩备注：不要说已经证明了系统最终性能，只说已经有初步阶段画像支撑后续研究。</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汇报讲稿：最后总结三点：场景真实、问题明确、初步证据成立；后续围绕模型服务感知调度和写回协同继续补实验。</a:t>
            </a:r>
          </a:p>
          <a:p>
            <a:endParaRPr lang="en-US" dirty="0"/>
          </a:p>
          <a:p>
            <a:r>
              <a:rPr lang="zh-CN" dirty="0"/>
              <a:t>答辩备注：答辩时优先回到阶段画像和结论边界。参考文献页只列最关键来源，完整列表在开题报告和 reading list 里维护。</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9" Type="http://schemas.openxmlformats.org/officeDocument/2006/relationships/tags" Target="../tags/tag9_tf1.xml" /><Relationship Id="rId8" Type="http://schemas.openxmlformats.org/officeDocument/2006/relationships/tags" Target="../tags/tag8_tf1.xml" /><Relationship Id="rId7" Type="http://schemas.openxmlformats.org/officeDocument/2006/relationships/tags" Target="../tags/tag7_tf1.xml" /><Relationship Id="rId6" Type="http://schemas.openxmlformats.org/officeDocument/2006/relationships/tags" Target="../tags/tag6_tf1.xml" /><Relationship Id="rId5" Type="http://schemas.openxmlformats.org/officeDocument/2006/relationships/tags" Target="../tags/tag5_tf1.xml" /><Relationship Id="rId4" Type="http://schemas.openxmlformats.org/officeDocument/2006/relationships/tags" Target="../tags/tag4_tf1.xml" /><Relationship Id="rId3" Type="http://schemas.openxmlformats.org/officeDocument/2006/relationships/tags" Target="../tags/tag3_tf1.xml" /><Relationship Id="rId25" Type="http://schemas.openxmlformats.org/officeDocument/2006/relationships/slideLayout" Target="../slideLayouts/slideLayout3.xml" /><Relationship Id="rId24" Type="http://schemas.openxmlformats.org/officeDocument/2006/relationships/tags" Target="../tags/tag24_tf1.xml" /><Relationship Id="rId23" Type="http://schemas.openxmlformats.org/officeDocument/2006/relationships/tags" Target="../tags/tag23_tf1.xml" /><Relationship Id="rId22" Type="http://schemas.openxmlformats.org/officeDocument/2006/relationships/tags" Target="../tags/tag22_tf1.xml" /><Relationship Id="rId21" Type="http://schemas.openxmlformats.org/officeDocument/2006/relationships/tags" Target="../tags/tag21_tf1.xml" /><Relationship Id="rId20" Type="http://schemas.openxmlformats.org/officeDocument/2006/relationships/tags" Target="../tags/tag20_tf1.xml" /><Relationship Id="rId2" Type="http://schemas.openxmlformats.org/officeDocument/2006/relationships/tags" Target="../tags/tag2_tf1.xml" /><Relationship Id="rId19" Type="http://schemas.openxmlformats.org/officeDocument/2006/relationships/tags" Target="../tags/tag19_tf1.xml" /><Relationship Id="rId18" Type="http://schemas.openxmlformats.org/officeDocument/2006/relationships/tags" Target="../tags/tag18_tf1.xml" /><Relationship Id="rId17" Type="http://schemas.openxmlformats.org/officeDocument/2006/relationships/tags" Target="../tags/tag17_tf1.xml" /><Relationship Id="rId16" Type="http://schemas.openxmlformats.org/officeDocument/2006/relationships/tags" Target="../tags/tag16_tf1.xml" /><Relationship Id="rId15" Type="http://schemas.openxmlformats.org/officeDocument/2006/relationships/tags" Target="../tags/tag15_tf1.xml" /><Relationship Id="rId14" Type="http://schemas.openxmlformats.org/officeDocument/2006/relationships/tags" Target="../tags/tag14_tf1.xml" /><Relationship Id="rId13" Type="http://schemas.openxmlformats.org/officeDocument/2006/relationships/tags" Target="../tags/tag13_tf1.xml" /><Relationship Id="rId12" Type="http://schemas.openxmlformats.org/officeDocument/2006/relationships/tags" Target="../tags/tag12_tf1.xml" /><Relationship Id="rId11" Type="http://schemas.openxmlformats.org/officeDocument/2006/relationships/tags" Target="../tags/tag11_tf1.xml" /><Relationship Id="rId10" Type="http://schemas.openxmlformats.org/officeDocument/2006/relationships/tags" Target="../tags/tag10_tf1.xml" /><Relationship Id="rId1" Type="http://schemas.openxmlformats.org/officeDocument/2006/relationships/tags" Target="../tags/tag1_tf1.xml" /><Relationship Id="rId2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2" Type="http://schemas.openxmlformats.org/officeDocument/2006/relationships/slideLayout" Target="../slideLayouts/slideLayout3.xml" /><Relationship Id="rId1" Type="http://schemas.openxmlformats.org/officeDocument/2006/relationships/image" Target="../media/image4.png" /><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2" Type="http://schemas.openxmlformats.org/officeDocument/2006/relationships/slideLayout" Target="../slideLayouts/slideLayout3.xml" /><Relationship Id="rId1" Type="http://schemas.openxmlformats.org/officeDocument/2006/relationships/image" Target="../media/image2.png" /><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9" Type="http://schemas.openxmlformats.org/officeDocument/2006/relationships/tags" Target="../tags/tag53_tf1.xml" /><Relationship Id="rId8" Type="http://schemas.openxmlformats.org/officeDocument/2006/relationships/tags" Target="../tags/tag52_tf1.xml" /><Relationship Id="rId7" Type="http://schemas.openxmlformats.org/officeDocument/2006/relationships/tags" Target="../tags/tag51_tf1.xml" /><Relationship Id="rId6" Type="http://schemas.openxmlformats.org/officeDocument/2006/relationships/tags" Target="../tags/tag50_tf1.xml" /><Relationship Id="rId5" Type="http://schemas.openxmlformats.org/officeDocument/2006/relationships/tags" Target="../tags/tag49_tf1.xml" /><Relationship Id="rId4" Type="http://schemas.openxmlformats.org/officeDocument/2006/relationships/tags" Target="../tags/tag48_tf1.xml" /><Relationship Id="rId3" Type="http://schemas.openxmlformats.org/officeDocument/2006/relationships/tags" Target="../tags/tag47_tf1.xml" /><Relationship Id="rId2" Type="http://schemas.openxmlformats.org/officeDocument/2006/relationships/tags" Target="../tags/tag46_tf1.xml" /><Relationship Id="rId19" Type="http://schemas.openxmlformats.org/officeDocument/2006/relationships/slideLayout" Target="../slideLayouts/slideLayout3.xml" /><Relationship Id="rId18" Type="http://schemas.openxmlformats.org/officeDocument/2006/relationships/tags" Target="../tags/tag62_tf1.xml" /><Relationship Id="rId17" Type="http://schemas.openxmlformats.org/officeDocument/2006/relationships/tags" Target="../tags/tag61_tf1.xml" /><Relationship Id="rId16" Type="http://schemas.openxmlformats.org/officeDocument/2006/relationships/tags" Target="../tags/tag60_tf1.xml" /><Relationship Id="rId15" Type="http://schemas.openxmlformats.org/officeDocument/2006/relationships/tags" Target="../tags/tag59_tf1.xml" /><Relationship Id="rId14" Type="http://schemas.openxmlformats.org/officeDocument/2006/relationships/tags" Target="../tags/tag58_tf1.xml" /><Relationship Id="rId13" Type="http://schemas.openxmlformats.org/officeDocument/2006/relationships/tags" Target="../tags/tag57_tf1.xml" /><Relationship Id="rId12" Type="http://schemas.openxmlformats.org/officeDocument/2006/relationships/tags" Target="../tags/tag56_tf1.xml" /><Relationship Id="rId11" Type="http://schemas.openxmlformats.org/officeDocument/2006/relationships/tags" Target="../tags/tag55_tf1.xml" /><Relationship Id="rId10" Type="http://schemas.openxmlformats.org/officeDocument/2006/relationships/tags" Target="../tags/tag54_tf1.xml" /><Relationship Id="rId1" Type="http://schemas.openxmlformats.org/officeDocument/2006/relationships/tags" Target="../tags/tag45_tf1.xml" /><Relationship Id="rId20"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9" Type="http://schemas.openxmlformats.org/officeDocument/2006/relationships/tags" Target="../tags/tag71_tf1.xml" /><Relationship Id="rId8" Type="http://schemas.openxmlformats.org/officeDocument/2006/relationships/tags" Target="../tags/tag70_tf1.xml" /><Relationship Id="rId7" Type="http://schemas.openxmlformats.org/officeDocument/2006/relationships/tags" Target="../tags/tag69_tf1.xml" /><Relationship Id="rId6" Type="http://schemas.openxmlformats.org/officeDocument/2006/relationships/tags" Target="../tags/tag68_tf1.xml" /><Relationship Id="rId5" Type="http://schemas.openxmlformats.org/officeDocument/2006/relationships/tags" Target="../tags/tag67_tf1.xml" /><Relationship Id="rId4" Type="http://schemas.openxmlformats.org/officeDocument/2006/relationships/tags" Target="../tags/tag66_tf1.xml" /><Relationship Id="rId3" Type="http://schemas.openxmlformats.org/officeDocument/2006/relationships/tags" Target="../tags/tag65_tf1.xml" /><Relationship Id="rId2" Type="http://schemas.openxmlformats.org/officeDocument/2006/relationships/tags" Target="../tags/tag64_tf1.xml" /><Relationship Id="rId13" Type="http://schemas.openxmlformats.org/officeDocument/2006/relationships/slideLayout" Target="../slideLayouts/slideLayout3.xml" /><Relationship Id="rId12" Type="http://schemas.openxmlformats.org/officeDocument/2006/relationships/tags" Target="../tags/tag74_tf1.xml" /><Relationship Id="rId11" Type="http://schemas.openxmlformats.org/officeDocument/2006/relationships/tags" Target="../tags/tag73_tf1.xml" /><Relationship Id="rId10" Type="http://schemas.openxmlformats.org/officeDocument/2006/relationships/tags" Target="../tags/tag72_tf1.xml" /><Relationship Id="rId1" Type="http://schemas.openxmlformats.org/officeDocument/2006/relationships/tags" Target="../tags/tag63_tf1.xml" /><Relationship Id="rId1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41.xml" /></Relationships>
</file>

<file path=ppt/slides/slide2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硕士论文开题汇报
汇报人：艾筠舜    导师：待补充    时间：2026.7</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en-US" sz="1700" b="0">
                <a:solidFill>
                  <a:srgbClr val="1F2933"/>
                </a:solidFill>
                <a:latin typeface="微软雅黑" panose="020B0503020204020204" charset="-122"/>
              </a:rPr>
              <a:t/>
            </a:r>
            <a:endParaRPr lang="en-US"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面向数据库 AI 算子的模型服务感知批处理执行与写回协同优化研究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Database AI Operators / GPU-backed Model Service / Ray / Writeback | 1</a:t>
            </a:r>
            <a:endParaRPr sz="800" b="0">
              <a:solidFill>
                <a:srgbClr val="667080"/>
              </a:solidFill>
              <a:latin typeface="微软雅黑" panose="020B0503020204020204" charset="-122"/>
            </a:endParaRPr>
          </a:p>
        </p:txBody>
      </p:sp>
    </p:spTree>
  </p:cSld>
  <p:clrMapOvr>
    <a:masterClrMapping/>
  </p:clrMapOvr>
  <p:transition p14:dur="500">
    <p:fade/>
  </p:transition>
</p:sld>
</file>

<file path=ppt/slides/slide2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研究背景</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数据库 AI 算子为什么带来新的执行链路</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问题定义</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研究对象、边界与关键难点</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研究内容</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调度、写回、策略边界三个闭环</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实验依据</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GPU-backed AI_EMBED 画像与动机测试</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技术路线</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后续实验、评价指标和消融设计</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进度安排、边界控制和预期成果</a:t>
            </a:r>
            <a:endParaRPr sz="1000" b="0">
              <a:solidFill>
                <a:srgbClr val="1F2933"/>
              </a:solidFill>
              <a:latin typeface="微软雅黑" panose="020B0503020204020204" charset="-122"/>
            </a:endParaRPr>
          </a:p>
        </p:txBody>
      </p:sp>
    </p:spTree>
  </p:cSld>
  <p:clrMapOvr>
    <a:masterClrMapping/>
  </p:clrMapOvr>
  <p:transition p14:dur="500">
    <p:fade/>
  </p:transition>
</p:sld>
</file>

<file path=ppt/slides/slide28.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问题定义：AI 算子把 SQL 执行扩展到模型服务与写回</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PostgreSQL
表数据读取</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Arrow / batch
外部 worker</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GPU-backed
model service</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阶段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变量</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关注点</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DB / Arrow</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 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数据进入外部执行前的成本</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Task / Actor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tasks, objects</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并行调度何时有效</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Model service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endpoint,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请求粒度与队列压力</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Writeback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fan-in, sink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关键：batch、endpoint queue、fan-in 与 writeback 共同决定 E2E</a:t>
            </a:r>
            <a:endParaRPr sz="1500" b="1">
              <a:solidFill>
                <a:srgbClr val="B22626"/>
              </a:solidFill>
              <a:latin typeface="微软雅黑" panose="020B0503020204020204" charset="-122"/>
            </a:endParaRPr>
          </a:p>
        </p:txBody>
      </p:sp>
    </p:spTree>
  </p:cSld>
  <p:clrMapOvr>
    <a:masterClrMapping/>
  </p:clrMapOvr>
  <p:transition p14:dur="500">
    <p:fade/>
  </p:transition>
</p:sld>
</file>

<file path=ppt/slides/slide29.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相关系统提供场景，但缺少可拆分的端到端阶段画像</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类别</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代表系统</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已提供能力</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本课题关注</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AI 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Snowflake / BigQuery / Oracle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内调用 AI 函数</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内部阶段成本通常不可见</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PostgreSQL AI</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pgvector / pgai / PostgresML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向量存储、worker、近数据库模型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需要端到端阶段画像</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执行框架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Ray / Daft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task、actor、partition、batch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验证调度适用条件</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AI 数据存储</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Arrow / Lance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列式与向量数据表示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分析写回与持久化代价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研究空缺</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可控实验链路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DB + worker + model + sink</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统一评价调度与写回</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研究空缺在于：托管 AI SQL 系统证明场景真实，但阶段成本通常不可见。</a:t>
            </a:r>
            <a:endParaRPr sz="1000" b="1">
              <a:solidFill>
                <a:srgbClr val="B22626"/>
              </a:solidFill>
              <a:latin typeface="微软雅黑" panose="020B0503020204020204" charset="-122"/>
            </a:endParaRPr>
          </a:p>
        </p:txBody>
      </p:sp>
    </p:spTree>
  </p:cSld>
  <p:clrMapOvr>
    <a:masterClrMapping/>
  </p:clrMapOvr>
  <p:transition p14:dur="500">
    <p:fade/>
  </p:transition>
</p:sld>
</file>

<file path=ppt/slides/slide3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总体框架：三类 AI 算子共享一套可观测执行过程</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5</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三类 AI 算子 -&gt; PostgreSQL fetch -&gt; Arrow/batch -&gt; task/actor -&gt; GPU-backed model service -&gt; fan-in -&gt; writeback</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502920" y="2012363"/>
            <a:ext cx="8138160" cy="3427634"/>
          </a:xfrm>
          <a:prstGeom prst="rect">
            <a:avLst/>
          </a:prstGeom>
        </p:spPr>
      </p:pic>
    </p:spTree>
  </p:cSld>
  <p:clrMapOvr>
    <a:masterClrMapping/>
  </p:clrMapOvr>
  <p:transition p14:dur="500">
    <p:fade/>
  </p:transition>
</p:sld>
</file>

<file path=ppt/slides/slide3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研究内容：围绕难点、方法和评价形成三个闭环</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6</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研究内容</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方法</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批处理执行调度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batch、endpoint、in-flight 相互影响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联合选择 batch / routing / backpressure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Python/Ray 与 endpoint 消融</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 可能限制端到端收益</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 driver / worker / queue worker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writeback_s、e2e_s、一致性</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embedding 经验不能直接外推</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覆盖三类 AI 算子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rows/s、tokens/s、queue wait</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共同基础</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阶段成本需要可测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统一阶段画像</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消融与对照实验</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边界控制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避免题目发散</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不做 GPU kernel / 完整 Ray 改造</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明确不能声称的结论</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输出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形成可复现实验链路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脚本、CSV、图表、论文方法</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结果可追溯</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transition p14:dur="500">
    <p:fade/>
  </p:transition>
</p:sld>
</file>

<file path=ppt/slides/slide3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7</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实验依据：batch、routing 与 writeback</a:t>
            </a:r>
            <a:endParaRPr sz="2800" b="1">
              <a:solidFill>
                <a:srgbClr val="17324D"/>
              </a:solidFill>
              <a:latin typeface="微软雅黑" panose="020B0503020204020204" charset="-122"/>
            </a:endParaRPr>
          </a:p>
        </p:txBody>
      </p:sp>
      <p:pic>
        <p:nvPicPr>
          <p:cNvPr id="6" name="Picture 5" descr="chart_ir_complexity.png"/>
          <p:cNvPicPr>
            <a:picLocks noChangeAspect="1"/>
          </p:cNvPicPr>
          <p:nvPr/>
        </p:nvPicPr>
        <p:blipFill>
          <a:blip r:embed="rId1"/>
          <a:stretch>
            <a:fillRect/>
          </a:stretch>
        </p:blipFill>
        <p:spPr>
          <a:xfrm>
            <a:off x="278130" y="1772920"/>
            <a:ext cx="8362950" cy="4892040"/>
          </a:xfrm>
          <a:prstGeom prst="rect">
            <a:avLst/>
          </a:prstGeom>
        </p:spPr>
      </p:pic>
    </p:spTree>
  </p:cSld>
  <p:clrMapOvr>
    <a:masterClrMapping/>
  </p:clrMapOvr>
  <p:transition p14:dur="500">
    <p:fade/>
  </p:transition>
</p:sld>
</file>

<file path=ppt/slides/slide33.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实验设置：真实 GPU-backed AI_EMBED 端到端画像</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8</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400" b="1">
                          <a:solidFill>
                            <a:srgbClr val="FFFFFF"/>
                          </a:solidFill>
                          <a:latin typeface="微软雅黑" panose="020B0503020204020204" charset="-122"/>
                        </a:rPr>
                        <a:t>环节</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当前设置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记录指标</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200" b="0">
                          <a:solidFill>
                            <a:srgbClr val="1F2933"/>
                          </a:solidFill>
                          <a:latin typeface="微软雅黑" panose="020B0503020204020204" charset="-122"/>
                        </a:rPr>
                        <a:t>数据库</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PostgreSQL 18.4 local rehearsal</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db_fetch_s / writeback_s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 / batch</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arrow_build_s / calls</a:t>
                      </a:r>
                      <a:endParaRPr sz="120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200" b="0">
                          <a:solidFill>
                            <a:srgbClr val="1F2933"/>
                          </a:solidFill>
                          <a:latin typeface="微软雅黑" panose="020B0503020204020204" charset="-122"/>
                        </a:rPr>
                        <a:t>执行器</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Python / Ray task / actor</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operator_wall_s / fanin_s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模型服务</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CUDA embedding endpoint</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model_request_wall_s / bounded_wait_s</a:t>
                      </a:r>
                      <a:endParaRPr sz="120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实验链路覆盖数据库读取、batch 构造、外部执行、CUDA 模型服务、fan-in 和 PostgreSQL 写回。</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4.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1：逐行 endpoint 调用比 batch 调用慢约 13.4x</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9</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Rows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Strategy</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Calls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e2e_s</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0.888</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fine</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11.925</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ratio</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fine / 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13.4x</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边界</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当前 AI_EMBED endpoint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非 kernel 结论</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1024 行真实 GPU-backed AI_EMBED 中，调用粒度是必须控制的一阶成本。</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5.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2：Ray 的价值边界来自多 endpoint routing</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10</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场景</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e2e_s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含义</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4096 单 endpoint</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3.29-3.36</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Python / Ray 接近</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Python</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3.444</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顺序 routing</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4096 双 endpoint Ray task</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2.761</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operator 降低</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Ray actor</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2.780</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与 task 接近</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Ray 是调度 substrate 和对照对象，不能被写成论文主问题本身。</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3：writeback 已经足以限制端到端收益</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11</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1200" b="1">
                          <a:solidFill>
                            <a:srgbClr val="FFFFFF"/>
                          </a:solidFill>
                          <a:latin typeface="微软雅黑" panose="020B0503020204020204" charset="-122"/>
                        </a:rPr>
                        <a:t>Rows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Endpoints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operator</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writeback</a:t>
                      </a:r>
                      <a:endParaRPr sz="120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1</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6.473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6.586</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2</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4.628</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6.363</a:t>
                      </a:r>
                      <a:endParaRPr sz="12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pgvector(384)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worker / queue writeback</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当前 JSON text</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非 pgvector 结论</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需复测</a:t>
                      </a:r>
                      <a:endParaRPr sz="12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只优化模型服务调用不够，写回路径必须和调度一起评价。</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可行性分析：证据分层与边界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真实链路</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GPU-backed AI_EMBED 已跑通</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核心发现</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batch / routing / writeback 均影响 E2E</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历史预研</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fake/CPU 用于变量设计</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环境验证</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PG18.4 + pgvector 可连接</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明确边界</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非 PG18.3 / 非 pgvector(384)</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下一步</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补写回、反压、多 workload</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38.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评价设计：用阶段指标和消融证明优化是否有效</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研究问题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证明目标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批处理调度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e2e_s / operator /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调度何时有效</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 / 一致性</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 / tokens/s / GPU</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策略是否可迁移</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阶段占比变化</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定位收益来源</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结论适用范围</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避免过度声称</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端到端指标：e2e_s / rows/s / tokens/s</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阶段指标：operator / queue / fan-in / writeback</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消融对象：batch / routing / in-flight / writeback</a:t>
            </a:r>
            <a:endParaRPr sz="1000" b="1">
              <a:solidFill>
                <a:srgbClr val="1F2933"/>
              </a:solidFill>
              <a:latin typeface="微软雅黑" panose="020B0503020204020204" charset="-122"/>
            </a:endParaRPr>
          </a:p>
        </p:txBody>
      </p:sp>
    </p:spTree>
  </p:cSld>
  <p:clrMapOvr>
    <a:masterClrMapping/>
  </p:clrMapOvr>
  <p:transition p14:dur="500">
    <p:fade/>
  </p:transition>
</p:sld>
</file>

<file path=ppt/slides/slide39.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进度安排：先闭环消融，再扩展 workload</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时间</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重点工作</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2026.07-08</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AI_EMBED 闭环与消融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pgvector / writeback / in-flight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2026.09-10</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 predicate 与 LLM workload</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selectivity / token / queue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2026.11-12+</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统一方法与论文整理</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baseline、消融、图表、正文</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2026.07</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sz="1100" b="1">
              <a:solidFill>
                <a:srgbClr val="FFFFFF"/>
              </a:solidFill>
              <a:latin typeface="微软雅黑" panose="020B0503020204020204" charset="-122"/>
            </a:endParaRPr>
          </a:p>
        </p:txBody>
      </p:sp>
      <p:sp>
        <p:nvSpPr>
          <p:cNvPr id="6" name="Rectangle 5"/>
          <p:cNvSpPr/>
          <p:nvPr/>
        </p:nvSpPr>
        <p:spPr>
          <a:xfrm>
            <a:off x="68580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开题材料、GPU-backed 动机结果、pgvector(384) 设计</a:t>
            </a:r>
            <a:endParaRPr sz="900" b="1">
              <a:solidFill>
                <a:srgbClr val="1F2933"/>
              </a:solidFill>
              <a:latin typeface="微软雅黑" panose="020B0503020204020204" charset="-122"/>
            </a:endParaRPr>
          </a:p>
        </p:txBody>
      </p:sp>
      <p:sp>
        <p:nvSpPr>
          <p:cNvPr id="7" name="Rectangle 6"/>
          <p:cNvSpPr/>
          <p:nvPr/>
        </p:nvSpPr>
        <p:spPr>
          <a:xfrm>
            <a:off x="269748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2026.08</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lang="en-US" sz="1100" b="1">
              <a:solidFill>
                <a:srgbClr val="FFFFFF"/>
              </a:solidFill>
              <a:latin typeface="微软雅黑" panose="020B0503020204020204" charset="-122"/>
            </a:endParaRPr>
          </a:p>
        </p:txBody>
      </p:sp>
      <p:sp>
        <p:nvSpPr>
          <p:cNvPr id="8" name="Rectangle 7"/>
          <p:cNvSpPr/>
          <p:nvPr/>
        </p:nvSpPr>
        <p:spPr>
          <a:xfrm>
            <a:off x="269748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AI_EMBED 大块消融、worker writeback、bounded in-flight</a:t>
            </a:r>
            <a:endParaRPr sz="900" b="1">
              <a:solidFill>
                <a:srgbClr val="1F2933"/>
              </a:solidFill>
              <a:latin typeface="微软雅黑" panose="020B0503020204020204" charset="-122"/>
            </a:endParaRPr>
          </a:p>
        </p:txBody>
      </p:sp>
      <p:sp>
        <p:nvSpPr>
          <p:cNvPr id="9" name="Rectangle 8"/>
          <p:cNvSpPr/>
          <p:nvPr/>
        </p:nvSpPr>
        <p:spPr>
          <a:xfrm>
            <a:off x="470916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2026.09</a:t>
            </a:r>
            <a:endParaRPr sz="1100" b="1">
              <a:solidFill>
                <a:srgbClr val="FFFFFF"/>
              </a:solidFill>
              <a:latin typeface="微软雅黑" panose="020B0503020204020204" charset="-122"/>
            </a:endParaRPr>
          </a:p>
        </p:txBody>
      </p:sp>
      <p:sp>
        <p:nvSpPr>
          <p:cNvPr id="10" name="Rectangle 9"/>
          <p:cNvSpPr/>
          <p:nvPr/>
        </p:nvSpPr>
        <p:spPr>
          <a:xfrm>
            <a:off x="470916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AI_FILTER / AI_CLASSIFY selectivity-aware 实验</a:t>
            </a:r>
            <a:endParaRPr sz="900" b="1">
              <a:solidFill>
                <a:srgbClr val="1F2933"/>
              </a:solidFill>
              <a:latin typeface="微软雅黑" panose="020B0503020204020204" charset="-122"/>
            </a:endParaRPr>
          </a:p>
        </p:txBody>
      </p:sp>
      <p:sp>
        <p:nvSpPr>
          <p:cNvPr id="11" name="Rectangle 10"/>
          <p:cNvSpPr/>
          <p:nvPr/>
        </p:nvSpPr>
        <p:spPr>
          <a:xfrm>
            <a:off x="672084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10月</a:t>
            </a:r>
            <a:endParaRPr sz="1100" b="1">
              <a:solidFill>
                <a:srgbClr val="FFFFFF"/>
              </a:solidFill>
              <a:latin typeface="微软雅黑" panose="020B0503020204020204" charset="-122"/>
            </a:endParaRPr>
          </a:p>
        </p:txBody>
      </p:sp>
      <p:sp>
        <p:nvSpPr>
          <p:cNvPr id="12" name="Rectangle 11"/>
          <p:cNvSpPr/>
          <p:nvPr/>
        </p:nvSpPr>
        <p:spPr>
          <a:xfrm>
            <a:off x="672084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AI_COMPLETE token / prefix / queue-aware 实验</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2026.11</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4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预期创新点：调度、写回与策略边界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15</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批处理执行调度</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结合算子特征、endpoint 状态和 in-flight 控制选择执行策略。</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写回协同优化</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330"/>
            <a:ext cx="3035300" cy="266700"/>
          </a:xfrm>
          <a:prstGeom prst="rect">
            <a:avLst/>
          </a:prstGeom>
          <a:noFill/>
        </p:spPr>
        <p:txBody>
          <a:bodyPr wrap="square" anchor="ctr">
            <a:noAutofit/>
          </a:bodyPr>
          <a:lstStyle/>
          <a:p>
            <a:pPr algn="l"/>
            <a:r>
              <a:rPr sz="900" b="0">
                <a:solidFill>
                  <a:srgbClr val="1F2933"/>
                </a:solidFill>
                <a:latin typeface="微软雅黑" panose="020B0503020204020204" charset="-122"/>
              </a:rPr>
              <a:t>比较 driver、worker、queue worker 与不同 sink。</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多类算子策略边界</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比较三类 AI 算子的适用条件与失效边界。</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可观测实验链路</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650"/>
            <a:ext cx="3077845" cy="274320"/>
          </a:xfrm>
          <a:prstGeom prst="rect">
            <a:avLst/>
          </a:prstGeom>
          <a:noFill/>
        </p:spPr>
        <p:txBody>
          <a:bodyPr wrap="square" anchor="ctr">
            <a:noAutofit/>
          </a:bodyPr>
          <a:lstStyle/>
          <a:p>
            <a:pPr algn="l"/>
            <a:r>
              <a:rPr sz="900" b="0">
                <a:solidFill>
                  <a:srgbClr val="1F2933"/>
                </a:solidFill>
                <a:latin typeface="微软雅黑" panose="020B0503020204020204" charset="-122"/>
              </a:rPr>
              <a:t>保留脚本、CSV、阶段指标和消融结果，保证结论可追溯。</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4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主要参考资料与本地实验报告</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16</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98348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Ray: A Distributed Framework for Emerging AI Applications, OSDI 2018</a:t>
            </a:r>
          </a:p>
          <a:p>
            <a:pPr>
              <a:spcAft>
                <a:spcPts val="600"/>
              </a:spcAft>
              <a:defRPr sz="900">
                <a:solidFill>
                  <a:srgbClr val="1F2933"/>
                </a:solidFill>
                <a:latin typeface="微软雅黑" panose="020B0503020204020204" charset="-122"/>
              </a:defRPr>
            </a:pPr>
            <a:r>
              <a:t>Spark: Cluster Computing with Working Sets, HotCloud 2010</a:t>
            </a:r>
          </a:p>
          <a:p>
            <a:pPr>
              <a:spcAft>
                <a:spcPts val="600"/>
              </a:spcAft>
              <a:defRPr sz="900">
                <a:solidFill>
                  <a:srgbClr val="1F2933"/>
                </a:solidFill>
                <a:latin typeface="微软雅黑" panose="020B0503020204020204" charset="-122"/>
              </a:defRPr>
            </a:pPr>
            <a:r>
              <a:t>Snowflake Cortex AISQL / Ray Core Objects / Ray Serve Dynamic Request Batching / Daft Distributed Execution / pgvector / pgai documentation</a:t>
            </a:r>
          </a:p>
          <a:p>
            <a:pPr>
              <a:spcAft>
                <a:spcPts val="600"/>
              </a:spcAft>
              <a:defRPr sz="900">
                <a:solidFill>
                  <a:srgbClr val="1F2933"/>
                </a:solidFill>
                <a:latin typeface="微软雅黑" panose="020B0503020204020204" charset="-122"/>
              </a:defRPr>
            </a:pPr>
            <a:r>
              <a:t>本项目实验报告：GPU-Backed AI_EMBED Chain Breakdown, 2026-07-12</a:t>
            </a:r>
          </a:p>
          <a:p>
            <a:pPr>
              <a:spcAft>
                <a:spcPts val="600"/>
              </a:spcAft>
              <a:defRPr sz="900">
                <a:solidFill>
                  <a:srgbClr val="1F2933"/>
                </a:solidFill>
                <a:latin typeface="微软雅黑" panose="020B0503020204020204" charset="-122"/>
              </a:defRPr>
            </a:pPr>
            <a:r>
              <a:t>本项目实验报告：Multi-Endpoint Ray Motivation Test, 2026-07-12</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p:txBody>
      </p:sp>
    </p:spTree>
  </p:cSld>
  <p:clrMapOvr>
    <a:masterClrMapping/>
  </p:clrMapOvr>
  <p:transition p14:dur="500">
    <p:fade/>
  </p:transition>
</p:sld>
</file>

<file path=ppt/tags/tag1_tf1.xml><?xml version="1.0" encoding="utf-8"?>
<p:tagLst xmlns:p="http://schemas.openxmlformats.org/presentationml/2006/main">
  <p:tag name="KSO_WM_DIAGRAM_VIRTUALLY_FRAME" val="{&quot;height&quot;:327.9499212598425,&quot;left&quot;:41.35,&quot;top&quot;:92.16,&quot;width&quot;:617.45}"/>
</p:tagLst>
</file>

<file path=ppt/tags/tag2_tf1.xml><?xml version="1.0" encoding="utf-8"?>
<p:tagLst xmlns:p="http://schemas.openxmlformats.org/presentationml/2006/main">
  <p:tag name="KSO_WM_DIAGRAM_VIRTUALLY_FRAME" val="{&quot;height&quot;:327.9499212598425,&quot;left&quot;:41.35,&quot;top&quot;:92.16,&quot;width&quot;:617.45}"/>
</p:tagLst>
</file>

<file path=ppt/tags/tag3_tf1.xml><?xml version="1.0" encoding="utf-8"?>
<p:tagLst xmlns:p="http://schemas.openxmlformats.org/presentationml/2006/main">
  <p:tag name="KSO_WM_DIAGRAM_VIRTUALLY_FRAME" val="{&quot;height&quot;:327.9499212598425,&quot;left&quot;:41.35,&quot;top&quot;:92.16,&quot;width&quot;:617.45}"/>
</p:tagLst>
</file>

<file path=ppt/tags/tag4_tf1.xml><?xml version="1.0" encoding="utf-8"?>
<p:tagLst xmlns:p="http://schemas.openxmlformats.org/presentationml/2006/main">
  <p:tag name="KSO_WM_DIAGRAM_VIRTUALLY_FRAME" val="{&quot;height&quot;:327.9499212598425,&quot;left&quot;:41.35,&quot;top&quot;:92.16,&quot;width&quot;:617.45}"/>
</p:tagLst>
</file>

<file path=ppt/tags/tag5_tf1.xml><?xml version="1.0" encoding="utf-8"?>
<p:tagLst xmlns:p="http://schemas.openxmlformats.org/presentationml/2006/main">
  <p:tag name="KSO_WM_DIAGRAM_VIRTUALLY_FRAME" val="{&quot;height&quot;:327.9499212598425,&quot;left&quot;:41.35,&quot;top&quot;:92.16,&quot;width&quot;:617.45}"/>
</p:tagLst>
</file>

<file path=ppt/tags/tag6_tf1.xml><?xml version="1.0" encoding="utf-8"?>
<p:tagLst xmlns:p="http://schemas.openxmlformats.org/presentationml/2006/main">
  <p:tag name="KSO_WM_DIAGRAM_VIRTUALLY_FRAME" val="{&quot;height&quot;:327.9499212598425,&quot;left&quot;:41.35,&quot;top&quot;:92.16,&quot;width&quot;:617.45}"/>
</p:tagLst>
</file>

<file path=ppt/tags/tag7_tf1.xml><?xml version="1.0" encoding="utf-8"?>
<p:tagLst xmlns:p="http://schemas.openxmlformats.org/presentationml/2006/main">
  <p:tag name="KSO_WM_DIAGRAM_VIRTUALLY_FRAME" val="{&quot;height&quot;:327.9499212598425,&quot;left&quot;:41.35,&quot;top&quot;:92.16,&quot;width&quot;:617.45}"/>
</p:tagLst>
</file>

<file path=ppt/tags/tag8_tf1.xml><?xml version="1.0" encoding="utf-8"?>
<p:tagLst xmlns:p="http://schemas.openxmlformats.org/presentationml/2006/main">
  <p:tag name="KSO_WM_DIAGRAM_VIRTUALLY_FRAME" val="{&quot;height&quot;:327.9499212598425,&quot;left&quot;:41.35,&quot;top&quot;:92.16,&quot;width&quot;:617.45}"/>
</p:tagLst>
</file>

<file path=ppt/tags/tag9_tf1.xml><?xml version="1.0" encoding="utf-8"?>
<p:tagLst xmlns:p="http://schemas.openxmlformats.org/presentationml/2006/main">
  <p:tag name="KSO_WM_DIAGRAM_VIRTUALLY_FRAME" val="{&quot;height&quot;:327.9499212598425,&quot;left&quot;:41.35,&quot;top&quot;:92.16,&quot;width&quot;:617.45}"/>
</p:tagLst>
</file>

<file path=ppt/tags/tag10_tf1.xml><?xml version="1.0" encoding="utf-8"?>
<p:tagLst xmlns:p="http://schemas.openxmlformats.org/presentationml/2006/main">
  <p:tag name="KSO_WM_DIAGRAM_VIRTUALLY_FRAME" val="{&quot;height&quot;:327.9499212598425,&quot;left&quot;:41.35,&quot;top&quot;:92.16,&quot;width&quot;:617.45}"/>
</p:tagLst>
</file>

<file path=ppt/tags/tag11_tf1.xml><?xml version="1.0" encoding="utf-8"?>
<p:tagLst xmlns:p="http://schemas.openxmlformats.org/presentationml/2006/main">
  <p:tag name="KSO_WM_DIAGRAM_VIRTUALLY_FRAME" val="{&quot;height&quot;:327.9499212598425,&quot;left&quot;:41.35,&quot;top&quot;:92.16,&quot;width&quot;:617.45}"/>
</p:tagLst>
</file>

<file path=ppt/tags/tag12_tf1.xml><?xml version="1.0" encoding="utf-8"?>
<p:tagLst xmlns:p="http://schemas.openxmlformats.org/presentationml/2006/main">
  <p:tag name="KSO_WM_DIAGRAM_VIRTUALLY_FRAME" val="{&quot;height&quot;:327.9499212598425,&quot;left&quot;:41.35,&quot;top&quot;:92.16,&quot;width&quot;:617.45}"/>
</p:tagLst>
</file>

<file path=ppt/tags/tag13_tf1.xml><?xml version="1.0" encoding="utf-8"?>
<p:tagLst xmlns:p="http://schemas.openxmlformats.org/presentationml/2006/main">
  <p:tag name="KSO_WM_DIAGRAM_VIRTUALLY_FRAME" val="{&quot;height&quot;:327.9499212598425,&quot;left&quot;:41.35,&quot;top&quot;:92.16,&quot;width&quot;:617.45}"/>
</p:tagLst>
</file>

<file path=ppt/tags/tag14_tf1.xml><?xml version="1.0" encoding="utf-8"?>
<p:tagLst xmlns:p="http://schemas.openxmlformats.org/presentationml/2006/main">
  <p:tag name="KSO_WM_DIAGRAM_VIRTUALLY_FRAME" val="{&quot;height&quot;:327.9499212598425,&quot;left&quot;:41.35,&quot;top&quot;:92.16,&quot;width&quot;:617.45}"/>
</p:tagLst>
</file>

<file path=ppt/tags/tag15_tf1.xml><?xml version="1.0" encoding="utf-8"?>
<p:tagLst xmlns:p="http://schemas.openxmlformats.org/presentationml/2006/main">
  <p:tag name="KSO_WM_DIAGRAM_VIRTUALLY_FRAME" val="{&quot;height&quot;:327.9499212598425,&quot;left&quot;:41.35,&quot;top&quot;:92.16,&quot;width&quot;:617.45}"/>
</p:tagLst>
</file>

<file path=ppt/tags/tag16_tf1.xml><?xml version="1.0" encoding="utf-8"?>
<p:tagLst xmlns:p="http://schemas.openxmlformats.org/presentationml/2006/main">
  <p:tag name="KSO_WM_DIAGRAM_VIRTUALLY_FRAME" val="{&quot;height&quot;:327.9499212598425,&quot;left&quot;:41.35,&quot;top&quot;:92.16,&quot;width&quot;:617.45}"/>
</p:tagLst>
</file>

<file path=ppt/tags/tag17_tf1.xml><?xml version="1.0" encoding="utf-8"?>
<p:tagLst xmlns:p="http://schemas.openxmlformats.org/presentationml/2006/main">
  <p:tag name="KSO_WM_DIAGRAM_VIRTUALLY_FRAME" val="{&quot;height&quot;:327.9499212598425,&quot;left&quot;:41.35,&quot;top&quot;:92.16,&quot;width&quot;:617.45}"/>
</p:tagLst>
</file>

<file path=ppt/tags/tag18_tf1.xml><?xml version="1.0" encoding="utf-8"?>
<p:tagLst xmlns:p="http://schemas.openxmlformats.org/presentationml/2006/main">
  <p:tag name="KSO_WM_DIAGRAM_VIRTUALLY_FRAME" val="{&quot;height&quot;:327.9499212598425,&quot;left&quot;:41.35,&quot;top&quot;:92.16,&quot;width&quot;:617.45}"/>
</p:tagLst>
</file>

<file path=ppt/tags/tag19_tf1.xml><?xml version="1.0" encoding="utf-8"?>
<p:tagLst xmlns:p="http://schemas.openxmlformats.org/presentationml/2006/main">
  <p:tag name="KSO_WM_DIAGRAM_VIRTUALLY_FRAME" val="{&quot;height&quot;:327.9499212598425,&quot;left&quot;:41.35,&quot;top&quot;:92.16,&quot;width&quot;:617.45}"/>
</p:tagLst>
</file>

<file path=ppt/tags/tag20_tf1.xml><?xml version="1.0" encoding="utf-8"?>
<p:tagLst xmlns:p="http://schemas.openxmlformats.org/presentationml/2006/main">
  <p:tag name="KSO_WM_DIAGRAM_VIRTUALLY_FRAME" val="{&quot;height&quot;:327.9499212598425,&quot;left&quot;:41.35,&quot;top&quot;:92.16,&quot;width&quot;:617.45}"/>
</p:tagLst>
</file>

<file path=ppt/tags/tag21_tf1.xml><?xml version="1.0" encoding="utf-8"?>
<p:tagLst xmlns:p="http://schemas.openxmlformats.org/presentationml/2006/main">
  <p:tag name="KSO_WM_DIAGRAM_VIRTUALLY_FRAME" val="{&quot;height&quot;:327.9499212598425,&quot;left&quot;:41.35,&quot;top&quot;:92.16,&quot;width&quot;:617.45}"/>
</p:tagLst>
</file>

<file path=ppt/tags/tag22_tf1.xml><?xml version="1.0" encoding="utf-8"?>
<p:tagLst xmlns:p="http://schemas.openxmlformats.org/presentationml/2006/main">
  <p:tag name="KSO_WM_DIAGRAM_VIRTUALLY_FRAME" val="{&quot;height&quot;:327.9499212598425,&quot;left&quot;:41.35,&quot;top&quot;:92.16,&quot;width&quot;:617.45}"/>
</p:tagLst>
</file>

<file path=ppt/tags/tag23_tf1.xml><?xml version="1.0" encoding="utf-8"?>
<p:tagLst xmlns:p="http://schemas.openxmlformats.org/presentationml/2006/main">
  <p:tag name="KSO_WM_DIAGRAM_VIRTUALLY_FRAME" val="{&quot;height&quot;:327.9499212598425,&quot;left&quot;:41.35,&quot;top&quot;:92.16,&quot;width&quot;:617.45}"/>
</p:tagLst>
</file>

<file path=ppt/tags/tag24_tf1.xml><?xml version="1.0" encoding="utf-8"?>
<p:tagLst xmlns:p="http://schemas.openxmlformats.org/presentationml/2006/main">
  <p:tag name="KSO_WM_DIAGRAM_VIRTUALLY_FRAME" val="{&quot;height&quot;:327.9499212598425,&quot;left&quot;:41.35,&quot;top&quot;:92.16,&quot;width&quot;:617.45}"/>
</p:tagLst>
</file>

<file path=ppt/tags/tag45_tf1.xml><?xml version="1.0" encoding="utf-8"?>
<p:tagLst xmlns:p="http://schemas.openxmlformats.org/presentationml/2006/main">
  <p:tag name="KSO_WM_DIAGRAM_VIRTUALLY_FRAME" val="{&quot;height&quot;:279,&quot;left&quot;:36.8,&quot;top&quot;:97.2,&quot;width&quot;:625.6}"/>
</p:tagLst>
</file>

<file path=ppt/tags/tag46_tf1.xml><?xml version="1.0" encoding="utf-8"?>
<p:tagLst xmlns:p="http://schemas.openxmlformats.org/presentationml/2006/main">
  <p:tag name="KSO_WM_DIAGRAM_VIRTUALLY_FRAME" val="{&quot;height&quot;:279,&quot;left&quot;:36.8,&quot;top&quot;:97.2,&quot;width&quot;:625.6}"/>
</p:tagLst>
</file>

<file path=ppt/tags/tag47_tf1.xml><?xml version="1.0" encoding="utf-8"?>
<p:tagLst xmlns:p="http://schemas.openxmlformats.org/presentationml/2006/main">
  <p:tag name="KSO_WM_DIAGRAM_VIRTUALLY_FRAME" val="{&quot;height&quot;:279,&quot;left&quot;:36.8,&quot;top&quot;:97.2,&quot;width&quot;:625.6}"/>
</p:tagLst>
</file>

<file path=ppt/tags/tag48_tf1.xml><?xml version="1.0" encoding="utf-8"?>
<p:tagLst xmlns:p="http://schemas.openxmlformats.org/presentationml/2006/main">
  <p:tag name="KSO_WM_DIAGRAM_VIRTUALLY_FRAME" val="{&quot;height&quot;:279,&quot;left&quot;:36.8,&quot;top&quot;:97.2,&quot;width&quot;:625.6}"/>
</p:tagLst>
</file>

<file path=ppt/tags/tag49_tf1.xml><?xml version="1.0" encoding="utf-8"?>
<p:tagLst xmlns:p="http://schemas.openxmlformats.org/presentationml/2006/main">
  <p:tag name="KSO_WM_DIAGRAM_VIRTUALLY_FRAME" val="{&quot;height&quot;:279,&quot;left&quot;:36.8,&quot;top&quot;:97.2,&quot;width&quot;:625.6}"/>
</p:tagLst>
</file>

<file path=ppt/tags/tag50_tf1.xml><?xml version="1.0" encoding="utf-8"?>
<p:tagLst xmlns:p="http://schemas.openxmlformats.org/presentationml/2006/main">
  <p:tag name="KSO_WM_DIAGRAM_VIRTUALLY_FRAME" val="{&quot;height&quot;:279,&quot;left&quot;:36.8,&quot;top&quot;:97.2,&quot;width&quot;:625.6}"/>
</p:tagLst>
</file>

<file path=ppt/tags/tag51_tf1.xml><?xml version="1.0" encoding="utf-8"?>
<p:tagLst xmlns:p="http://schemas.openxmlformats.org/presentationml/2006/main">
  <p:tag name="KSO_WM_DIAGRAM_VIRTUALLY_FRAME" val="{&quot;height&quot;:279,&quot;left&quot;:36.8,&quot;top&quot;:97.2,&quot;width&quot;:625.6}"/>
</p:tagLst>
</file>

<file path=ppt/tags/tag52_tf1.xml><?xml version="1.0" encoding="utf-8"?>
<p:tagLst xmlns:p="http://schemas.openxmlformats.org/presentationml/2006/main">
  <p:tag name="KSO_WM_DIAGRAM_VIRTUALLY_FRAME" val="{&quot;height&quot;:279,&quot;left&quot;:36.8,&quot;top&quot;:97.2,&quot;width&quot;:625.6}"/>
</p:tagLst>
</file>

<file path=ppt/tags/tag53_tf1.xml><?xml version="1.0" encoding="utf-8"?>
<p:tagLst xmlns:p="http://schemas.openxmlformats.org/presentationml/2006/main">
  <p:tag name="KSO_WM_DIAGRAM_VIRTUALLY_FRAME" val="{&quot;height&quot;:279,&quot;left&quot;:36.8,&quot;top&quot;:97.2,&quot;width&quot;:625.6}"/>
</p:tagLst>
</file>

<file path=ppt/tags/tag54_tf1.xml><?xml version="1.0" encoding="utf-8"?>
<p:tagLst xmlns:p="http://schemas.openxmlformats.org/presentationml/2006/main">
  <p:tag name="KSO_WM_DIAGRAM_VIRTUALLY_FRAME" val="{&quot;height&quot;:279,&quot;left&quot;:36.8,&quot;top&quot;:97.2,&quot;width&quot;:625.6}"/>
</p:tagLst>
</file>

<file path=ppt/tags/tag55_tf1.xml><?xml version="1.0" encoding="utf-8"?>
<p:tagLst xmlns:p="http://schemas.openxmlformats.org/presentationml/2006/main">
  <p:tag name="KSO_WM_DIAGRAM_VIRTUALLY_FRAME" val="{&quot;height&quot;:279,&quot;left&quot;:36.8,&quot;top&quot;:97.2,&quot;width&quot;:625.6}"/>
</p:tagLst>
</file>

<file path=ppt/tags/tag56_tf1.xml><?xml version="1.0" encoding="utf-8"?>
<p:tagLst xmlns:p="http://schemas.openxmlformats.org/presentationml/2006/main">
  <p:tag name="KSO_WM_DIAGRAM_VIRTUALLY_FRAME" val="{&quot;height&quot;:279,&quot;left&quot;:36.8,&quot;top&quot;:97.2,&quot;width&quot;:625.6}"/>
</p:tagLst>
</file>

<file path=ppt/tags/tag57_tf1.xml><?xml version="1.0" encoding="utf-8"?>
<p:tagLst xmlns:p="http://schemas.openxmlformats.org/presentationml/2006/main">
  <p:tag name="KSO_WM_DIAGRAM_VIRTUALLY_FRAME" val="{&quot;height&quot;:279,&quot;left&quot;:36.8,&quot;top&quot;:97.2,&quot;width&quot;:625.6}"/>
</p:tagLst>
</file>

<file path=ppt/tags/tag58_tf1.xml><?xml version="1.0" encoding="utf-8"?>
<p:tagLst xmlns:p="http://schemas.openxmlformats.org/presentationml/2006/main">
  <p:tag name="KSO_WM_DIAGRAM_VIRTUALLY_FRAME" val="{&quot;height&quot;:279,&quot;left&quot;:36.8,&quot;top&quot;:97.2,&quot;width&quot;:625.6}"/>
</p:tagLst>
</file>

<file path=ppt/tags/tag59_tf1.xml><?xml version="1.0" encoding="utf-8"?>
<p:tagLst xmlns:p="http://schemas.openxmlformats.org/presentationml/2006/main">
  <p:tag name="KSO_WM_DIAGRAM_VIRTUALLY_FRAME" val="{&quot;height&quot;:279,&quot;left&quot;:36.8,&quot;top&quot;:97.2,&quot;width&quot;:625.6}"/>
</p:tagLst>
</file>

<file path=ppt/tags/tag60_tf1.xml><?xml version="1.0" encoding="utf-8"?>
<p:tagLst xmlns:p="http://schemas.openxmlformats.org/presentationml/2006/main">
  <p:tag name="KSO_WM_DIAGRAM_VIRTUALLY_FRAME" val="{&quot;height&quot;:279,&quot;left&quot;:36.8,&quot;top&quot;:97.2,&quot;width&quot;:625.6}"/>
</p:tagLst>
</file>

<file path=ppt/tags/tag61_tf1.xml><?xml version="1.0" encoding="utf-8"?>
<p:tagLst xmlns:p="http://schemas.openxmlformats.org/presentationml/2006/main">
  <p:tag name="KSO_WM_DIAGRAM_VIRTUALLY_FRAME" val="{&quot;height&quot;:279,&quot;left&quot;:36.8,&quot;top&quot;:97.2,&quot;width&quot;:625.6}"/>
</p:tagLst>
</file>

<file path=ppt/tags/tag62_tf1.xml><?xml version="1.0" encoding="utf-8"?>
<p:tagLst xmlns:p="http://schemas.openxmlformats.org/presentationml/2006/main">
  <p:tag name="KSO_WM_DIAGRAM_VIRTUALLY_FRAME" val="{&quot;height&quot;:279,&quot;left&quot;:36.8,&quot;top&quot;:97.2,&quot;width&quot;:625.6}"/>
</p:tagLst>
</file>

<file path=ppt/tags/tag63_tf1.xml><?xml version="1.0" encoding="utf-8"?>
<p:tagLst xmlns:p="http://schemas.openxmlformats.org/presentationml/2006/main">
  <p:tag name="KSO_WM_DIAGRAM_VIRTUALLY_FRAME" val="{&quot;height&quot;:245.51,&quot;left&quot;:54,&quot;top&quot;:90,&quot;width&quot;:583.2}"/>
</p:tagLst>
</file>

<file path=ppt/tags/tag64_tf1.xml><?xml version="1.0" encoding="utf-8"?>
<p:tagLst xmlns:p="http://schemas.openxmlformats.org/presentationml/2006/main">
  <p:tag name="KSO_WM_DIAGRAM_VIRTUALLY_FRAME" val="{&quot;height&quot;:245.51,&quot;left&quot;:54,&quot;top&quot;:90,&quot;width&quot;:583.2}"/>
</p:tagLst>
</file>

<file path=ppt/tags/tag65_tf1.xml><?xml version="1.0" encoding="utf-8"?>
<p:tagLst xmlns:p="http://schemas.openxmlformats.org/presentationml/2006/main">
  <p:tag name="KSO_WM_DIAGRAM_VIRTUALLY_FRAME" val="{&quot;height&quot;:245.51,&quot;left&quot;:54,&quot;top&quot;:90,&quot;width&quot;:583.2}"/>
</p:tagLst>
</file>

<file path=ppt/tags/tag66_tf1.xml><?xml version="1.0" encoding="utf-8"?>
<p:tagLst xmlns:p="http://schemas.openxmlformats.org/presentationml/2006/main">
  <p:tag name="KSO_WM_DIAGRAM_VIRTUALLY_FRAME" val="{&quot;height&quot;:245.51,&quot;left&quot;:54,&quot;top&quot;:90,&quot;width&quot;:583.2}"/>
</p:tagLst>
</file>

<file path=ppt/tags/tag67_tf1.xml><?xml version="1.0" encoding="utf-8"?>
<p:tagLst xmlns:p="http://schemas.openxmlformats.org/presentationml/2006/main">
  <p:tag name="KSO_WM_DIAGRAM_VIRTUALLY_FRAME" val="{&quot;height&quot;:245.51,&quot;left&quot;:54,&quot;top&quot;:90,&quot;width&quot;:583.2}"/>
</p:tagLst>
</file>

<file path=ppt/tags/tag68_tf1.xml><?xml version="1.0" encoding="utf-8"?>
<p:tagLst xmlns:p="http://schemas.openxmlformats.org/presentationml/2006/main">
  <p:tag name="KSO_WM_DIAGRAM_VIRTUALLY_FRAME" val="{&quot;height&quot;:245.51,&quot;left&quot;:54,&quot;top&quot;:90,&quot;width&quot;:583.2}"/>
</p:tagLst>
</file>

<file path=ppt/tags/tag69_tf1.xml><?xml version="1.0" encoding="utf-8"?>
<p:tagLst xmlns:p="http://schemas.openxmlformats.org/presentationml/2006/main">
  <p:tag name="KSO_WM_DIAGRAM_VIRTUALLY_FRAME" val="{&quot;height&quot;:245.51,&quot;left&quot;:54,&quot;top&quot;:90,&quot;width&quot;:583.2}"/>
</p:tagLst>
</file>

<file path=ppt/tags/tag70_tf1.xml><?xml version="1.0" encoding="utf-8"?>
<p:tagLst xmlns:p="http://schemas.openxmlformats.org/presentationml/2006/main">
  <p:tag name="KSO_WM_DIAGRAM_VIRTUALLY_FRAME" val="{&quot;height&quot;:245.51,&quot;left&quot;:54,&quot;top&quot;:90,&quot;width&quot;:583.2}"/>
</p:tagLst>
</file>

<file path=ppt/tags/tag71_tf1.xml><?xml version="1.0" encoding="utf-8"?>
<p:tagLst xmlns:p="http://schemas.openxmlformats.org/presentationml/2006/main">
  <p:tag name="KSO_WM_DIAGRAM_VIRTUALLY_FRAME" val="{&quot;height&quot;:245.51,&quot;left&quot;:54,&quot;top&quot;:90,&quot;width&quot;:583.2}"/>
</p:tagLst>
</file>

<file path=ppt/tags/tag72_tf1.xml><?xml version="1.0" encoding="utf-8"?>
<p:tagLst xmlns:p="http://schemas.openxmlformats.org/presentationml/2006/main">
  <p:tag name="KSO_WM_DIAGRAM_VIRTUALLY_FRAME" val="{&quot;height&quot;:245.51,&quot;left&quot;:54,&quot;top&quot;:90,&quot;width&quot;:583.2}"/>
</p:tagLst>
</file>

<file path=ppt/tags/tag73_tf1.xml><?xml version="1.0" encoding="utf-8"?>
<p:tagLst xmlns:p="http://schemas.openxmlformats.org/presentationml/2006/main">
  <p:tag name="KSO_WM_DIAGRAM_VIRTUALLY_FRAME" val="{&quot;height&quot;:245.51,&quot;left&quot;:54,&quot;top&quot;:90,&quot;width&quot;:583.2}"/>
</p:tagLst>
</file>

<file path=ppt/tags/tag74_tf1.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8931</Words>
  <Application>WPS 演示</Application>
  <PresentationFormat>全屏显示(4:3)</PresentationFormat>
  <Paragraphs>723</Paragraphs>
  <Slides>25</Slides>
  <Notes>39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方正楷体_GB2312</vt:lpstr>
      <vt:lpstr>Good Times</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1578</cp:revision>
  <dcterms:created xsi:type="dcterms:W3CDTF">2026-07-03T01:19:00Z</dcterms:created>
  <dcterms:modified xsi:type="dcterms:W3CDTF">2026-07-03T01:44:24Z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