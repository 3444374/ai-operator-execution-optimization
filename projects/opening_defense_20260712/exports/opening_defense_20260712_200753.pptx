
<file path=[Content_Types].xml><?xml version="1.0" encoding="utf-8"?>
<ns0:Types xmlns:ns0="http://schemas.openxmlformats.org/package/2006/content-types">
  <ns0:Default Extension="jpeg" ContentType="image/jpeg"/>
  <ns0:Default Extension="JPG" ContentType="image/.jp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docProps/custom.xml" ContentType="application/vnd.openxmlformats-officedocument.custom-properties+xml"/>
  <ns0:Override PartName="/ppt/handoutMasters/handoutMaster1.xml" ContentType="application/vnd.openxmlformats-officedocument.presentationml.handoutMaster+xml"/>
  <ns0:Override PartName="/ppt/notesMasters/notesMaster1.xml" ContentType="application/vnd.openxmlformats-officedocument.presentationml.notesMaster+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Masters/slideMaster1.xml" ContentType="application/vnd.openxmlformats-officedocument.presentationml.slideMaster+xml"/>
  <ns0:Override PartName="/ppt/tableStyles.xml" ContentType="application/vnd.openxmlformats-officedocument.presentationml.tableStyles+xml"/>
  <ns0:Override PartName="/ppt/theme/theme1.xml" ContentType="application/vnd.openxmlformats-officedocument.theme+xml"/>
  <ns0:Override PartName="/ppt/theme/theme2.xml" ContentType="application/vnd.openxmlformats-officedocument.theme+xml"/>
  <ns0:Override PartName="/ppt/theme/theme3.xml" ContentType="application/vnd.openxmlformats-officedocument.theme+xml"/>
  <ns0:Override PartName="/ppt/viewProps.xml" ContentType="application/vnd.openxmlformats-officedocument.presentationml.viewProps+xml"/>
  <ns0:Override PartName="/ppt/slides/slide26.xml" ContentType="application/vnd.openxmlformats-officedocument.presentationml.slide+xml"/>
  <ns0:Override PartName="/ppt/notesSlides/notesSlide26.xml" ContentType="application/vnd.openxmlformats-officedocument.presentationml.notesSlide+xml"/>
  <ns0:Override PartName="/ppt/tags/tag9_tf1.xml" ContentType="application/vnd.openxmlformats-officedocument.presentationml.tags+xml"/>
  <ns0:Override PartName="/ppt/tags/tag8_tf1.xml" ContentType="application/vnd.openxmlformats-officedocument.presentationml.tags+xml"/>
  <ns0:Override PartName="/ppt/tags/tag7_tf1.xml" ContentType="application/vnd.openxmlformats-officedocument.presentationml.tags+xml"/>
  <ns0:Override PartName="/ppt/tags/tag6_tf1.xml" ContentType="application/vnd.openxmlformats-officedocument.presentationml.tags+xml"/>
  <ns0:Override PartName="/ppt/tags/tag5_tf1.xml" ContentType="application/vnd.openxmlformats-officedocument.presentationml.tags+xml"/>
  <ns0:Override PartName="/ppt/tags/tag4_tf1.xml" ContentType="application/vnd.openxmlformats-officedocument.presentationml.tags+xml"/>
  <ns0:Override PartName="/ppt/tags/tag3_tf1.xml" ContentType="application/vnd.openxmlformats-officedocument.presentationml.tags+xml"/>
  <ns0:Override PartName="/ppt/tags/tag24_tf1.xml" ContentType="application/vnd.openxmlformats-officedocument.presentationml.tags+xml"/>
  <ns0:Override PartName="/ppt/tags/tag23_tf1.xml" ContentType="application/vnd.openxmlformats-officedocument.presentationml.tags+xml"/>
  <ns0:Override PartName="/ppt/tags/tag22_tf1.xml" ContentType="application/vnd.openxmlformats-officedocument.presentationml.tags+xml"/>
  <ns0:Override PartName="/ppt/tags/tag21_tf1.xml" ContentType="application/vnd.openxmlformats-officedocument.presentationml.tags+xml"/>
  <ns0:Override PartName="/ppt/tags/tag20_tf1.xml" ContentType="application/vnd.openxmlformats-officedocument.presentationml.tags+xml"/>
  <ns0:Override PartName="/ppt/tags/tag2_tf1.xml" ContentType="application/vnd.openxmlformats-officedocument.presentationml.tags+xml"/>
  <ns0:Override PartName="/ppt/tags/tag19_tf1.xml" ContentType="application/vnd.openxmlformats-officedocument.presentationml.tags+xml"/>
  <ns0:Override PartName="/ppt/tags/tag18_tf1.xml" ContentType="application/vnd.openxmlformats-officedocument.presentationml.tags+xml"/>
  <ns0:Override PartName="/ppt/tags/tag17_tf1.xml" ContentType="application/vnd.openxmlformats-officedocument.presentationml.tags+xml"/>
  <ns0:Override PartName="/ppt/tags/tag16_tf1.xml" ContentType="application/vnd.openxmlformats-officedocument.presentationml.tags+xml"/>
  <ns0:Override PartName="/ppt/tags/tag15_tf1.xml" ContentType="application/vnd.openxmlformats-officedocument.presentationml.tags+xml"/>
  <ns0:Override PartName="/ppt/tags/tag14_tf1.xml" ContentType="application/vnd.openxmlformats-officedocument.presentationml.tags+xml"/>
  <ns0:Override PartName="/ppt/tags/tag13_tf1.xml" ContentType="application/vnd.openxmlformats-officedocument.presentationml.tags+xml"/>
  <ns0:Override PartName="/ppt/tags/tag12_tf1.xml" ContentType="application/vnd.openxmlformats-officedocument.presentationml.tags+xml"/>
  <ns0:Override PartName="/ppt/tags/tag11_tf1.xml" ContentType="application/vnd.openxmlformats-officedocument.presentationml.tags+xml"/>
  <ns0:Override PartName="/ppt/tags/tag10_tf1.xml" ContentType="application/vnd.openxmlformats-officedocument.presentationml.tags+xml"/>
  <ns0:Override PartName="/ppt/tags/tag1_tf1.xml" ContentType="application/vnd.openxmlformats-officedocument.presentationml.tags+xml"/>
  <ns0:Override PartName="/ppt/slides/slide27.xml" ContentType="application/vnd.openxmlformats-officedocument.presentationml.slide+xml"/>
  <ns0:Override PartName="/ppt/notesSlides/notesSlide27.xml" ContentType="application/vnd.openxmlformats-officedocument.presentationml.notesSlide+xml"/>
  <ns0:Override PartName="/ppt/slides/slide28.xml" ContentType="application/vnd.openxmlformats-officedocument.presentationml.slide+xml"/>
  <ns0:Override PartName="/ppt/notesSlides/notesSlide28.xml" ContentType="application/vnd.openxmlformats-officedocument.presentationml.notesSlide+xml"/>
  <ns0:Override PartName="/ppt/slides/slide29.xml" ContentType="application/vnd.openxmlformats-officedocument.presentationml.slide+xml"/>
  <ns0:Override PartName="/ppt/notesSlides/notesSlide29.xml" ContentType="application/vnd.openxmlformats-officedocument.presentationml.notesSlide+xml"/>
  <ns0:Override PartName="/ppt/slides/slide30.xml" ContentType="application/vnd.openxmlformats-officedocument.presentationml.slide+xml"/>
  <ns0:Override PartName="/ppt/notesSlides/notesSlide30.xml" ContentType="application/vnd.openxmlformats-officedocument.presentationml.notesSlide+xml"/>
  <ns0:Override PartName="/ppt/slides/slide31.xml" ContentType="application/vnd.openxmlformats-officedocument.presentationml.slide+xml"/>
  <ns0:Override PartName="/ppt/notesSlides/notesSlide31.xml" ContentType="application/vnd.openxmlformats-officedocument.presentationml.notesSlide+xml"/>
  <ns0:Override PartName="/ppt/slides/slide32.xml" ContentType="application/vnd.openxmlformats-officedocument.presentationml.slide+xml"/>
  <ns0:Override PartName="/ppt/notesSlides/notesSlide32.xml" ContentType="application/vnd.openxmlformats-officedocument.presentationml.notesSlide+xml"/>
  <ns0:Override PartName="/ppt/slides/slide33.xml" ContentType="application/vnd.openxmlformats-officedocument.presentationml.slide+xml"/>
  <ns0:Override PartName="/ppt/notesSlides/notesSlide33.xml" ContentType="application/vnd.openxmlformats-officedocument.presentationml.notesSlide+xml"/>
  <ns0:Override PartName="/ppt/slides/slide34.xml" ContentType="application/vnd.openxmlformats-officedocument.presentationml.slide+xml"/>
  <ns0:Override PartName="/ppt/notesSlides/notesSlide34.xml" ContentType="application/vnd.openxmlformats-officedocument.presentationml.notesSlide+xml"/>
  <ns0:Override PartName="/ppt/slides/slide35.xml" ContentType="application/vnd.openxmlformats-officedocument.presentationml.slide+xml"/>
  <ns0:Override PartName="/ppt/notesSlides/notesSlide35.xml" ContentType="application/vnd.openxmlformats-officedocument.presentationml.notesSlide+xml"/>
  <ns0:Override PartName="/ppt/slides/slide36.xml" ContentType="application/vnd.openxmlformats-officedocument.presentationml.slide+xml"/>
  <ns0:Override PartName="/ppt/notesSlides/notesSlide36.xml" ContentType="application/vnd.openxmlformats-officedocument.presentationml.notesSlide+xml"/>
  <ns0:Override PartName="/ppt/tags/tag53_tf1.xml" ContentType="application/vnd.openxmlformats-officedocument.presentationml.tags+xml"/>
  <ns0:Override PartName="/ppt/tags/tag52_tf1.xml" ContentType="application/vnd.openxmlformats-officedocument.presentationml.tags+xml"/>
  <ns0:Override PartName="/ppt/tags/tag51_tf1.xml" ContentType="application/vnd.openxmlformats-officedocument.presentationml.tags+xml"/>
  <ns0:Override PartName="/ppt/tags/tag50_tf1.xml" ContentType="application/vnd.openxmlformats-officedocument.presentationml.tags+xml"/>
  <ns0:Override PartName="/ppt/tags/tag49_tf1.xml" ContentType="application/vnd.openxmlformats-officedocument.presentationml.tags+xml"/>
  <ns0:Override PartName="/ppt/tags/tag48_tf1.xml" ContentType="application/vnd.openxmlformats-officedocument.presentationml.tags+xml"/>
  <ns0:Override PartName="/ppt/tags/tag47_tf1.xml" ContentType="application/vnd.openxmlformats-officedocument.presentationml.tags+xml"/>
  <ns0:Override PartName="/ppt/tags/tag46_tf1.xml" ContentType="application/vnd.openxmlformats-officedocument.presentationml.tags+xml"/>
  <ns0:Override PartName="/ppt/tags/tag62_tf1.xml" ContentType="application/vnd.openxmlformats-officedocument.presentationml.tags+xml"/>
  <ns0:Override PartName="/ppt/tags/tag61_tf1.xml" ContentType="application/vnd.openxmlformats-officedocument.presentationml.tags+xml"/>
  <ns0:Override PartName="/ppt/tags/tag60_tf1.xml" ContentType="application/vnd.openxmlformats-officedocument.presentationml.tags+xml"/>
  <ns0:Override PartName="/ppt/tags/tag59_tf1.xml" ContentType="application/vnd.openxmlformats-officedocument.presentationml.tags+xml"/>
  <ns0:Override PartName="/ppt/tags/tag58_tf1.xml" ContentType="application/vnd.openxmlformats-officedocument.presentationml.tags+xml"/>
  <ns0:Override PartName="/ppt/tags/tag57_tf1.xml" ContentType="application/vnd.openxmlformats-officedocument.presentationml.tags+xml"/>
  <ns0:Override PartName="/ppt/tags/tag56_tf1.xml" ContentType="application/vnd.openxmlformats-officedocument.presentationml.tags+xml"/>
  <ns0:Override PartName="/ppt/tags/tag55_tf1.xml" ContentType="application/vnd.openxmlformats-officedocument.presentationml.tags+xml"/>
  <ns0:Override PartName="/ppt/tags/tag54_tf1.xml" ContentType="application/vnd.openxmlformats-officedocument.presentationml.tags+xml"/>
  <ns0:Override PartName="/ppt/tags/tag45_tf1.xml" ContentType="application/vnd.openxmlformats-officedocument.presentationml.tags+xml"/>
  <ns0:Override PartName="/ppt/slides/slide37.xml" ContentType="application/vnd.openxmlformats-officedocument.presentationml.slide+xml"/>
  <ns0:Override PartName="/ppt/notesSlides/notesSlide37.xml" ContentType="application/vnd.openxmlformats-officedocument.presentationml.notesSlide+xml"/>
  <ns0:Override PartName="/ppt/slides/slide38.xml" ContentType="application/vnd.openxmlformats-officedocument.presentationml.slide+xml"/>
  <ns0:Override PartName="/ppt/notesSlides/notesSlide38.xml" ContentType="application/vnd.openxmlformats-officedocument.presentationml.notesSlide+xml"/>
  <ns0:Override PartName="/ppt/slides/slide39.xml" ContentType="application/vnd.openxmlformats-officedocument.presentationml.slide+xml"/>
  <ns0:Override PartName="/ppt/notesSlides/notesSlide39.xml" ContentType="application/vnd.openxmlformats-officedocument.presentationml.notesSlide+xml"/>
  <ns0:Override PartName="/ppt/tags/tag71_tf1.xml" ContentType="application/vnd.openxmlformats-officedocument.presentationml.tags+xml"/>
  <ns0:Override PartName="/ppt/tags/tag70_tf1.xml" ContentType="application/vnd.openxmlformats-officedocument.presentationml.tags+xml"/>
  <ns0:Override PartName="/ppt/tags/tag69_tf1.xml" ContentType="application/vnd.openxmlformats-officedocument.presentationml.tags+xml"/>
  <ns0:Override PartName="/ppt/tags/tag68_tf1.xml" ContentType="application/vnd.openxmlformats-officedocument.presentationml.tags+xml"/>
  <ns0:Override PartName="/ppt/tags/tag67_tf1.xml" ContentType="application/vnd.openxmlformats-officedocument.presentationml.tags+xml"/>
  <ns0:Override PartName="/ppt/tags/tag66_tf1.xml" ContentType="application/vnd.openxmlformats-officedocument.presentationml.tags+xml"/>
  <ns0:Override PartName="/ppt/tags/tag65_tf1.xml" ContentType="application/vnd.openxmlformats-officedocument.presentationml.tags+xml"/>
  <ns0:Override PartName="/ppt/tags/tag64_tf1.xml" ContentType="application/vnd.openxmlformats-officedocument.presentationml.tags+xml"/>
  <ns0:Override PartName="/ppt/tags/tag74_tf1.xml" ContentType="application/vnd.openxmlformats-officedocument.presentationml.tags+xml"/>
  <ns0:Override PartName="/ppt/tags/tag73_tf1.xml" ContentType="application/vnd.openxmlformats-officedocument.presentationml.tags+xml"/>
  <ns0:Override PartName="/ppt/tags/tag72_tf1.xml" ContentType="application/vnd.openxmlformats-officedocument.presentationml.tags+xml"/>
  <ns0:Override PartName="/ppt/tags/tag63_tf1.xml" ContentType="application/vnd.openxmlformats-officedocument.presentationml.tags+xml"/>
  <ns0:Override PartName="/ppt/slides/slide40.xml" ContentType="application/vnd.openxmlformats-officedocument.presentationml.slide+xml"/>
  <ns0:Override PartName="/ppt/notesSlides/notesSlide40.xml" ContentType="application/vnd.openxmlformats-officedocument.presentationml.notesSlide+xml"/>
  <ns0:Override PartName="/ppt/slides/slide41.xml" ContentType="application/vnd.openxmlformats-officedocument.presentationml.slide+xml"/>
  <ns0:Override PartName="/ppt/notesSlides/notesSlide41.xml" ContentType="application/vnd.openxmlformats-officedocument.presentationml.notesSlide+xml"/>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showSpecialPlsOnTitleSld="0">
  <p:sldMasterIdLst>
    <p:sldMasterId id="2147483648" r:id="rId1"/>
  </p:sldMasterIdLst>
  <p:notesMasterIdLst>
    <p:notesMasterId r:id="rId4"/>
  </p:notesMasterIdLst>
  <p:handoutMasterIdLst>
    <p:handoutMasterId r:id="rId29"/>
  </p:handout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 id="268" r:id="rId45"/>
    <p:sldId id="269" r:id="rId46"/>
    <p:sldId id="270" r:id="rId47"/>
    <p:sldId id="271" r:id="rId48"/>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9pPr>
  </p:defaultTextStyle>
  <p:extLst>
    <p:ext uri="{EFAFB233-063F-42B5-8137-9DF3F51BA10A}">
      <ns3:sldGuideLst>
        <ns3:guide id="1" orient="horz" pos="2129" userDrawn="1">
          <ns3:clr>
            <a:srgbClr val="A4A3A4"/>
          </ns3:clr>
        </ns3:guide>
        <ns3:guide id="2" pos="2906" userDrawn="1">
          <ns3:clr>
            <a:srgbClr val="A4A3A4"/>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9"/>
        <p:guide pos="290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Relationships xmlns="http://schemas.openxmlformats.org/package/2006/relationships"><Relationship Id="rId4" Type="http://schemas.openxmlformats.org/officeDocument/2006/relationships/notesMaster" Target="notesMasters/notesMaster1.xml" /><Relationship Id="rId32" Type="http://schemas.openxmlformats.org/officeDocument/2006/relationships/tableStyles" Target="tableStyles.xml" /><Relationship Id="rId31" Type="http://schemas.openxmlformats.org/officeDocument/2006/relationships/viewProps" Target="viewProps.xml" /><Relationship Id="rId30" Type="http://schemas.openxmlformats.org/officeDocument/2006/relationships/presProps" Target="presProps.xml" /><Relationship Id="rId29" Type="http://schemas.openxmlformats.org/officeDocument/2006/relationships/handoutMaster" Target="handoutMasters/handoutMaster1.xml" /><Relationship Id="rId2" Type="http://schemas.openxmlformats.org/officeDocument/2006/relationships/theme" Target="theme/theme1.xml" /><Relationship Id="rId1" Type="http://schemas.openxmlformats.org/officeDocument/2006/relationships/slideMaster" Target="slideMasters/slideMaster1.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40" Type="http://schemas.openxmlformats.org/officeDocument/2006/relationships/slide" Target="slides/slide33.xml" /><Relationship Id="rId41" Type="http://schemas.openxmlformats.org/officeDocument/2006/relationships/slide" Target="slides/slide34.xml" /><Relationship Id="rId42" Type="http://schemas.openxmlformats.org/officeDocument/2006/relationships/slide" Target="slides/slide35.xml" /><Relationship Id="rId43" Type="http://schemas.openxmlformats.org/officeDocument/2006/relationships/slide" Target="slides/slide36.xml" /><Relationship Id="rId44" Type="http://schemas.openxmlformats.org/officeDocument/2006/relationships/slide" Target="slides/slide37.xml" /><Relationship Id="rId45" Type="http://schemas.openxmlformats.org/officeDocument/2006/relationships/slide" Target="slides/slide38.xml" /><Relationship Id="rId46" Type="http://schemas.openxmlformats.org/officeDocument/2006/relationships/slide" Target="slides/slide39.xml" /><Relationship Id="rId47" Type="http://schemas.openxmlformats.org/officeDocument/2006/relationships/slide" Target="slides/slide40.xml" /><Relationship Id="rId48" Type="http://schemas.openxmlformats.org/officeDocument/2006/relationships/slide" Target="slides/slide4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汇报讲稿：本次开题关注数据库 AI 算子触发后的批处理执行过程，重点不是单个模型 kernel，也不是改造完整 Ray，而是数据库数据进入外部 worker、模型服务和写回阶段后的端到端系统问题。</a:t>
            </a:r>
          </a:p>
          <a:p>
            <a:endParaRPr lang="en-US" dirty="0"/>
          </a:p>
          <a:p>
            <a:r>
              <a:rPr lang="zh-CN" dirty="0"/>
              <a:t>答辩备注：如果被问题目是否过大，强调固定在 PostgreSQL、Arrow batch、Python/Ray task/actor、GPU-backed endpoint 和 writeback 这条可控链路上。</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汇报讲稿：汇报按问题驱动展开：先说明数据库 AI 算子为什么带来新的执行问题，再说明研究边界、研究内容、已有实验依据和后续计划。</a:t>
            </a:r>
          </a:p>
          <a:p>
            <a:endParaRPr lang="en-US" dirty="0"/>
          </a:p>
          <a:p>
            <a:r>
              <a:rPr lang="zh-CN" dirty="0"/>
              <a:t>答辩备注：目录页不要讲过细，重点让老师看到不是工程任务清单，而是问题、方法、评价和边界的闭环。</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汇报讲稿：这一页先把研究对象收紧成一条可测链路：PostgreSQL 读数据，构造 Arrow 和 batch，交给 Python 或 Ray 执行，调用 GPU-backed 模型服务，最后汇聚并写回。</a:t>
            </a:r>
          </a:p>
          <a:p>
            <a:endParaRPr lang="en-US" dirty="0"/>
          </a:p>
          <a:p>
            <a:r>
              <a:rPr lang="zh-CN" dirty="0"/>
              <a:t>答辩备注：不要说成研究外部链路这个口语词，正式说法是数据库 AI 算子的批处理执行、模型服务调用和写回协同。</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汇报讲稿：现有系统提供了场景依据和机制依据，但很多托管 AI SQL 系统内部不可见，不能直接拿来做阶段画像。PostgreSQL 生态和 Ray/Daft/Lance 说明这条路线有落地对象，但本课题不等于做某个产品集成。</a:t>
            </a:r>
          </a:p>
          <a:p>
            <a:endParaRPr lang="en-US" dirty="0"/>
          </a:p>
          <a:p>
            <a:r>
              <a:rPr lang="zh-CN" dirty="0"/>
              <a:t>答辩备注：如果老师问相关工作是否充分，后续还会补 CCF-A 系统论文和官方文档引用；当前 PPT 先讲研究空缺。</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汇报讲稿：总体框架是三类数据库 AI 算子共享同一条可观测执行过程，再围绕模型服务感知调度、写回协同和多类算子策略边界展开。这样研究内容不是任务清单，而是围绕可检验问题组织。</a:t>
            </a:r>
          </a:p>
          <a:p>
            <a:endParaRPr lang="en-US" dirty="0"/>
          </a:p>
          <a:p>
            <a:r>
              <a:rPr lang="zh-CN" dirty="0"/>
              <a:t>答辩备注：图中如果现场需要解释，强调 AI_EMBED 只是第一条真实闭环，后续会扩展到 AI predicate 和 AI_COMPLETE。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汇报讲稿：研究内容分成三个可合并的大方向：模型服务感知调度、写回协同、多类算子策略边界。每个方向都回答为什么难、怎么做、怎么评价。</a:t>
            </a:r>
          </a:p>
          <a:p>
            <a:endParaRPr lang="en-US" dirty="0"/>
          </a:p>
          <a:p>
            <a:r>
              <a:rPr lang="zh-CN" dirty="0"/>
              <a:t>答辩备注：如果被问为什么没有把阶段画像作为研究内容，回答阶段画像是动机测试和评价基础，不是最终研究贡献本身。</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汇报讲稿：下面进入实验依据。这里要主动说明实验不是证明课题已经完成，而是证明问题真实、链路可测、后续优化点可展开。</a:t>
            </a:r>
          </a:p>
          <a:p>
            <a:endParaRPr lang="en-US" dirty="0"/>
          </a:p>
          <a:p>
            <a:r>
              <a:rPr lang="zh-CN" dirty="0"/>
              <a:t>答辩备注：强调真实 GPU-backed 证据优先于 fake/CPU 预研，fake/CPU 只解释变量来源。</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汇报讲稿：当前最重要的是已经有一条真实 GPU-backed AI_EMBED 闭环：本地 PostgreSQL 18.4、Arrow/batch、Python/Ray、CUDA endpoint、fan-in、writeback。它用于开题阶段动机和方法验证，不代表 PostgreSQL 18.3 内部平台最终性能。</a:t>
            </a:r>
          </a:p>
          <a:p>
            <a:endParaRPr lang="en-US" dirty="0"/>
          </a:p>
          <a:p>
            <a:r>
              <a:rPr lang="zh-CN" dirty="0"/>
              <a:t>答辩备注：答辩时要主动说明当前写回是 JSON text，后续会补 384 维 pgvector 写回。</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汇报讲稿：1024 行时，fine 逐行调用发起 1024 次 endpoint 请求，coalesced 只有 4 次请求，端到端耗时从 0.888 秒变成 11.925 秒。这个结果说明调用粒度本身就是系统成本。</a:t>
            </a:r>
          </a:p>
          <a:p>
            <a:endParaRPr lang="en-US" dirty="0"/>
          </a:p>
          <a:p>
            <a:r>
              <a:rPr lang="zh-CN" dirty="0"/>
              <a:t>答辩备注：不能解释成 GPU 更快或 kernel 优化；收益来自调用粒度和外部 operator 阶段，而不是模型内部优化。</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汇报讲稿：单 endpoint 下 Python、Ray task 和 Ray actor 接近，所以不能把 Ray 作为天然加速器。双 endpoint 下 Ray 通过并发 routing 降低 operator wall time，但端到端收益仍受 writeback 限制。</a:t>
            </a:r>
          </a:p>
          <a:p>
            <a:endParaRPr lang="en-US" dirty="0"/>
          </a:p>
          <a:p>
            <a:r>
              <a:rPr lang="zh-CN" dirty="0"/>
              <a:t>答辩备注：如果被问为什么还用 Ray，回答 Ray 是后续多 endpoint、bounded in-flight、actor pool 和 worker writeback 的可控实验 substrate。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汇报讲稿：16K 行时 operator wall time 是 6.473 秒，writeback 是 6.586 秒，两个阶段都接近端到端的一半。双 endpoint 后 operator 降低到 4.628 秒，但 writeback 仍有 6.363 秒。</a:t>
            </a:r>
          </a:p>
          <a:p>
            <a:endParaRPr lang="en-US" dirty="0"/>
          </a:p>
          <a:p>
            <a:r>
              <a:rPr lang="zh-CN" dirty="0"/>
              <a:t>答辩备注：当前写回是 JSON text，不代表 pgvector(384)。因此它是写回问题的动机，不是最终写回性能结论。</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汇报讲稿：这一页把证据等级讲清楚：真实 GPU-backed 画像是当前主证据；PG18.4 连接验证只说明环境可用；fake/CPU 预研只说明变量设计依据。</a:t>
            </a:r>
          </a:p>
          <a:p>
            <a:endParaRPr lang="en-US" dirty="0"/>
          </a:p>
          <a:p>
            <a:r>
              <a:rPr lang="zh-CN" dirty="0"/>
              <a:t>答辩备注：这是回应前面担心 opening 与项目割裂的问题：开题材料必须回到 motivation/results 和项目总纲，而不是让 feasibility 目录承担大纲职责。</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汇报讲稿：评价不只看端到端耗时，还要看阶段耗时、queue wait、bounded wait、writeback、tokens/s、GPU utilization 和消融。这样后续可以判断收益来自哪里，而不是只给一个总时间。</a:t>
            </a:r>
          </a:p>
          <a:p>
            <a:endParaRPr lang="en-US" dirty="0"/>
          </a:p>
          <a:p>
            <a:r>
              <a:rPr lang="zh-CN" dirty="0"/>
              <a:t>答辩备注：如果被问实验是否够学术，强调有对照组、消融、指标和适用边界。</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汇报讲稿：后续计划按先闭环、再消融、再扩展 workload 的顺序推进。每个阶段都有可以被证伪的实验目标，避免只朝一个预设结论跑。</a:t>
            </a:r>
          </a:p>
          <a:p>
            <a:endParaRPr lang="en-US" dirty="0"/>
          </a:p>
          <a:p>
            <a:r>
              <a:rPr lang="zh-CN" dirty="0"/>
              <a:t>答辩备注：如果学校或导师节点不同，时间可以调整；当前重点是顺序和依赖关系。</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汇报讲稿：预期创新点和三个研究内容一一对应：调度方法、写回协同、策略边界。强调都是预期创新点，还需要后续实验验证。</a:t>
            </a:r>
          </a:p>
          <a:p>
            <a:endParaRPr lang="en-US" dirty="0"/>
          </a:p>
          <a:p>
            <a:r>
              <a:rPr lang="zh-CN" dirty="0"/>
              <a:t>答辩备注：不要说已经证明了系统最终性能，只说已经有初步阶段画像支撑后续研究。</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汇报讲稿：最后总结三点：场景真实、问题明确、初步证据成立；后续围绕模型服务感知调度和写回协同继续补实验。</a:t>
            </a:r>
          </a:p>
          <a:p>
            <a:endParaRPr lang="en-US" dirty="0"/>
          </a:p>
          <a:p>
            <a:r>
              <a:rPr lang="zh-CN" dirty="0"/>
              <a:t>答辩备注：答辩时优先回到阶段画像和结论边界。参考文献页只列最关键来源，完整列表在开题报告和 reading list 里维护。</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7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9" Type="http://schemas.openxmlformats.org/officeDocument/2006/relationships/tags" Target="../tags/tag9_tf1.xml" /><Relationship Id="rId8" Type="http://schemas.openxmlformats.org/officeDocument/2006/relationships/tags" Target="../tags/tag8_tf1.xml" /><Relationship Id="rId7" Type="http://schemas.openxmlformats.org/officeDocument/2006/relationships/tags" Target="../tags/tag7_tf1.xml" /><Relationship Id="rId6" Type="http://schemas.openxmlformats.org/officeDocument/2006/relationships/tags" Target="../tags/tag6_tf1.xml" /><Relationship Id="rId5" Type="http://schemas.openxmlformats.org/officeDocument/2006/relationships/tags" Target="../tags/tag5_tf1.xml" /><Relationship Id="rId4" Type="http://schemas.openxmlformats.org/officeDocument/2006/relationships/tags" Target="../tags/tag4_tf1.xml" /><Relationship Id="rId3" Type="http://schemas.openxmlformats.org/officeDocument/2006/relationships/tags" Target="../tags/tag3_tf1.xml" /><Relationship Id="rId25" Type="http://schemas.openxmlformats.org/officeDocument/2006/relationships/slideLayout" Target="../slideLayouts/slideLayout3.xml" /><Relationship Id="rId24" Type="http://schemas.openxmlformats.org/officeDocument/2006/relationships/tags" Target="../tags/tag24_tf1.xml" /><Relationship Id="rId23" Type="http://schemas.openxmlformats.org/officeDocument/2006/relationships/tags" Target="../tags/tag23_tf1.xml" /><Relationship Id="rId22" Type="http://schemas.openxmlformats.org/officeDocument/2006/relationships/tags" Target="../tags/tag22_tf1.xml" /><Relationship Id="rId21" Type="http://schemas.openxmlformats.org/officeDocument/2006/relationships/tags" Target="../tags/tag21_tf1.xml" /><Relationship Id="rId20" Type="http://schemas.openxmlformats.org/officeDocument/2006/relationships/tags" Target="../tags/tag20_tf1.xml" /><Relationship Id="rId2" Type="http://schemas.openxmlformats.org/officeDocument/2006/relationships/tags" Target="../tags/tag2_tf1.xml" /><Relationship Id="rId19" Type="http://schemas.openxmlformats.org/officeDocument/2006/relationships/tags" Target="../tags/tag19_tf1.xml" /><Relationship Id="rId18" Type="http://schemas.openxmlformats.org/officeDocument/2006/relationships/tags" Target="../tags/tag18_tf1.xml" /><Relationship Id="rId17" Type="http://schemas.openxmlformats.org/officeDocument/2006/relationships/tags" Target="../tags/tag17_tf1.xml" /><Relationship Id="rId16" Type="http://schemas.openxmlformats.org/officeDocument/2006/relationships/tags" Target="../tags/tag16_tf1.xml" /><Relationship Id="rId15" Type="http://schemas.openxmlformats.org/officeDocument/2006/relationships/tags" Target="../tags/tag15_tf1.xml" /><Relationship Id="rId14" Type="http://schemas.openxmlformats.org/officeDocument/2006/relationships/tags" Target="../tags/tag14_tf1.xml" /><Relationship Id="rId13" Type="http://schemas.openxmlformats.org/officeDocument/2006/relationships/tags" Target="../tags/tag13_tf1.xml" /><Relationship Id="rId12" Type="http://schemas.openxmlformats.org/officeDocument/2006/relationships/tags" Target="../tags/tag12_tf1.xml" /><Relationship Id="rId11" Type="http://schemas.openxmlformats.org/officeDocument/2006/relationships/tags" Target="../tags/tag11_tf1.xml" /><Relationship Id="rId10" Type="http://schemas.openxmlformats.org/officeDocument/2006/relationships/tags" Target="../tags/tag10_tf1.xml" /><Relationship Id="rId1" Type="http://schemas.openxmlformats.org/officeDocument/2006/relationships/tags" Target="../tags/tag1_tf1.xml" /><Relationship Id="rId26"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2" Type="http://schemas.openxmlformats.org/officeDocument/2006/relationships/slideLayout" Target="../slideLayouts/slideLayout3.xml" /><Relationship Id="rId1" Type="http://schemas.openxmlformats.org/officeDocument/2006/relationships/image" Target="../media/image4.png" /><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2" Type="http://schemas.openxmlformats.org/officeDocument/2006/relationships/slideLayout" Target="../slideLayouts/slideLayout3.xml" /><Relationship Id="rId1" Type="http://schemas.openxmlformats.org/officeDocument/2006/relationships/image" Target="../media/image2.png" /><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9" Type="http://schemas.openxmlformats.org/officeDocument/2006/relationships/tags" Target="../tags/tag53_tf1.xml" /><Relationship Id="rId8" Type="http://schemas.openxmlformats.org/officeDocument/2006/relationships/tags" Target="../tags/tag52_tf1.xml" /><Relationship Id="rId7" Type="http://schemas.openxmlformats.org/officeDocument/2006/relationships/tags" Target="../tags/tag51_tf1.xml" /><Relationship Id="rId6" Type="http://schemas.openxmlformats.org/officeDocument/2006/relationships/tags" Target="../tags/tag50_tf1.xml" /><Relationship Id="rId5" Type="http://schemas.openxmlformats.org/officeDocument/2006/relationships/tags" Target="../tags/tag49_tf1.xml" /><Relationship Id="rId4" Type="http://schemas.openxmlformats.org/officeDocument/2006/relationships/tags" Target="../tags/tag48_tf1.xml" /><Relationship Id="rId3" Type="http://schemas.openxmlformats.org/officeDocument/2006/relationships/tags" Target="../tags/tag47_tf1.xml" /><Relationship Id="rId2" Type="http://schemas.openxmlformats.org/officeDocument/2006/relationships/tags" Target="../tags/tag46_tf1.xml" /><Relationship Id="rId19" Type="http://schemas.openxmlformats.org/officeDocument/2006/relationships/slideLayout" Target="../slideLayouts/slideLayout3.xml" /><Relationship Id="rId18" Type="http://schemas.openxmlformats.org/officeDocument/2006/relationships/tags" Target="../tags/tag62_tf1.xml" /><Relationship Id="rId17" Type="http://schemas.openxmlformats.org/officeDocument/2006/relationships/tags" Target="../tags/tag61_tf1.xml" /><Relationship Id="rId16" Type="http://schemas.openxmlformats.org/officeDocument/2006/relationships/tags" Target="../tags/tag60_tf1.xml" /><Relationship Id="rId15" Type="http://schemas.openxmlformats.org/officeDocument/2006/relationships/tags" Target="../tags/tag59_tf1.xml" /><Relationship Id="rId14" Type="http://schemas.openxmlformats.org/officeDocument/2006/relationships/tags" Target="../tags/tag58_tf1.xml" /><Relationship Id="rId13" Type="http://schemas.openxmlformats.org/officeDocument/2006/relationships/tags" Target="../tags/tag57_tf1.xml" /><Relationship Id="rId12" Type="http://schemas.openxmlformats.org/officeDocument/2006/relationships/tags" Target="../tags/tag56_tf1.xml" /><Relationship Id="rId11" Type="http://schemas.openxmlformats.org/officeDocument/2006/relationships/tags" Target="../tags/tag55_tf1.xml" /><Relationship Id="rId10" Type="http://schemas.openxmlformats.org/officeDocument/2006/relationships/tags" Target="../tags/tag54_tf1.xml" /><Relationship Id="rId1" Type="http://schemas.openxmlformats.org/officeDocument/2006/relationships/tags" Target="../tags/tag45_tf1.xml" /><Relationship Id="rId20"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9" Type="http://schemas.openxmlformats.org/officeDocument/2006/relationships/tags" Target="../tags/tag71_tf1.xml" /><Relationship Id="rId8" Type="http://schemas.openxmlformats.org/officeDocument/2006/relationships/tags" Target="../tags/tag70_tf1.xml" /><Relationship Id="rId7" Type="http://schemas.openxmlformats.org/officeDocument/2006/relationships/tags" Target="../tags/tag69_tf1.xml" /><Relationship Id="rId6" Type="http://schemas.openxmlformats.org/officeDocument/2006/relationships/tags" Target="../tags/tag68_tf1.xml" /><Relationship Id="rId5" Type="http://schemas.openxmlformats.org/officeDocument/2006/relationships/tags" Target="../tags/tag67_tf1.xml" /><Relationship Id="rId4" Type="http://schemas.openxmlformats.org/officeDocument/2006/relationships/tags" Target="../tags/tag66_tf1.xml" /><Relationship Id="rId3" Type="http://schemas.openxmlformats.org/officeDocument/2006/relationships/tags" Target="../tags/tag65_tf1.xml" /><Relationship Id="rId2" Type="http://schemas.openxmlformats.org/officeDocument/2006/relationships/tags" Target="../tags/tag64_tf1.xml" /><Relationship Id="rId13" Type="http://schemas.openxmlformats.org/officeDocument/2006/relationships/slideLayout" Target="../slideLayouts/slideLayout3.xml" /><Relationship Id="rId12" Type="http://schemas.openxmlformats.org/officeDocument/2006/relationships/tags" Target="../tags/tag74_tf1.xml" /><Relationship Id="rId11" Type="http://schemas.openxmlformats.org/officeDocument/2006/relationships/tags" Target="../tags/tag73_tf1.xml" /><Relationship Id="rId10" Type="http://schemas.openxmlformats.org/officeDocument/2006/relationships/tags" Target="../tags/tag72_tf1.xml" /><Relationship Id="rId1" Type="http://schemas.openxmlformats.org/officeDocument/2006/relationships/tags" Target="../tags/tag63_tf1.xml" /><Relationship Id="rId14"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41.xml" /></Relationships>
</file>

<file path=ppt/slides/slide26.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Subtitle 1"/>
          <p:cNvSpPr>
            <a:spLocks noGrp="1"/>
          </p:cNvSpPr>
          <p:nvPr>
            <p:ph type="subTitle" idx="1"/>
          </p:nvPr>
        </p:nvSpPr>
        <p:spPr/>
        <p:txBody>
          <a:bodyPr wrap="square" anchor="ctr"/>
          <a:lstStyle/>
          <a:p>
            <a:pPr algn="ctr"/>
            <a:r>
              <a:rPr sz="1700" b="0">
                <a:solidFill>
                  <a:srgbClr val="1F2933"/>
                </a:solidFill>
                <a:latin typeface="微软雅黑" panose="020B0503020204020204" charset="-122"/>
              </a:rPr>
              <a:t>硕士论文开题汇报
汇报人：艾筠舜    导师：待补充    时间：2026.7</a:t>
            </a:r>
            <a:r>
              <a:rPr lang="zh-CN" sz="1700" b="0">
                <a:solidFill>
                  <a:srgbClr val="1F2933"/>
                </a:solidFill>
                <a:latin typeface="微软雅黑" panose="020B0503020204020204" charset="-122"/>
              </a:rPr>
              <a:t/>
            </a:r>
            <a:r>
              <a:rPr sz="1700" b="0">
                <a:solidFill>
                  <a:srgbClr val="1F2933"/>
                </a:solidFill>
                <a:latin typeface="微软雅黑" panose="020B0503020204020204" charset="-122"/>
              </a:rPr>
              <a:t/>
            </a:r>
            <a:r>
              <a:rPr lang="zh-CN" sz="1700" b="0">
                <a:solidFill>
                  <a:srgbClr val="1F2933"/>
                </a:solidFill>
                <a:latin typeface="微软雅黑" panose="020B0503020204020204" charset="-122"/>
              </a:rPr>
              <a:t/>
            </a:r>
            <a:r>
              <a:rPr sz="1700" b="0">
                <a:solidFill>
                  <a:srgbClr val="1F2933"/>
                </a:solidFill>
                <a:latin typeface="微软雅黑" panose="020B0503020204020204" charset="-122"/>
              </a:rPr>
              <a:t/>
            </a:r>
            <a:r>
              <a:rPr lang="en-US" sz="1700" b="0">
                <a:solidFill>
                  <a:srgbClr val="1F2933"/>
                </a:solidFill>
                <a:latin typeface="微软雅黑" panose="020B0503020204020204" charset="-122"/>
              </a:rPr>
              <a:t/>
            </a:r>
            <a:endParaRPr lang="en-US" sz="1700" b="0">
              <a:solidFill>
                <a:srgbClr val="1F2933"/>
              </a:solidFill>
              <a:latin typeface="微软雅黑" panose="020B0503020204020204" charset="-122"/>
            </a:endParaRPr>
          </a:p>
        </p:txBody>
      </p:sp>
      <p:sp>
        <p:nvSpPr>
          <p:cNvPr id="3" name="Title 2"/>
          <p:cNvSpPr>
            <a:spLocks noGrp="1"/>
          </p:cNvSpPr>
          <p:nvPr>
            <p:ph type="title"/>
          </p:nvPr>
        </p:nvSpPr>
        <p:spPr>
          <a:xfrm>
            <a:off x="502920" y="2348900"/>
            <a:ext cx="8229600" cy="863600"/>
          </a:xfrm>
        </p:spPr>
        <p:txBody>
          <a:bodyPr wrap="square" anchor="ctr"/>
          <a:lstStyle/>
          <a:p>
            <a:pPr algn="ctr"/>
            <a:r>
              <a:rPr sz="2700" b="1">
                <a:solidFill>
                  <a:srgbClr val="18375C"/>
                </a:solidFill>
                <a:latin typeface="微软雅黑" panose="020B0503020204020204" charset="-122"/>
              </a:rPr>
              <a:t>面向数据库 AI 算子的模型服务感知批处理执行与写回协同优化研究</a:t>
            </a:r>
            <a:endParaRPr sz="27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Database AI Operators / GPU-backed Model Service / Ray / Writeback | 1</a:t>
            </a:r>
            <a:endParaRPr sz="800" b="0">
              <a:solidFill>
                <a:srgbClr val="667080"/>
              </a:solidFill>
              <a:latin typeface="微软雅黑" panose="020B0503020204020204" charset="-122"/>
            </a:endParaRPr>
          </a:p>
        </p:txBody>
      </p:sp>
    </p:spTree>
  </p:cSld>
  <p:clrMapOvr>
    <a:masterClrMapping/>
  </p:clrMapOvr>
  <p:transition p14:dur="500">
    <p:fade/>
  </p:transition>
</p:sld>
</file>

<file path=ppt/slides/slide27.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汇报结构</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2</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525145" y="1997837"/>
            <a:ext cx="2286000" cy="1371600"/>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5" name="TextBox 4"/>
          <p:cNvSpPr txBox="1"/>
          <p:nvPr>
            <p:custDataLst>
              <p:tags r:id="rId2"/>
            </p:custDataLst>
          </p:nvPr>
        </p:nvSpPr>
        <p:spPr>
          <a:xfrm>
            <a:off x="671449" y="212585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1</a:t>
            </a:r>
            <a:endParaRPr sz="1800" b="1">
              <a:solidFill>
                <a:srgbClr val="18375C"/>
              </a:solidFill>
              <a:latin typeface="微软雅黑" panose="020B0503020204020204" charset="-122"/>
            </a:endParaRPr>
          </a:p>
        </p:txBody>
      </p:sp>
      <p:sp>
        <p:nvSpPr>
          <p:cNvPr id="6" name="TextBox 5"/>
          <p:cNvSpPr txBox="1"/>
          <p:nvPr>
            <p:custDataLst>
              <p:tags r:id="rId3"/>
            </p:custDataLst>
          </p:nvPr>
        </p:nvSpPr>
        <p:spPr>
          <a:xfrm>
            <a:off x="1064641" y="2133219"/>
            <a:ext cx="1508760" cy="274320"/>
          </a:xfrm>
          <a:prstGeom prst="rect">
            <a:avLst/>
          </a:prstGeom>
          <a:noFill/>
        </p:spPr>
        <p:txBody>
          <a:bodyPr wrap="square" anchor="ctr">
            <a:spAutoFit/>
          </a:bodyPr>
          <a:lstStyle/>
          <a:p>
            <a:pPr algn="l"/>
            <a:r>
              <a:rPr sz="1400" b="1">
                <a:solidFill>
                  <a:srgbClr val="18375C"/>
                </a:solidFill>
                <a:latin typeface="微软雅黑" panose="020B0503020204020204" charset="-122"/>
              </a:rPr>
              <a:t>研究背景</a:t>
            </a:r>
            <a:endParaRPr sz="1400" b="1">
              <a:solidFill>
                <a:srgbClr val="18375C"/>
              </a:solidFill>
              <a:latin typeface="微软雅黑" panose="020B0503020204020204" charset="-122"/>
            </a:endParaRPr>
          </a:p>
        </p:txBody>
      </p:sp>
      <p:sp>
        <p:nvSpPr>
          <p:cNvPr id="7" name="TextBox 6"/>
          <p:cNvSpPr txBox="1"/>
          <p:nvPr>
            <p:custDataLst>
              <p:tags r:id="rId4"/>
            </p:custDataLst>
          </p:nvPr>
        </p:nvSpPr>
        <p:spPr>
          <a:xfrm>
            <a:off x="7263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数据库 AI 算子为什么带来新的执行链路</a:t>
            </a:r>
            <a:endParaRPr sz="1000" b="0">
              <a:solidFill>
                <a:srgbClr val="1F2933"/>
              </a:solidFill>
              <a:latin typeface="微软雅黑" panose="020B0503020204020204" charset="-122"/>
            </a:endParaRPr>
          </a:p>
        </p:txBody>
      </p:sp>
      <p:sp>
        <p:nvSpPr>
          <p:cNvPr id="8" name="Rectangle 7"/>
          <p:cNvSpPr/>
          <p:nvPr>
            <p:custDataLst>
              <p:tags r:id="rId5"/>
            </p:custDataLst>
          </p:nvPr>
        </p:nvSpPr>
        <p:spPr>
          <a:xfrm>
            <a:off x="3268345" y="1997837"/>
            <a:ext cx="2286000" cy="1371600"/>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9" name="TextBox 8"/>
          <p:cNvSpPr txBox="1"/>
          <p:nvPr>
            <p:custDataLst>
              <p:tags r:id="rId6"/>
            </p:custDataLst>
          </p:nvPr>
        </p:nvSpPr>
        <p:spPr>
          <a:xfrm>
            <a:off x="3414649" y="212585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2</a:t>
            </a:r>
            <a:endParaRPr sz="1800" b="1">
              <a:solidFill>
                <a:srgbClr val="525C69"/>
              </a:solidFill>
              <a:latin typeface="微软雅黑" panose="020B0503020204020204" charset="-122"/>
            </a:endParaRPr>
          </a:p>
        </p:txBody>
      </p:sp>
      <p:sp>
        <p:nvSpPr>
          <p:cNvPr id="10" name="TextBox 9"/>
          <p:cNvSpPr txBox="1"/>
          <p:nvPr>
            <p:custDataLst>
              <p:tags r:id="rId7"/>
            </p:custDataLst>
          </p:nvPr>
        </p:nvSpPr>
        <p:spPr>
          <a:xfrm>
            <a:off x="3830701" y="213321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问题定义</a:t>
            </a:r>
            <a:endParaRPr sz="1400" b="1">
              <a:solidFill>
                <a:srgbClr val="525C69"/>
              </a:solidFill>
              <a:latin typeface="微软雅黑" panose="020B0503020204020204" charset="-122"/>
            </a:endParaRPr>
          </a:p>
        </p:txBody>
      </p:sp>
      <p:sp>
        <p:nvSpPr>
          <p:cNvPr id="11" name="TextBox 10"/>
          <p:cNvSpPr txBox="1"/>
          <p:nvPr>
            <p:custDataLst>
              <p:tags r:id="rId8"/>
            </p:custDataLst>
          </p:nvPr>
        </p:nvSpPr>
        <p:spPr>
          <a:xfrm>
            <a:off x="34695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研究对象、边界与关键难点</a:t>
            </a:r>
            <a:endParaRPr sz="1000" b="0">
              <a:solidFill>
                <a:srgbClr val="1F2933"/>
              </a:solidFill>
              <a:latin typeface="微软雅黑" panose="020B0503020204020204" charset="-122"/>
            </a:endParaRPr>
          </a:p>
        </p:txBody>
      </p:sp>
      <p:sp>
        <p:nvSpPr>
          <p:cNvPr id="12" name="Rectangle 11"/>
          <p:cNvSpPr/>
          <p:nvPr>
            <p:custDataLst>
              <p:tags r:id="rId9"/>
            </p:custDataLst>
          </p:nvPr>
        </p:nvSpPr>
        <p:spPr>
          <a:xfrm>
            <a:off x="6011545" y="1997837"/>
            <a:ext cx="2286000" cy="1371600"/>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3" name="TextBox 12"/>
          <p:cNvSpPr txBox="1"/>
          <p:nvPr>
            <p:custDataLst>
              <p:tags r:id="rId10"/>
            </p:custDataLst>
          </p:nvPr>
        </p:nvSpPr>
        <p:spPr>
          <a:xfrm>
            <a:off x="6157849" y="2125853"/>
            <a:ext cx="384048" cy="310896"/>
          </a:xfrm>
          <a:prstGeom prst="rect">
            <a:avLst/>
          </a:prstGeom>
          <a:noFill/>
        </p:spPr>
        <p:txBody>
          <a:bodyPr wrap="square" anchor="ctr">
            <a:spAutoFit/>
          </a:bodyPr>
          <a:lstStyle/>
          <a:p>
            <a:pPr algn="ctr"/>
            <a:r>
              <a:rPr sz="1800" b="1">
                <a:solidFill>
                  <a:srgbClr val="3A4E5E"/>
                </a:solidFill>
                <a:latin typeface="微软雅黑" panose="020B0503020204020204" charset="-122"/>
              </a:rPr>
              <a:t>3</a:t>
            </a:r>
            <a:endParaRPr sz="1800" b="1">
              <a:solidFill>
                <a:srgbClr val="3A4E5E"/>
              </a:solidFill>
              <a:latin typeface="微软雅黑" panose="020B0503020204020204" charset="-122"/>
            </a:endParaRPr>
          </a:p>
        </p:txBody>
      </p:sp>
      <p:sp>
        <p:nvSpPr>
          <p:cNvPr id="14" name="TextBox 13"/>
          <p:cNvSpPr txBox="1"/>
          <p:nvPr>
            <p:custDataLst>
              <p:tags r:id="rId11"/>
            </p:custDataLst>
          </p:nvPr>
        </p:nvSpPr>
        <p:spPr>
          <a:xfrm>
            <a:off x="6541516" y="2133219"/>
            <a:ext cx="1508760" cy="274320"/>
          </a:xfrm>
          <a:prstGeom prst="rect">
            <a:avLst/>
          </a:prstGeom>
          <a:noFill/>
        </p:spPr>
        <p:txBody>
          <a:bodyPr wrap="square" anchor="ctr">
            <a:spAutoFit/>
          </a:bodyPr>
          <a:lstStyle/>
          <a:p>
            <a:pPr algn="l"/>
            <a:r>
              <a:rPr sz="1400" b="1">
                <a:solidFill>
                  <a:srgbClr val="3A4E5E"/>
                </a:solidFill>
                <a:latin typeface="微软雅黑" panose="020B0503020204020204" charset="-122"/>
              </a:rPr>
              <a:t>研究内容</a:t>
            </a:r>
            <a:endParaRPr sz="1400" b="1">
              <a:solidFill>
                <a:srgbClr val="3A4E5E"/>
              </a:solidFill>
              <a:latin typeface="微软雅黑" panose="020B0503020204020204" charset="-122"/>
            </a:endParaRPr>
          </a:p>
        </p:txBody>
      </p:sp>
      <p:sp>
        <p:nvSpPr>
          <p:cNvPr id="15" name="TextBox 14"/>
          <p:cNvSpPr txBox="1"/>
          <p:nvPr>
            <p:custDataLst>
              <p:tags r:id="rId12"/>
            </p:custDataLst>
          </p:nvPr>
        </p:nvSpPr>
        <p:spPr>
          <a:xfrm>
            <a:off x="62127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调度、写回、策略边界三个闭环</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525145" y="3963796"/>
            <a:ext cx="2286000" cy="1371600"/>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7" name="TextBox 16"/>
          <p:cNvSpPr txBox="1"/>
          <p:nvPr>
            <p:custDataLst>
              <p:tags r:id="rId14"/>
            </p:custDataLst>
          </p:nvPr>
        </p:nvSpPr>
        <p:spPr>
          <a:xfrm>
            <a:off x="671449" y="4091813"/>
            <a:ext cx="384048" cy="310896"/>
          </a:xfrm>
          <a:prstGeom prst="rect">
            <a:avLst/>
          </a:prstGeom>
          <a:noFill/>
        </p:spPr>
        <p:txBody>
          <a:bodyPr wrap="square" anchor="ctr">
            <a:spAutoFit/>
          </a:bodyPr>
          <a:lstStyle/>
          <a:p>
            <a:pPr algn="ctr"/>
            <a:r>
              <a:rPr sz="1800" b="1">
                <a:solidFill>
                  <a:srgbClr val="B22626"/>
                </a:solidFill>
                <a:latin typeface="微软雅黑" panose="020B0503020204020204" charset="-122"/>
              </a:rPr>
              <a:t>4</a:t>
            </a:r>
            <a:endParaRPr sz="1800" b="1">
              <a:solidFill>
                <a:srgbClr val="B22626"/>
              </a:solidFill>
              <a:latin typeface="微软雅黑" panose="020B0503020204020204" charset="-122"/>
            </a:endParaRPr>
          </a:p>
        </p:txBody>
      </p:sp>
      <p:sp>
        <p:nvSpPr>
          <p:cNvPr id="18" name="TextBox 17"/>
          <p:cNvSpPr txBox="1"/>
          <p:nvPr>
            <p:custDataLst>
              <p:tags r:id="rId15"/>
            </p:custDataLst>
          </p:nvPr>
        </p:nvSpPr>
        <p:spPr>
          <a:xfrm>
            <a:off x="1064641" y="4101084"/>
            <a:ext cx="1508760" cy="274320"/>
          </a:xfrm>
          <a:prstGeom prst="rect">
            <a:avLst/>
          </a:prstGeom>
          <a:noFill/>
        </p:spPr>
        <p:txBody>
          <a:bodyPr wrap="square" anchor="ctr">
            <a:spAutoFit/>
          </a:bodyPr>
          <a:lstStyle/>
          <a:p>
            <a:pPr algn="l"/>
            <a:r>
              <a:rPr sz="1400" b="1">
                <a:solidFill>
                  <a:srgbClr val="B22626"/>
                </a:solidFill>
                <a:latin typeface="微软雅黑" panose="020B0503020204020204" charset="-122"/>
              </a:rPr>
              <a:t>实验依据</a:t>
            </a:r>
            <a:endParaRPr sz="1400" b="1">
              <a:solidFill>
                <a:srgbClr val="B22626"/>
              </a:solidFill>
              <a:latin typeface="微软雅黑" panose="020B0503020204020204" charset="-122"/>
            </a:endParaRPr>
          </a:p>
        </p:txBody>
      </p:sp>
      <p:sp>
        <p:nvSpPr>
          <p:cNvPr id="19" name="TextBox 18"/>
          <p:cNvSpPr txBox="1"/>
          <p:nvPr>
            <p:custDataLst>
              <p:tags r:id="rId16"/>
            </p:custDataLst>
          </p:nvPr>
        </p:nvSpPr>
        <p:spPr>
          <a:xfrm>
            <a:off x="7263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GPU-backed AI_EMBED 画像与动机测试</a:t>
            </a:r>
            <a:endParaRPr sz="1000" b="0">
              <a:solidFill>
                <a:srgbClr val="1F2933"/>
              </a:solidFill>
              <a:latin typeface="微软雅黑" panose="020B0503020204020204" charset="-122"/>
            </a:endParaRPr>
          </a:p>
        </p:txBody>
      </p:sp>
      <p:sp>
        <p:nvSpPr>
          <p:cNvPr id="20" name="Rectangle 19"/>
          <p:cNvSpPr/>
          <p:nvPr>
            <p:custDataLst>
              <p:tags r:id="rId17"/>
            </p:custDataLst>
          </p:nvPr>
        </p:nvSpPr>
        <p:spPr>
          <a:xfrm>
            <a:off x="3268345" y="3963796"/>
            <a:ext cx="2286000" cy="13716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21" name="TextBox 20"/>
          <p:cNvSpPr txBox="1"/>
          <p:nvPr>
            <p:custDataLst>
              <p:tags r:id="rId18"/>
            </p:custDataLst>
          </p:nvPr>
        </p:nvSpPr>
        <p:spPr>
          <a:xfrm>
            <a:off x="3414649" y="409181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5</a:t>
            </a:r>
            <a:endParaRPr sz="1800" b="1">
              <a:solidFill>
                <a:srgbClr val="18375C"/>
              </a:solidFill>
              <a:latin typeface="微软雅黑" panose="020B0503020204020204" charset="-122"/>
            </a:endParaRPr>
          </a:p>
        </p:txBody>
      </p:sp>
      <p:sp>
        <p:nvSpPr>
          <p:cNvPr id="22" name="TextBox 21"/>
          <p:cNvSpPr txBox="1"/>
          <p:nvPr>
            <p:custDataLst>
              <p:tags r:id="rId19"/>
            </p:custDataLst>
          </p:nvPr>
        </p:nvSpPr>
        <p:spPr>
          <a:xfrm>
            <a:off x="3816350" y="4084638"/>
            <a:ext cx="1775460" cy="306705"/>
          </a:xfrm>
          <a:prstGeom prst="rect">
            <a:avLst/>
          </a:prstGeom>
          <a:noFill/>
        </p:spPr>
        <p:txBody>
          <a:bodyPr wrap="square" anchor="ctr">
            <a:spAutoFit/>
          </a:bodyPr>
          <a:lstStyle/>
          <a:p>
            <a:pPr algn="l"/>
            <a:r>
              <a:rPr sz="1400" b="1">
                <a:solidFill>
                  <a:srgbClr val="18375C"/>
                </a:solidFill>
                <a:latin typeface="微软雅黑" panose="020B0503020204020204" charset="-122"/>
              </a:rPr>
              <a:t>技术路线</a:t>
            </a:r>
            <a:endParaRPr sz="1400" b="1">
              <a:solidFill>
                <a:srgbClr val="18375C"/>
              </a:solidFill>
              <a:latin typeface="微软雅黑" panose="020B0503020204020204" charset="-122"/>
            </a:endParaRPr>
          </a:p>
        </p:txBody>
      </p:sp>
      <p:sp>
        <p:nvSpPr>
          <p:cNvPr id="23" name="TextBox 22"/>
          <p:cNvSpPr txBox="1"/>
          <p:nvPr>
            <p:custDataLst>
              <p:tags r:id="rId20"/>
            </p:custDataLst>
          </p:nvPr>
        </p:nvSpPr>
        <p:spPr>
          <a:xfrm>
            <a:off x="34695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后续实验、评价指标和消融设计</a:t>
            </a:r>
            <a:endParaRPr sz="1000" b="0">
              <a:solidFill>
                <a:srgbClr val="1F2933"/>
              </a:solidFill>
              <a:latin typeface="微软雅黑" panose="020B0503020204020204" charset="-122"/>
            </a:endParaRPr>
          </a:p>
        </p:txBody>
      </p:sp>
      <p:sp>
        <p:nvSpPr>
          <p:cNvPr id="24" name="Rectangle 23"/>
          <p:cNvSpPr/>
          <p:nvPr>
            <p:custDataLst>
              <p:tags r:id="rId21"/>
            </p:custDataLst>
          </p:nvPr>
        </p:nvSpPr>
        <p:spPr>
          <a:xfrm>
            <a:off x="6011545" y="3963796"/>
            <a:ext cx="2286000" cy="13716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25" name="TextBox 24"/>
          <p:cNvSpPr txBox="1"/>
          <p:nvPr>
            <p:custDataLst>
              <p:tags r:id="rId22"/>
            </p:custDataLst>
          </p:nvPr>
        </p:nvSpPr>
        <p:spPr>
          <a:xfrm>
            <a:off x="6157849" y="409181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6</a:t>
            </a:r>
            <a:endParaRPr sz="1800" b="1">
              <a:solidFill>
                <a:srgbClr val="525C69"/>
              </a:solidFill>
              <a:latin typeface="微软雅黑" panose="020B0503020204020204" charset="-122"/>
            </a:endParaRPr>
          </a:p>
        </p:txBody>
      </p:sp>
      <p:sp>
        <p:nvSpPr>
          <p:cNvPr id="26" name="TextBox 25"/>
          <p:cNvSpPr txBox="1"/>
          <p:nvPr>
            <p:custDataLst>
              <p:tags r:id="rId23"/>
            </p:custDataLst>
          </p:nvPr>
        </p:nvSpPr>
        <p:spPr>
          <a:xfrm>
            <a:off x="6515481" y="408266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计划</a:t>
            </a:r>
            <a:endParaRPr sz="1400" b="1">
              <a:solidFill>
                <a:srgbClr val="525C69"/>
              </a:solidFill>
              <a:latin typeface="微软雅黑" panose="020B0503020204020204" charset="-122"/>
            </a:endParaRPr>
          </a:p>
        </p:txBody>
      </p:sp>
      <p:sp>
        <p:nvSpPr>
          <p:cNvPr id="27" name="TextBox 26"/>
          <p:cNvSpPr txBox="1"/>
          <p:nvPr>
            <p:custDataLst>
              <p:tags r:id="rId24"/>
            </p:custDataLst>
          </p:nvPr>
        </p:nvSpPr>
        <p:spPr>
          <a:xfrm>
            <a:off x="62127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进度安排、边界控制和预期成果</a:t>
            </a:r>
            <a:endParaRPr sz="1000" b="0">
              <a:solidFill>
                <a:srgbClr val="1F2933"/>
              </a:solidFill>
              <a:latin typeface="微软雅黑" panose="020B0503020204020204" charset="-122"/>
            </a:endParaRPr>
          </a:p>
        </p:txBody>
      </p:sp>
    </p:spTree>
  </p:cSld>
  <p:clrMapOvr>
    <a:masterClrMapping/>
  </p:clrMapOvr>
  <p:transition p14:dur="500">
    <p:fade/>
  </p:transition>
</p:sld>
</file>

<file path=ppt/slides/slide28.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问题定义：AI 算子把 SQL 执行扩展到模型服务与写回</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3</a:t>
            </a:r>
            <a:endParaRPr sz="800" b="0">
              <a:solidFill>
                <a:srgbClr val="667080"/>
              </a:solidFill>
              <a:latin typeface="微软雅黑" panose="020B0503020204020204" charset="-122"/>
            </a:endParaRPr>
          </a:p>
        </p:txBody>
      </p:sp>
      <p:sp>
        <p:nvSpPr>
          <p:cNvPr id="4" name="Rectangle 3"/>
          <p:cNvSpPr/>
          <p:nvPr/>
        </p:nvSpPr>
        <p:spPr>
          <a:xfrm>
            <a:off x="675005" y="2176145"/>
            <a:ext cx="2103120" cy="804672"/>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PostgreSQL
表数据读取</a:t>
            </a:r>
            <a:endParaRPr sz="1200" b="1">
              <a:solidFill>
                <a:srgbClr val="1F2933"/>
              </a:solidFill>
              <a:latin typeface="微软雅黑" panose="020B0503020204020204" charset="-122"/>
            </a:endParaRPr>
          </a:p>
        </p:txBody>
      </p:sp>
      <p:sp>
        <p:nvSpPr>
          <p:cNvPr id="5" name="TextBox 4"/>
          <p:cNvSpPr txBox="1"/>
          <p:nvPr/>
        </p:nvSpPr>
        <p:spPr>
          <a:xfrm>
            <a:off x="2869565"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&gt;</a:t>
            </a:r>
            <a:endParaRPr sz="1600" b="1">
              <a:solidFill>
                <a:srgbClr val="667080"/>
              </a:solidFill>
              <a:latin typeface="微软雅黑" panose="020B0503020204020204" charset="-122"/>
            </a:endParaRPr>
          </a:p>
        </p:txBody>
      </p:sp>
      <p:sp>
        <p:nvSpPr>
          <p:cNvPr id="6" name="Rectangle 5"/>
          <p:cNvSpPr/>
          <p:nvPr/>
        </p:nvSpPr>
        <p:spPr>
          <a:xfrm>
            <a:off x="3235325" y="2176145"/>
            <a:ext cx="2103120" cy="804672"/>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Arrow / batch
外部 worker</a:t>
            </a:r>
            <a:endParaRPr sz="1200" b="1">
              <a:solidFill>
                <a:srgbClr val="1F2933"/>
              </a:solidFill>
              <a:latin typeface="微软雅黑" panose="020B0503020204020204" charset="-122"/>
            </a:endParaRPr>
          </a:p>
        </p:txBody>
      </p:sp>
      <p:sp>
        <p:nvSpPr>
          <p:cNvPr id="7" name="TextBox 6"/>
          <p:cNvSpPr txBox="1"/>
          <p:nvPr/>
        </p:nvSpPr>
        <p:spPr>
          <a:xfrm>
            <a:off x="5439029"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&gt;</a:t>
            </a:r>
            <a:endParaRPr sz="1600" b="1">
              <a:solidFill>
                <a:srgbClr val="667080"/>
              </a:solidFill>
              <a:latin typeface="微软雅黑" panose="020B0503020204020204" charset="-122"/>
            </a:endParaRPr>
          </a:p>
        </p:txBody>
      </p:sp>
      <p:sp>
        <p:nvSpPr>
          <p:cNvPr id="8" name="Rectangle 7"/>
          <p:cNvSpPr/>
          <p:nvPr/>
        </p:nvSpPr>
        <p:spPr>
          <a:xfrm>
            <a:off x="5795645" y="2176145"/>
            <a:ext cx="2377440" cy="804672"/>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GPU-backed
model service</a:t>
            </a:r>
            <a:endParaRPr sz="1200" b="1">
              <a:solidFill>
                <a:srgbClr val="1F2933"/>
              </a:solidFill>
              <a:latin typeface="微软雅黑" panose="020B0503020204020204" charset="-122"/>
            </a:endParaRPr>
          </a:p>
        </p:txBody>
      </p:sp>
      <p:graphicFrame>
        <p:nvGraphicFramePr>
          <p:cNvPr id="9" name="Table 8"/>
          <p:cNvGraphicFramePr>
            <a:graphicFrameLocks noGrp="1"/>
          </p:cNvGraphicFramePr>
          <p:nvPr/>
        </p:nvGraphicFramePr>
        <p:xfrm>
          <a:off x="411480" y="3298190"/>
          <a:ext cx="8321040" cy="2317750"/>
        </p:xfrm>
        <a:graphic>
          <a:graphicData uri="http://schemas.openxmlformats.org/drawingml/2006/table">
            <a:tbl>
              <a:tblPr firstRow="1" bandRow="1">
                <a:tableStyleId>{5C22544A-7EE6-4342-B048-85BDC9FD1C3A}</a:tableStyleId>
              </a:tblPr>
              <a:tblGrid>
                <a:gridCol w="2773680"/>
                <a:gridCol w="2773680"/>
                <a:gridCol w="2773680"/>
              </a:tblGrid>
              <a:tr h="463550">
                <a:tc>
                  <a:txBody>
                    <a:bodyPr/>
                    <a:lstStyle/>
                    <a:p>
                      <a:pPr algn="ctr"/>
                      <a:r>
                        <a:rPr sz="1400" b="1">
                          <a:solidFill>
                            <a:srgbClr val="FFFFFF"/>
                          </a:solidFill>
                          <a:latin typeface="微软雅黑" panose="020B0503020204020204" charset="-122"/>
                        </a:rPr>
                        <a:t>阶段</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变量</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关注点</a:t>
                      </a:r>
                      <a:endParaRPr sz="1400" b="1">
                        <a:solidFill>
                          <a:srgbClr val="FFFFFF"/>
                        </a:solidFill>
                        <a:latin typeface="微软雅黑" panose="020B0503020204020204" charset="-122"/>
                      </a:endParaRPr>
                    </a:p>
                  </a:txBody>
                  <a:tcPr marL="36576" marR="36576">
                    <a:solidFill>
                      <a:srgbClr val="18375C"/>
                    </a:solidFill>
                  </a:tcPr>
                </a:tc>
              </a:tr>
              <a:tr h="463550">
                <a:tc>
                  <a:txBody>
                    <a:bodyPr/>
                    <a:lstStyle/>
                    <a:p>
                      <a:pPr algn="ctr"/>
                      <a:r>
                        <a:rPr sz="1200" b="0">
                          <a:solidFill>
                            <a:srgbClr val="1F2933"/>
                          </a:solidFill>
                          <a:latin typeface="微软雅黑" panose="020B0503020204020204" charset="-122"/>
                        </a:rPr>
                        <a:t>DB / Arrow</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rows, batch</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数据进入外部执行前的成本</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Task / Actor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tasks, objects</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并行调度何时有效</a:t>
                      </a:r>
                      <a:endParaRPr sz="1200" b="0">
                        <a:solidFill>
                          <a:srgbClr val="1F2933"/>
                        </a:solidFill>
                        <a:latin typeface="微软雅黑" panose="020B0503020204020204" charset="-122"/>
                      </a:endParaRPr>
                    </a:p>
                  </a:txBody>
                  <a:tcPr marL="36576" marR="36576">
                    <a:solidFill>
                      <a:srgbClr val="F6F8FA"/>
                    </a:solidFill>
                  </a:tcPr>
                </a:tc>
              </a:tr>
              <a:tr h="463550">
                <a:tc>
                  <a:txBody>
                    <a:bodyPr/>
                    <a:lstStyle/>
                    <a:p>
                      <a:pPr algn="ctr"/>
                      <a:r>
                        <a:rPr sz="1200" b="0">
                          <a:solidFill>
                            <a:srgbClr val="1F2933"/>
                          </a:solidFill>
                          <a:latin typeface="微软雅黑" panose="020B0503020204020204" charset="-122"/>
                        </a:rPr>
                        <a:t>Model service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endpoint, queue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请求粒度与队列压力</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Writeback</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fan-in, sink</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写回是否限制收益</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10" name="Rectangle 9"/>
          <p:cNvSpPr/>
          <p:nvPr/>
        </p:nvSpPr>
        <p:spPr>
          <a:xfrm>
            <a:off x="804545" y="5933440"/>
            <a:ext cx="7543800" cy="401955"/>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B22626"/>
                </a:solidFill>
                <a:latin typeface="微软雅黑" panose="020B0503020204020204" charset="-122"/>
              </a:rPr>
              <a:t>关键：batch、endpoint queue、fan-in 与 writeback 共同决定 E2E</a:t>
            </a:r>
            <a:endParaRPr sz="1500" b="1">
              <a:solidFill>
                <a:srgbClr val="B22626"/>
              </a:solidFill>
              <a:latin typeface="微软雅黑" panose="020B0503020204020204" charset="-122"/>
            </a:endParaRPr>
          </a:p>
        </p:txBody>
      </p:sp>
    </p:spTree>
  </p:cSld>
  <p:clrMapOvr>
    <a:masterClrMapping/>
  </p:clrMapOvr>
  <p:transition p14:dur="500">
    <p:fade/>
  </p:transition>
</p:sld>
</file>

<file path=ppt/slides/slide29.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相关系统提供场景，但缺少可拆分的端到端阶段画像</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4</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96440"/>
          <a:ext cx="8321040" cy="3718560"/>
        </p:xfrm>
        <a:graphic>
          <a:graphicData uri="http://schemas.openxmlformats.org/drawingml/2006/table">
            <a:tbl>
              <a:tblPr firstRow="1" bandRow="1">
                <a:tableStyleId>{5C22544A-7EE6-4342-B048-85BDC9FD1C3A}</a:tableStyleId>
              </a:tblPr>
              <a:tblGrid>
                <a:gridCol w="1383030"/>
                <a:gridCol w="2777490"/>
                <a:gridCol w="2080260"/>
                <a:gridCol w="2080260"/>
              </a:tblGrid>
              <a:tr h="619760">
                <a:tc>
                  <a:txBody>
                    <a:bodyPr/>
                    <a:lstStyle/>
                    <a:p>
                      <a:pPr algn="ctr"/>
                      <a:r>
                        <a:rPr sz="1400" b="1">
                          <a:solidFill>
                            <a:srgbClr val="FFFFFF"/>
                          </a:solidFill>
                          <a:latin typeface="微软雅黑" panose="020B0503020204020204" charset="-122"/>
                        </a:rPr>
                        <a:t>类别</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代表系统</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已提供能力</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本课题关注</a:t>
                      </a:r>
                      <a:endParaRPr sz="1400" b="1">
                        <a:solidFill>
                          <a:srgbClr val="FFFFFF"/>
                        </a:solidFill>
                        <a:latin typeface="微软雅黑" panose="020B0503020204020204" charset="-122"/>
                      </a:endParaRPr>
                    </a:p>
                  </a:txBody>
                  <a:tcPr marL="36576" marR="36576">
                    <a:solidFill>
                      <a:srgbClr val="18375C"/>
                    </a:solidFill>
                  </a:tcPr>
                </a:tc>
              </a:tr>
              <a:tr h="619760">
                <a:tc>
                  <a:txBody>
                    <a:bodyPr/>
                    <a:lstStyle/>
                    <a:p>
                      <a:pPr algn="ctr"/>
                      <a:r>
                        <a:rPr sz="1200" b="0">
                          <a:solidFill>
                            <a:srgbClr val="1F2933"/>
                          </a:solidFill>
                          <a:latin typeface="微软雅黑" panose="020B0503020204020204" charset="-122"/>
                        </a:rPr>
                        <a:t>AI SQL</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Snowflake / BigQuery / Oracle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 内调用 AI 函数</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内部阶段成本通常不可见</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PostgreSQL AI</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pgvector / pgai / PostgresML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向量存储、worker、近数据库模型</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需要端到端阶段画像</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执行框架</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Ray / Daft</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task、actor、partition、batch</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验证调度适用条件</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AI 数据存储</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Arrow / Lance</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列式与向量数据表示</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分析写回与持久化代价</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研究空缺</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可控实验链路</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DB + worker + model + sink</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统一评价调度与写回</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58368" y="5870448"/>
            <a:ext cx="7909560" cy="43891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B22626"/>
                </a:solidFill>
                <a:latin typeface="微软雅黑" panose="020B0503020204020204" charset="-122"/>
              </a:rPr>
              <a:t>重点不是复现闭源系统，而是在可控链路中解释 batch、模型服务、调度和写回如何共同影响性能。</a:t>
            </a:r>
            <a:endParaRPr sz="1000" b="1">
              <a:solidFill>
                <a:srgbClr val="B22626"/>
              </a:solidFill>
              <a:latin typeface="微软雅黑" panose="020B0503020204020204" charset="-122"/>
            </a:endParaRPr>
          </a:p>
        </p:txBody>
      </p:sp>
    </p:spTree>
  </p:cSld>
  <p:clrMapOvr>
    <a:masterClrMapping/>
  </p:clrMapOvr>
  <p:transition p14:dur="500">
    <p:fade/>
  </p:transition>
</p:sld>
</file>

<file path=ppt/slides/slide30.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251460" y="1124521"/>
            <a:ext cx="8412480" cy="460375"/>
          </a:xfrm>
          <a:prstGeom prst="rect">
            <a:avLst/>
          </a:prstGeom>
          <a:noFill/>
        </p:spPr>
        <p:txBody>
          <a:bodyPr wrap="square" anchor="ctr">
            <a:spAutoFit/>
          </a:bodyPr>
          <a:lstStyle/>
          <a:p>
            <a:pPr algn="l"/>
            <a:r>
              <a:rPr sz="2400" b="1">
                <a:solidFill>
                  <a:srgbClr val="18375C"/>
                </a:solidFill>
                <a:latin typeface="微软雅黑" panose="020B0503020204020204" charset="-122"/>
              </a:rPr>
              <a:t>总体框架：三类 AI 算子共享一套可观测执行过程</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5</a:t>
            </a:r>
            <a:endParaRPr sz="800" b="0">
              <a:solidFill>
                <a:srgbClr val="667080"/>
              </a:solidFill>
              <a:latin typeface="微软雅黑" panose="020B0503020204020204" charset="-122"/>
            </a:endParaRPr>
          </a:p>
        </p:txBody>
      </p:sp>
      <p:sp>
        <p:nvSpPr>
          <p:cNvPr id="20" name="Rectangle 19"/>
          <p:cNvSpPr/>
          <p:nvPr/>
        </p:nvSpPr>
        <p:spPr>
          <a:xfrm>
            <a:off x="804672" y="5596128"/>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三类 AI 算子 -&gt; PostgreSQL fetch -&gt; Arrow/batch -&gt; task/actor -&gt; GPU-backed model service -&gt; fan-in -&gt; writeback</a:t>
            </a:r>
            <a:endParaRPr sz="1400" b="1">
              <a:solidFill>
                <a:srgbClr val="B22626"/>
              </a:solidFill>
              <a:latin typeface="微软雅黑" panose="020B0503020204020204" charset="-122"/>
            </a:endParaRPr>
          </a:p>
        </p:txBody>
      </p:sp>
      <p:pic>
        <p:nvPicPr>
          <p:cNvPr id="21" name="图片 20"/>
          <p:cNvPicPr>
            <a:picLocks noChangeAspect="1"/>
          </p:cNvPicPr>
          <p:nvPr/>
        </p:nvPicPr>
        <p:blipFill>
          <a:blip r:embed="rId1"/>
          <a:stretch>
            <a:fillRect/>
          </a:stretch>
        </p:blipFill>
        <p:spPr>
          <a:xfrm>
            <a:off x="502920" y="2012363"/>
            <a:ext cx="8138160" cy="3427634"/>
          </a:xfrm>
          <a:prstGeom prst="rect">
            <a:avLst/>
          </a:prstGeom>
        </p:spPr>
      </p:pic>
    </p:spTree>
  </p:cSld>
  <p:clrMapOvr>
    <a:masterClrMapping/>
  </p:clrMapOvr>
  <p:transition p14:dur="500">
    <p:fade/>
  </p:transition>
</p:sld>
</file>

<file path=ppt/slides/slide31.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研究内容：围绕难点、方法和评价形成三个闭环</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6</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85950"/>
          <a:ext cx="8321040" cy="4004945"/>
        </p:xfrm>
        <a:graphic>
          <a:graphicData uri="http://schemas.openxmlformats.org/drawingml/2006/table">
            <a:tbl>
              <a:tblPr firstRow="1" bandRow="1">
                <a:tableStyleId>{5C22544A-7EE6-4342-B048-85BDC9FD1C3A}</a:tableStyleId>
              </a:tblPr>
              <a:tblGrid>
                <a:gridCol w="1766570"/>
                <a:gridCol w="2393950"/>
                <a:gridCol w="2080260"/>
                <a:gridCol w="2080260"/>
              </a:tblGrid>
              <a:tr h="408305">
                <a:tc>
                  <a:txBody>
                    <a:bodyPr/>
                    <a:lstStyle/>
                    <a:p>
                      <a:pPr algn="ctr"/>
                      <a:r>
                        <a:rPr sz="1400" b="1">
                          <a:solidFill>
                            <a:srgbClr val="FFFFFF"/>
                          </a:solidFill>
                          <a:latin typeface="微软雅黑" panose="020B0503020204020204" charset="-122"/>
                        </a:rPr>
                        <a:t>研究内容</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为什么难</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方法</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评价</a:t>
                      </a:r>
                      <a:endParaRPr sz="1400" b="1">
                        <a:solidFill>
                          <a:srgbClr val="FFFFFF"/>
                        </a:solidFill>
                        <a:latin typeface="微软雅黑" panose="020B0503020204020204" charset="-122"/>
                      </a:endParaRPr>
                    </a:p>
                  </a:txBody>
                  <a:tcPr marL="36576" marR="36576">
                    <a:solidFill>
                      <a:srgbClr val="18375C"/>
                    </a:solidFill>
                  </a:tcPr>
                </a:tc>
              </a:tr>
              <a:tr h="598805">
                <a:tc>
                  <a:txBody>
                    <a:bodyPr/>
                    <a:lstStyle/>
                    <a:p>
                      <a:pPr algn="ctr"/>
                      <a:r>
                        <a:rPr sz="1200" b="0">
                          <a:solidFill>
                            <a:srgbClr val="1F2933"/>
                          </a:solidFill>
                          <a:latin typeface="微软雅黑" panose="020B0503020204020204" charset="-122"/>
                        </a:rPr>
                        <a:t>批处理执行调度</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batch、endpoint、in-flight 相互影响</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联合选择 batch / routing / backpressure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Python/Ray 与 endpoint 消融</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写回协同</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writeback 可能限制端到端收益</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比较 driver / worker / queue worker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writeback_s、e2e_s、一致性</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策略边界</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embedding 经验不能直接外推</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覆盖三类 AI 算子</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rows/s、tokens/s、queue wait</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共同基础</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阶段成本需要可测</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统一阶段画像</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消融与对照实验</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边界控制</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避免题目发散</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不做 GPU kernel / 完整 Ray 改造</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明确不能声称的结论</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输出</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形成可复现实验链路</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脚本、CSV、图表、论文方法</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结果可追溯</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Tree>
  </p:cSld>
  <p:clrMapOvr>
    <a:masterClrMapping/>
  </p:clrMapOvr>
  <p:transition p14:dur="500">
    <p:fade/>
  </p:transition>
</p:sld>
</file>

<file path=ppt/slides/slide32.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7</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实验依据：batch、routing 与 writeback</a:t>
            </a:r>
            <a:endParaRPr sz="2800" b="1">
              <a:solidFill>
                <a:srgbClr val="17324D"/>
              </a:solidFill>
              <a:latin typeface="微软雅黑" panose="020B0503020204020204" charset="-122"/>
            </a:endParaRPr>
          </a:p>
        </p:txBody>
      </p:sp>
      <p:pic>
        <p:nvPicPr>
          <p:cNvPr id="6" name="Picture 5" descr="chart_ir_complexity.png"/>
          <p:cNvPicPr>
            <a:picLocks noChangeAspect="1"/>
          </p:cNvPicPr>
          <p:nvPr/>
        </p:nvPicPr>
        <p:blipFill>
          <a:blip r:embed="rId1"/>
          <a:stretch>
            <a:fillRect/>
          </a:stretch>
        </p:blipFill>
        <p:spPr>
          <a:xfrm>
            <a:off x="278130" y="1772920"/>
            <a:ext cx="8362950" cy="4892040"/>
          </a:xfrm>
          <a:prstGeom prst="rect">
            <a:avLst/>
          </a:prstGeom>
        </p:spPr>
      </p:pic>
    </p:spTree>
  </p:cSld>
  <p:clrMapOvr>
    <a:masterClrMapping/>
  </p:clrMapOvr>
  <p:transition p14:dur="500">
    <p:fade/>
  </p:transition>
</p:sld>
</file>

<file path=ppt/slides/slide33.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实验设置：真实 GPU-backed AI_EMBED 端到端画像</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8</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1234440"/>
                <a:gridCol w="3703320"/>
                <a:gridCol w="3246120"/>
              </a:tblGrid>
              <a:tr h="685800">
                <a:tc>
                  <a:txBody>
                    <a:bodyPr wrap="square"/>
                    <a:lstStyle/>
                    <a:p>
                      <a:pPr algn="ctr"/>
                      <a:r>
                        <a:rPr sz="1400" b="1">
                          <a:solidFill>
                            <a:srgbClr val="FFFFFF"/>
                          </a:solidFill>
                          <a:latin typeface="微软雅黑" panose="020B0503020204020204" charset="-122"/>
                        </a:rPr>
                        <a:t>环节</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当前设置</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记录指标</a:t>
                      </a:r>
                      <a:endParaRPr sz="14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200" b="0">
                          <a:solidFill>
                            <a:srgbClr val="1F2933"/>
                          </a:solidFill>
                          <a:latin typeface="微软雅黑" panose="020B0503020204020204" charset="-122"/>
                        </a:rPr>
                        <a:t>数据库</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PostgreSQL 18.4 local rehearsal</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db_fetch_s / writeback_s</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中间表示</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Arrow / batch</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arrow_build_s / calls</a:t>
                      </a:r>
                      <a:endParaRPr sz="120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200" b="0">
                          <a:solidFill>
                            <a:srgbClr val="1F2933"/>
                          </a:solidFill>
                          <a:latin typeface="微软雅黑" panose="020B0503020204020204" charset="-122"/>
                        </a:rPr>
                        <a:t>执行器</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Python / Ray task / actor</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operator_wall_s / fanin_s</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模型服务</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CUDA embedding endpoint</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model_request_wall_s / bounded_wait_s</a:t>
                      </a:r>
                      <a:endParaRPr sz="120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实验链路覆盖数据库读取、batch 构造、外部执行、CUDA 模型服务、fan-in 和 PostgreSQL 写回。</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34.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结果 1：逐行 endpoint 调用比 batch 调用慢约 13.4x</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9</a:t>
            </a:r>
            <a:endParaRPr sz="800" b="0">
              <a:solidFill>
                <a:srgbClr val="525C69"/>
              </a:solidFill>
              <a:latin typeface="微软雅黑" panose="020B0503020204020204" charset="-122"/>
            </a:endParaRPr>
          </a:p>
        </p:txBody>
      </p:sp>
      <p:graphicFrame>
        <p:nvGraphicFramePr>
          <p:cNvPr id="6" name="Table 5"/>
          <p:cNvGraphicFramePr>
            <a:graphicFrameLocks noGrp="1"/>
          </p:cNvGraphicFramePr>
          <p:nvPr/>
        </p:nvGraphicFramePr>
        <p:xfrm>
          <a:off x="502920" y="2029968"/>
          <a:ext cx="8183880" cy="3246120"/>
        </p:xfrm>
        <a:graphic>
          <a:graphicData uri="http://schemas.openxmlformats.org/drawingml/2006/table">
            <a:tbl>
              <a:tblPr firstRow="1" bandRow="1">
                <a:tableStyleId>{5C22544A-7EE6-4342-B048-85BDC9FD1C3A}</a:tableStyleId>
              </a:tblPr>
              <a:tblGrid>
                <a:gridCol w="1143000"/>
                <a:gridCol w="2057400"/>
                <a:gridCol w="2788920"/>
                <a:gridCol w="2194560"/>
              </a:tblGrid>
              <a:tr h="649224">
                <a:tc>
                  <a:txBody>
                    <a:bodyPr wrap="square"/>
                    <a:lstStyle/>
                    <a:p>
                      <a:pPr algn="ctr"/>
                      <a:r>
                        <a:rPr sz="1040" b="1">
                          <a:solidFill>
                            <a:srgbClr val="FFFFFF"/>
                          </a:solidFill>
                          <a:latin typeface="微软雅黑" panose="020B0503020204020204" charset="-122"/>
                        </a:rPr>
                        <a:t>Rows</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Strategy</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Calls</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e2e_s</a:t>
                      </a:r>
                      <a:endParaRPr sz="1040" b="1">
                        <a:solidFill>
                          <a:srgbClr val="FFFFFF"/>
                        </a:solidFill>
                        <a:latin typeface="微软雅黑" panose="020B0503020204020204" charset="-122"/>
                      </a:endParaRPr>
                    </a:p>
                  </a:txBody>
                  <a:tcPr marL="36576" marR="36576" marT="18288" marB="18288" anchor="ctr">
                    <a:solidFill>
                      <a:srgbClr val="18375C"/>
                    </a:solidFill>
                  </a:tcPr>
                </a:tc>
              </a:tr>
              <a:tr h="649224">
                <a:tc>
                  <a:txBody>
                    <a:bodyPr wrap="square"/>
                    <a:lstStyle/>
                    <a:p>
                      <a:pPr algn="ctr"/>
                      <a:r>
                        <a:rPr sz="960" b="0">
                          <a:solidFill>
                            <a:srgbClr val="1F2933"/>
                          </a:solidFill>
                          <a:latin typeface="微软雅黑" panose="020B0503020204020204" charset="-122"/>
                        </a:rPr>
                        <a:t>1024</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coalesced</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4</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0.888</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1024</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fine</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1024</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11.925</a:t>
                      </a:r>
                      <a:endParaRPr sz="960" b="0">
                        <a:solidFill>
                          <a:srgbClr val="1F2933"/>
                        </a:solidFill>
                        <a:latin typeface="微软雅黑" panose="020B0503020204020204" charset="-122"/>
                      </a:endParaRPr>
                    </a:p>
                  </a:txBody>
                  <a:tcPr marL="36576" marR="36576" marT="18288" marB="18288" anchor="ctr">
                    <a:solidFill>
                      <a:srgbClr val="EEF2F6"/>
                    </a:solidFill>
                  </a:tcPr>
                </a:tc>
              </a:tr>
              <a:tr h="649224">
                <a:tc>
                  <a:txBody>
                    <a:bodyPr wrap="square"/>
                    <a:lstStyle/>
                    <a:p>
                      <a:pPr algn="ctr"/>
                      <a:r>
                        <a:rPr sz="960" b="0">
                          <a:solidFill>
                            <a:srgbClr val="1F2933"/>
                          </a:solidFill>
                          <a:latin typeface="微软雅黑" panose="020B0503020204020204" charset="-122"/>
                        </a:rPr>
                        <a:t>ratio</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fine / coalesced</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13.4x</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边界</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当前 AI_EMBED endpoint</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非 kernel 结论</a:t>
                      </a:r>
                      <a:endParaRPr sz="96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7" name="Rounded Rectangle 6"/>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1024 行真实 GPU-backed AI_EMBED 中，调用粒度是必须控制的一阶成本。</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35.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结果 2：Ray 的价值边界来自多 endpoint routing</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10</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886460"/>
                <a:gridCol w="4417060"/>
                <a:gridCol w="2880360"/>
              </a:tblGrid>
              <a:tr h="685800">
                <a:tc>
                  <a:txBody>
                    <a:bodyPr wrap="square"/>
                    <a:lstStyle/>
                    <a:p>
                      <a:pPr algn="ctr"/>
                      <a:r>
                        <a:rPr sz="1200" b="1">
                          <a:solidFill>
                            <a:srgbClr val="FFFFFF"/>
                          </a:solidFill>
                          <a:latin typeface="微软雅黑" panose="020B0503020204020204" charset="-122"/>
                        </a:rPr>
                        <a:t>场景</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e2e_s</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含义</a:t>
                      </a:r>
                      <a:endParaRPr sz="12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080" b="0">
                          <a:solidFill>
                            <a:srgbClr val="1F2933"/>
                          </a:solidFill>
                          <a:latin typeface="微软雅黑" panose="020B0503020204020204" charset="-122"/>
                        </a:rPr>
                        <a:t>4096 单 endpoint</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3.29-3.36</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Python / Ray 接近</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4096 双 endpoint Python</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3.444</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顺序 routing</a:t>
                      </a:r>
                      <a:endParaRPr sz="108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080" b="0">
                          <a:solidFill>
                            <a:srgbClr val="1F2933"/>
                          </a:solidFill>
                          <a:latin typeface="微软雅黑" panose="020B0503020204020204" charset="-122"/>
                        </a:rPr>
                        <a:t>4096 双 endpoint Ray task</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2.761</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operator 降低</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4096 双 endpoint Ray actor</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2.780</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与 task 接近</a:t>
                      </a:r>
                      <a:endParaRPr sz="108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Ray 是调度 substrate 和对照对象，不能被写成论文主问题本身。</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36.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结果 3：writeback 已经足以限制端到端收益</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11</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438912" y="1783080"/>
          <a:ext cx="8321040" cy="3977639"/>
        </p:xfrm>
        <a:graphic>
          <a:graphicData uri="http://schemas.openxmlformats.org/drawingml/2006/table">
            <a:tbl>
              <a:tblPr firstRow="1" bandRow="1">
                <a:tableStyleId>{5C22544A-7EE6-4342-B048-85BDC9FD1C3A}</a:tableStyleId>
              </a:tblPr>
              <a:tblGrid>
                <a:gridCol w="1325880"/>
                <a:gridCol w="2514600"/>
                <a:gridCol w="822960"/>
                <a:gridCol w="3657600"/>
              </a:tblGrid>
              <a:tr h="662939">
                <a:tc>
                  <a:txBody>
                    <a:bodyPr wrap="square"/>
                    <a:lstStyle/>
                    <a:p>
                      <a:pPr algn="ctr"/>
                      <a:r>
                        <a:rPr sz="1200" b="1">
                          <a:solidFill>
                            <a:srgbClr val="FFFFFF"/>
                          </a:solidFill>
                          <a:latin typeface="微软雅黑" panose="020B0503020204020204" charset="-122"/>
                        </a:rPr>
                        <a:t>Rows</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Endpoints</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operator</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writeback</a:t>
                      </a:r>
                      <a:endParaRPr sz="1200" b="1">
                        <a:solidFill>
                          <a:srgbClr val="FFFFFF"/>
                        </a:solidFill>
                        <a:latin typeface="微软雅黑" panose="020B0503020204020204" charset="-122"/>
                      </a:endParaRPr>
                    </a:p>
                  </a:txBody>
                  <a:tcPr marL="36576" marR="36576" marT="18288" marB="18288" anchor="ctr">
                    <a:solidFill>
                      <a:srgbClr val="18375C"/>
                    </a:solidFill>
                  </a:tcPr>
                </a:tc>
              </a:tr>
              <a:tr h="662939">
                <a:tc>
                  <a:txBody>
                    <a:bodyPr wrap="square"/>
                    <a:lstStyle/>
                    <a:p>
                      <a:pPr algn="ctr"/>
                      <a:r>
                        <a:rPr sz="1200" b="0">
                          <a:solidFill>
                            <a:srgbClr val="1F2933"/>
                          </a:solidFill>
                          <a:latin typeface="微软雅黑" panose="020B0503020204020204" charset="-122"/>
                        </a:rPr>
                        <a:t>16384</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1</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6.473</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6.586</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16384</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2</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4.628</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6.363</a:t>
                      </a:r>
                      <a:endParaRPr sz="1200" b="0">
                        <a:solidFill>
                          <a:srgbClr val="1F2933"/>
                        </a:solidFill>
                        <a:latin typeface="微软雅黑" panose="020B0503020204020204" charset="-122"/>
                      </a:endParaRPr>
                    </a:p>
                  </a:txBody>
                  <a:tcPr marL="36576" marR="36576" marT="18288" marB="18288" anchor="ctr">
                    <a:solidFill>
                      <a:srgbClr val="EEF2F6"/>
                    </a:solidFill>
                  </a:tcPr>
                </a:tc>
              </a:tr>
              <a:tr h="662939">
                <a:tc>
                  <a:txBody>
                    <a:bodyPr wrap="square"/>
                    <a:lstStyle/>
                    <a:p>
                      <a:pPr algn="ctr"/>
                      <a:r>
                        <a:rPr sz="1200" b="0">
                          <a:solidFill>
                            <a:srgbClr val="1F2933"/>
                          </a:solidFill>
                          <a:latin typeface="微软雅黑" panose="020B0503020204020204" charset="-122"/>
                        </a:rPr>
                        <a:t>后续</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pgvector(384)</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后续</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worker / queue writeback</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EEF2F6"/>
                    </a:solidFill>
                  </a:tcPr>
                </a:tc>
              </a:tr>
              <a:tr h="662944">
                <a:tc>
                  <a:txBody>
                    <a:bodyPr wrap="square"/>
                    <a:lstStyle/>
                    <a:p>
                      <a:pPr algn="ctr"/>
                      <a:r>
                        <a:rPr sz="1200" b="0">
                          <a:solidFill>
                            <a:srgbClr val="1F2933"/>
                          </a:solidFill>
                          <a:latin typeface="微软雅黑" panose="020B0503020204020204" charset="-122"/>
                        </a:rPr>
                        <a:t>边界</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当前 JSON text</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非 pgvector 结论</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需复测</a:t>
                      </a:r>
                      <a:endParaRPr sz="1200" b="0">
                        <a:solidFill>
                          <a:srgbClr val="1F2933"/>
                        </a:solidFill>
                        <a:latin typeface="微软雅黑" panose="020B0503020204020204" charset="-122"/>
                      </a:endParaRPr>
                    </a:p>
                  </a:txBody>
                  <a:tcPr marL="36576" marR="36576" marT="18288" marB="18288" anchor="ctr">
                    <a:solidFill>
                      <a:srgbClr val="FFFFFF"/>
                    </a:solidFill>
                  </a:tcPr>
                </a:tc>
              </a:tr>
            </a:tbl>
          </a:graphicData>
        </a:graphic>
      </p:graphicFrame>
      <p:sp>
        <p:nvSpPr>
          <p:cNvPr id="6" name="Rounded Rectangle 5"/>
          <p:cNvSpPr/>
          <p:nvPr/>
        </p:nvSpPr>
        <p:spPr>
          <a:xfrm>
            <a:off x="658368" y="587044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只优化模型服务调用不够，写回路径必须和调度一起评价。</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37.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可行性分析：证据分层与边界</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12</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467360" y="198882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5" name="TextBox 4"/>
          <p:cNvSpPr txBox="1"/>
          <p:nvPr>
            <p:custDataLst>
              <p:tags r:id="rId2"/>
            </p:custDataLst>
          </p:nvPr>
        </p:nvSpPr>
        <p:spPr>
          <a:xfrm>
            <a:off x="631952" y="215341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真实链路</a:t>
            </a:r>
            <a:endParaRPr sz="1200" b="1">
              <a:solidFill>
                <a:srgbClr val="18375C"/>
              </a:solidFill>
              <a:latin typeface="微软雅黑" panose="020B0503020204020204" charset="-122"/>
            </a:endParaRPr>
          </a:p>
        </p:txBody>
      </p:sp>
      <p:sp>
        <p:nvSpPr>
          <p:cNvPr id="6" name="TextBox 5"/>
          <p:cNvSpPr txBox="1"/>
          <p:nvPr>
            <p:custDataLst>
              <p:tags r:id="rId3"/>
            </p:custDataLst>
          </p:nvPr>
        </p:nvSpPr>
        <p:spPr>
          <a:xfrm>
            <a:off x="6319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GPU-backed AI_EMBED 已跑通</a:t>
            </a:r>
            <a:endParaRPr sz="1000" b="0">
              <a:solidFill>
                <a:srgbClr val="1F2933"/>
              </a:solidFill>
              <a:latin typeface="微软雅黑" panose="020B0503020204020204" charset="-122"/>
            </a:endParaRPr>
          </a:p>
        </p:txBody>
      </p:sp>
      <p:sp>
        <p:nvSpPr>
          <p:cNvPr id="7" name="Rectangle 6"/>
          <p:cNvSpPr/>
          <p:nvPr>
            <p:custDataLst>
              <p:tags r:id="rId4"/>
            </p:custDataLst>
          </p:nvPr>
        </p:nvSpPr>
        <p:spPr>
          <a:xfrm>
            <a:off x="3210560" y="198882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8" name="TextBox 7"/>
          <p:cNvSpPr txBox="1"/>
          <p:nvPr>
            <p:custDataLst>
              <p:tags r:id="rId5"/>
            </p:custDataLst>
          </p:nvPr>
        </p:nvSpPr>
        <p:spPr>
          <a:xfrm>
            <a:off x="3375152" y="215341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核心发现</a:t>
            </a:r>
            <a:endParaRPr sz="1200" b="1">
              <a:solidFill>
                <a:srgbClr val="525C69"/>
              </a:solidFill>
              <a:latin typeface="微软雅黑" panose="020B0503020204020204" charset="-122"/>
            </a:endParaRPr>
          </a:p>
        </p:txBody>
      </p:sp>
      <p:sp>
        <p:nvSpPr>
          <p:cNvPr id="9" name="TextBox 8"/>
          <p:cNvSpPr txBox="1"/>
          <p:nvPr>
            <p:custDataLst>
              <p:tags r:id="rId6"/>
            </p:custDataLst>
          </p:nvPr>
        </p:nvSpPr>
        <p:spPr>
          <a:xfrm>
            <a:off x="33751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batch / routing / writeback 均影响 E2E</a:t>
            </a:r>
            <a:endParaRPr sz="1000" b="0">
              <a:solidFill>
                <a:srgbClr val="1F2933"/>
              </a:solidFill>
              <a:latin typeface="微软雅黑" panose="020B0503020204020204" charset="-122"/>
            </a:endParaRPr>
          </a:p>
        </p:txBody>
      </p:sp>
      <p:sp>
        <p:nvSpPr>
          <p:cNvPr id="10" name="Rectangle 9"/>
          <p:cNvSpPr/>
          <p:nvPr>
            <p:custDataLst>
              <p:tags r:id="rId7"/>
            </p:custDataLst>
          </p:nvPr>
        </p:nvSpPr>
        <p:spPr>
          <a:xfrm>
            <a:off x="5953760" y="1988820"/>
            <a:ext cx="2331720" cy="114300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1" name="TextBox 10"/>
          <p:cNvSpPr txBox="1"/>
          <p:nvPr>
            <p:custDataLst>
              <p:tags r:id="rId8"/>
            </p:custDataLst>
          </p:nvPr>
        </p:nvSpPr>
        <p:spPr>
          <a:xfrm>
            <a:off x="6118352" y="2153412"/>
            <a:ext cx="1920240" cy="256032"/>
          </a:xfrm>
          <a:prstGeom prst="rect">
            <a:avLst/>
          </a:prstGeom>
          <a:noFill/>
        </p:spPr>
        <p:txBody>
          <a:bodyPr wrap="square" anchor="ctr">
            <a:spAutoFit/>
          </a:bodyPr>
          <a:lstStyle/>
          <a:p>
            <a:pPr algn="l"/>
            <a:r>
              <a:rPr sz="1200" b="1">
                <a:solidFill>
                  <a:srgbClr val="3A4E5E"/>
                </a:solidFill>
                <a:latin typeface="微软雅黑" panose="020B0503020204020204" charset="-122"/>
              </a:rPr>
              <a:t>历史预研</a:t>
            </a:r>
            <a:endParaRPr sz="1200" b="1">
              <a:solidFill>
                <a:srgbClr val="3A4E5E"/>
              </a:solidFill>
              <a:latin typeface="微软雅黑" panose="020B0503020204020204" charset="-122"/>
            </a:endParaRPr>
          </a:p>
        </p:txBody>
      </p:sp>
      <p:sp>
        <p:nvSpPr>
          <p:cNvPr id="12" name="TextBox 11"/>
          <p:cNvSpPr txBox="1"/>
          <p:nvPr>
            <p:custDataLst>
              <p:tags r:id="rId9"/>
            </p:custDataLst>
          </p:nvPr>
        </p:nvSpPr>
        <p:spPr>
          <a:xfrm>
            <a:off x="61183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fake/CPU 用于变量设计</a:t>
            </a:r>
            <a:endParaRPr sz="1000" b="0">
              <a:solidFill>
                <a:srgbClr val="1F2933"/>
              </a:solidFill>
              <a:latin typeface="微软雅黑" panose="020B0503020204020204" charset="-122"/>
            </a:endParaRPr>
          </a:p>
        </p:txBody>
      </p:sp>
      <p:sp>
        <p:nvSpPr>
          <p:cNvPr id="13" name="Rectangle 12"/>
          <p:cNvSpPr/>
          <p:nvPr>
            <p:custDataLst>
              <p:tags r:id="rId10"/>
            </p:custDataLst>
          </p:nvPr>
        </p:nvSpPr>
        <p:spPr>
          <a:xfrm>
            <a:off x="467360" y="3634740"/>
            <a:ext cx="2331720" cy="114300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4" name="TextBox 13"/>
          <p:cNvSpPr txBox="1"/>
          <p:nvPr>
            <p:custDataLst>
              <p:tags r:id="rId11"/>
            </p:custDataLst>
          </p:nvPr>
        </p:nvSpPr>
        <p:spPr>
          <a:xfrm>
            <a:off x="631952" y="3799332"/>
            <a:ext cx="1920240" cy="256032"/>
          </a:xfrm>
          <a:prstGeom prst="rect">
            <a:avLst/>
          </a:prstGeom>
          <a:noFill/>
        </p:spPr>
        <p:txBody>
          <a:bodyPr wrap="square" anchor="ctr">
            <a:spAutoFit/>
          </a:bodyPr>
          <a:lstStyle/>
          <a:p>
            <a:pPr algn="l"/>
            <a:r>
              <a:rPr sz="1200" b="1">
                <a:solidFill>
                  <a:srgbClr val="B22626"/>
                </a:solidFill>
                <a:latin typeface="微软雅黑" panose="020B0503020204020204" charset="-122"/>
              </a:rPr>
              <a:t>环境验证</a:t>
            </a:r>
            <a:endParaRPr sz="1200" b="1">
              <a:solidFill>
                <a:srgbClr val="B22626"/>
              </a:solidFill>
              <a:latin typeface="微软雅黑" panose="020B0503020204020204" charset="-122"/>
            </a:endParaRPr>
          </a:p>
        </p:txBody>
      </p:sp>
      <p:sp>
        <p:nvSpPr>
          <p:cNvPr id="15" name="TextBox 14"/>
          <p:cNvSpPr txBox="1"/>
          <p:nvPr>
            <p:custDataLst>
              <p:tags r:id="rId12"/>
            </p:custDataLst>
          </p:nvPr>
        </p:nvSpPr>
        <p:spPr>
          <a:xfrm>
            <a:off x="6319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PG18.4 + pgvector 可连接</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3210560" y="363474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7" name="TextBox 16"/>
          <p:cNvSpPr txBox="1"/>
          <p:nvPr>
            <p:custDataLst>
              <p:tags r:id="rId14"/>
            </p:custDataLst>
          </p:nvPr>
        </p:nvSpPr>
        <p:spPr>
          <a:xfrm>
            <a:off x="3375152" y="379933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明确边界</a:t>
            </a:r>
            <a:endParaRPr sz="1200" b="1">
              <a:solidFill>
                <a:srgbClr val="18375C"/>
              </a:solidFill>
              <a:latin typeface="微软雅黑" panose="020B0503020204020204" charset="-122"/>
            </a:endParaRPr>
          </a:p>
        </p:txBody>
      </p:sp>
      <p:sp>
        <p:nvSpPr>
          <p:cNvPr id="18" name="TextBox 17"/>
          <p:cNvSpPr txBox="1"/>
          <p:nvPr>
            <p:custDataLst>
              <p:tags r:id="rId15"/>
            </p:custDataLst>
          </p:nvPr>
        </p:nvSpPr>
        <p:spPr>
          <a:xfrm>
            <a:off x="33751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非 PG18.3 / 非 pgvector(384)</a:t>
            </a:r>
            <a:endParaRPr sz="1000" b="0">
              <a:solidFill>
                <a:srgbClr val="1F2933"/>
              </a:solidFill>
              <a:latin typeface="微软雅黑" panose="020B0503020204020204" charset="-122"/>
            </a:endParaRPr>
          </a:p>
        </p:txBody>
      </p:sp>
      <p:sp>
        <p:nvSpPr>
          <p:cNvPr id="19" name="Rectangle 18"/>
          <p:cNvSpPr/>
          <p:nvPr>
            <p:custDataLst>
              <p:tags r:id="rId16"/>
            </p:custDataLst>
          </p:nvPr>
        </p:nvSpPr>
        <p:spPr>
          <a:xfrm>
            <a:off x="5953760" y="363474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20" name="TextBox 19"/>
          <p:cNvSpPr txBox="1"/>
          <p:nvPr>
            <p:custDataLst>
              <p:tags r:id="rId17"/>
            </p:custDataLst>
          </p:nvPr>
        </p:nvSpPr>
        <p:spPr>
          <a:xfrm>
            <a:off x="6118352" y="379933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下一步</a:t>
            </a:r>
            <a:endParaRPr sz="1200" b="1">
              <a:solidFill>
                <a:srgbClr val="525C69"/>
              </a:solidFill>
              <a:latin typeface="微软雅黑" panose="020B0503020204020204" charset="-122"/>
            </a:endParaRPr>
          </a:p>
        </p:txBody>
      </p:sp>
      <p:sp>
        <p:nvSpPr>
          <p:cNvPr id="21" name="TextBox 20"/>
          <p:cNvSpPr txBox="1"/>
          <p:nvPr>
            <p:custDataLst>
              <p:tags r:id="rId18"/>
            </p:custDataLst>
          </p:nvPr>
        </p:nvSpPr>
        <p:spPr>
          <a:xfrm>
            <a:off x="61183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补写回、反压、多 workload</a:t>
            </a:r>
            <a:endParaRPr sz="1000" b="0">
              <a:solidFill>
                <a:srgbClr val="1F2933"/>
              </a:solidFill>
              <a:latin typeface="微软雅黑" panose="020B0503020204020204" charset="-122"/>
            </a:endParaRPr>
          </a:p>
        </p:txBody>
      </p:sp>
      <p:sp>
        <p:nvSpPr>
          <p:cNvPr id="22" name="Rectangle 21"/>
          <p:cNvSpPr/>
          <p:nvPr/>
        </p:nvSpPr>
        <p:spPr>
          <a:xfrm>
            <a:off x="804672" y="517550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
            </a:r>
            <a:endParaRPr sz="1400" b="1">
              <a:solidFill>
                <a:srgbClr val="B22626"/>
              </a:solidFill>
              <a:latin typeface="微软雅黑" panose="020B0503020204020204" charset="-122"/>
            </a:endParaRPr>
          </a:p>
        </p:txBody>
      </p:sp>
    </p:spTree>
  </p:cSld>
  <p:clrMapOvr>
    <a:masterClrMapping/>
  </p:clrMapOvr>
  <p:transition p14:dur="500">
    <p:fade/>
  </p:transition>
</p:sld>
</file>

<file path=ppt/slides/slide38.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4444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评价设计：用阶段指标和消融证明优化是否有效</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13</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44675"/>
          <a:ext cx="8321040" cy="3474720"/>
        </p:xfrm>
        <a:graphic>
          <a:graphicData uri="http://schemas.openxmlformats.org/drawingml/2006/table">
            <a:tbl>
              <a:tblPr firstRow="1" bandRow="1">
                <a:tableStyleId>{5C22544A-7EE6-4342-B048-85BDC9FD1C3A}</a:tableStyleId>
              </a:tblPr>
              <a:tblGrid>
                <a:gridCol w="2773680"/>
                <a:gridCol w="2773680"/>
                <a:gridCol w="2773680"/>
              </a:tblGrid>
              <a:tr h="579120">
                <a:tc>
                  <a:txBody>
                    <a:bodyPr/>
                    <a:lstStyle/>
                    <a:p>
                      <a:pPr algn="ctr"/>
                      <a:r>
                        <a:rPr sz="1400" b="1">
                          <a:solidFill>
                            <a:srgbClr val="FFFFFF"/>
                          </a:solidFill>
                          <a:latin typeface="微软雅黑" panose="020B0503020204020204" charset="-122"/>
                        </a:rPr>
                        <a:t>研究问题</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主要指标</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证明目标</a:t>
                      </a:r>
                      <a:endParaRPr sz="1400" b="1">
                        <a:solidFill>
                          <a:srgbClr val="FFFFFF"/>
                        </a:solidFill>
                        <a:latin typeface="微软雅黑" panose="020B0503020204020204" charset="-122"/>
                      </a:endParaRPr>
                    </a:p>
                  </a:txBody>
                  <a:tcPr marL="36576" marR="36576">
                    <a:solidFill>
                      <a:srgbClr val="18375C"/>
                    </a:solidFill>
                  </a:tcPr>
                </a:tc>
              </a:tr>
              <a:tr h="579120">
                <a:tc>
                  <a:txBody>
                    <a:bodyPr/>
                    <a:lstStyle/>
                    <a:p>
                      <a:pPr algn="ctr"/>
                      <a:r>
                        <a:rPr sz="1200" b="0">
                          <a:solidFill>
                            <a:srgbClr val="1F2933"/>
                          </a:solidFill>
                          <a:latin typeface="微软雅黑" panose="020B0503020204020204" charset="-122"/>
                        </a:rPr>
                        <a:t>批处理调度</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e2e_s / operator / queue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调度何时有效</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写回协同</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writeback_s / 一致性</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写回是否限制收益</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策略边界</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rows/s / tokens/s / GPU</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策略是否可迁移</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消融</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阶段占比变化</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定位收益来源</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边界</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结论适用范围</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避免过度声称</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85800" y="5589270"/>
            <a:ext cx="2423160" cy="658368"/>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端到端指标：e2e_s / rows/s / tokens/s</a:t>
            </a:r>
            <a:endParaRPr sz="1000" b="1">
              <a:solidFill>
                <a:srgbClr val="1F2933"/>
              </a:solidFill>
              <a:latin typeface="微软雅黑" panose="020B0503020204020204" charset="-122"/>
            </a:endParaRPr>
          </a:p>
        </p:txBody>
      </p:sp>
      <p:sp>
        <p:nvSpPr>
          <p:cNvPr id="6" name="Rectangle 5"/>
          <p:cNvSpPr/>
          <p:nvPr/>
        </p:nvSpPr>
        <p:spPr>
          <a:xfrm>
            <a:off x="3310128" y="5589270"/>
            <a:ext cx="2423160" cy="658368"/>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阶段指标：operator / queue / fan-in / writeback</a:t>
            </a:r>
            <a:endParaRPr sz="1000" b="1">
              <a:solidFill>
                <a:srgbClr val="1F2933"/>
              </a:solidFill>
              <a:latin typeface="微软雅黑" panose="020B0503020204020204" charset="-122"/>
            </a:endParaRPr>
          </a:p>
        </p:txBody>
      </p:sp>
      <p:sp>
        <p:nvSpPr>
          <p:cNvPr id="7" name="Rectangle 6"/>
          <p:cNvSpPr/>
          <p:nvPr/>
        </p:nvSpPr>
        <p:spPr>
          <a:xfrm>
            <a:off x="5934456" y="5589270"/>
            <a:ext cx="2423160" cy="658368"/>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消融对象：batch / routing / in-flight / writeback</a:t>
            </a:r>
            <a:endParaRPr sz="1000" b="1">
              <a:solidFill>
                <a:srgbClr val="1F2933"/>
              </a:solidFill>
              <a:latin typeface="微软雅黑" panose="020B0503020204020204" charset="-122"/>
            </a:endParaRPr>
          </a:p>
        </p:txBody>
      </p:sp>
    </p:spTree>
  </p:cSld>
  <p:clrMapOvr>
    <a:masterClrMapping/>
  </p:clrMapOvr>
  <p:transition p14:dur="500">
    <p:fade/>
  </p:transition>
</p:sld>
</file>

<file path=ppt/slides/slide39.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99809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进度安排：先闭环消融，再扩展 workload</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14</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88820"/>
          <a:ext cx="8321040" cy="1987550"/>
        </p:xfrm>
        <a:graphic>
          <a:graphicData uri="http://schemas.openxmlformats.org/drawingml/2006/table">
            <a:tbl>
              <a:tblPr firstRow="1" bandRow="1">
                <a:tableStyleId>{5C22544A-7EE6-4342-B048-85BDC9FD1C3A}</a:tableStyleId>
              </a:tblPr>
              <a:tblGrid>
                <a:gridCol w="1935480"/>
                <a:gridCol w="3385820"/>
                <a:gridCol w="2999740"/>
              </a:tblGrid>
              <a:tr h="397510">
                <a:tc>
                  <a:txBody>
                    <a:bodyPr/>
                    <a:lstStyle/>
                    <a:p>
                      <a:pPr algn="ctr"/>
                      <a:r>
                        <a:rPr sz="1400" b="1">
                          <a:solidFill>
                            <a:srgbClr val="FFFFFF"/>
                          </a:solidFill>
                          <a:latin typeface="微软雅黑" panose="020B0503020204020204" charset="-122"/>
                        </a:rPr>
                        <a:t>时间</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重点工作</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输出</a:t>
                      </a:r>
                      <a:endParaRPr sz="1400" b="1">
                        <a:solidFill>
                          <a:srgbClr val="FFFFFF"/>
                        </a:solidFill>
                        <a:latin typeface="微软雅黑" panose="020B0503020204020204" charset="-122"/>
                      </a:endParaRPr>
                    </a:p>
                  </a:txBody>
                  <a:tcPr marL="36576" marR="36576">
                    <a:solidFill>
                      <a:srgbClr val="18375C"/>
                    </a:solidFill>
                  </a:tcPr>
                </a:tc>
              </a:tr>
              <a:tr h="397510">
                <a:tc>
                  <a:txBody>
                    <a:bodyPr/>
                    <a:lstStyle/>
                    <a:p>
                      <a:pPr algn="ctr"/>
                      <a:r>
                        <a:rPr sz="1200" b="0">
                          <a:solidFill>
                            <a:srgbClr val="1F2933"/>
                          </a:solidFill>
                          <a:latin typeface="微软雅黑" panose="020B0503020204020204" charset="-122"/>
                        </a:rPr>
                        <a:t>2026.07-08</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AI_EMBED 闭环与消融</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pgvector / writeback / in-flight 结果</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2026.09-10</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扩展 predicate 与 LLM workload</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selectivity / token / queue 结果</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2026.11-12+</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统一方法与论文整理</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baseline、消融、图表、正文</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5" name="Rectangle 4"/>
          <p:cNvSpPr/>
          <p:nvPr/>
        </p:nvSpPr>
        <p:spPr>
          <a:xfrm>
            <a:off x="68580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2026.07</a:t>
            </a:r>
            <a:r>
              <a:rPr sz="1100" b="1">
                <a:solidFill>
                  <a:srgbClr val="FFFFFF"/>
                </a:solidFill>
                <a:latin typeface="微软雅黑" panose="020B0503020204020204" charset="-122"/>
              </a:rPr>
              <a:t/>
            </a:r>
            <a:r>
              <a:rPr lang="en-US" sz="1100" b="1">
                <a:solidFill>
                  <a:srgbClr val="FFFFFF"/>
                </a:solidFill>
                <a:latin typeface="微软雅黑" panose="020B0503020204020204" charset="-122"/>
              </a:rPr>
              <a:t/>
            </a:r>
            <a:endParaRPr sz="1100" b="1">
              <a:solidFill>
                <a:srgbClr val="FFFFFF"/>
              </a:solidFill>
              <a:latin typeface="微软雅黑" panose="020B0503020204020204" charset="-122"/>
            </a:endParaRPr>
          </a:p>
        </p:txBody>
      </p:sp>
      <p:sp>
        <p:nvSpPr>
          <p:cNvPr id="6" name="Rectangle 5"/>
          <p:cNvSpPr/>
          <p:nvPr/>
        </p:nvSpPr>
        <p:spPr>
          <a:xfrm>
            <a:off x="68580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开题材料、GPU-backed 动机结果、pgvector(384) 设计</a:t>
            </a:r>
            <a:endParaRPr sz="900" b="1">
              <a:solidFill>
                <a:srgbClr val="1F2933"/>
              </a:solidFill>
              <a:latin typeface="微软雅黑" panose="020B0503020204020204" charset="-122"/>
            </a:endParaRPr>
          </a:p>
        </p:txBody>
      </p:sp>
      <p:sp>
        <p:nvSpPr>
          <p:cNvPr id="7" name="Rectangle 6"/>
          <p:cNvSpPr/>
          <p:nvPr/>
        </p:nvSpPr>
        <p:spPr>
          <a:xfrm>
            <a:off x="269748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2026.08</a:t>
            </a:r>
            <a:r>
              <a:rPr sz="1100" b="1">
                <a:solidFill>
                  <a:srgbClr val="FFFFFF"/>
                </a:solidFill>
                <a:latin typeface="微软雅黑" panose="020B0503020204020204" charset="-122"/>
              </a:rPr>
              <a:t/>
            </a:r>
            <a:r>
              <a:rPr lang="en-US" sz="1100" b="1">
                <a:solidFill>
                  <a:srgbClr val="FFFFFF"/>
                </a:solidFill>
                <a:latin typeface="微软雅黑" panose="020B0503020204020204" charset="-122"/>
              </a:rPr>
              <a:t/>
            </a:r>
            <a:endParaRPr lang="en-US" sz="1100" b="1">
              <a:solidFill>
                <a:srgbClr val="FFFFFF"/>
              </a:solidFill>
              <a:latin typeface="微软雅黑" panose="020B0503020204020204" charset="-122"/>
            </a:endParaRPr>
          </a:p>
        </p:txBody>
      </p:sp>
      <p:sp>
        <p:nvSpPr>
          <p:cNvPr id="8" name="Rectangle 7"/>
          <p:cNvSpPr/>
          <p:nvPr/>
        </p:nvSpPr>
        <p:spPr>
          <a:xfrm>
            <a:off x="269748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AI_EMBED 大块消融、worker writeback、bounded in-flight</a:t>
            </a:r>
            <a:endParaRPr sz="900" b="1">
              <a:solidFill>
                <a:srgbClr val="1F2933"/>
              </a:solidFill>
              <a:latin typeface="微软雅黑" panose="020B0503020204020204" charset="-122"/>
            </a:endParaRPr>
          </a:p>
        </p:txBody>
      </p:sp>
      <p:sp>
        <p:nvSpPr>
          <p:cNvPr id="9" name="Rectangle 8"/>
          <p:cNvSpPr/>
          <p:nvPr/>
        </p:nvSpPr>
        <p:spPr>
          <a:xfrm>
            <a:off x="470916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2026.09</a:t>
            </a:r>
            <a:endParaRPr sz="1100" b="1">
              <a:solidFill>
                <a:srgbClr val="FFFFFF"/>
              </a:solidFill>
              <a:latin typeface="微软雅黑" panose="020B0503020204020204" charset="-122"/>
            </a:endParaRPr>
          </a:p>
        </p:txBody>
      </p:sp>
      <p:sp>
        <p:nvSpPr>
          <p:cNvPr id="10" name="Rectangle 9"/>
          <p:cNvSpPr/>
          <p:nvPr/>
        </p:nvSpPr>
        <p:spPr>
          <a:xfrm>
            <a:off x="470916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AI_FILTER / AI_CLASSIFY selectivity-aware 实验</a:t>
            </a:r>
            <a:endParaRPr sz="900" b="1">
              <a:solidFill>
                <a:srgbClr val="1F2933"/>
              </a:solidFill>
              <a:latin typeface="微软雅黑" panose="020B0503020204020204" charset="-122"/>
            </a:endParaRPr>
          </a:p>
        </p:txBody>
      </p:sp>
      <p:sp>
        <p:nvSpPr>
          <p:cNvPr id="11" name="Rectangle 10"/>
          <p:cNvSpPr/>
          <p:nvPr/>
        </p:nvSpPr>
        <p:spPr>
          <a:xfrm>
            <a:off x="672084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微软雅黑" panose="020B0503020204020204" charset="-122"/>
              </a:rPr>
              <a:t>10月</a:t>
            </a:r>
            <a:endParaRPr sz="1100" b="1">
              <a:solidFill>
                <a:srgbClr val="FFFFFF"/>
              </a:solidFill>
              <a:latin typeface="微软雅黑" panose="020B0503020204020204" charset="-122"/>
            </a:endParaRPr>
          </a:p>
        </p:txBody>
      </p:sp>
      <p:sp>
        <p:nvSpPr>
          <p:cNvPr id="12" name="Rectangle 11"/>
          <p:cNvSpPr/>
          <p:nvPr/>
        </p:nvSpPr>
        <p:spPr>
          <a:xfrm>
            <a:off x="672084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AI_COMPLETE token / prefix / queue-aware 实验</a:t>
            </a:r>
            <a:endParaRPr sz="900" b="1">
              <a:solidFill>
                <a:srgbClr val="1F2933"/>
              </a:solidFill>
              <a:latin typeface="微软雅黑" panose="020B0503020204020204" charset="-122"/>
            </a:endParaRPr>
          </a:p>
        </p:txBody>
      </p:sp>
      <p:sp>
        <p:nvSpPr>
          <p:cNvPr id="13" name="Rectangle 12"/>
          <p:cNvSpPr/>
          <p:nvPr/>
        </p:nvSpPr>
        <p:spPr>
          <a:xfrm>
            <a:off x="804672" y="571500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2026.11</a:t>
            </a:r>
            <a:endParaRPr sz="1400" b="1">
              <a:solidFill>
                <a:srgbClr val="B22626"/>
              </a:solidFill>
              <a:latin typeface="微软雅黑" panose="020B0503020204020204" charset="-122"/>
            </a:endParaRPr>
          </a:p>
        </p:txBody>
      </p:sp>
    </p:spTree>
  </p:cSld>
  <p:clrMapOvr>
    <a:masterClrMapping/>
  </p:clrMapOvr>
  <p:transition p14:dur="500">
    <p:fade/>
  </p:transition>
</p:sld>
</file>

<file path=ppt/slides/slide40.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411480" y="104190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预期创新点：调度、写回与策略边界</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15</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685800" y="1947545"/>
            <a:ext cx="3429000" cy="896112"/>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5" name="TextBox 4"/>
          <p:cNvSpPr txBox="1"/>
          <p:nvPr>
            <p:custDataLst>
              <p:tags r:id="rId2"/>
            </p:custDataLst>
          </p:nvPr>
        </p:nvSpPr>
        <p:spPr>
          <a:xfrm>
            <a:off x="868680" y="2075561"/>
            <a:ext cx="2834640" cy="237744"/>
          </a:xfrm>
          <a:prstGeom prst="rect">
            <a:avLst/>
          </a:prstGeom>
          <a:noFill/>
        </p:spPr>
        <p:txBody>
          <a:bodyPr wrap="square" anchor="ctr">
            <a:spAutoFit/>
          </a:bodyPr>
          <a:lstStyle/>
          <a:p>
            <a:pPr algn="l"/>
            <a:r>
              <a:rPr sz="1300" b="1">
                <a:solidFill>
                  <a:srgbClr val="18375C"/>
                </a:solidFill>
                <a:latin typeface="微软雅黑" panose="020B0503020204020204" charset="-122"/>
              </a:rPr>
              <a:t>批处理执行调度</a:t>
            </a:r>
            <a:endParaRPr sz="1300" b="1">
              <a:solidFill>
                <a:srgbClr val="18375C"/>
              </a:solidFill>
              <a:latin typeface="微软雅黑" panose="020B0503020204020204" charset="-122"/>
            </a:endParaRPr>
          </a:p>
        </p:txBody>
      </p:sp>
      <p:sp>
        <p:nvSpPr>
          <p:cNvPr id="6" name="TextBox 5"/>
          <p:cNvSpPr txBox="1"/>
          <p:nvPr>
            <p:custDataLst>
              <p:tags r:id="rId3"/>
            </p:custDataLst>
          </p:nvPr>
        </p:nvSpPr>
        <p:spPr>
          <a:xfrm>
            <a:off x="868680" y="238645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结合算子特征、endpoint 状态和 in-flight 控制选择执行策略。</a:t>
            </a:r>
            <a:endParaRPr sz="900" b="0">
              <a:solidFill>
                <a:srgbClr val="1F2933"/>
              </a:solidFill>
              <a:latin typeface="微软雅黑" panose="020B0503020204020204" charset="-122"/>
            </a:endParaRPr>
          </a:p>
        </p:txBody>
      </p:sp>
      <p:sp>
        <p:nvSpPr>
          <p:cNvPr id="7" name="Rectangle 6"/>
          <p:cNvSpPr/>
          <p:nvPr>
            <p:custDataLst>
              <p:tags r:id="rId4"/>
            </p:custDataLst>
          </p:nvPr>
        </p:nvSpPr>
        <p:spPr>
          <a:xfrm>
            <a:off x="4663440" y="1947545"/>
            <a:ext cx="3429000" cy="896112"/>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8" name="TextBox 7"/>
          <p:cNvSpPr txBox="1"/>
          <p:nvPr>
            <p:custDataLst>
              <p:tags r:id="rId5"/>
            </p:custDataLst>
          </p:nvPr>
        </p:nvSpPr>
        <p:spPr>
          <a:xfrm>
            <a:off x="4846320" y="2075561"/>
            <a:ext cx="2834640" cy="237744"/>
          </a:xfrm>
          <a:prstGeom prst="rect">
            <a:avLst/>
          </a:prstGeom>
          <a:noFill/>
        </p:spPr>
        <p:txBody>
          <a:bodyPr wrap="square" anchor="ctr">
            <a:spAutoFit/>
          </a:bodyPr>
          <a:lstStyle/>
          <a:p>
            <a:pPr algn="l"/>
            <a:r>
              <a:rPr sz="1300" b="1">
                <a:solidFill>
                  <a:srgbClr val="525C69"/>
                </a:solidFill>
                <a:latin typeface="微软雅黑" panose="020B0503020204020204" charset="-122"/>
              </a:rPr>
              <a:t>写回协同优化</a:t>
            </a:r>
            <a:endParaRPr sz="1300" b="1">
              <a:solidFill>
                <a:srgbClr val="525C69"/>
              </a:solidFill>
              <a:latin typeface="微软雅黑" panose="020B0503020204020204" charset="-122"/>
            </a:endParaRPr>
          </a:p>
        </p:txBody>
      </p:sp>
      <p:sp>
        <p:nvSpPr>
          <p:cNvPr id="9" name="TextBox 8"/>
          <p:cNvSpPr txBox="1"/>
          <p:nvPr>
            <p:custDataLst>
              <p:tags r:id="rId6"/>
            </p:custDataLst>
          </p:nvPr>
        </p:nvSpPr>
        <p:spPr>
          <a:xfrm>
            <a:off x="4846320" y="2386330"/>
            <a:ext cx="3035300" cy="266700"/>
          </a:xfrm>
          <a:prstGeom prst="rect">
            <a:avLst/>
          </a:prstGeom>
          <a:noFill/>
        </p:spPr>
        <p:txBody>
          <a:bodyPr wrap="square" anchor="ctr">
            <a:noAutofit/>
          </a:bodyPr>
          <a:lstStyle/>
          <a:p>
            <a:pPr algn="l"/>
            <a:r>
              <a:rPr sz="900" b="0">
                <a:solidFill>
                  <a:srgbClr val="1F2933"/>
                </a:solidFill>
                <a:latin typeface="微软雅黑" panose="020B0503020204020204" charset="-122"/>
              </a:rPr>
              <a:t>比较 driver、worker、queue worker 与不同 sink。</a:t>
            </a:r>
            <a:endParaRPr sz="900" b="0">
              <a:solidFill>
                <a:srgbClr val="1F2933"/>
              </a:solidFill>
              <a:latin typeface="微软雅黑" panose="020B0503020204020204" charset="-122"/>
            </a:endParaRPr>
          </a:p>
        </p:txBody>
      </p:sp>
      <p:sp>
        <p:nvSpPr>
          <p:cNvPr id="10" name="Rectangle 9"/>
          <p:cNvSpPr/>
          <p:nvPr>
            <p:custDataLst>
              <p:tags r:id="rId7"/>
            </p:custDataLst>
          </p:nvPr>
        </p:nvSpPr>
        <p:spPr>
          <a:xfrm>
            <a:off x="685800" y="3364865"/>
            <a:ext cx="3429000" cy="896112"/>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1" name="TextBox 10"/>
          <p:cNvSpPr txBox="1"/>
          <p:nvPr>
            <p:custDataLst>
              <p:tags r:id="rId8"/>
            </p:custDataLst>
          </p:nvPr>
        </p:nvSpPr>
        <p:spPr>
          <a:xfrm>
            <a:off x="868680" y="3492881"/>
            <a:ext cx="2834640" cy="237744"/>
          </a:xfrm>
          <a:prstGeom prst="rect">
            <a:avLst/>
          </a:prstGeom>
          <a:noFill/>
        </p:spPr>
        <p:txBody>
          <a:bodyPr wrap="square" anchor="ctr">
            <a:spAutoFit/>
          </a:bodyPr>
          <a:lstStyle/>
          <a:p>
            <a:pPr algn="l"/>
            <a:r>
              <a:rPr sz="1300" b="1">
                <a:solidFill>
                  <a:srgbClr val="3A4E5E"/>
                </a:solidFill>
                <a:latin typeface="微软雅黑" panose="020B0503020204020204" charset="-122"/>
              </a:rPr>
              <a:t>多类算子策略边界</a:t>
            </a:r>
            <a:endParaRPr sz="1300" b="1">
              <a:solidFill>
                <a:srgbClr val="3A4E5E"/>
              </a:solidFill>
              <a:latin typeface="微软雅黑" panose="020B0503020204020204" charset="-122"/>
            </a:endParaRPr>
          </a:p>
        </p:txBody>
      </p:sp>
      <p:sp>
        <p:nvSpPr>
          <p:cNvPr id="12" name="TextBox 11"/>
          <p:cNvSpPr txBox="1"/>
          <p:nvPr>
            <p:custDataLst>
              <p:tags r:id="rId9"/>
            </p:custDataLst>
          </p:nvPr>
        </p:nvSpPr>
        <p:spPr>
          <a:xfrm>
            <a:off x="868680" y="380377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比较三类 AI 算子的适用条件与失效边界。</a:t>
            </a:r>
            <a:endParaRPr sz="900" b="0">
              <a:solidFill>
                <a:srgbClr val="1F2933"/>
              </a:solidFill>
              <a:latin typeface="微软雅黑" panose="020B0503020204020204" charset="-122"/>
            </a:endParaRPr>
          </a:p>
        </p:txBody>
      </p:sp>
      <p:sp>
        <p:nvSpPr>
          <p:cNvPr id="13" name="Rectangle 12"/>
          <p:cNvSpPr/>
          <p:nvPr>
            <p:custDataLst>
              <p:tags r:id="rId10"/>
            </p:custDataLst>
          </p:nvPr>
        </p:nvSpPr>
        <p:spPr>
          <a:xfrm>
            <a:off x="4663440" y="3364865"/>
            <a:ext cx="3429000" cy="896112"/>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4" name="TextBox 13"/>
          <p:cNvSpPr txBox="1"/>
          <p:nvPr>
            <p:custDataLst>
              <p:tags r:id="rId11"/>
            </p:custDataLst>
          </p:nvPr>
        </p:nvSpPr>
        <p:spPr>
          <a:xfrm>
            <a:off x="4846320" y="3492881"/>
            <a:ext cx="2834640" cy="237744"/>
          </a:xfrm>
          <a:prstGeom prst="rect">
            <a:avLst/>
          </a:prstGeom>
          <a:noFill/>
        </p:spPr>
        <p:txBody>
          <a:bodyPr wrap="square" anchor="ctr">
            <a:spAutoFit/>
          </a:bodyPr>
          <a:lstStyle/>
          <a:p>
            <a:pPr algn="l"/>
            <a:r>
              <a:rPr sz="1300" b="1">
                <a:solidFill>
                  <a:srgbClr val="B22626"/>
                </a:solidFill>
                <a:latin typeface="微软雅黑" panose="020B0503020204020204" charset="-122"/>
              </a:rPr>
              <a:t>可观测实验链路</a:t>
            </a:r>
            <a:endParaRPr sz="1300" b="1">
              <a:solidFill>
                <a:srgbClr val="B22626"/>
              </a:solidFill>
              <a:latin typeface="微软雅黑" panose="020B0503020204020204" charset="-122"/>
            </a:endParaRPr>
          </a:p>
        </p:txBody>
      </p:sp>
      <p:sp>
        <p:nvSpPr>
          <p:cNvPr id="15" name="TextBox 14"/>
          <p:cNvSpPr txBox="1"/>
          <p:nvPr>
            <p:custDataLst>
              <p:tags r:id="rId12"/>
            </p:custDataLst>
          </p:nvPr>
        </p:nvSpPr>
        <p:spPr>
          <a:xfrm>
            <a:off x="4846320" y="3803650"/>
            <a:ext cx="3077845" cy="274320"/>
          </a:xfrm>
          <a:prstGeom prst="rect">
            <a:avLst/>
          </a:prstGeom>
          <a:noFill/>
        </p:spPr>
        <p:txBody>
          <a:bodyPr wrap="square" anchor="ctr">
            <a:noAutofit/>
          </a:bodyPr>
          <a:lstStyle/>
          <a:p>
            <a:pPr algn="l"/>
            <a:r>
              <a:rPr sz="900" b="0">
                <a:solidFill>
                  <a:srgbClr val="1F2933"/>
                </a:solidFill>
                <a:latin typeface="微软雅黑" panose="020B0503020204020204" charset="-122"/>
              </a:rPr>
              <a:t>保留脚本、CSV、阶段指标和消融结果，保证结论可追溯。</a:t>
            </a:r>
            <a:endParaRPr sz="900" b="0">
              <a:solidFill>
                <a:srgbClr val="1F2933"/>
              </a:solidFill>
              <a:latin typeface="微软雅黑" panose="020B0503020204020204" charset="-122"/>
            </a:endParaRPr>
          </a:p>
        </p:txBody>
      </p:sp>
      <p:sp>
        <p:nvSpPr>
          <p:cNvPr id="16" name="Rectangle 15"/>
          <p:cNvSpPr/>
          <p:nvPr/>
        </p:nvSpPr>
        <p:spPr>
          <a:xfrm>
            <a:off x="804672" y="464515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
            </a:r>
            <a:endParaRPr sz="1400" b="1">
              <a:solidFill>
                <a:srgbClr val="B22626"/>
              </a:solidFill>
              <a:latin typeface="微软雅黑" panose="020B0503020204020204" charset="-122"/>
            </a:endParaRPr>
          </a:p>
        </p:txBody>
      </p:sp>
    </p:spTree>
  </p:cSld>
  <p:clrMapOvr>
    <a:masterClrMapping/>
  </p:clrMapOvr>
  <p:transition p14:dur="500">
    <p:fade/>
  </p:transition>
</p:sld>
</file>

<file path=ppt/slides/slide41.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98031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主要参考资料与本地实验报告</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16</a:t>
            </a:r>
            <a:endParaRPr sz="800" b="0">
              <a:solidFill>
                <a:srgbClr val="667080"/>
              </a:solidFill>
              <a:latin typeface="微软雅黑" panose="020B0503020204020204" charset="-122"/>
            </a:endParaRPr>
          </a:p>
        </p:txBody>
      </p:sp>
      <p:sp>
        <p:nvSpPr>
          <p:cNvPr id="4" name="TextBox 3"/>
          <p:cNvSpPr txBox="1"/>
          <p:nvPr/>
        </p:nvSpPr>
        <p:spPr>
          <a:xfrm>
            <a:off x="411353" y="1916430"/>
            <a:ext cx="8001000" cy="4983480"/>
          </a:xfrm>
          <a:prstGeom prst="rect">
            <a:avLst/>
          </a:prstGeom>
          <a:noFill/>
        </p:spPr>
        <p:txBody>
          <a:bodyPr wrap="square">
            <a:spAutoFit/>
          </a:bodyPr>
          <a:lstStyle/>
          <a:p>
            <a:pPr>
              <a:spcAft>
                <a:spcPts val="600"/>
              </a:spcAft>
              <a:defRPr sz="900">
                <a:solidFill>
                  <a:srgbClr val="1F2933"/>
                </a:solidFill>
                <a:latin typeface="微软雅黑" panose="020B0503020204020204" charset="-122"/>
              </a:defRPr>
            </a:pPr>
            <a:r>
              <a:t>Ray: A Distributed Framework for Emerging AI Applications, OSDI 2018</a:t>
            </a:r>
          </a:p>
          <a:p>
            <a:pPr>
              <a:spcAft>
                <a:spcPts val="600"/>
              </a:spcAft>
              <a:defRPr sz="900">
                <a:solidFill>
                  <a:srgbClr val="1F2933"/>
                </a:solidFill>
                <a:latin typeface="微软雅黑" panose="020B0503020204020204" charset="-122"/>
              </a:defRPr>
            </a:pPr>
            <a:r>
              <a:t>Spark: Cluster Computing with Working Sets, HotCloud 2010</a:t>
            </a:r>
          </a:p>
          <a:p>
            <a:pPr>
              <a:spcAft>
                <a:spcPts val="600"/>
              </a:spcAft>
              <a:defRPr sz="900">
                <a:solidFill>
                  <a:srgbClr val="1F2933"/>
                </a:solidFill>
                <a:latin typeface="微软雅黑" panose="020B0503020204020204" charset="-122"/>
              </a:defRPr>
            </a:pPr>
            <a:r>
              <a:t>Snowflake Cortex AISQL / Ray Core Objects / Ray Serve Dynamic Request Batching / Daft Distributed Execution / pgvector / pgai documentation</a:t>
            </a:r>
          </a:p>
          <a:p>
            <a:pPr>
              <a:spcAft>
                <a:spcPts val="600"/>
              </a:spcAft>
              <a:defRPr sz="900">
                <a:solidFill>
                  <a:srgbClr val="1F2933"/>
                </a:solidFill>
                <a:latin typeface="微软雅黑" panose="020B0503020204020204" charset="-122"/>
              </a:defRPr>
            </a:pPr>
            <a:r>
              <a:t>本项目实验报告：GPU-Backed AI_EMBED Chain Breakdown, 2026-07-12</a:t>
            </a:r>
          </a:p>
          <a:p>
            <a:pPr>
              <a:spcAft>
                <a:spcPts val="600"/>
              </a:spcAft>
              <a:defRPr sz="900">
                <a:solidFill>
                  <a:srgbClr val="1F2933"/>
                </a:solidFill>
                <a:latin typeface="微软雅黑" panose="020B0503020204020204" charset="-122"/>
              </a:defRPr>
            </a:pPr>
            <a:r>
              <a:t>本项目实验报告：Multi-Endpoint Ray Motivation Test, 2026-07-12</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p:txBody>
      </p:sp>
    </p:spTree>
  </p:cSld>
  <p:clrMapOvr>
    <a:masterClrMapping/>
  </p:clrMapOvr>
  <p:transition p14:dur="500">
    <p:fade/>
  </p:transition>
</p:sld>
</file>

<file path=ppt/tags/tag1_tf1.xml><?xml version="1.0" encoding="utf-8"?>
<p:tagLst xmlns:p="http://schemas.openxmlformats.org/presentationml/2006/main">
  <p:tag name="KSO_WM_DIAGRAM_VIRTUALLY_FRAME" val="{&quot;height&quot;:327.9499212598425,&quot;left&quot;:41.35,&quot;top&quot;:92.16,&quot;width&quot;:617.45}"/>
</p:tagLst>
</file>

<file path=ppt/tags/tag2_tf1.xml><?xml version="1.0" encoding="utf-8"?>
<p:tagLst xmlns:p="http://schemas.openxmlformats.org/presentationml/2006/main">
  <p:tag name="KSO_WM_DIAGRAM_VIRTUALLY_FRAME" val="{&quot;height&quot;:327.9499212598425,&quot;left&quot;:41.35,&quot;top&quot;:92.16,&quot;width&quot;:617.45}"/>
</p:tagLst>
</file>

<file path=ppt/tags/tag3_tf1.xml><?xml version="1.0" encoding="utf-8"?>
<p:tagLst xmlns:p="http://schemas.openxmlformats.org/presentationml/2006/main">
  <p:tag name="KSO_WM_DIAGRAM_VIRTUALLY_FRAME" val="{&quot;height&quot;:327.9499212598425,&quot;left&quot;:41.35,&quot;top&quot;:92.16,&quot;width&quot;:617.45}"/>
</p:tagLst>
</file>

<file path=ppt/tags/tag4_tf1.xml><?xml version="1.0" encoding="utf-8"?>
<p:tagLst xmlns:p="http://schemas.openxmlformats.org/presentationml/2006/main">
  <p:tag name="KSO_WM_DIAGRAM_VIRTUALLY_FRAME" val="{&quot;height&quot;:327.9499212598425,&quot;left&quot;:41.35,&quot;top&quot;:92.16,&quot;width&quot;:617.45}"/>
</p:tagLst>
</file>

<file path=ppt/tags/tag5_tf1.xml><?xml version="1.0" encoding="utf-8"?>
<p:tagLst xmlns:p="http://schemas.openxmlformats.org/presentationml/2006/main">
  <p:tag name="KSO_WM_DIAGRAM_VIRTUALLY_FRAME" val="{&quot;height&quot;:327.9499212598425,&quot;left&quot;:41.35,&quot;top&quot;:92.16,&quot;width&quot;:617.45}"/>
</p:tagLst>
</file>

<file path=ppt/tags/tag6_tf1.xml><?xml version="1.0" encoding="utf-8"?>
<p:tagLst xmlns:p="http://schemas.openxmlformats.org/presentationml/2006/main">
  <p:tag name="KSO_WM_DIAGRAM_VIRTUALLY_FRAME" val="{&quot;height&quot;:327.9499212598425,&quot;left&quot;:41.35,&quot;top&quot;:92.16,&quot;width&quot;:617.45}"/>
</p:tagLst>
</file>

<file path=ppt/tags/tag7_tf1.xml><?xml version="1.0" encoding="utf-8"?>
<p:tagLst xmlns:p="http://schemas.openxmlformats.org/presentationml/2006/main">
  <p:tag name="KSO_WM_DIAGRAM_VIRTUALLY_FRAME" val="{&quot;height&quot;:327.9499212598425,&quot;left&quot;:41.35,&quot;top&quot;:92.16,&quot;width&quot;:617.45}"/>
</p:tagLst>
</file>

<file path=ppt/tags/tag8_tf1.xml><?xml version="1.0" encoding="utf-8"?>
<p:tagLst xmlns:p="http://schemas.openxmlformats.org/presentationml/2006/main">
  <p:tag name="KSO_WM_DIAGRAM_VIRTUALLY_FRAME" val="{&quot;height&quot;:327.9499212598425,&quot;left&quot;:41.35,&quot;top&quot;:92.16,&quot;width&quot;:617.45}"/>
</p:tagLst>
</file>

<file path=ppt/tags/tag9_tf1.xml><?xml version="1.0" encoding="utf-8"?>
<p:tagLst xmlns:p="http://schemas.openxmlformats.org/presentationml/2006/main">
  <p:tag name="KSO_WM_DIAGRAM_VIRTUALLY_FRAME" val="{&quot;height&quot;:327.9499212598425,&quot;left&quot;:41.35,&quot;top&quot;:92.16,&quot;width&quot;:617.45}"/>
</p:tagLst>
</file>

<file path=ppt/tags/tag10_tf1.xml><?xml version="1.0" encoding="utf-8"?>
<p:tagLst xmlns:p="http://schemas.openxmlformats.org/presentationml/2006/main">
  <p:tag name="KSO_WM_DIAGRAM_VIRTUALLY_FRAME" val="{&quot;height&quot;:327.9499212598425,&quot;left&quot;:41.35,&quot;top&quot;:92.16,&quot;width&quot;:617.45}"/>
</p:tagLst>
</file>

<file path=ppt/tags/tag11_tf1.xml><?xml version="1.0" encoding="utf-8"?>
<p:tagLst xmlns:p="http://schemas.openxmlformats.org/presentationml/2006/main">
  <p:tag name="KSO_WM_DIAGRAM_VIRTUALLY_FRAME" val="{&quot;height&quot;:327.9499212598425,&quot;left&quot;:41.35,&quot;top&quot;:92.16,&quot;width&quot;:617.45}"/>
</p:tagLst>
</file>

<file path=ppt/tags/tag12_tf1.xml><?xml version="1.0" encoding="utf-8"?>
<p:tagLst xmlns:p="http://schemas.openxmlformats.org/presentationml/2006/main">
  <p:tag name="KSO_WM_DIAGRAM_VIRTUALLY_FRAME" val="{&quot;height&quot;:327.9499212598425,&quot;left&quot;:41.35,&quot;top&quot;:92.16,&quot;width&quot;:617.45}"/>
</p:tagLst>
</file>

<file path=ppt/tags/tag13_tf1.xml><?xml version="1.0" encoding="utf-8"?>
<p:tagLst xmlns:p="http://schemas.openxmlformats.org/presentationml/2006/main">
  <p:tag name="KSO_WM_DIAGRAM_VIRTUALLY_FRAME" val="{&quot;height&quot;:327.9499212598425,&quot;left&quot;:41.35,&quot;top&quot;:92.16,&quot;width&quot;:617.45}"/>
</p:tagLst>
</file>

<file path=ppt/tags/tag14_tf1.xml><?xml version="1.0" encoding="utf-8"?>
<p:tagLst xmlns:p="http://schemas.openxmlformats.org/presentationml/2006/main">
  <p:tag name="KSO_WM_DIAGRAM_VIRTUALLY_FRAME" val="{&quot;height&quot;:327.9499212598425,&quot;left&quot;:41.35,&quot;top&quot;:92.16,&quot;width&quot;:617.45}"/>
</p:tagLst>
</file>

<file path=ppt/tags/tag15_tf1.xml><?xml version="1.0" encoding="utf-8"?>
<p:tagLst xmlns:p="http://schemas.openxmlformats.org/presentationml/2006/main">
  <p:tag name="KSO_WM_DIAGRAM_VIRTUALLY_FRAME" val="{&quot;height&quot;:327.9499212598425,&quot;left&quot;:41.35,&quot;top&quot;:92.16,&quot;width&quot;:617.45}"/>
</p:tagLst>
</file>

<file path=ppt/tags/tag16_tf1.xml><?xml version="1.0" encoding="utf-8"?>
<p:tagLst xmlns:p="http://schemas.openxmlformats.org/presentationml/2006/main">
  <p:tag name="KSO_WM_DIAGRAM_VIRTUALLY_FRAME" val="{&quot;height&quot;:327.9499212598425,&quot;left&quot;:41.35,&quot;top&quot;:92.16,&quot;width&quot;:617.45}"/>
</p:tagLst>
</file>

<file path=ppt/tags/tag17_tf1.xml><?xml version="1.0" encoding="utf-8"?>
<p:tagLst xmlns:p="http://schemas.openxmlformats.org/presentationml/2006/main">
  <p:tag name="KSO_WM_DIAGRAM_VIRTUALLY_FRAME" val="{&quot;height&quot;:327.9499212598425,&quot;left&quot;:41.35,&quot;top&quot;:92.16,&quot;width&quot;:617.45}"/>
</p:tagLst>
</file>

<file path=ppt/tags/tag18_tf1.xml><?xml version="1.0" encoding="utf-8"?>
<p:tagLst xmlns:p="http://schemas.openxmlformats.org/presentationml/2006/main">
  <p:tag name="KSO_WM_DIAGRAM_VIRTUALLY_FRAME" val="{&quot;height&quot;:327.9499212598425,&quot;left&quot;:41.35,&quot;top&quot;:92.16,&quot;width&quot;:617.45}"/>
</p:tagLst>
</file>

<file path=ppt/tags/tag19_tf1.xml><?xml version="1.0" encoding="utf-8"?>
<p:tagLst xmlns:p="http://schemas.openxmlformats.org/presentationml/2006/main">
  <p:tag name="KSO_WM_DIAGRAM_VIRTUALLY_FRAME" val="{&quot;height&quot;:327.9499212598425,&quot;left&quot;:41.35,&quot;top&quot;:92.16,&quot;width&quot;:617.45}"/>
</p:tagLst>
</file>

<file path=ppt/tags/tag20_tf1.xml><?xml version="1.0" encoding="utf-8"?>
<p:tagLst xmlns:p="http://schemas.openxmlformats.org/presentationml/2006/main">
  <p:tag name="KSO_WM_DIAGRAM_VIRTUALLY_FRAME" val="{&quot;height&quot;:327.9499212598425,&quot;left&quot;:41.35,&quot;top&quot;:92.16,&quot;width&quot;:617.45}"/>
</p:tagLst>
</file>

<file path=ppt/tags/tag21_tf1.xml><?xml version="1.0" encoding="utf-8"?>
<p:tagLst xmlns:p="http://schemas.openxmlformats.org/presentationml/2006/main">
  <p:tag name="KSO_WM_DIAGRAM_VIRTUALLY_FRAME" val="{&quot;height&quot;:327.9499212598425,&quot;left&quot;:41.35,&quot;top&quot;:92.16,&quot;width&quot;:617.45}"/>
</p:tagLst>
</file>

<file path=ppt/tags/tag22_tf1.xml><?xml version="1.0" encoding="utf-8"?>
<p:tagLst xmlns:p="http://schemas.openxmlformats.org/presentationml/2006/main">
  <p:tag name="KSO_WM_DIAGRAM_VIRTUALLY_FRAME" val="{&quot;height&quot;:327.9499212598425,&quot;left&quot;:41.35,&quot;top&quot;:92.16,&quot;width&quot;:617.45}"/>
</p:tagLst>
</file>

<file path=ppt/tags/tag23_tf1.xml><?xml version="1.0" encoding="utf-8"?>
<p:tagLst xmlns:p="http://schemas.openxmlformats.org/presentationml/2006/main">
  <p:tag name="KSO_WM_DIAGRAM_VIRTUALLY_FRAME" val="{&quot;height&quot;:327.9499212598425,&quot;left&quot;:41.35,&quot;top&quot;:92.16,&quot;width&quot;:617.45}"/>
</p:tagLst>
</file>

<file path=ppt/tags/tag24_tf1.xml><?xml version="1.0" encoding="utf-8"?>
<p:tagLst xmlns:p="http://schemas.openxmlformats.org/presentationml/2006/main">
  <p:tag name="KSO_WM_DIAGRAM_VIRTUALLY_FRAME" val="{&quot;height&quot;:327.9499212598425,&quot;left&quot;:41.35,&quot;top&quot;:92.16,&quot;width&quot;:617.45}"/>
</p:tagLst>
</file>

<file path=ppt/tags/tag45_tf1.xml><?xml version="1.0" encoding="utf-8"?>
<p:tagLst xmlns:p="http://schemas.openxmlformats.org/presentationml/2006/main">
  <p:tag name="KSO_WM_DIAGRAM_VIRTUALLY_FRAME" val="{&quot;height&quot;:279,&quot;left&quot;:36.8,&quot;top&quot;:97.2,&quot;width&quot;:625.6}"/>
</p:tagLst>
</file>

<file path=ppt/tags/tag46_tf1.xml><?xml version="1.0" encoding="utf-8"?>
<p:tagLst xmlns:p="http://schemas.openxmlformats.org/presentationml/2006/main">
  <p:tag name="KSO_WM_DIAGRAM_VIRTUALLY_FRAME" val="{&quot;height&quot;:279,&quot;left&quot;:36.8,&quot;top&quot;:97.2,&quot;width&quot;:625.6}"/>
</p:tagLst>
</file>

<file path=ppt/tags/tag47_tf1.xml><?xml version="1.0" encoding="utf-8"?>
<p:tagLst xmlns:p="http://schemas.openxmlformats.org/presentationml/2006/main">
  <p:tag name="KSO_WM_DIAGRAM_VIRTUALLY_FRAME" val="{&quot;height&quot;:279,&quot;left&quot;:36.8,&quot;top&quot;:97.2,&quot;width&quot;:625.6}"/>
</p:tagLst>
</file>

<file path=ppt/tags/tag48_tf1.xml><?xml version="1.0" encoding="utf-8"?>
<p:tagLst xmlns:p="http://schemas.openxmlformats.org/presentationml/2006/main">
  <p:tag name="KSO_WM_DIAGRAM_VIRTUALLY_FRAME" val="{&quot;height&quot;:279,&quot;left&quot;:36.8,&quot;top&quot;:97.2,&quot;width&quot;:625.6}"/>
</p:tagLst>
</file>

<file path=ppt/tags/tag49_tf1.xml><?xml version="1.0" encoding="utf-8"?>
<p:tagLst xmlns:p="http://schemas.openxmlformats.org/presentationml/2006/main">
  <p:tag name="KSO_WM_DIAGRAM_VIRTUALLY_FRAME" val="{&quot;height&quot;:279,&quot;left&quot;:36.8,&quot;top&quot;:97.2,&quot;width&quot;:625.6}"/>
</p:tagLst>
</file>

<file path=ppt/tags/tag50_tf1.xml><?xml version="1.0" encoding="utf-8"?>
<p:tagLst xmlns:p="http://schemas.openxmlformats.org/presentationml/2006/main">
  <p:tag name="KSO_WM_DIAGRAM_VIRTUALLY_FRAME" val="{&quot;height&quot;:279,&quot;left&quot;:36.8,&quot;top&quot;:97.2,&quot;width&quot;:625.6}"/>
</p:tagLst>
</file>

<file path=ppt/tags/tag51_tf1.xml><?xml version="1.0" encoding="utf-8"?>
<p:tagLst xmlns:p="http://schemas.openxmlformats.org/presentationml/2006/main">
  <p:tag name="KSO_WM_DIAGRAM_VIRTUALLY_FRAME" val="{&quot;height&quot;:279,&quot;left&quot;:36.8,&quot;top&quot;:97.2,&quot;width&quot;:625.6}"/>
</p:tagLst>
</file>

<file path=ppt/tags/tag52_tf1.xml><?xml version="1.0" encoding="utf-8"?>
<p:tagLst xmlns:p="http://schemas.openxmlformats.org/presentationml/2006/main">
  <p:tag name="KSO_WM_DIAGRAM_VIRTUALLY_FRAME" val="{&quot;height&quot;:279,&quot;left&quot;:36.8,&quot;top&quot;:97.2,&quot;width&quot;:625.6}"/>
</p:tagLst>
</file>

<file path=ppt/tags/tag53_tf1.xml><?xml version="1.0" encoding="utf-8"?>
<p:tagLst xmlns:p="http://schemas.openxmlformats.org/presentationml/2006/main">
  <p:tag name="KSO_WM_DIAGRAM_VIRTUALLY_FRAME" val="{&quot;height&quot;:279,&quot;left&quot;:36.8,&quot;top&quot;:97.2,&quot;width&quot;:625.6}"/>
</p:tagLst>
</file>

<file path=ppt/tags/tag54_tf1.xml><?xml version="1.0" encoding="utf-8"?>
<p:tagLst xmlns:p="http://schemas.openxmlformats.org/presentationml/2006/main">
  <p:tag name="KSO_WM_DIAGRAM_VIRTUALLY_FRAME" val="{&quot;height&quot;:279,&quot;left&quot;:36.8,&quot;top&quot;:97.2,&quot;width&quot;:625.6}"/>
</p:tagLst>
</file>

<file path=ppt/tags/tag55_tf1.xml><?xml version="1.0" encoding="utf-8"?>
<p:tagLst xmlns:p="http://schemas.openxmlformats.org/presentationml/2006/main">
  <p:tag name="KSO_WM_DIAGRAM_VIRTUALLY_FRAME" val="{&quot;height&quot;:279,&quot;left&quot;:36.8,&quot;top&quot;:97.2,&quot;width&quot;:625.6}"/>
</p:tagLst>
</file>

<file path=ppt/tags/tag56_tf1.xml><?xml version="1.0" encoding="utf-8"?>
<p:tagLst xmlns:p="http://schemas.openxmlformats.org/presentationml/2006/main">
  <p:tag name="KSO_WM_DIAGRAM_VIRTUALLY_FRAME" val="{&quot;height&quot;:279,&quot;left&quot;:36.8,&quot;top&quot;:97.2,&quot;width&quot;:625.6}"/>
</p:tagLst>
</file>

<file path=ppt/tags/tag57_tf1.xml><?xml version="1.0" encoding="utf-8"?>
<p:tagLst xmlns:p="http://schemas.openxmlformats.org/presentationml/2006/main">
  <p:tag name="KSO_WM_DIAGRAM_VIRTUALLY_FRAME" val="{&quot;height&quot;:279,&quot;left&quot;:36.8,&quot;top&quot;:97.2,&quot;width&quot;:625.6}"/>
</p:tagLst>
</file>

<file path=ppt/tags/tag58_tf1.xml><?xml version="1.0" encoding="utf-8"?>
<p:tagLst xmlns:p="http://schemas.openxmlformats.org/presentationml/2006/main">
  <p:tag name="KSO_WM_DIAGRAM_VIRTUALLY_FRAME" val="{&quot;height&quot;:279,&quot;left&quot;:36.8,&quot;top&quot;:97.2,&quot;width&quot;:625.6}"/>
</p:tagLst>
</file>

<file path=ppt/tags/tag59_tf1.xml><?xml version="1.0" encoding="utf-8"?>
<p:tagLst xmlns:p="http://schemas.openxmlformats.org/presentationml/2006/main">
  <p:tag name="KSO_WM_DIAGRAM_VIRTUALLY_FRAME" val="{&quot;height&quot;:279,&quot;left&quot;:36.8,&quot;top&quot;:97.2,&quot;width&quot;:625.6}"/>
</p:tagLst>
</file>

<file path=ppt/tags/tag60_tf1.xml><?xml version="1.0" encoding="utf-8"?>
<p:tagLst xmlns:p="http://schemas.openxmlformats.org/presentationml/2006/main">
  <p:tag name="KSO_WM_DIAGRAM_VIRTUALLY_FRAME" val="{&quot;height&quot;:279,&quot;left&quot;:36.8,&quot;top&quot;:97.2,&quot;width&quot;:625.6}"/>
</p:tagLst>
</file>

<file path=ppt/tags/tag61_tf1.xml><?xml version="1.0" encoding="utf-8"?>
<p:tagLst xmlns:p="http://schemas.openxmlformats.org/presentationml/2006/main">
  <p:tag name="KSO_WM_DIAGRAM_VIRTUALLY_FRAME" val="{&quot;height&quot;:279,&quot;left&quot;:36.8,&quot;top&quot;:97.2,&quot;width&quot;:625.6}"/>
</p:tagLst>
</file>

<file path=ppt/tags/tag62_tf1.xml><?xml version="1.0" encoding="utf-8"?>
<p:tagLst xmlns:p="http://schemas.openxmlformats.org/presentationml/2006/main">
  <p:tag name="KSO_WM_DIAGRAM_VIRTUALLY_FRAME" val="{&quot;height&quot;:279,&quot;left&quot;:36.8,&quot;top&quot;:97.2,&quot;width&quot;:625.6}"/>
</p:tagLst>
</file>

<file path=ppt/tags/tag63_tf1.xml><?xml version="1.0" encoding="utf-8"?>
<p:tagLst xmlns:p="http://schemas.openxmlformats.org/presentationml/2006/main">
  <p:tag name="KSO_WM_DIAGRAM_VIRTUALLY_FRAME" val="{&quot;height&quot;:245.51,&quot;left&quot;:54,&quot;top&quot;:90,&quot;width&quot;:583.2}"/>
</p:tagLst>
</file>

<file path=ppt/tags/tag64_tf1.xml><?xml version="1.0" encoding="utf-8"?>
<p:tagLst xmlns:p="http://schemas.openxmlformats.org/presentationml/2006/main">
  <p:tag name="KSO_WM_DIAGRAM_VIRTUALLY_FRAME" val="{&quot;height&quot;:245.51,&quot;left&quot;:54,&quot;top&quot;:90,&quot;width&quot;:583.2}"/>
</p:tagLst>
</file>

<file path=ppt/tags/tag65_tf1.xml><?xml version="1.0" encoding="utf-8"?>
<p:tagLst xmlns:p="http://schemas.openxmlformats.org/presentationml/2006/main">
  <p:tag name="KSO_WM_DIAGRAM_VIRTUALLY_FRAME" val="{&quot;height&quot;:245.51,&quot;left&quot;:54,&quot;top&quot;:90,&quot;width&quot;:583.2}"/>
</p:tagLst>
</file>

<file path=ppt/tags/tag66_tf1.xml><?xml version="1.0" encoding="utf-8"?>
<p:tagLst xmlns:p="http://schemas.openxmlformats.org/presentationml/2006/main">
  <p:tag name="KSO_WM_DIAGRAM_VIRTUALLY_FRAME" val="{&quot;height&quot;:245.51,&quot;left&quot;:54,&quot;top&quot;:90,&quot;width&quot;:583.2}"/>
</p:tagLst>
</file>

<file path=ppt/tags/tag67_tf1.xml><?xml version="1.0" encoding="utf-8"?>
<p:tagLst xmlns:p="http://schemas.openxmlformats.org/presentationml/2006/main">
  <p:tag name="KSO_WM_DIAGRAM_VIRTUALLY_FRAME" val="{&quot;height&quot;:245.51,&quot;left&quot;:54,&quot;top&quot;:90,&quot;width&quot;:583.2}"/>
</p:tagLst>
</file>

<file path=ppt/tags/tag68_tf1.xml><?xml version="1.0" encoding="utf-8"?>
<p:tagLst xmlns:p="http://schemas.openxmlformats.org/presentationml/2006/main">
  <p:tag name="KSO_WM_DIAGRAM_VIRTUALLY_FRAME" val="{&quot;height&quot;:245.51,&quot;left&quot;:54,&quot;top&quot;:90,&quot;width&quot;:583.2}"/>
</p:tagLst>
</file>

<file path=ppt/tags/tag69_tf1.xml><?xml version="1.0" encoding="utf-8"?>
<p:tagLst xmlns:p="http://schemas.openxmlformats.org/presentationml/2006/main">
  <p:tag name="KSO_WM_DIAGRAM_VIRTUALLY_FRAME" val="{&quot;height&quot;:245.51,&quot;left&quot;:54,&quot;top&quot;:90,&quot;width&quot;:583.2}"/>
</p:tagLst>
</file>

<file path=ppt/tags/tag70_tf1.xml><?xml version="1.0" encoding="utf-8"?>
<p:tagLst xmlns:p="http://schemas.openxmlformats.org/presentationml/2006/main">
  <p:tag name="KSO_WM_DIAGRAM_VIRTUALLY_FRAME" val="{&quot;height&quot;:245.51,&quot;left&quot;:54,&quot;top&quot;:90,&quot;width&quot;:583.2}"/>
</p:tagLst>
</file>

<file path=ppt/tags/tag71_tf1.xml><?xml version="1.0" encoding="utf-8"?>
<p:tagLst xmlns:p="http://schemas.openxmlformats.org/presentationml/2006/main">
  <p:tag name="KSO_WM_DIAGRAM_VIRTUALLY_FRAME" val="{&quot;height&quot;:245.51,&quot;left&quot;:54,&quot;top&quot;:90,&quot;width&quot;:583.2}"/>
</p:tagLst>
</file>

<file path=ppt/tags/tag72_tf1.xml><?xml version="1.0" encoding="utf-8"?>
<p:tagLst xmlns:p="http://schemas.openxmlformats.org/presentationml/2006/main">
  <p:tag name="KSO_WM_DIAGRAM_VIRTUALLY_FRAME" val="{&quot;height&quot;:245.51,&quot;left&quot;:54,&quot;top&quot;:90,&quot;width&quot;:583.2}"/>
</p:tagLst>
</file>

<file path=ppt/tags/tag73_tf1.xml><?xml version="1.0" encoding="utf-8"?>
<p:tagLst xmlns:p="http://schemas.openxmlformats.org/presentationml/2006/main">
  <p:tag name="KSO_WM_DIAGRAM_VIRTUALLY_FRAME" val="{&quot;height&quot;:245.51,&quot;left&quot;:54,&quot;top&quot;:90,&quot;width&quot;:583.2}"/>
</p:tagLst>
</file>

<file path=ppt/tags/tag74_tf1.xml><?xml version="1.0" encoding="utf-8"?>
<p:tagLst xmlns:p="http://schemas.openxmlformats.org/presentationml/2006/main">
  <p:tag name="KSO_WM_DIAGRAM_VIRTUALLY_FRAME" val="{&quot;height&quot;:245.51,&quot;left&quot;:54,&quot;top&quot;:90,&quot;width&quot;:583.2}"/>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8931</Words>
  <Application>WPS 演示</Application>
  <PresentationFormat>全屏显示(4:3)</PresentationFormat>
  <Paragraphs>723</Paragraphs>
  <Slides>25</Slides>
  <Notes>39</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25</vt:i4>
      </vt:variant>
    </vt:vector>
  </HeadingPairs>
  <TitlesOfParts>
    <vt:vector size="44" baseType="lpstr">
      <vt:lpstr>Arial</vt:lpstr>
      <vt:lpstr>宋体</vt:lpstr>
      <vt:lpstr>Wingdings</vt:lpstr>
      <vt:lpstr>黑体</vt:lpstr>
      <vt:lpstr>Tahoma</vt:lpstr>
      <vt:lpstr>Lucida Sans</vt:lpstr>
      <vt:lpstr>Comic Sans MS</vt:lpstr>
      <vt:lpstr>楷体_GB2312</vt:lpstr>
      <vt:lpstr>新宋体</vt:lpstr>
      <vt:lpstr>Times</vt:lpstr>
      <vt:lpstr>Times New Roman</vt:lpstr>
      <vt:lpstr>微软雅黑</vt:lpstr>
      <vt:lpstr>Arial Unicode MS</vt:lpstr>
      <vt:lpstr>Berlin Sans FB</vt:lpstr>
      <vt:lpstr>Wingdings</vt:lpstr>
      <vt:lpstr>楷体_GB2312</vt:lpstr>
      <vt:lpstr>方正楷体_GB2312</vt:lpstr>
      <vt:lpstr>Good Times</vt:lpstr>
      <vt:lpstr>1_自定义设计方案</vt:lpstr>
      <vt:lpstr>面向 SQL+ 简化查询表达的多智能体自然语言数据库查询生成与反馈修正方法研究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艾筠舜</cp:lastModifiedBy>
  <cp:revision>1578</cp:revision>
  <dcterms:created xsi:type="dcterms:W3CDTF">2026-07-03T01:19:00Z</dcterms:created>
  <dcterms:modified xsi:type="dcterms:W3CDTF">2026-07-03T01:44:24Z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D8EFAD67513A43E4928970E0C1008FEF_12</vt:lpwstr>
  </property>
</Properties>
</file>