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8676cf391945f9" /><Relationship Type="http://schemas.openxmlformats.org/officeDocument/2006/relationships/extended-properties" Target="/docProps/app.xml" Id="Rf2fbd3b0217b49bb" /><Relationship Type="http://schemas.openxmlformats.org/officeDocument/2006/relationships/officeDocument" Target="/ppt/presentation.xml" Id="R2ba6fb0eb1c946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94a910591b4bd2"/>
    <p:sldMasterId xmlns:r="http://schemas.openxmlformats.org/officeDocument/2006/relationships" id="2147483653" r:id="Rc2ef8539022340f9"/>
  </p:sldMasterIdLst>
  <p:notesMasterIdLst>
    <p:notesMasterId xmlns:r="http://schemas.openxmlformats.org/officeDocument/2006/relationships" r:id="R7a574fc77b474aa2"/>
  </p:notesMasterIdLst>
  <p:sldIdLst>
    <p:sldId xmlns:r="http://schemas.openxmlformats.org/officeDocument/2006/relationships" id="256" r:id="R72afa86d29d443a8"/>
    <p:sldId xmlns:r="http://schemas.openxmlformats.org/officeDocument/2006/relationships" id="257" r:id="Ra1d6b983d1a346e9"/>
    <p:sldId xmlns:r="http://schemas.openxmlformats.org/officeDocument/2006/relationships" id="258" r:id="Ra1dcdaf753644ae5"/>
    <p:sldId xmlns:r="http://schemas.openxmlformats.org/officeDocument/2006/relationships" id="259" r:id="R52dde5da3efe4c16"/>
    <p:sldId xmlns:r="http://schemas.openxmlformats.org/officeDocument/2006/relationships" id="260" r:id="Re486637294dc493b"/>
    <p:sldId xmlns:r="http://schemas.openxmlformats.org/officeDocument/2006/relationships" id="261" r:id="R2e20529b13ea42e5"/>
    <p:sldId xmlns:r="http://schemas.openxmlformats.org/officeDocument/2006/relationships" id="262" r:id="R49626bd0ce864686"/>
    <p:sldId xmlns:r="http://schemas.openxmlformats.org/officeDocument/2006/relationships" id="263" r:id="R7ae403ae23664144"/>
    <p:sldId xmlns:r="http://schemas.openxmlformats.org/officeDocument/2006/relationships" id="264" r:id="R5e39dd9f79be4f30"/>
    <p:sldId xmlns:r="http://schemas.openxmlformats.org/officeDocument/2006/relationships" id="265" r:id="Rc80c49a283d1409d"/>
    <p:sldId xmlns:r="http://schemas.openxmlformats.org/officeDocument/2006/relationships" id="266" r:id="R4c7a9d83919b4a00"/>
    <p:sldId xmlns:r="http://schemas.openxmlformats.org/officeDocument/2006/relationships" id="267" r:id="Re137375651044aa6"/>
    <p:sldId xmlns:r="http://schemas.openxmlformats.org/officeDocument/2006/relationships" id="268" r:id="R3fd720e8cede4f8f"/>
    <p:sldId xmlns:r="http://schemas.openxmlformats.org/officeDocument/2006/relationships" id="269" r:id="R4127d9d846f74e79"/>
    <p:sldId xmlns:r="http://schemas.openxmlformats.org/officeDocument/2006/relationships" id="270" r:id="Reab37097edf9447b"/>
    <p:sldId xmlns:r="http://schemas.openxmlformats.org/officeDocument/2006/relationships" id="271" r:id="R49c587c8fb7045bb"/>
    <p:sldId xmlns:r="http://schemas.openxmlformats.org/officeDocument/2006/relationships" id="272" r:id="R523afd7e80a441a2"/>
    <p:sldId xmlns:r="http://schemas.openxmlformats.org/officeDocument/2006/relationships" id="273" r:id="R0ad00e34eeda4a0a"/>
    <p:sldId xmlns:r="http://schemas.openxmlformats.org/officeDocument/2006/relationships" id="274" r:id="Rf7da4c448cc741c5"/>
    <p:sldId xmlns:r="http://schemas.openxmlformats.org/officeDocument/2006/relationships" id="275" r:id="R5f1bcd6c30584b76"/>
    <p:sldId xmlns:r="http://schemas.openxmlformats.org/officeDocument/2006/relationships" id="276" r:id="R0f67c450ab134b4d"/>
    <p:sldId xmlns:r="http://schemas.openxmlformats.org/officeDocument/2006/relationships" id="277" r:id="R570c1612a863472d"/>
    <p:sldId xmlns:r="http://schemas.openxmlformats.org/officeDocument/2006/relationships" id="278" r:id="R3df82a081a1745b2"/>
    <p:sldId xmlns:r="http://schemas.openxmlformats.org/officeDocument/2006/relationships" id="279" r:id="R95733e37092540e5"/>
    <p:sldId xmlns:r="http://schemas.openxmlformats.org/officeDocument/2006/relationships" id="280" r:id="R20f3ea6e46144d7c"/>
    <p:sldId xmlns:r="http://schemas.openxmlformats.org/officeDocument/2006/relationships" id="281" r:id="R48ea0dcf268349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47D2557-9050-45F3-9E77-591402EB7796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2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2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2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2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2"/>
          </a:solidFill>
        </a:fill>
      </a:tcStyle>
    </a:firstRow>
    <a:neCell>
      <a:tcStyle>
        <a:tcBdr>
          <a:lef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eefc452a044bea" /><Relationship Type="http://schemas.openxmlformats.org/officeDocument/2006/relationships/slideMaster" Target="/ppt/slideMasters/slideMaster1.xml" Id="R5594a910591b4bd2" /><Relationship Type="http://schemas.openxmlformats.org/officeDocument/2006/relationships/slideMaster" Target="/ppt/slideMasters/slideMaster2.xml" Id="Rc2ef8539022340f9" /><Relationship Type="http://schemas.openxmlformats.org/officeDocument/2006/relationships/notesMaster" Target="/ppt/notesMasters/notesMaster1.xml" Id="R7a574fc77b474aa2" /><Relationship Type="http://schemas.openxmlformats.org/officeDocument/2006/relationships/presProps" Target="/ppt/presProps.xml" Id="R1bd5c603fac8441c" /><Relationship Type="http://schemas.openxmlformats.org/officeDocument/2006/relationships/viewProps" Target="/ppt/viewProps.xml" Id="R65d5af9ee8a44f89" /><Relationship Type="http://schemas.openxmlformats.org/officeDocument/2006/relationships/tableStyles" Target="/ppt/tableStyles.xml" Id="Rff6b04cbed0d4e6f" /><Relationship Type="http://schemas.openxmlformats.org/officeDocument/2006/relationships/slide" Target="/ppt/slides/slide1.xml" Id="R72afa86d29d443a8" /><Relationship Type="http://schemas.openxmlformats.org/officeDocument/2006/relationships/slide" Target="/ppt/slides/slide2.xml" Id="Ra1d6b983d1a346e9" /><Relationship Type="http://schemas.openxmlformats.org/officeDocument/2006/relationships/slide" Target="/ppt/slides/slide3.xml" Id="Ra1dcdaf753644ae5" /><Relationship Type="http://schemas.openxmlformats.org/officeDocument/2006/relationships/slide" Target="/ppt/slides/slide4.xml" Id="R52dde5da3efe4c16" /><Relationship Type="http://schemas.openxmlformats.org/officeDocument/2006/relationships/slide" Target="/ppt/slides/slide5.xml" Id="Re486637294dc493b" /><Relationship Type="http://schemas.openxmlformats.org/officeDocument/2006/relationships/slide" Target="/ppt/slides/slide6.xml" Id="R2e20529b13ea42e5" /><Relationship Type="http://schemas.openxmlformats.org/officeDocument/2006/relationships/slide" Target="/ppt/slides/slide7.xml" Id="R49626bd0ce864686" /><Relationship Type="http://schemas.openxmlformats.org/officeDocument/2006/relationships/slide" Target="/ppt/slides/slide8.xml" Id="R7ae403ae23664144" /><Relationship Type="http://schemas.openxmlformats.org/officeDocument/2006/relationships/slide" Target="/ppt/slides/slide9.xml" Id="R5e39dd9f79be4f30" /><Relationship Type="http://schemas.openxmlformats.org/officeDocument/2006/relationships/slide" Target="/ppt/slides/slide10.xml" Id="Rc80c49a283d1409d" /><Relationship Type="http://schemas.openxmlformats.org/officeDocument/2006/relationships/slide" Target="/ppt/slides/slide11.xml" Id="R4c7a9d83919b4a00" /><Relationship Type="http://schemas.openxmlformats.org/officeDocument/2006/relationships/slide" Target="/ppt/slides/slide12.xml" Id="Re137375651044aa6" /><Relationship Type="http://schemas.openxmlformats.org/officeDocument/2006/relationships/slide" Target="/ppt/slides/slide13.xml" Id="R3fd720e8cede4f8f" /><Relationship Type="http://schemas.openxmlformats.org/officeDocument/2006/relationships/slide" Target="/ppt/slides/slide14.xml" Id="R4127d9d846f74e79" /><Relationship Type="http://schemas.openxmlformats.org/officeDocument/2006/relationships/slide" Target="/ppt/slides/slide15.xml" Id="Reab37097edf9447b" /><Relationship Type="http://schemas.openxmlformats.org/officeDocument/2006/relationships/slide" Target="/ppt/slides/slide16.xml" Id="R49c587c8fb7045bb" /><Relationship Type="http://schemas.openxmlformats.org/officeDocument/2006/relationships/slide" Target="/ppt/slides/slide17.xml" Id="R523afd7e80a441a2" /><Relationship Type="http://schemas.openxmlformats.org/officeDocument/2006/relationships/slide" Target="/ppt/slides/slide18.xml" Id="R0ad00e34eeda4a0a" /><Relationship Type="http://schemas.openxmlformats.org/officeDocument/2006/relationships/slide" Target="/ppt/slides/slide19.xml" Id="Rf7da4c448cc741c5" /><Relationship Type="http://schemas.openxmlformats.org/officeDocument/2006/relationships/slide" Target="/ppt/slides/slide20.xml" Id="R5f1bcd6c30584b76" /><Relationship Type="http://schemas.openxmlformats.org/officeDocument/2006/relationships/slide" Target="/ppt/slides/slide21.xml" Id="R0f67c450ab134b4d" /><Relationship Type="http://schemas.openxmlformats.org/officeDocument/2006/relationships/slide" Target="/ppt/slides/slide22.xml" Id="R570c1612a863472d" /><Relationship Type="http://schemas.openxmlformats.org/officeDocument/2006/relationships/slide" Target="/ppt/slides/slide23.xml" Id="R3df82a081a1745b2" /><Relationship Type="http://schemas.openxmlformats.org/officeDocument/2006/relationships/slide" Target="/ppt/slides/slide24.xml" Id="R95733e37092540e5" /><Relationship Type="http://schemas.openxmlformats.org/officeDocument/2006/relationships/slide" Target="/ppt/slides/slide25.xml" Id="R20f3ea6e46144d7c" /><Relationship Type="http://schemas.openxmlformats.org/officeDocument/2006/relationships/slide" Target="/ppt/slides/slide26.xml" Id="R48ea0dcf268349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413e06980fe4e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52b015b1244d8" /><Relationship Type="http://schemas.openxmlformats.org/officeDocument/2006/relationships/notesMaster" Target="/ppt/notesMasters/notesMaster1.xml" Id="Ra626833460ae42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6f506f98a94da0" /><Relationship Type="http://schemas.openxmlformats.org/officeDocument/2006/relationships/notesMaster" Target="/ppt/notesMasters/notesMaster1.xml" Id="R4bd397876dec42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1e51f9444a4da2" /><Relationship Type="http://schemas.openxmlformats.org/officeDocument/2006/relationships/notesMaster" Target="/ppt/notesMasters/notesMaster1.xml" Id="Rdf65b76e926c43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9e1213b81c4cdc" /><Relationship Type="http://schemas.openxmlformats.org/officeDocument/2006/relationships/notesMaster" Target="/ppt/notesMasters/notesMaster1.xml" Id="Rcd02f27ef2f843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787233f17943e5" /><Relationship Type="http://schemas.openxmlformats.org/officeDocument/2006/relationships/notesMaster" Target="/ppt/notesMasters/notesMaster1.xml" Id="R4649f28ac53049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9ba3bfd2b54056" /><Relationship Type="http://schemas.openxmlformats.org/officeDocument/2006/relationships/notesMaster" Target="/ppt/notesMasters/notesMaster1.xml" Id="R5dab265d9a8e44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e0c19ad71f4b15" /><Relationship Type="http://schemas.openxmlformats.org/officeDocument/2006/relationships/notesMaster" Target="/ppt/notesMasters/notesMaster1.xml" Id="Rb7d5d84009e348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7c5a4cc23a4bc1" /><Relationship Type="http://schemas.openxmlformats.org/officeDocument/2006/relationships/notesMaster" Target="/ppt/notesMasters/notesMaster1.xml" Id="Rf2547dcacbf7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1093dff9a14839" /><Relationship Type="http://schemas.openxmlformats.org/officeDocument/2006/relationships/notesMaster" Target="/ppt/notesMasters/notesMaster1.xml" Id="Rc01c7722b78f48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9b916bbfa34627" /><Relationship Type="http://schemas.openxmlformats.org/officeDocument/2006/relationships/notesMaster" Target="/ppt/notesMasters/notesMaster1.xml" Id="Re38f1826a3874b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28dd0ee05e465f" /><Relationship Type="http://schemas.openxmlformats.org/officeDocument/2006/relationships/notesMaster" Target="/ppt/notesMasters/notesMaster1.xml" Id="R46ba59bd6d1e4a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487eaff88b42ee" /><Relationship Type="http://schemas.openxmlformats.org/officeDocument/2006/relationships/notesMaster" Target="/ppt/notesMasters/notesMaster1.xml" Id="R17d55384ad4b4e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04b3850204439d" /><Relationship Type="http://schemas.openxmlformats.org/officeDocument/2006/relationships/notesMaster" Target="/ppt/notesMasters/notesMaster1.xml" Id="R18181c98486d42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8cc015ac67452d" /><Relationship Type="http://schemas.openxmlformats.org/officeDocument/2006/relationships/notesMaster" Target="/ppt/notesMasters/notesMaster1.xml" Id="R705d2d1fef1c42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6d4610c64a44e5" /><Relationship Type="http://schemas.openxmlformats.org/officeDocument/2006/relationships/notesMaster" Target="/ppt/notesMasters/notesMaster1.xml" Id="Rd1c94e41103f42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ea6053885c47eb" /><Relationship Type="http://schemas.openxmlformats.org/officeDocument/2006/relationships/notesMaster" Target="/ppt/notesMasters/notesMaster1.xml" Id="R58c79cf12c8c4f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93349f7fe94fbf" /><Relationship Type="http://schemas.openxmlformats.org/officeDocument/2006/relationships/notesMaster" Target="/ppt/notesMasters/notesMaster1.xml" Id="R9adbe93390a44d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d328b6aca2433b" /><Relationship Type="http://schemas.openxmlformats.org/officeDocument/2006/relationships/notesMaster" Target="/ppt/notesMasters/notesMaster1.xml" Id="Rf5718213fd2048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24e6ebd83e48a6" /><Relationship Type="http://schemas.openxmlformats.org/officeDocument/2006/relationships/notesMaster" Target="/ppt/notesMasters/notesMaster1.xml" Id="Rc4de731023034c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cc07e38f4647b1" /><Relationship Type="http://schemas.openxmlformats.org/officeDocument/2006/relationships/notesMaster" Target="/ppt/notesMasters/notesMaster1.xml" Id="R41d99736ad8e47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26bbda994c49aa" /><Relationship Type="http://schemas.openxmlformats.org/officeDocument/2006/relationships/notesMaster" Target="/ppt/notesMasters/notesMaster1.xml" Id="R3a491617bb1a47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11c7cb19b84fc8" /><Relationship Type="http://schemas.openxmlformats.org/officeDocument/2006/relationships/notesMaster" Target="/ppt/notesMasters/notesMaster1.xml" Id="R0964bd12421242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f0bbd72d2d2415a" /><Relationship Type="http://schemas.openxmlformats.org/officeDocument/2006/relationships/notesMaster" Target="/ppt/notesMasters/notesMaster1.xml" Id="Ra8528301b0c74e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1f32fde6704aa1" /><Relationship Type="http://schemas.openxmlformats.org/officeDocument/2006/relationships/notesMaster" Target="/ppt/notesMasters/notesMaster1.xml" Id="R88d88e23f3ab43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00b6fca9e24cdd" /><Relationship Type="http://schemas.openxmlformats.org/officeDocument/2006/relationships/notesMaster" Target="/ppt/notesMasters/notesMaster1.xml" Id="R583b3c68d83641f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3efa9a3d75d4dab" /><Relationship Type="http://schemas.openxmlformats.org/officeDocument/2006/relationships/notesMaster" Target="/ppt/notesMasters/notesMaster1.xml" Id="Re8090c48c92143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汇报讲稿：介绍课题题目和研究边界：数据库触发 AI 算子后、数据进入模型服务前的外部执行与调度。 本页主题为“数据库 AI 负载的执行优化与调度研究”。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汇报讲稿：用四个问题定位汇报：为什么需要研究、实验发现了什么、准备怎样解决、如何验证并完成。 本页主题为“● 01 研究背景与研究空白</a:t>
            </a:r>
            <a:endParaRPr/>
          </a:p>
          <a:p xmlns:a="http://schemas.openxmlformats.org/drawingml/2006/main">
            <a:r>
              <a:t>○ 02 动机实验与设计要求</a:t>
            </a:r>
            <a:endParaRPr/>
          </a:p>
          <a:p xmlns:a="http://schemas.openxmlformats.org/drawingml/2006/main">
            <a:r>
              <a:t>○ 03 研究方案、策略关系与验证</a:t>
            </a:r>
            <a:endParaRPr/>
          </a:p>
          <a:p xmlns:a="http://schemas.openxmlformats.org/drawingml/2006/main">
            <a:r>
              <a:t>○ 04 研究基础、计划与预期贡献”。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opening/opening_defense_outline_20260808.md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本页主题为“研究背景｜数据库成为 AI 任务入口”。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opening/report/opening_report.md#1-选题背景与意义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本页主题为“研究背景｜AI 算子改变传统数据执行假设”。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opening/report/opening_report.md#2-国内外研究现状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本页主题为“研究现状｜相邻层各自优化，跨层信息仍然分散”。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research/top15_ranked_papers.md</a:t>
            </a:r>
            <a:endParaRPr/>
          </a:p>
          <a:p xmlns:a="http://schemas.openxmlformats.org/drawingml/2006/main">
            <a:r>
              <a:t>- opening/report/opening_report.md#2-国内外研究现状</a:t>
            </a:r>
            <a:endParaRPr/>
          </a:p>
          <a:p xmlns:a="http://schemas.openxmlformats.org/drawingml/2006/main">
            <a:r>
              <a:t>- research/reading_notes/vllm_sosp2023.md</a:t>
            </a:r>
            <a:endParaRPr/>
          </a:p>
          <a:p xmlns:a="http://schemas.openxmlformats.org/drawingml/2006/main">
            <a:r>
              <a:t>- research/reading_notes/graceful_udf_cost_icde2025.md</a:t>
            </a:r>
            <a:endParaRPr/>
          </a:p>
          <a:p xmlns:a="http://schemas.openxmlformats.org/drawingml/2006/main">
            <a:r>
              <a:t>- research/reading_notes/costream_icde2024.md</a:t>
            </a:r>
            <a:endParaRPr/>
          </a:p>
          <a:p xmlns:a="http://schemas.openxmlformats.org/drawingml/2006/main">
            <a:r>
              <a:t>- research/reading_notes/abacus_pvldb2026.md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本页主题为“研究空白｜AI Data Execution Layer 缺少上游闭环”。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opening/claim_matrix.md#1-冻结题目与系统抽象</a:t>
            </a:r>
            <a:endParaRPr/>
          </a:p>
          <a:p xmlns:a="http://schemas.openxmlformats.org/drawingml/2006/main">
            <a:r>
              <a:t>- opening/report/opening_report.md#3-研究目标与关键问题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汇报讲稿：用四个问题定位汇报：为什么需要研究、实验发现了什么、准备怎样解决、如何验证并完成。 本页主题为“○ 01 研究背景与研究空白</a:t>
            </a:r>
            <a:endParaRPr/>
          </a:p>
          <a:p xmlns:a="http://schemas.openxmlformats.org/drawingml/2006/main">
            <a:r>
              <a:t>● 02 动机实验与设计要求</a:t>
            </a:r>
            <a:endParaRPr/>
          </a:p>
          <a:p xmlns:a="http://schemas.openxmlformats.org/drawingml/2006/main">
            <a:r>
              <a:t>○ 03 研究方案、策略关系与验证</a:t>
            </a:r>
            <a:endParaRPr/>
          </a:p>
          <a:p xmlns:a="http://schemas.openxmlformats.org/drawingml/2006/main">
            <a:r>
              <a:t>○ 04 研究基础、计划与预期贡献”。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opening/opening_defense_outline_20260808.md#32-逐页结构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本页主题为“动机证据｜不同执行图形成不同服务状态”。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experiments/results/opening_database_e2e_text_refeed_20260808/README.md</a:t>
            </a:r>
            <a:endParaRPr/>
          </a:p>
          <a:p xmlns:a="http://schemas.openxmlformats.org/drawingml/2006/main">
            <a:r>
              <a:t>- experiments/results/opening_text_native_single_job_formal_20260808/README.md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本页主题为“动机证据｜行数和静态上限不能描述工作状态”。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experiments/results/dual_gpu_active_work_saturation_20260729/README.md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本页主题为“动机证据｜图像任务暴露多阶段失配”。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motivation/results/gpu/image_clip_preprocess_variants_20260801/README.md</a:t>
            </a:r>
            <a:endParaRPr/>
          </a:p>
          <a:p xmlns:a="http://schemas.openxmlformats.org/drawingml/2006/main">
            <a:r>
              <a:t>- motivation/results/gpu/image_clip_transfer_ceiling_20260803/README.md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本页主题为“动机证据｜四作业并发同时干扰短作业与长作业”。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experiments/results/opening_fourjob_interference_20260809/README.md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汇报讲稿：左侧说明可独立归因的部分，右侧说明需要对照或联合判断的部分，强调二者的接口与边界。 本页主题为“设计要求｜动机现象导出两项研究内容和共同支撑”。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opening/opening_defense_outline_20260808.md#第-10-页实验现象导出四项同等重要的设计要求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汇报讲稿：用四个问题定位汇报：为什么需要研究、实验发现了什么、准备怎样解决、如何验证并完成。 本页主题为“○ 01 研究背景与研究空白</a:t>
            </a:r>
            <a:endParaRPr/>
          </a:p>
          <a:p xmlns:a="http://schemas.openxmlformats.org/drawingml/2006/main">
            <a:r>
              <a:t>○ 02 动机实验与设计要求</a:t>
            </a:r>
            <a:endParaRPr/>
          </a:p>
          <a:p xmlns:a="http://schemas.openxmlformats.org/drawingml/2006/main">
            <a:r>
              <a:t>● 03 研究方案、策略关系与验证</a:t>
            </a:r>
            <a:endParaRPr/>
          </a:p>
          <a:p xmlns:a="http://schemas.openxmlformats.org/drawingml/2006/main">
            <a:r>
              <a:t>○ 04 研究基础、计划与预期贡献”。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opening/report/opening_report.md#4-研究内容与技术路线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本页主题为“总体方案｜前向工作描述与反向状态组成闭环”。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opening/report/opening_report.md#41-总体系统架构</a:t>
            </a:r>
            <a:endParaRPr/>
          </a:p>
          <a:p xmlns:a="http://schemas.openxmlformats.org/drawingml/2006/main">
            <a:r>
              <a:t>- figures/opening_figure_set/README.md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本页主题为“研究内容一｜WorkDescriptor 连接数据组织与调度”。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opening/report/opening_report.md#411-workdescriptor</a:t>
            </a:r>
            <a:endParaRPr/>
          </a:p>
          <a:p xmlns:a="http://schemas.openxmlformats.org/drawingml/2006/main">
            <a:r>
              <a:t>- code/src/planning/work.py</a:t>
            </a:r>
            <a:endParaRPr/>
          </a:p>
          <a:p xmlns:a="http://schemas.openxmlformats.org/drawingml/2006/main">
            <a:r>
              <a:t>- code/src/modalities/image/contracts.py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本页主题为“研究内容一｜数据组织权衡工作量均衡与局部性”。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experiments/results/rc1_data_organization/README.md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本页主题为“研究内容二｜固定容量内动态释放工作额度”。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opening/report/opening_report.md#42-研究内容二容量感知的提交路由与多作业调度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本页主题为“研究内容二｜共享额度权衡效率、隔离与公平”。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experiments/results/opening_fourjob_interference_20260809/README.md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本页主题为“共同支撑｜代价估计面向配置排序与决策损失”。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experiments/results/operator_cost_profile_dual4090_formal_v2_cache_on_20260807/README.md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本页主题为“跨模态验证｜图像基准先确认路径与能力边界”。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experiments/results/image_ai_embed_operator_formal_20260803/README.md</a:t>
            </a:r>
            <a:endParaRPr/>
          </a:p>
          <a:p xmlns:a="http://schemas.openxmlformats.org/drawingml/2006/main">
            <a:r>
              <a:t>- feasibility/results/vllm_clip_pooling_gate_20260804/README.md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本页主题为“跨模态验证｜图像四作业重现任务级干扰”。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experiments/results/opening_image_native_fourjob_formal_20260810/README.md</a:t>
            </a:r>
            <a:endParaRPr/>
          </a:p>
          <a:p xmlns:a="http://schemas.openxmlformats.org/drawingml/2006/main">
            <a:r>
              <a:t>- experiments/results/opening_image_project_fourjob_observe_only_formal_20260810/README.md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汇报讲稿：左侧说明可独立归因的部分，右侧说明需要对照或联合判断的部分，强调二者的接口与边界。 本页主题为“验证方案｜先独立归因，再判断是否需要联合优化”。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AGENTS.md#1-项目目标</a:t>
            </a:r>
            <a:endParaRPr/>
          </a:p>
          <a:p xmlns:a="http://schemas.openxmlformats.org/drawingml/2006/main">
            <a:r>
              <a:t>- opening/report/opening_report.md#44-策略关系与联合验证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汇报讲稿：用四个问题定位汇报：为什么需要研究、实验发现了什么、准备怎样解决、如何验证并完成。 本页主题为“○ 01 研究背景与研究空白</a:t>
            </a:r>
            <a:endParaRPr/>
          </a:p>
          <a:p xmlns:a="http://schemas.openxmlformats.org/drawingml/2006/main">
            <a:r>
              <a:t>○ 02 动机实验与设计要求</a:t>
            </a:r>
            <a:endParaRPr/>
          </a:p>
          <a:p xmlns:a="http://schemas.openxmlformats.org/drawingml/2006/main">
            <a:r>
              <a:t>○ 03 研究方案、策略关系与验证</a:t>
            </a:r>
            <a:endParaRPr/>
          </a:p>
          <a:p xmlns:a="http://schemas.openxmlformats.org/drawingml/2006/main">
            <a:r>
              <a:t>● 04 研究基础、计划与预期贡献”。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opening/report/opening_report.md#6-工作基础与进度安排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汇报讲稿：先读图中的核心事实，再说明该事实改变了哪一个系统设计判断，最后用一句话承接下一页。 本页主题为“研究基础｜现有链路支撑后续动态验证”。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opening/report/opening_report.md#6-工作基础与进度安排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汇报讲稿：左侧给出开题后的工作顺序与停止条件，右侧对应预期方法和可复现产出，回应开场提出的跨层执行问题。 本页主题为“后续工作与预期成果”。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opening/report/opening_report.md#62-后续进度安排</a:t>
            </a:r>
            <a:endParaRPr/>
          </a:p>
          <a:p xmlns:a="http://schemas.openxmlformats.org/drawingml/2006/main">
            <a:r>
              <a:t>- opening/report/opening_report.md#7-预期成果创新点与风险控制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汇报讲稿：用一句话收束：本课题研究模型服务之前的 AI 数据执行层，使数据库 AI 任务可描述、可观测、可调度。 本页主题为“谢谢，请各位老师批评指正”。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答辩备注：实验数字只在相同任务语义、资源和计时口径内解读；尚未完成同条件对照的机制属于研究方案，不作为既有收益。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285c1a8504357" /><Relationship Type="http://schemas.openxmlformats.org/officeDocument/2006/relationships/image" Target="/ppt/media/image.jpeg" Id="R59cc9755514246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3630e1b7649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7a829c29f45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99aca9d224342" /><Relationship Type="http://schemas.openxmlformats.org/officeDocument/2006/relationships/image" Target="/ppt/media/image.jpeg" Id="R6acf6cf902c349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a89be4b5da4026" /><Relationship Type="http://schemas.openxmlformats.org/officeDocument/2006/relationships/image" Target="/ppt/media/image.jpeg" Id="Re24dbd0f217540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f55a2334324d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103918bd83431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7eb20895e64bf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0e9781704c4b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7207659ff3434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4d91d5d1a147b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13d668c72846f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23591671a8461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df3c9aa0264b8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e7117cd298444a" /></Relationships>
</file>

<file path=ppt/slideLayouts/slideLayout1.xml><?xml version="1.0" encoding="utf-8"?>
<p:sldLayout xmlns:p="http://schemas.openxmlformats.org/presentationml/2006/main" showMasterSp="0" preserve="1" userDrawn="1">
  <p:cSld name="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c9755514246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16FB667-C97D-451E-8682-8FA6DCBA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217" y="3589339"/>
            <a:ext cx="11590867" cy="55563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FF33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90111A3-747C-4773-843B-84A0C8CD2F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EE366FB1-A7E5-4326-87F2-246303E7F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A204C0E-4D22-490A-BEFD-F25A24BE2F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551C56A-4666-4A53-BD21-84822FF1EC4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CCECDC1-B9AB-4E91-A386-E86A60ABD2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09CCD3-153B-4493-A489-431E7F787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B96FCE4-21DF-4AB6-A527-983724C8FA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7EF8A36-C238-4F1C-A70B-5620EBB47E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FE8214-6E75-4040-8165-D7DD7074A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97E55F-DCD7-44CD-9AFD-BC3BD876D2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96B77E6-7BA5-43E1-912C-6285FAA9BE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BA152E0-4EB7-4EAD-90C3-9B5928AA87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3DC1132-46BE-4C7A-8468-598B4749A0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1_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f6cf902c34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4F1FDC-94D2-44AA-AD78-2004631C81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2C9A5242-A613-4BC1-ADAF-005A9C86A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6A196DA-DDF2-4955-A49E-94E9A0B5386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57C8B05-8CC9-4A3D-886D-64B7AE5ABE9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1FA91CA-C275-4AE0-AC98-08F4ECB495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2E90BB-A2F7-479D-BA0D-100FAB5FBC6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EE0D7A2-5C70-4BE0-94AD-B5AB36B30D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BF74F2-AA5D-4202-835B-C93E89F836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E39179-ED01-4DEA-B4CE-5EB5AB7AF3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158621-2CBE-4441-9CEB-4A74BB7899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dbd0f2175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BC58E6-70C3-4D0C-8A04-922D4629E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54275A-DD42-485C-B3A1-A1DC039FF6C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BED9DA-1C03-4E96-AC1F-FDCA3084B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77AF275-97E6-4383-BA3B-C5504F3C9E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695A76-305A-4442-9A8D-DE8359173D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EB7CC6-C35B-4AAF-A35A-1B87B7F1C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675C2-FDF8-4C72-A016-D6CEC6FF36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5E834B-335F-4ABA-B867-6D2013BB82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44D712-BCE4-44EB-84FC-E263056E6F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F27689-22CF-4EE8-9BF0-C949B168A7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1A6A53-E001-4D70-A3D2-52A63BE04E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BB5199-7CC6-46F0-9668-60419E512E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0F9349-9A84-4F64-8896-4755018B6C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4E2208-C27A-4D1B-B1C0-1300C56509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CF0DEC7-18E5-42CA-8CF1-6FCF97E9C2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E7B2427-3C27-4795-9E15-D952658E42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1396BD-378E-4D3A-82FB-292CD5A9C3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1A3295-4B89-4DC7-B33E-D54C033B00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68E372F-FED0-45C5-AA75-195C1B892C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6E2BF0B-ECBC-4A2C-8A5F-26F40E18659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FA20E9B-5E90-4B4F-9B13-62EFACC8F76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961241C-CFB4-4502-A9FE-5BDEE2D627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20DE205-6D32-404C-8483-7D14959B39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E5CD64A-82ED-497D-ADB9-4CF72CF04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8B3CD6-552A-43EE-B058-C905CE24A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C49C564-599B-42D4-B1E4-18476888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7BD88B8-31DD-4B51-83A0-299BC499F2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BE3785D-1279-41E3-B5D3-8F0F5D659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10BED3F-8E92-41E5-A333-23ABDF15A4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F343F0B-D33F-45D1-B674-C924797E9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40FE9C3-51A7-4E9B-BD05-C89A4E319D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500190-4B49-490C-BD20-C5E7119AD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31D2B42-117B-4B5F-A0A9-0126B26420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C434B4-9B2A-407F-BC6F-B556907464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7876B7D-7930-47B6-85D6-AF00F3FE4E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6904D1-E485-46BB-8073-2AEE8F8ECC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C25DCF-CCB9-45DC-B5EA-169299933F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A6E86B-3996-473F-BFA2-DE49B2AB20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78705B1-7062-4B5B-AC3D-8B51049876C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C99CB4-06D6-4298-AE18-5C2476E30A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F8951FE-448B-4A12-A89E-A9EB56BAAE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7EAE18-26E0-4280-B0CE-28C02CE3D1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621DA5-E32F-4CD3-AAE0-85D19954A7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D6D828-36B2-403D-999B-3BC91F2CB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A27EE3-A649-4A22-AC72-D82147067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BB104-139C-4FEC-92C0-0BB1F38F12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57BA8C-2631-47B1-8FEF-B2EB657E79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3EAB67-F355-4DFF-9003-970C3E8701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DADDD84-0EE6-4AB9-A0D3-5C53E208E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C8335A-587D-4BC6-8082-8F25437F38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BC4442-4475-463E-ADFB-9630A841D7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A340BF-1510-4717-A5B7-A0C8D7724C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015785-3C16-4B2F-81DA-69BCA6FA80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962cb5ec5a4f4c39" /><Relationship Type="http://schemas.openxmlformats.org/officeDocument/2006/relationships/theme" Target="/ppt/slideMasters/theme/theme2.xml" Id="Ra487bc48e2cd4001" /><Relationship Type="http://schemas.openxmlformats.org/officeDocument/2006/relationships/slideLayout" Target="/ppt/slideLayouts/slideLayout1.xml" Id="R349fe53e1a754abe" /><Relationship Type="http://schemas.openxmlformats.org/officeDocument/2006/relationships/slideLayout" Target="/ppt/slideLayouts/slideLayout2.xml" Id="Rd3e920d5279b4301" /><Relationship Type="http://schemas.openxmlformats.org/officeDocument/2006/relationships/slideLayout" Target="/ppt/slideLayouts/slideLayout3.xml" Id="Rb2a4361347934f63" /><Relationship Type="http://schemas.openxmlformats.org/officeDocument/2006/relationships/slideLayout" Target="/ppt/slideLayouts/slideLayout4.xml" Id="Rad3ff90a0fba446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bd08321f27bd4937" /><Relationship Type="http://schemas.openxmlformats.org/officeDocument/2006/relationships/theme" Target="/ppt/slideMasters/theme/theme3.xml" Id="Ra03ced1a25724bef" /><Relationship Type="http://schemas.openxmlformats.org/officeDocument/2006/relationships/slideLayout" Target="/ppt/slideLayouts/slideLayout5.xml" Id="R4b3ab617df544d17" /><Relationship Type="http://schemas.openxmlformats.org/officeDocument/2006/relationships/slideLayout" Target="/ppt/slideLayouts/slideLayout6.xml" Id="Rf097afa384fc4ece" /><Relationship Type="http://schemas.openxmlformats.org/officeDocument/2006/relationships/slideLayout" Target="/ppt/slideLayouts/slideLayout7.xml" Id="R8dabc3f9c48c43ea" /><Relationship Type="http://schemas.openxmlformats.org/officeDocument/2006/relationships/slideLayout" Target="/ppt/slideLayouts/slideLayout8.xml" Id="R50d8cd76e3634f92" /><Relationship Type="http://schemas.openxmlformats.org/officeDocument/2006/relationships/slideLayout" Target="/ppt/slideLayouts/slideLayout9.xml" Id="R9d870e2d1b3b451a" /><Relationship Type="http://schemas.openxmlformats.org/officeDocument/2006/relationships/slideLayout" Target="/ppt/slideLayouts/slideLayout10.xml" Id="R4bdf6ae9e3ce42ef" /><Relationship Type="http://schemas.openxmlformats.org/officeDocument/2006/relationships/slideLayout" Target="/ppt/slideLayouts/slideLayout11.xml" Id="R687e51f2f77a457b" /><Relationship Type="http://schemas.openxmlformats.org/officeDocument/2006/relationships/slideLayout" Target="/ppt/slideLayouts/slideLayout12.xml" Id="R7fdb9830800545e2" /><Relationship Type="http://schemas.openxmlformats.org/officeDocument/2006/relationships/slideLayout" Target="/ppt/slideLayouts/slideLayout13.xml" Id="R34519e49dcf844c0" /><Relationship Type="http://schemas.openxmlformats.org/officeDocument/2006/relationships/slideLayout" Target="/ppt/slideLayouts/slideLayout14.xml" Id="R5904b4684c834193" /><Relationship Type="http://schemas.openxmlformats.org/officeDocument/2006/relationships/slideLayout" Target="/ppt/slideLayouts/slideLayout15.xml" Id="R702430ba3cb8467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17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cb5ec5a4f4c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517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EE58EB-EDAF-4379-8C5C-E9760A88F2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36613"/>
            <a:ext cx="109728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模板</a:t>
            </a:r>
            <a:r>
              <a:t>Chapter</a:t>
            </a:r>
            <a:endParaRPr/>
          </a:p>
        </p:txBody>
      </p:sp>
      <p:sp>
        <p:nvSpPr>
          <p:cNvPr id="10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959905-8220-4779-ACA6-CE40065669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16113"/>
            <a:ext cx="109728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第一级</a:t>
            </a:r>
            <a:r>
              <a:t>abcd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r>
              <a:t>adb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r>
              <a:t>kljaskf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3517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B8F56D-ABE8-4944-96A1-AEAFB4F3B3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A980AD3-66D9-45BE-B0E1-41D8E90053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00FC9A6-7917-4BE5-B2C3-5F93D34DE9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0E176AF-7A3D-4F3C-992B-62067443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9fe53e1a754abe"/>
    <p:sldLayoutId xmlns:r="http://schemas.openxmlformats.org/officeDocument/2006/relationships" id="2147483650" r:id="Rd3e920d5279b4301"/>
    <p:sldLayoutId xmlns:r="http://schemas.openxmlformats.org/officeDocument/2006/relationships" id="2147483651" r:id="Rb2a4361347934f63"/>
    <p:sldLayoutId xmlns:r="http://schemas.openxmlformats.org/officeDocument/2006/relationships" id="2147483652" r:id="Rad3ff90a0fba4462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/>
        <a:buChar char="ª"/>
        <a:defRPr sz="3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/>
        <a:buChar char="Ø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/>
          <a:ea typeface="Comic Sans MS"/>
          <a:cs typeface="Comic Sans MS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FC33526-8DD6-4812-B9B5-108FAC150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841E97-7C30-4F11-9BEF-38416896D0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CED433-EE36-4ACA-B6FA-D138BD81928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99F69D-C50C-4BD8-8EE0-8D73D699D6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36CCD7-E53F-4C47-B06C-5898A79AE81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8321f27bd4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E6A3F40-15D0-4A86-A9F4-21201A7C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4b3ab617df544d17"/>
    <p:sldLayoutId xmlns:r="http://schemas.openxmlformats.org/officeDocument/2006/relationships" id="2147483655" r:id="Rf097afa384fc4ece"/>
    <p:sldLayoutId xmlns:r="http://schemas.openxmlformats.org/officeDocument/2006/relationships" id="2147483656" r:id="R8dabc3f9c48c43ea"/>
    <p:sldLayoutId xmlns:r="http://schemas.openxmlformats.org/officeDocument/2006/relationships" id="2147483657" r:id="R50d8cd76e3634f92"/>
    <p:sldLayoutId xmlns:r="http://schemas.openxmlformats.org/officeDocument/2006/relationships" id="2147483658" r:id="R9d870e2d1b3b451a"/>
    <p:sldLayoutId xmlns:r="http://schemas.openxmlformats.org/officeDocument/2006/relationships" id="2147483659" r:id="R4bdf6ae9e3ce42ef"/>
    <p:sldLayoutId xmlns:r="http://schemas.openxmlformats.org/officeDocument/2006/relationships" id="2147483660" r:id="R687e51f2f77a457b"/>
    <p:sldLayoutId xmlns:r="http://schemas.openxmlformats.org/officeDocument/2006/relationships" id="2147483661" r:id="R7fdb9830800545e2"/>
    <p:sldLayoutId xmlns:r="http://schemas.openxmlformats.org/officeDocument/2006/relationships" id="2147483662" r:id="R34519e49dcf844c0"/>
    <p:sldLayoutId xmlns:r="http://schemas.openxmlformats.org/officeDocument/2006/relationships" id="2147483663" r:id="R5904b4684c834193"/>
    <p:sldLayoutId xmlns:r="http://schemas.openxmlformats.org/officeDocument/2006/relationships" id="2147483664" r:id="R702430ba3cb8467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b5c3e8e88f541cd" /><Relationship Type="http://schemas.openxmlformats.org/officeDocument/2006/relationships/image" Target="/ppt/media/image2.jpeg" Id="Rf5eac2fb05c542d7" /><Relationship Type="http://schemas.openxmlformats.org/officeDocument/2006/relationships/image" Target="/ppt/media/image3.jpeg" Id="R7115785480a64871" /><Relationship Type="http://schemas.openxmlformats.org/officeDocument/2006/relationships/notesSlide" Target="/ppt/notesSlides/notesSlide1.xml" Id="Rc5ecbb31a5db4d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23dca950349db" /><Relationship Type="http://schemas.openxmlformats.org/officeDocument/2006/relationships/notesSlide" Target="/ppt/notesSlides/notesSlide2.xml" Id="R9c6e7255c642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a197deb9d93421a" /><Relationship Type="http://schemas.openxmlformats.org/officeDocument/2006/relationships/image" Target="/ppt/media/image.png" Id="R1f0c2fb2ea0848d7" /><Relationship Type="http://schemas.openxmlformats.org/officeDocument/2006/relationships/notesSlide" Target="/ppt/notesSlides/notesSlide3.xml" Id="R4e537e455413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2c24ede0a5f4e75" /><Relationship Type="http://schemas.openxmlformats.org/officeDocument/2006/relationships/image" Target="/ppt/media/image2.png" Id="R9825900148a14c57" /><Relationship Type="http://schemas.openxmlformats.org/officeDocument/2006/relationships/notesSlide" Target="/ppt/notesSlides/notesSlide4.xml" Id="R97614cd3a05344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1b34695c5f94944" /><Relationship Type="http://schemas.openxmlformats.org/officeDocument/2006/relationships/image" Target="/ppt/media/image3.png" Id="R27715c82dd86458e" /><Relationship Type="http://schemas.openxmlformats.org/officeDocument/2006/relationships/notesSlide" Target="/ppt/notesSlides/notesSlide5.xml" Id="R456cef6a613f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6e2ab437d84425b" /><Relationship Type="http://schemas.openxmlformats.org/officeDocument/2006/relationships/image" Target="/ppt/media/image4.png" Id="R90f8b2cee2bb4958" /><Relationship Type="http://schemas.openxmlformats.org/officeDocument/2006/relationships/notesSlide" Target="/ppt/notesSlides/notesSlide6.xml" Id="R89f2cdbcbf1747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4d56ced554c2a" /><Relationship Type="http://schemas.openxmlformats.org/officeDocument/2006/relationships/notesSlide" Target="/ppt/notesSlides/notesSlide7.xml" Id="Ra658f70a33334f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886961234564479" /><Relationship Type="http://schemas.openxmlformats.org/officeDocument/2006/relationships/image" Target="/ppt/media/image5.png" Id="R50111e9956c7407e" /><Relationship Type="http://schemas.openxmlformats.org/officeDocument/2006/relationships/notesSlide" Target="/ppt/notesSlides/notesSlide8.xml" Id="R5fe1ad8e41384d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b6b78267b7f48fb" /><Relationship Type="http://schemas.openxmlformats.org/officeDocument/2006/relationships/image" Target="/ppt/media/image6.png" Id="R4d1d1813e50b4504" /><Relationship Type="http://schemas.openxmlformats.org/officeDocument/2006/relationships/notesSlide" Target="/ppt/notesSlides/notesSlide9.xml" Id="R755e98f2f6584c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7ed418bffb54df7" /><Relationship Type="http://schemas.openxmlformats.org/officeDocument/2006/relationships/image" Target="/ppt/media/image7.png" Id="R0f84d1aef455440a" /><Relationship Type="http://schemas.openxmlformats.org/officeDocument/2006/relationships/notesSlide" Target="/ppt/notesSlides/notesSlide10.xml" Id="R483424a2507c46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118cda4f65646a5" /><Relationship Type="http://schemas.openxmlformats.org/officeDocument/2006/relationships/image" Target="/ppt/media/image8.png" Id="Rfa75eac3efb94d14" /><Relationship Type="http://schemas.openxmlformats.org/officeDocument/2006/relationships/notesSlide" Target="/ppt/notesSlides/notesSlide11.xml" Id="Rda3d8d3ae20f46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7487ff6a9484e" /><Relationship Type="http://schemas.openxmlformats.org/officeDocument/2006/relationships/notesSlide" Target="/ppt/notesSlides/notesSlide12.xml" Id="R96f745902db34b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f57406d194d70" /><Relationship Type="http://schemas.openxmlformats.org/officeDocument/2006/relationships/notesSlide" Target="/ppt/notesSlides/notesSlide13.xml" Id="R1609ac7e758b4a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a132408d5b64c10" /><Relationship Type="http://schemas.openxmlformats.org/officeDocument/2006/relationships/image" Target="/ppt/media/image9.png" Id="R668be5d8c03b4bc7" /><Relationship Type="http://schemas.openxmlformats.org/officeDocument/2006/relationships/notesSlide" Target="/ppt/notesSlides/notesSlide14.xml" Id="R8d1afdd88e394c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1a9cb1a64764aae" /><Relationship Type="http://schemas.openxmlformats.org/officeDocument/2006/relationships/image" Target="/ppt/media/image10.png" Id="R67e282419718456d" /><Relationship Type="http://schemas.openxmlformats.org/officeDocument/2006/relationships/notesSlide" Target="/ppt/notesSlides/notesSlide15.xml" Id="R64385368bf4d4d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347afd451a54553" /><Relationship Type="http://schemas.openxmlformats.org/officeDocument/2006/relationships/image" Target="/ppt/media/image11.png" Id="Rdb1723997a4845b1" /><Relationship Type="http://schemas.openxmlformats.org/officeDocument/2006/relationships/notesSlide" Target="/ppt/notesSlides/notesSlide16.xml" Id="Rbbe8af0d33f74a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d422c4f03204d4c" /><Relationship Type="http://schemas.openxmlformats.org/officeDocument/2006/relationships/image" Target="/ppt/media/image12.png" Id="R4534c3d45ca14a33" /><Relationship Type="http://schemas.openxmlformats.org/officeDocument/2006/relationships/notesSlide" Target="/ppt/notesSlides/notesSlide17.xml" Id="Rd8f30841c89144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66cc01e361147e0" /><Relationship Type="http://schemas.openxmlformats.org/officeDocument/2006/relationships/image" Target="/ppt/media/image13.png" Id="R753263194ecf49d7" /><Relationship Type="http://schemas.openxmlformats.org/officeDocument/2006/relationships/notesSlide" Target="/ppt/notesSlides/notesSlide18.xml" Id="R5f53483dc85042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b5c0f2421ac4233" /><Relationship Type="http://schemas.openxmlformats.org/officeDocument/2006/relationships/image" Target="/ppt/media/image14.png" Id="Rc3ed3bb8be8c43cf" /><Relationship Type="http://schemas.openxmlformats.org/officeDocument/2006/relationships/notesSlide" Target="/ppt/notesSlides/notesSlide19.xml" Id="Rdf3c28c3c93945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d1c61b0af614211" /><Relationship Type="http://schemas.openxmlformats.org/officeDocument/2006/relationships/image" Target="/ppt/media/image15.png" Id="R5a9119f069194cd7" /><Relationship Type="http://schemas.openxmlformats.org/officeDocument/2006/relationships/notesSlide" Target="/ppt/notesSlides/notesSlide20.xml" Id="Rb0a5ab5d3fdf40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2aa1fc735194a0c" /><Relationship Type="http://schemas.openxmlformats.org/officeDocument/2006/relationships/image" Target="/ppt/media/image16.png" Id="R64ba54a8a58e40a7" /><Relationship Type="http://schemas.openxmlformats.org/officeDocument/2006/relationships/notesSlide" Target="/ppt/notesSlides/notesSlide21.xml" Id="Recd7e657f75742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23a7b56914a4f" /><Relationship Type="http://schemas.openxmlformats.org/officeDocument/2006/relationships/notesSlide" Target="/ppt/notesSlides/notesSlide22.xml" Id="Rae2e7433796945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a9fcf5b574177" /><Relationship Type="http://schemas.openxmlformats.org/officeDocument/2006/relationships/notesSlide" Target="/ppt/notesSlides/notesSlide23.xml" Id="R70aa98dc579e41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01fe99a2d0340d2" /><Relationship Type="http://schemas.openxmlformats.org/officeDocument/2006/relationships/image" Target="/ppt/media/image17.png" Id="Rda26c29a6d5b4175" /><Relationship Type="http://schemas.openxmlformats.org/officeDocument/2006/relationships/notesSlide" Target="/ppt/notesSlides/notesSlide24.xml" Id="Rbe4076e87dc347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c83eb38c7640b2" /><Relationship Type="http://schemas.openxmlformats.org/officeDocument/2006/relationships/notesSlide" Target="/ppt/notesSlides/notesSlide25.xml" Id="Rcba527d903a649e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ddd2436d6445ee" /><Relationship Type="http://schemas.openxmlformats.org/officeDocument/2006/relationships/image" Target="/ppt/media/image2.jpeg" Id="R73c85c6ba71241e4" /><Relationship Type="http://schemas.openxmlformats.org/officeDocument/2006/relationships/notesSlide" Target="/ppt/notesSlides/notesSlide26.xml" Id="Rae8f56a8e47948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ac2fb05c542d7"/>
          <a:srcRect xmlns:a="http://schemas.openxmlformats.org/drawingml/2006/main" l="0" t="41239" r="0" b="27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43452"/>
            <a:ext cx="12192000" cy="2014548"/>
          </a:xfrm>
        </p:spPr>
      </p:pic>
      <p:pic>
        <p:nvPicPr>
          <p:cNvPr id="2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5785480a64871"/>
          <a:srcRect xmlns:a="http://schemas.openxmlformats.org/drawingml/2006/main" l="0" t="27368" r="0" b="30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92149"/>
            <a:ext cx="12192000" cy="2356583"/>
          </a:xfrm>
        </p:spPr>
      </p:pic>
      <p:sp>
        <p:nvSpPr>
          <p:cNvPr id="16" name="标题 1">
            <a:extLst xmlns:a="http://schemas.openxmlformats.org/drawingml/2006/main">
              <a:ext uri="{FF2B5EF4-FFF2-40B4-BE49-F238E27FC236}">
                <a16:creationId xmlns:a16="http://schemas.microsoft.com/office/drawing/2014/main" id="{2FAE3763-955A-457E-954B-7C0D3933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815" y="2847664"/>
            <a:ext cx="2915816" cy="43204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b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 b="0">
                <a:solidFill>
                  <a:schemeClr val="accent1">
                    <a:lumMod val="25000"/>
                  </a:schemeClr>
                </a:solidFill>
              </a:rPr>
              <a:t>华中科技大学</a:t>
            </a:r>
            <a:endParaRPr sz="2000" b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A26D7657-6693-4852-ACB1-2D9E5EEF24A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59496" y="3269990"/>
            <a:ext cx="9080679" cy="66306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数据库 AI 负载的执行优化与调度研究</a:t>
            </a:r>
            <a:endParaRPr sz="2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1EDCCB-61BC-4E5D-8748-351A0800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96" y="4087119"/>
            <a:ext cx="8352928" cy="909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sz="1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报告人：____________</a:t>
            </a:r>
            <a:endParaRPr sz="1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sz="1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指导教师：____________</a:t>
            </a:r>
            <a:endParaRPr sz="1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AB45B31E-CB56-49CB-AB5C-025234CD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660" y="4005064"/>
            <a:ext cx="5042404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8242360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1B4EF97-E2C9-424D-A42C-CD8B65D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1052736"/>
            <a:ext cx="877463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提纲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C9358-3593-4516-A5DE-3B7033B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A9426-10F1-4596-9CCF-655FFC8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01 研究背景与研究空白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CFB7C-201C-4143-BEA8-6F02476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20237-2F45-4AB6-BE21-FD54324D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02 动机实验与设计要求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ACBB3-4B96-4D70-A460-D8937055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6205A-162F-4D19-BB56-877B33CD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03 研究方案、策略关系与验证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239C9-EA93-486F-B6C3-6316E293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D0DA5-0B96-4F54-8986-10DA7EF9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04 研究基础、计划与预期贡献</a:t>
            </a:r>
          </a:p>
        </p:txBody>
      </p:sp>
    </p:spTree>
    <p:extLst>
      <p:ext uri="{BB962C8B-B14F-4D97-AF65-F5344CB8AC3E}">
        <p14:creationId xmlns:p14="http://schemas.microsoft.com/office/powerpoint/2010/main" val="10054228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研究背景｜数据库成为 AI 任务入口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Snowflake Cortex AISQL、BigQuery ML/AI、Oracle AI Vector Search 与 PostgreSQL pgai/pgvector 已支持生成、嵌入、过滤和分类。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图示说明：数据库负责发起任务与管理结果，模型调用却经过请求组织、数据准备、GPU 服务和写回。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本页结论：数据库成为 AI 任务入口后，查询边界已经延伸到模型服务之前。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下一问题：传统算子的执行假设能否直接覆盖这条链路？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c2fb2ea0848d7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研究背景｜AI 算子改变传统数据执行假设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传统算子通常以行数、字节和本地资源估计成本；AI 算子还受 token/frame、CPU prepare、传输、模型队列、KV 与输出长度影响。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图示说明：数据库只看到记录与结果，模型服务只看到已到达请求，中间阶段没有统一状态所有者。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本页结论：固定行数、固定 batch 和固定并发不足以描述端到端执行。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下一问题：相邻研究分别解决了哪些层，仍缺什么接口？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5900148a14c57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研究现状｜相邻层各自优化，跨层信息仍然分散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数据库侧：LOTUS、Galois、GaussML 与 Cortex AISQL 优化算子语义、计划和调用成本；数据执行侧：Ray Data、Daft 与 NeuStream 提供异构流水线；模型服务侧：Orca、vLLM、Sarathi-Serve 与 VTC 优化批处理、KV 和服务内公平。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代价研究：GRACEFUL、COSTREAM 与 Abacus 开始服务配置和计划选择。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本页结论：现有工作各自解决一层，但数据库作业、分阶段工作量和模型运行状态仍没有共同的执行闭环。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下一问题：这段跨层能力应由谁承担？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15c82dd86458e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研究空白｜AI Data Execution Layer 缺少上游闭环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AI Data Execution Layer（AI 数据执行层）需要把记录转换为可比较的分阶段工作量，观测数据源、准备、模型、结果阶段与服务状态，并在固定容量内控制准入、路由和多作业额度。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图示说明：数据库提供作业、服务目标和结果语义；模型服务提供运行/等待请求、KV 与完成节奏；中间层连接两侧。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研究边界：不修改数据库内核、vLLM 调度器、模型结构或 GPU 内核。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下一问题：现有执行路径究竟会落入哪些供给和排队状态？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8b2cee2bb4958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1B4EF97-E2C9-424D-A42C-CD8B65D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1052736"/>
            <a:ext cx="877463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提纲 · 动机实验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FCA13-462E-489D-8A1A-A4624644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EA4C0-ED07-4D5E-A31F-8D46FF6A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01 研究背景与研究空白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A83C6-84EF-41E4-9BB3-D3B9D46B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D9F76-DEFF-48E4-BBBF-A97575E8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02 动机实验与设计要求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B180E-A94C-4E47-98A9-144321A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41857-C070-485A-AB44-A81C4F86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03 研究方案、策略关系与验证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70A69-AF1F-469F-8C82-1C63B59D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EF5E4-4891-4945-90CE-1399DD7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04 研究基础、计划与预期贡献</a:t>
            </a:r>
          </a:p>
        </p:txBody>
      </p:sp>
    </p:spTree>
    <p:extLst>
      <p:ext uri="{BB962C8B-B14F-4D97-AF65-F5344CB8AC3E}">
        <p14:creationId xmlns:p14="http://schemas.microsoft.com/office/powerpoint/2010/main" val="10054228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动机证据｜不同执行图形成不同服务状态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实验现象：均匀负载下的三种固定配置表现接近；同一受控对话负载中，Daft 两条官方路径出现大量等待与高 KV 占用，Ray Data 当前官方路径则供给不足。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系统含义：作业完成时间接近或等待队列为零，都不能单独说明运行状态健康；执行图决定请求到达模型服务的节奏。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设计对应：运行时需联合观察工作速率、运行/等待请求、KV 占用、尾延迟与任务进度。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比较原则：先验证数据读取、结果写回和输出质量，再观察各官方执行路径的外部服务压力。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11e9956c7407e"/>
          <a:stretch xmlns:a="http://schemas.openxmlformats.org/drawingml/2006/main"/>
        </p:blipFill>
        <p:spPr>
          <a:xfrm xmlns:a="http://schemas.openxmlformats.org/drawingml/2006/main">
            <a:off x="1610030" y="1809750"/>
            <a:ext cx="8971941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动机证据｜行数和静态上限不能描述工作状态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实验现象：固定 16 行时，一批输入的 token 工作量最小 474、最大 6,793，相差 14.3 倍；相同的每端点 65,536 在途 token 上限，在高负载与到达受限场景下呈现不同 GPU 活跃度。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系统含义：容量扫描存在最小近饱和区，继续增加在途工作量的吞吐收益很小，但请求尾延迟继续上升；容量上限不是在线状态。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设计对应：需要分阶段工作描述、新鲜状态快照与固定容量边界内的控制动作。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d1813e50b4504"/>
          <a:stretch xmlns:a="http://schemas.openxmlformats.org/drawingml/2006/main"/>
        </p:blipFill>
        <p:spPr>
          <a:xfrm xmlns:a="http://schemas.openxmlformats.org/drawingml/2006/main">
            <a:off x="1644629" y="1809750"/>
            <a:ext cx="890274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动机证据｜图像任务暴露多阶段失配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实验现象：实用批次下，CPU 解码与归一化时间约为 GPU 模型执行时间的 13.9–31.0 倍；普通内存、锁页内存和 GPU 常驻输入的传输代价也不同。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系统含义：活动窗口从 16 增到 32 只有小幅收益，继续增到 64 出现等待或性能回退；图片数量不能代表真实工作量。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设计对应：跨模态公共接口需要表达数据源、准备、模型和结果四个阶段。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4d1aef455440a"/>
          <a:stretch xmlns:a="http://schemas.openxmlformats.org/drawingml/2006/main"/>
        </p:blipFill>
        <p:spPr>
          <a:xfrm xmlns:a="http://schemas.openxmlformats.org/drawingml/2006/main">
            <a:off x="1652122" y="1809750"/>
            <a:ext cx="8887755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动机证据｜四作业并发同时干扰短作业与长作业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实验现象：Daft 本地执行、Daft 分布式执行和 Ray Data 中，短作业与三个长作业的完成时间均退化，但幅度和服务压力形态不同。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系统含义：模型服务只看到请求，无法直接管理数据库作业的到达、活跃、排空和公平；只保护短作业也不足以描述系统。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设计对应：需要每作业已完成/剩余工作量、Work Credit（工作额度）、隔离约束与 Jain fairness（Jain 公平指数）。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比较方式：每条原生路径只与自身单作业隔离运行比较，不做跨框架绝对排名。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5eac3efb94d14"/>
          <a:stretch xmlns:a="http://schemas.openxmlformats.org/drawingml/2006/main"/>
        </p:blipFill>
        <p:spPr>
          <a:xfrm xmlns:a="http://schemas.openxmlformats.org/drawingml/2006/main">
            <a:off x="2365067" y="1809750"/>
            <a:ext cx="7461866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AFBBC39-6F2A-4A84-BA34-06FD127985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F67AC22-FFFF-4591-9DF4-E370E1F0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设计要求｜动机现象导出两项研究内容和共同支撑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39" name="矩形 3">
            <a:extLst xmlns:a="http://schemas.openxmlformats.org/drawingml/2006/main">
              <a:ext uri="{FF2B5EF4-FFF2-40B4-BE49-F238E27FC236}">
                <a16:creationId xmlns:a16="http://schemas.microsoft.com/office/drawing/2014/main" id="{F3D3D49B-1B84-476E-95E2-ED4BA486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19084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0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2F3CC272-8048-4C79-8484-16AB52F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03" y="2784811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1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E6A2A0C2-E598-48CD-B00C-FFF3269B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921" y="2780568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5" name="矩形 19">
            <a:extLst xmlns:a="http://schemas.openxmlformats.org/drawingml/2006/main">
              <a:ext uri="{FF2B5EF4-FFF2-40B4-BE49-F238E27FC236}">
                <a16:creationId xmlns:a16="http://schemas.microsoft.com/office/drawing/2014/main" id="{D57C99D6-56F0-4AFF-89C3-300D77B0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380583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7" name="矩形 21">
            <a:extLst xmlns:a="http://schemas.openxmlformats.org/drawingml/2006/main">
              <a:ext uri="{FF2B5EF4-FFF2-40B4-BE49-F238E27FC236}">
                <a16:creationId xmlns:a16="http://schemas.microsoft.com/office/drawing/2014/main" id="{22253FCE-3AAF-4587-95E2-4F66C61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88" y="478945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8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129B8599-FFF1-4458-8F21-976F688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76363" y="2789256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9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C657F21B-6DF3-4C3C-8FDA-B59F0448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2681" y="2785013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53" name="矩形 28">
            <a:extLst xmlns:a="http://schemas.openxmlformats.org/drawingml/2006/main">
              <a:ext uri="{FF2B5EF4-FFF2-40B4-BE49-F238E27FC236}">
                <a16:creationId xmlns:a16="http://schemas.microsoft.com/office/drawing/2014/main" id="{F7C9667B-2A18-40B2-98D5-92C4908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33" y="381282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5" name="矩形 30">
            <a:extLst xmlns:a="http://schemas.openxmlformats.org/drawingml/2006/main">
              <a:ext uri="{FF2B5EF4-FFF2-40B4-BE49-F238E27FC236}">
                <a16:creationId xmlns:a16="http://schemas.microsoft.com/office/drawing/2014/main" id="{5E42FCDD-C981-464E-8169-378E9A47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068" y="51215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6" name="intro">
            <a:extLst xmlns:a="http://schemas.openxmlformats.org/drawingml/2006/main">
              <a:ext uri="{FF2B5EF4-FFF2-40B4-BE49-F238E27FC236}">
                <a16:creationId xmlns:a16="http://schemas.microsoft.com/office/drawing/2014/main" id="{5F3DB709-7F79-4F6A-AE55-36EBAD03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动机实验不是结果堆叠：每个现象都对应一个设计对象、一个控制边界和一组后续对照实验。</a:t>
            </a:r>
          </a:p>
        </p:txBody>
      </p:sp>
      <p:sp>
        <p:nvSpPr>
          <p:cNvPr id="1048657" name="left-label">
            <a:extLst xmlns:a="http://schemas.openxmlformats.org/drawingml/2006/main">
              <a:ext uri="{FF2B5EF4-FFF2-40B4-BE49-F238E27FC236}">
                <a16:creationId xmlns:a16="http://schemas.microsoft.com/office/drawing/2014/main" id="{E2EBE84E-0635-4D31-867D-ECA76577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研究内容一</a:t>
            </a:r>
          </a:p>
        </p:txBody>
      </p:sp>
      <p:sp>
        <p:nvSpPr>
          <p:cNvPr id="1048658" name="left-title">
            <a:extLst xmlns:a="http://schemas.openxmlformats.org/drawingml/2006/main">
              <a:ext uri="{FF2B5EF4-FFF2-40B4-BE49-F238E27FC236}">
                <a16:creationId xmlns:a16="http://schemas.microsoft.com/office/drawing/2014/main" id="{4A7773E4-738D-40C1-AB29-08E0A45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工作单元与数据组织</a:t>
            </a:r>
          </a:p>
        </p:txBody>
      </p:sp>
      <p:sp>
        <p:nvSpPr>
          <p:cNvPr id="1048659" name="right-label">
            <a:extLst xmlns:a="http://schemas.openxmlformats.org/drawingml/2006/main">
              <a:ext uri="{FF2B5EF4-FFF2-40B4-BE49-F238E27FC236}">
                <a16:creationId xmlns:a16="http://schemas.microsoft.com/office/drawing/2014/main" id="{32D65894-CE2E-45A5-BBEC-33099BE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研究内容二</a:t>
            </a:r>
          </a:p>
        </p:txBody>
      </p:sp>
      <p:sp>
        <p:nvSpPr>
          <p:cNvPr id="104866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6D4BE799-0E8F-4443-92B8-F43B31EC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状态感知提交与多作业调度</a:t>
            </a:r>
          </a:p>
        </p:txBody>
      </p:sp>
      <p:sp>
        <p:nvSpPr>
          <p:cNvPr id="1048661" name="left-point-1">
            <a:extLst xmlns:a="http://schemas.openxmlformats.org/drawingml/2006/main">
              <a:ext uri="{FF2B5EF4-FFF2-40B4-BE49-F238E27FC236}">
                <a16:creationId xmlns:a16="http://schemas.microsoft.com/office/drawing/2014/main" id="{319A5A8D-5E59-43BF-B3B9-251633D4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同行数工作量相差 14.3×，图像又呈多阶段失配。</a:t>
            </a:r>
          </a:p>
        </p:txBody>
      </p:sp>
      <p:sp>
        <p:nvSpPr>
          <p:cNvPr id="1048662" name="left-point-2">
            <a:extLst xmlns:a="http://schemas.openxmlformats.org/drawingml/2006/main">
              <a:ext uri="{FF2B5EF4-FFF2-40B4-BE49-F238E27FC236}">
                <a16:creationId xmlns:a16="http://schemas.microsoft.com/office/drawing/2014/main" id="{7EE95785-65CD-486B-94C1-F5DDFD15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因此先构造分阶段工作描述，再比较工作量预算、均衡与局部性；固定调度，只改变组织。</a:t>
            </a:r>
          </a:p>
        </p:txBody>
      </p:sp>
      <p:sp>
        <p:nvSpPr>
          <p:cNvPr id="1048663" name="right-point-1">
            <a:extLst xmlns:a="http://schemas.openxmlformats.org/drawingml/2006/main">
              <a:ext uri="{FF2B5EF4-FFF2-40B4-BE49-F238E27FC236}">
                <a16:creationId xmlns:a16="http://schemas.microsoft.com/office/drawing/2014/main" id="{7005CF6C-5F25-44E3-A8CB-9304B9D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同一上限对应不同状态，多作业出现效率、隔离与公平冲突。</a:t>
            </a:r>
          </a:p>
        </p:txBody>
      </p:sp>
      <p:sp>
        <p:nvSpPr>
          <p:cNvPr id="1048664" name="right-point-2">
            <a:extLst xmlns:a="http://schemas.openxmlformats.org/drawingml/2006/main">
              <a:ext uri="{FF2B5EF4-FFF2-40B4-BE49-F238E27FC236}">
                <a16:creationId xmlns:a16="http://schemas.microsoft.com/office/drawing/2014/main" id="{61F1EABA-FFD4-4EBB-8FBC-0E33303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因此保持 GPU 资源和最大在途工作量不变，比较准入、路由、空闲份额借用、有序释放与公平保护；代价估计同时服务两项内容。</a:t>
            </a:r>
          </a:p>
        </p:txBody>
      </p:sp>
    </p:spTree>
    <p:extLst>
      <p:ext uri="{BB962C8B-B14F-4D97-AF65-F5344CB8AC3E}">
        <p14:creationId xmlns:p14="http://schemas.microsoft.com/office/powerpoint/2010/main" val="19860129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1B4EF97-E2C9-424D-A42C-CD8B65D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1052736"/>
            <a:ext cx="877463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提纲 · 研究方案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5A786-23A1-4D47-8827-B8B45B93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D5218-3292-47A1-9E0F-6533832A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01 研究背景与研究空白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8668C-344F-4CEE-8899-8ED1CDDB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B970D-E9CA-4ECF-A5E4-0EE0AB10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02 动机实验与设计要求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017FD-9F39-4993-8DB3-BE23806A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5B8A7-4DBE-4302-AD20-1DE5DCA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03 研究方案、策略关系与验证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4ABE6-EBD9-4ADE-9B9F-5DBB05A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644B9-97D1-4338-A6E2-B8688318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04 研究基础、计划与预期贡献</a:t>
            </a:r>
          </a:p>
        </p:txBody>
      </p:sp>
    </p:spTree>
    <p:extLst>
      <p:ext uri="{BB962C8B-B14F-4D97-AF65-F5344CB8AC3E}">
        <p14:creationId xmlns:p14="http://schemas.microsoft.com/office/powerpoint/2010/main" val="10054228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总体方案｜前向工作描述与反向状态组成闭环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前向链路：数据库/数据帧 → WorkDescriptor（分阶段工作描述）与 Cost Estimator（算子代价估计器）→ Data Organizer（数据组织器）→ 调度 → GPU 执行 → 结果写回。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反向链路：Runtime State Snapshot（运行状态快照）把完成进度、队列与服务状态反馈给上游。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本页结论：两项研究内容可独立消融，但共享 WorkDescriptor、状态快照和代价信号。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下一步：先定义组织与调度共同消费的数据结构。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be5d8c03b4bc7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研究内容一｜WorkDescriptor 连接数据组织与调度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WorkDescriptor（分阶段工作描述）包含记录/作业标识、数据源/准备/模型/结果工作量、局部性、到达时间/期限、不确定区间与校准签名。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图示说明：文本映射输入/输出 token、前缀局部性与结果字节；图像映射编码字节、解码/缩放、张量/模型工作量与向量结果字节。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本页结论：WorkDescriptor 是研究内容一的输出，也是研究内容二的输入。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设计原则：先采用可解释的最小字段集，只有决策收益证明需要时才增加复杂度。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282419718456d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研究内容一｜数据组织权衡工作量均衡与局部性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候选策略包括固定行数、按 token/图像帧预算保序成批、长度对齐、最佳适配装箱与行数上限；一次消融中互斥比较。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图示说明：低压力下五种策略近似中性；高 KV 压力下，重排/装箱会破坏前缀组，缓存命中率与吞吐同步下降。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策略关系：工作量预算约束单元大小，均衡控制填充，局部性约束重排范围。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本页结论：先独立搜索最小有效组织策略，再与调度策略拼接。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723997a4845b1"/>
          <a:stretch xmlns:a="http://schemas.openxmlformats.org/drawingml/2006/main"/>
        </p:blipFill>
        <p:spPr>
          <a:xfrm xmlns:a="http://schemas.openxmlformats.org/drawingml/2006/main">
            <a:off x="2141663" y="1809750"/>
            <a:ext cx="7908675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研究内容二｜固定容量内动态释放工作额度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离线按机器、模型、协议和负载测量最小近饱和容量；在线通过 Runtime State Snapshot（运行状态快照）观测每作业待准备、在途、剩余、已完成工作量，以及运行/等待请求与 KV cache 占用。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Admission Control（准入控制）限制总量，Endpoint Routing（端点路由）选择去向，Work Credit（工作额度）与 Idle Borrowing（空闲额度借用）分配多作业份额。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状态过期、配置不匹配或额度账本异常时，退回先到先服务或 Fair Queue（公平队列），并保持总容量不变。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本页结论：动态控制对象是释放顺序与份额，不是持续猜测新的总并发。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4c3d45ca14a33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研究内容二｜共享额度权衡效率、隔离与公平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实验现象：单作业全容量与四分之一容量控制组先分离额度损失；同一总容量下，共享额度相对静态分区提高作业组吞吐与 MFU（模型浮点运算利用率），但不同作业收益不均，Jain fairness（Jain 公平指数）下降。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系统含义：提高资源利用并不保证每个作业同时改善，吞吐、隔离和公平是并列目标。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设计对应：空闲额度借用提高资源利用；每作业保底/上限、工作量欠账和服务目标保护约束隔离。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263194ecf49d7"/>
          <a:stretch xmlns:a="http://schemas.openxmlformats.org/drawingml/2006/main"/>
        </p:blipFill>
        <p:spPr>
          <a:xfrm xmlns:a="http://schemas.openxmlformats.org/drawingml/2006/main">
            <a:off x="2528888" y="1809750"/>
            <a:ext cx="7134225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共同支撑｜代价估计面向配置排序与决策损失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实验现象：429 个重复观测覆盖 20 组负载与服务配置，每组比较四个在途工作量候选；混合模型排序准确率 0.808，平均决策损失 2.90%，最坏损失 14.72%。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系统含义：单点执行时间误差更低，不保证能选对组织、容量或路由配置；当前结果只说明初步可行。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设计对应：Cost Estimator（算子代价估计器）采用解析工作量特征、少量剖析校准和残差修正，同时报告相对排序准确率与平均、中位、最坏决策损失。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d3bb8be8c43cf"/>
          <a:stretch xmlns:a="http://schemas.openxmlformats.org/drawingml/2006/main"/>
        </p:blipFill>
        <p:spPr>
          <a:xfrm xmlns:a="http://schemas.openxmlformats.org/drawingml/2006/main">
            <a:off x="2235271" y="1809750"/>
            <a:ext cx="7721459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跨模态验证｜图像基准先确认路径与能力边界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实验现象：12 万条同资源重复实验中，本课题固定配置在两个 CPU 配置下均比 Ray Data 缩短作业完成时间，具体幅度随资源配置变化；1.2 万条实验只用于检查执行结构。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系统含义：直接调用、框架原生路径和本课题方法承担不同角色，不能混为一个总排行榜；Daft 内置路径在 2 万条时出现对象存储空间不足。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设计对应：先分别建立直接调用、框架原生与本课题方法的可比较设置，再验证状态感知方法的增量；无法完成规定规模或输出语义不一致的路径不报告性能数值。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119f069194cd7"/>
          <a:stretch xmlns:a="http://schemas.openxmlformats.org/drawingml/2006/main"/>
        </p:blipFill>
        <p:spPr>
          <a:xfrm xmlns:a="http://schemas.openxmlformats.org/drawingml/2006/main">
            <a:off x="2010555" y="1809750"/>
            <a:ext cx="8170891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跨模态验证｜图像四作业重现任务级干扰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实验现象：Daft 内置 AI 函数、Ray Data 与本课题执行路径均出现作业级干扰，但短作业和长作业的退化形态不同。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系统含义：图像同样需要每作业分阶段工作量、活跃/剩余状态、共享额度与隔离约束；现有状态数据尚未用于在线控制。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设计对应：WorkDescriptor、运行状态快照与额度接口跨模态复用，只有数据源、准备和模型阶段的字段映射不同。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比较方式：每条路径只与自身单作业隔离运行比较，不做跨框架绝对排名。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a54a8a58e40a7"/>
          <a:stretch xmlns:a="http://schemas.openxmlformats.org/drawingml/2006/main"/>
        </p:blipFill>
        <p:spPr>
          <a:xfrm xmlns:a="http://schemas.openxmlformats.org/drawingml/2006/main">
            <a:off x="2553691" y="1809750"/>
            <a:ext cx="7084618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AFBBC39-6F2A-4A84-BA34-06FD127985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F67AC22-FFFF-4591-9DF4-E370E1F0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验证方案｜先独立归因，再判断是否需要联合优化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39" name="矩形 3">
            <a:extLst xmlns:a="http://schemas.openxmlformats.org/drawingml/2006/main">
              <a:ext uri="{FF2B5EF4-FFF2-40B4-BE49-F238E27FC236}">
                <a16:creationId xmlns:a16="http://schemas.microsoft.com/office/drawing/2014/main" id="{F3D3D49B-1B84-476E-95E2-ED4BA486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19084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0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2F3CC272-8048-4C79-8484-16AB52F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03" y="2784811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1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E6A2A0C2-E598-48CD-B00C-FFF3269B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921" y="2780568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5" name="矩形 19">
            <a:extLst xmlns:a="http://schemas.openxmlformats.org/drawingml/2006/main">
              <a:ext uri="{FF2B5EF4-FFF2-40B4-BE49-F238E27FC236}">
                <a16:creationId xmlns:a16="http://schemas.microsoft.com/office/drawing/2014/main" id="{D57C99D6-56F0-4AFF-89C3-300D77B0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380583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7" name="矩形 21">
            <a:extLst xmlns:a="http://schemas.openxmlformats.org/drawingml/2006/main">
              <a:ext uri="{FF2B5EF4-FFF2-40B4-BE49-F238E27FC236}">
                <a16:creationId xmlns:a16="http://schemas.microsoft.com/office/drawing/2014/main" id="{22253FCE-3AAF-4587-95E2-4F66C61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88" y="478945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8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129B8599-FFF1-4458-8F21-976F688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76363" y="2789256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9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C657F21B-6DF3-4C3C-8FDA-B59F0448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2681" y="2785013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53" name="矩形 28">
            <a:extLst xmlns:a="http://schemas.openxmlformats.org/drawingml/2006/main">
              <a:ext uri="{FF2B5EF4-FFF2-40B4-BE49-F238E27FC236}">
                <a16:creationId xmlns:a16="http://schemas.microsoft.com/office/drawing/2014/main" id="{F7C9667B-2A18-40B2-98D5-92C4908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33" y="381282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5" name="矩形 30">
            <a:extLst xmlns:a="http://schemas.openxmlformats.org/drawingml/2006/main">
              <a:ext uri="{FF2B5EF4-FFF2-40B4-BE49-F238E27FC236}">
                <a16:creationId xmlns:a16="http://schemas.microsoft.com/office/drawing/2014/main" id="{5E42FCDD-C981-464E-8169-378E9A47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068" y="51215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6" name="intro">
            <a:extLst xmlns:a="http://schemas.openxmlformats.org/drawingml/2006/main">
              <a:ext uri="{FF2B5EF4-FFF2-40B4-BE49-F238E27FC236}">
                <a16:creationId xmlns:a16="http://schemas.microsoft.com/office/drawing/2014/main" id="{A0F023DC-DB70-4CF7-A348-00D7AEB3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所有策略在相同 GPU、模型、数据和最大在途工作量下比较；先保证结果正确、模型供给充分且重复稳定。</a:t>
            </a:r>
          </a:p>
        </p:txBody>
      </p:sp>
      <p:sp>
        <p:nvSpPr>
          <p:cNvPr id="1048657" name="left-label">
            <a:extLst xmlns:a="http://schemas.openxmlformats.org/drawingml/2006/main">
              <a:ext uri="{FF2B5EF4-FFF2-40B4-BE49-F238E27FC236}">
                <a16:creationId xmlns:a16="http://schemas.microsoft.com/office/drawing/2014/main" id="{EEB85778-AF8A-4327-B163-CEB03AC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独立归因</a:t>
            </a:r>
          </a:p>
        </p:txBody>
      </p:sp>
      <p:sp>
        <p:nvSpPr>
          <p:cNvPr id="1048658" name="left-title">
            <a:extLst xmlns:a="http://schemas.openxmlformats.org/drawingml/2006/main">
              <a:ext uri="{FF2B5EF4-FFF2-40B4-BE49-F238E27FC236}">
                <a16:creationId xmlns:a16="http://schemas.microsoft.com/office/drawing/2014/main" id="{8E9C57E5-EC55-4873-952B-A2FF6FB4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组织与调度分开搜索</a:t>
            </a:r>
          </a:p>
        </p:txBody>
      </p:sp>
      <p:sp>
        <p:nvSpPr>
          <p:cNvPr id="1048659" name="right-label">
            <a:extLst xmlns:a="http://schemas.openxmlformats.org/drawingml/2006/main">
              <a:ext uri="{FF2B5EF4-FFF2-40B4-BE49-F238E27FC236}">
                <a16:creationId xmlns:a16="http://schemas.microsoft.com/office/drawing/2014/main" id="{0EBC293D-2DD6-41AB-B33A-020E4131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联合判断</a:t>
            </a:r>
          </a:p>
        </p:txBody>
      </p:sp>
      <p:sp>
        <p:nvSpPr>
          <p:cNvPr id="104866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80180DA0-B1E0-4565-A322-D46ABDE5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拼接方案与联合搜索对照</a:t>
            </a:r>
          </a:p>
        </p:txBody>
      </p:sp>
      <p:sp>
        <p:nvSpPr>
          <p:cNvPr id="1048661" name="left-point-1">
            <a:extLst xmlns:a="http://schemas.openxmlformats.org/drawingml/2006/main">
              <a:ext uri="{FF2B5EF4-FFF2-40B4-BE49-F238E27FC236}">
                <a16:creationId xmlns:a16="http://schemas.microsoft.com/office/drawing/2014/main" id="{0A1E5FD1-2071-4955-8378-24A10E90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固定调度，只改变固定行数、工作量预算、均衡和局部性。</a:t>
            </a:r>
          </a:p>
        </p:txBody>
      </p:sp>
      <p:sp>
        <p:nvSpPr>
          <p:cNvPr id="1048662" name="left-point-2">
            <a:extLst xmlns:a="http://schemas.openxmlformats.org/drawingml/2006/main">
              <a:ext uri="{FF2B5EF4-FFF2-40B4-BE49-F238E27FC236}">
                <a16:creationId xmlns:a16="http://schemas.microsoft.com/office/drawing/2014/main" id="{5073EC8A-B40E-4D6C-A4E1-50ACC7CB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固定组织，只改变先到先服务、静态分区、公平队列、状态感知准入、路由和共享份额。</a:t>
            </a:r>
          </a:p>
        </p:txBody>
      </p:sp>
      <p:sp>
        <p:nvSpPr>
          <p:cNvPr id="1048663" name="right-point-1">
            <a:extLst xmlns:a="http://schemas.openxmlformats.org/drawingml/2006/main">
              <a:ext uri="{FF2B5EF4-FFF2-40B4-BE49-F238E27FC236}">
                <a16:creationId xmlns:a16="http://schemas.microsoft.com/office/drawing/2014/main" id="{84319A97-C664-466E-A55F-15F1BD1F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统一报告正确吞吐、作业完成时间与尾延迟、模型计算利用率与能耗、局部性、隔离、公平以及状态—动作轨迹。</a:t>
            </a:r>
          </a:p>
        </p:txBody>
      </p:sp>
      <p:sp>
        <p:nvSpPr>
          <p:cNvPr id="1048664" name="right-point-2">
            <a:extLst xmlns:a="http://schemas.openxmlformats.org/drawingml/2006/main">
              <a:ext uri="{FF2B5EF4-FFF2-40B4-BE49-F238E27FC236}">
                <a16:creationId xmlns:a16="http://schemas.microsoft.com/office/drawing/2014/main" id="{D88C89C1-7988-4E07-BE88-C1350079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联合显著优于拼接才保留耦合；若简单策略处于同一效率—公平前沿，则采用简单方案。</a:t>
            </a:r>
          </a:p>
        </p:txBody>
      </p:sp>
    </p:spTree>
    <p:extLst>
      <p:ext uri="{BB962C8B-B14F-4D97-AF65-F5344CB8AC3E}">
        <p14:creationId xmlns:p14="http://schemas.microsoft.com/office/powerpoint/2010/main" val="198601294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1B4EF97-E2C9-424D-A42C-CD8B65D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1052736"/>
            <a:ext cx="877463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提纲 · 基础与计划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DB95E-1A32-4C0F-B5E4-9B281FA2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B9A7E-7E09-4DF0-ABFC-1B93503A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01 研究背景与研究空白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22768-B303-4F21-BCE5-54A28085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8B862-D0A8-48A2-B803-6C685D0D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02 动机实验与设计要求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EE364-C7D5-446B-8025-D2F66D6B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2C4B0-345F-406A-AC86-846272C3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03 研究方案、策略关系与验证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0F7B8-516A-4572-B077-71ADF94C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9559C-DCF5-4559-81B9-4E4403D4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04 研究基础、计划与预期贡献</a:t>
            </a:r>
          </a:p>
        </p:txBody>
      </p:sp>
    </p:spTree>
    <p:extLst>
      <p:ext uri="{BB962C8B-B14F-4D97-AF65-F5344CB8AC3E}">
        <p14:creationId xmlns:p14="http://schemas.microsoft.com/office/powerpoint/2010/main" val="10054228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ED867C-F03B-4E37-980E-C8E23E6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11CA7-CC71-4F3E-9F72-BB73A7B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研究基础｜现有链路支撑后续动态验证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F46976E6-E3F6-4F06-8F6D-FD38E59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7990C42-1E3C-4924-8794-E68316F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已完成文本 vLLM、Daft、Ray 执行链路，WorkDescriptor、Work Credit、完成即归还和可追踪运行记录；图像 CLIP 流水线与同资源原生基准也已闭环。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图示说明：已有结果承担动机、机制与可行性证据，不提前替代后续相同容量下的动态对照。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本页结论：工程链路可运行，关键缺口是状态感知有序释放、未参与校准场景的代价验证与跨模态动态增量。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975">
                <a:solidFill>
                  <a:srgbClr val="2E2E2E"/>
                </a:solidFill>
              </a:defRPr>
            </a:pPr>
            <a:r>
              <a:rPr sz="975">
                <a:solidFill>
                  <a:srgbClr val="2E2E2E"/>
                </a:solidFill>
              </a:rPr>
              <a:t>下一步：按统一实验设置逐层把机制验证为可归因结论。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6c29a6d5b4175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527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C89C06-52EB-440B-9CEC-EF28295A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74980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FC9"/>
          </a:solidFill>
          <a:ln xmlns:a="http://schemas.openxmlformats.org/drawingml/2006/main">
            <a:solidFill>
              <a:srgbClr val="208F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E916D1-F738-4439-8DED-8FA92043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t>后续工作与预期成果</a:t>
            </a: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344D05-C955-427D-B632-E295230E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211745B-DEC0-4EB2-9323-5601B833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247900"/>
            <a:ext cx="4616450" cy="40786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0070C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B2D9E38-E5A5-49EF-B3A3-31920952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800" y="2532380"/>
            <a:ext cx="4252595" cy="3112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分阶段工作描述及工作量、均衡、局部性联合约束</a:t>
            </a:r>
            <a:endParaRPr sz="16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容量内的提交、路由与多作业共享方法</a:t>
            </a:r>
            <a:endParaRPr sz="16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面向配置排序和决策损失的轻量代价估计</a:t>
            </a:r>
            <a:endParaRPr sz="16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跨文本与图像的可复现实验系统和运行轨迹</a:t>
            </a:r>
            <a:endParaRPr sz="16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5616529-B216-4080-BB8F-A642BB52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635" y="1975485"/>
            <a:ext cx="19151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Tx/>
              <a:buSzTx/>
              <a:buFontTx/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预期成果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D87E1CD-5C18-464E-BB27-C4B734AB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2247900"/>
            <a:ext cx="4616450" cy="35153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0070C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C711535-560D-4BB6-9122-120209D8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650490"/>
            <a:ext cx="4252595" cy="2629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完成相同资源、相同容量下的状态感知有序释放对照</a:t>
            </a:r>
            <a:endParaRPr sz="16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 defTabSz="9144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补充新场景的代价验证与图像动态实验</a:t>
            </a:r>
            <a:endParaRPr sz="16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 defTabSz="9144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比较分层拼接与联合搜索，完成系统复现和论文</a:t>
            </a:r>
            <a:endParaRPr sz="16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 defTabSz="9144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若简单策略达到同一前沿，则保留简单方案</a:t>
            </a:r>
            <a:endParaRPr sz="16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4C03BB1-090B-41C4-99B5-9E1AC31C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05" y="1975485"/>
            <a:ext cx="19151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Tx/>
              <a:buSzTx/>
              <a:buFontTx/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后续工作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235614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6A8146-C5C7-4FCA-8FFE-DAD297B98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95500" y="2348865"/>
            <a:ext cx="8001000" cy="863632"/>
          </a:xfrm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4400">
                <a:solidFill>
                  <a:schemeClr val="accent1">
                    <a:lumMod val="25000"/>
                  </a:schemeClr>
                </a:solidFill>
                <a:latin typeface="微软雅黑"/>
                <a:ea typeface="微软雅黑"/>
                <a:cs typeface="微软雅黑"/>
              </a:rPr>
              <a:t>谢谢，请各位老师批评指正</a:t>
            </a:r>
            <a:endParaRPr sz="4400">
              <a:solidFill>
                <a:schemeClr val="accent1">
                  <a:lumMod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8EEC8E24-88C4-4D61-8812-417E997D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552" y="3371850"/>
            <a:ext cx="7885312" cy="0"/>
          </a:xfrm>
          <a:prstGeom xmlns:a="http://schemas.openxmlformats.org/drawingml/2006/main" prst="line">
            <a:avLst/>
          </a:prstGeom>
          <a:ln xmlns:a="http://schemas.openxmlformats.org/drawingml/2006/main" w="63500">
            <a:gradFill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53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4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85c6ba71241e4"/>
          <a:srcRect xmlns:a="http://schemas.openxmlformats.org/drawingml/2006/main" l="0" t="41239" r="0" b="27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43452"/>
            <a:ext cx="12192000" cy="2014548"/>
          </a:xfrm>
        </p:spPr>
      </p:pic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76DBAB84-F3CB-4BA6-8A5A-767D90E9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440" y="1196340"/>
            <a:ext cx="502793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rPr sz="2000" b="0">
                <a:solidFill>
                  <a:schemeClr val="tx1"/>
                </a:solidFill>
              </a:rPr>
              <a:t>数据库 AI 负载的执行优化与调度研究</a:t>
            </a:r>
            <a:endParaRPr sz="2000" b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FC9CD4-F6C2-41D0-9521-3ADEB9AD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108" y="4033832"/>
            <a:ext cx="1800200" cy="1560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sz="1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报告人：____________</a:t>
            </a:r>
            <a:endParaRPr sz="1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sz="1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指导教师：____________</a:t>
            </a:r>
            <a:endParaRPr sz="1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53629392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2026-08-12T09:50:05.6530000Z</dcterms:created>
  <dcterms:modified xsi:type="dcterms:W3CDTF">2026-08-12T09:50:05.6530000Z</dcterms:modified>
</coreProperties>
</file>