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28fda44005499d" /><Relationship Type="http://schemas.openxmlformats.org/officeDocument/2006/relationships/extended-properties" Target="/docProps/app.xml" Id="Rbdabe6fd3ee7406c" /><Relationship Type="http://schemas.openxmlformats.org/officeDocument/2006/relationships/officeDocument" Target="/ppt/presentation.xml" Id="R76b86ae345fc45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9e5f5fffcb4dbf"/>
    <p:sldMasterId xmlns:r="http://schemas.openxmlformats.org/officeDocument/2006/relationships" id="2147483653" r:id="R7fe202d3ac2b44f4"/>
  </p:sldMasterIdLst>
  <p:notesMasterIdLst>
    <p:notesMasterId xmlns:r="http://schemas.openxmlformats.org/officeDocument/2006/relationships" r:id="Rd8e452ee92a74d5c"/>
  </p:notesMasterIdLst>
  <p:sldIdLst>
    <p:sldId xmlns:r="http://schemas.openxmlformats.org/officeDocument/2006/relationships" id="256" r:id="R00d94f28d46148d6"/>
    <p:sldId xmlns:r="http://schemas.openxmlformats.org/officeDocument/2006/relationships" id="257" r:id="R2f4877eed1d0494d"/>
    <p:sldId xmlns:r="http://schemas.openxmlformats.org/officeDocument/2006/relationships" id="258" r:id="Rd4c315923e354921"/>
    <p:sldId xmlns:r="http://schemas.openxmlformats.org/officeDocument/2006/relationships" id="259" r:id="R9b8ce4082e46418b"/>
    <p:sldId xmlns:r="http://schemas.openxmlformats.org/officeDocument/2006/relationships" id="260" r:id="R95ef81b696544318"/>
    <p:sldId xmlns:r="http://schemas.openxmlformats.org/officeDocument/2006/relationships" id="261" r:id="R3e64cf7acfe34ae7"/>
    <p:sldId xmlns:r="http://schemas.openxmlformats.org/officeDocument/2006/relationships" id="262" r:id="R1cdfe6d45b0f45eb"/>
    <p:sldId xmlns:r="http://schemas.openxmlformats.org/officeDocument/2006/relationships" id="263" r:id="R34a657c30b094748"/>
    <p:sldId xmlns:r="http://schemas.openxmlformats.org/officeDocument/2006/relationships" id="264" r:id="R85a65e5db93d4cb1"/>
    <p:sldId xmlns:r="http://schemas.openxmlformats.org/officeDocument/2006/relationships" id="265" r:id="R8f19d0d79f284ab9"/>
    <p:sldId xmlns:r="http://schemas.openxmlformats.org/officeDocument/2006/relationships" id="266" r:id="Re24293774a484d26"/>
    <p:sldId xmlns:r="http://schemas.openxmlformats.org/officeDocument/2006/relationships" id="267" r:id="R1b15f6d400734429"/>
    <p:sldId xmlns:r="http://schemas.openxmlformats.org/officeDocument/2006/relationships" id="268" r:id="R6828f4f5ad71405f"/>
    <p:sldId xmlns:r="http://schemas.openxmlformats.org/officeDocument/2006/relationships" id="269" r:id="Rdf56d9a7f7d34a02"/>
    <p:sldId xmlns:r="http://schemas.openxmlformats.org/officeDocument/2006/relationships" id="270" r:id="Rf56aabe21b57417f"/>
    <p:sldId xmlns:r="http://schemas.openxmlformats.org/officeDocument/2006/relationships" id="271" r:id="R6ce94ca322494230"/>
    <p:sldId xmlns:r="http://schemas.openxmlformats.org/officeDocument/2006/relationships" id="272" r:id="R0b2829b8752f4e58"/>
    <p:sldId xmlns:r="http://schemas.openxmlformats.org/officeDocument/2006/relationships" id="273" r:id="Rf1fd366ec4f34bff"/>
    <p:sldId xmlns:r="http://schemas.openxmlformats.org/officeDocument/2006/relationships" id="274" r:id="Raae97da26f33457e"/>
    <p:sldId xmlns:r="http://schemas.openxmlformats.org/officeDocument/2006/relationships" id="275" r:id="R7ad5e3b8e38840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f31153419c49a5" /><Relationship Type="http://schemas.openxmlformats.org/officeDocument/2006/relationships/slideMaster" Target="/ppt/slideMasters/slideMaster1.xml" Id="R7e9e5f5fffcb4dbf" /><Relationship Type="http://schemas.openxmlformats.org/officeDocument/2006/relationships/slideMaster" Target="/ppt/slideMasters/slideMaster2.xml" Id="R7fe202d3ac2b44f4" /><Relationship Type="http://schemas.openxmlformats.org/officeDocument/2006/relationships/notesMaster" Target="/ppt/notesMasters/notesMaster1.xml" Id="Rd8e452ee92a74d5c" /><Relationship Type="http://schemas.openxmlformats.org/officeDocument/2006/relationships/presProps" Target="/ppt/presProps.xml" Id="R96a6f176b4cf436a" /><Relationship Type="http://schemas.openxmlformats.org/officeDocument/2006/relationships/viewProps" Target="/ppt/viewProps.xml" Id="R44cff05c8e674934" /><Relationship Type="http://schemas.openxmlformats.org/officeDocument/2006/relationships/tableStyles" Target="/ppt/tableStyles.xml" Id="R873532d53fcd4c45" /><Relationship Type="http://schemas.openxmlformats.org/officeDocument/2006/relationships/slide" Target="/ppt/slides/slide1.xml" Id="R00d94f28d46148d6" /><Relationship Type="http://schemas.openxmlformats.org/officeDocument/2006/relationships/slide" Target="/ppt/slides/slide2.xml" Id="R2f4877eed1d0494d" /><Relationship Type="http://schemas.openxmlformats.org/officeDocument/2006/relationships/slide" Target="/ppt/slides/slide3.xml" Id="Rd4c315923e354921" /><Relationship Type="http://schemas.openxmlformats.org/officeDocument/2006/relationships/slide" Target="/ppt/slides/slide4.xml" Id="R9b8ce4082e46418b" /><Relationship Type="http://schemas.openxmlformats.org/officeDocument/2006/relationships/slide" Target="/ppt/slides/slide5.xml" Id="R95ef81b696544318" /><Relationship Type="http://schemas.openxmlformats.org/officeDocument/2006/relationships/slide" Target="/ppt/slides/slide6.xml" Id="R3e64cf7acfe34ae7" /><Relationship Type="http://schemas.openxmlformats.org/officeDocument/2006/relationships/slide" Target="/ppt/slides/slide7.xml" Id="R1cdfe6d45b0f45eb" /><Relationship Type="http://schemas.openxmlformats.org/officeDocument/2006/relationships/slide" Target="/ppt/slides/slide8.xml" Id="R34a657c30b094748" /><Relationship Type="http://schemas.openxmlformats.org/officeDocument/2006/relationships/slide" Target="/ppt/slides/slide9.xml" Id="R85a65e5db93d4cb1" /><Relationship Type="http://schemas.openxmlformats.org/officeDocument/2006/relationships/slide" Target="/ppt/slides/slide10.xml" Id="R8f19d0d79f284ab9" /><Relationship Type="http://schemas.openxmlformats.org/officeDocument/2006/relationships/slide" Target="/ppt/slides/slide11.xml" Id="Re24293774a484d26" /><Relationship Type="http://schemas.openxmlformats.org/officeDocument/2006/relationships/slide" Target="/ppt/slides/slide12.xml" Id="R1b15f6d400734429" /><Relationship Type="http://schemas.openxmlformats.org/officeDocument/2006/relationships/slide" Target="/ppt/slides/slide13.xml" Id="R6828f4f5ad71405f" /><Relationship Type="http://schemas.openxmlformats.org/officeDocument/2006/relationships/slide" Target="/ppt/slides/slide14.xml" Id="Rdf56d9a7f7d34a02" /><Relationship Type="http://schemas.openxmlformats.org/officeDocument/2006/relationships/slide" Target="/ppt/slides/slide15.xml" Id="Rf56aabe21b57417f" /><Relationship Type="http://schemas.openxmlformats.org/officeDocument/2006/relationships/slide" Target="/ppt/slides/slide16.xml" Id="R6ce94ca322494230" /><Relationship Type="http://schemas.openxmlformats.org/officeDocument/2006/relationships/slide" Target="/ppt/slides/slide17.xml" Id="R0b2829b8752f4e58" /><Relationship Type="http://schemas.openxmlformats.org/officeDocument/2006/relationships/slide" Target="/ppt/slides/slide18.xml" Id="Rf1fd366ec4f34bff" /><Relationship Type="http://schemas.openxmlformats.org/officeDocument/2006/relationships/slide" Target="/ppt/slides/slide19.xml" Id="Raae97da26f33457e" /><Relationship Type="http://schemas.openxmlformats.org/officeDocument/2006/relationships/slide" Target="/ppt/slides/slide20.xml" Id="R7ad5e3b8e38840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77beb4b5883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a3230bab3e4635" /><Relationship Type="http://schemas.openxmlformats.org/officeDocument/2006/relationships/notesMaster" Target="/ppt/notesMasters/notesMaster1.xml" Id="R71d6eaf9ea7b47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74db61a6674cfb" /><Relationship Type="http://schemas.openxmlformats.org/officeDocument/2006/relationships/notesMaster" Target="/ppt/notesMasters/notesMaster1.xml" Id="R9e923855f13444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fea8128f8b408c" /><Relationship Type="http://schemas.openxmlformats.org/officeDocument/2006/relationships/notesMaster" Target="/ppt/notesMasters/notesMaster1.xml" Id="Ra6109edadd1f49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905ae3838d4835" /><Relationship Type="http://schemas.openxmlformats.org/officeDocument/2006/relationships/notesMaster" Target="/ppt/notesMasters/notesMaster1.xml" Id="Rda144a29471d4f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817d9e954f4115" /><Relationship Type="http://schemas.openxmlformats.org/officeDocument/2006/relationships/notesMaster" Target="/ppt/notesMasters/notesMaster1.xml" Id="R09cf221151e241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67751c584445df" /><Relationship Type="http://schemas.openxmlformats.org/officeDocument/2006/relationships/notesMaster" Target="/ppt/notesMasters/notesMaster1.xml" Id="R948c0218e23e46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673b26cf4147c8" /><Relationship Type="http://schemas.openxmlformats.org/officeDocument/2006/relationships/notesMaster" Target="/ppt/notesMasters/notesMaster1.xml" Id="Rda0801da69d44f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4d6b463e3445f7" /><Relationship Type="http://schemas.openxmlformats.org/officeDocument/2006/relationships/notesMaster" Target="/ppt/notesMasters/notesMaster1.xml" Id="R9707b2d5688e4c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d05a4eac024967" /><Relationship Type="http://schemas.openxmlformats.org/officeDocument/2006/relationships/notesMaster" Target="/ppt/notesMasters/notesMaster1.xml" Id="R527d0c4c5a9943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e24d8371114be0" /><Relationship Type="http://schemas.openxmlformats.org/officeDocument/2006/relationships/notesMaster" Target="/ppt/notesMasters/notesMaster1.xml" Id="Rd91ea0a2658142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e022e94eec4580" /><Relationship Type="http://schemas.openxmlformats.org/officeDocument/2006/relationships/notesMaster" Target="/ppt/notesMasters/notesMaster1.xml" Id="R5ad67bb992cc4f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1ea21f77934299" /><Relationship Type="http://schemas.openxmlformats.org/officeDocument/2006/relationships/notesMaster" Target="/ppt/notesMasters/notesMaster1.xml" Id="R0dc479f703724b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b0664ea68746e5" /><Relationship Type="http://schemas.openxmlformats.org/officeDocument/2006/relationships/notesMaster" Target="/ppt/notesMasters/notesMaster1.xml" Id="R59f53d04868f45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07212272fd46fc" /><Relationship Type="http://schemas.openxmlformats.org/officeDocument/2006/relationships/notesMaster" Target="/ppt/notesMasters/notesMaster1.xml" Id="Ra720143c637546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3d0aad652e4ab8" /><Relationship Type="http://schemas.openxmlformats.org/officeDocument/2006/relationships/notesMaster" Target="/ppt/notesMasters/notesMaster1.xml" Id="R1daf6f51f72b41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e308dd4c714c24" /><Relationship Type="http://schemas.openxmlformats.org/officeDocument/2006/relationships/notesMaster" Target="/ppt/notesMasters/notesMaster1.xml" Id="R7ad89d77a81443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cf0ee11c8c4880" /><Relationship Type="http://schemas.openxmlformats.org/officeDocument/2006/relationships/notesMaster" Target="/ppt/notesMasters/notesMaster1.xml" Id="R5ac8365b616840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7c4693ec0c4dbd" /><Relationship Type="http://schemas.openxmlformats.org/officeDocument/2006/relationships/notesMaster" Target="/ppt/notesMasters/notesMaster1.xml" Id="R44a08cf8427d46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71f5a43e434ace" /><Relationship Type="http://schemas.openxmlformats.org/officeDocument/2006/relationships/notesMaster" Target="/ppt/notesMasters/notesMaster1.xml" Id="Rb231f00eba1b4ef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f9f7334433f4776" /><Relationship Type="http://schemas.openxmlformats.org/officeDocument/2006/relationships/notesMaster" Target="/ppt/notesMasters/notesMaster1.xml" Id="Ra4b72f70b55b4b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汇报讲稿：数据库正在直接触发生成、嵌入和多模态分析。本课题研究这些数据进入模型服务前，如何被组织、估计和调度。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汇报讲稿：本页回答“AI 算子已经进入数据库工作流”。先陈述现象或设计，再用底部结论收束并转入下一页。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https://docs.snowflake.com/en/user-guide/snowflake-cortex/aisql</a:t>
            </a:r>
          </a:p>
          <a:p xmlns:a="http://schemas.openxmlformats.org/drawingml/2006/main">
            <a:pPr>
              <a:buNone/>
              <a:defRPr sz="1000" b="0"/>
            </a:pPr>
            <a:r>
              <a:t>- https://cloud.google.com/bigquery/docs/generate-text</a:t>
            </a:r>
          </a:p>
          <a:p xmlns:a="http://schemas.openxmlformats.org/drawingml/2006/main">
            <a:pPr>
              <a:buNone/>
              <a:defRPr sz="1000" b="0"/>
            </a:pPr>
            <a:r>
              <a:t>- https://docs.oracle.com/en/database/oracle/oracle-database/23/vecse/vector_embedding.html</a:t>
            </a:r>
          </a:p>
          <a:p xmlns:a="http://schemas.openxmlformats.org/drawingml/2006/main">
            <a:pPr>
              <a:buNone/>
              <a:defRPr sz="1000" b="0"/>
            </a:pPr>
            <a:r>
              <a:t>- https://github.com/timescale/pgai</a:t>
            </a:r>
          </a:p>
          <a:p xmlns:a="http://schemas.openxmlformats.org/drawingml/2006/main">
            <a:pPr>
              <a:buNone/>
              <a:defRPr sz="1000" b="0"/>
            </a:pPr>
            <a:r>
              <a:t>- https://github.com/pgvector/pgvector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汇报讲稿：本页回答“AI 算子形成新的外部执行链路”。先陈述现象或设计，再用底部结论收束并转入下一页。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汇报讲稿：本页回答“代表工作推进了相邻层”。先陈述现象或设计，再用底部结论收束并转入下一页。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opening/literature/reading_list.md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opening/report/opening_report.md#2-国内外研究现状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汇报讲稿：本页回答“AI Data Infra 仍缺少上游执行闭环”。先陈述现象或设计，再用底部结论收束并转入下一页。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figures/opening_figure_set/main_png/P05_研究空白_AI数据执行层.png</a:t>
            </a:r>
          </a:p>
          <a:p xmlns:a="http://schemas.openxmlformats.org/drawingml/2006/main">
            <a:pPr>
              <a:buNone/>
              <a:defRPr sz="1000" b="0"/>
            </a:pPr>
            <a:r>
              <a:t>- opening/claim_matrix.md#1-冻结题目与系统抽象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汇报讲稿：先看左侧：统一数据库端到端合同下，三条静态路径接近，说明静态基线很强。再看右侧：同一 Chat 任务却落入过量排队或欠供给。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experiments/results/opening_database_e2e_text_refeed_20260808/README.md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experiments/results/opening_text_native_single_job_formal_20260808/README.md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汇报讲稿：这一页按 work、state、capacity 三层讲。行数隐藏工作量，配置上限不是运行状态，继续增压也不等于有效供给。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experiments/results/local_vllm_qwen15b_baseline/sharegpt_burstgpt_token_budget_vs_fixed_timeout300_20260719.csv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experiments/results/dual_gpu_slo_ewma_flush_formal_20260729/README.md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experiments/results/dual_gpu_active_work_saturation_20260729/README.md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汇报讲稿：本页回答“图像把 work 扩展为多阶段”。先陈述现象或设计，再用底部结论收束并转入下一页。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motivation/results/gpu/image_clip_preprocess_variants_20260801/README.md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motivation/results/gpu/image_clip_transfer_ceiling_20260803/README.md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汇报讲稿：本页回答“四 Job 并发同时影响 Short 与 Long”。先陈述现象或设计，再用底部结论收束并转入下一页。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experiments/results/opening_fourjob_interference_20260809/README.md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汇报讲稿：四项设计要求权重相同；它们在系统结构上仍归入两项研究内容，代价估计是共同输入。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汇报讲稿：本页回答“AI 数据执行层形成反馈闭环”。先陈述现象或设计，再用底部结论收束并转入下一页。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figures/opening_figure_set/main_png/P11_系统架构_数据组织与状态调度闭环.png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opening/report/opening_report.md#4-研究内容与技术路线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汇报讲稿：本页回答“WorkDescriptor 连接组织与调度”。先陈述现象或设计，再用底部结论收束并转入下一页。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figures/opening_figure_set/main_png/P12_研究内容一_WorkUnit与数据组织.png</a:t>
            </a:r>
          </a:p>
          <a:p xmlns:a="http://schemas.openxmlformats.org/drawingml/2006/main">
            <a:pPr>
              <a:buNone/>
              <a:defRPr sz="1000" b="0"/>
            </a:pPr>
            <a:r>
              <a:t>- code/src/planning/work.py</a:t>
            </a:r>
          </a:p>
          <a:p xmlns:a="http://schemas.openxmlformats.org/drawingml/2006/main">
            <a:pPr>
              <a:buNone/>
              <a:defRPr sz="1000" b="0"/>
            </a:pPr>
            <a:r>
              <a:t>- code/src/modalities/image/contracts.py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汇报讲稿：本页回答“数据组织没有全局最优”。先陈述现象或设计，再用底部结论收束并转入下一页。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experiments/results/rc1_data_organization/README.md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汇报讲稿：本页回答“总容量固定，份额随活跃集调整”。先陈述现象或设计，再用底部结论收束并转入下一页。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figures/opening_figure_set/main_png/P14_研究内容二_状态感知提交与多作业调度.png</a:t>
            </a:r>
          </a:p>
          <a:p xmlns:a="http://schemas.openxmlformats.org/drawingml/2006/main">
            <a:pPr>
              <a:buNone/>
              <a:defRPr sz="1000" b="0"/>
            </a:pPr>
            <a:r>
              <a:t>- opening/claim_matrix.md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opening/report/opening_report.md#42-研究内容二容量感知的提交路由与多作业调度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汇报讲稿：先强调 full/quarter 只是控制额度损失，真正方法比较是同上限 static 与 shared。总效率提高不代表每个作业都改善。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experiments/results/opening_fourjob_interference_20260809/README.md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汇报讲稿：左侧回答是否排对配置，右侧展示 20 个场景的损失分布。中位数为零并不代表所有场景安全，因此保留最坏损失门。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experiments/results/operator_cost_profile_dual4090_formal_v2_cache_on_20260807/README.md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汇报讲稿：本页回答“图像 baseline 分层解释能力边界”。先陈述现象或设计，再用底部结论收束并转入下一页。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experiments/results/image_ai_embed_operator_formal_20260803/README.md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feasibility/results/vllm_clip_pooling_gate_20260804/README.md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汇报讲稿：本页回答“图像四 Job 重现任务级干扰”。先陈述现象或设计，再用底部结论收束并转入下一页。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experiments/results/opening_image_native_fourjob_formal_20260810/README.md</a:t>
            </a:r>
          </a:p>
          <a:p xmlns:a="http://schemas.openxmlformats.org/drawingml/2006/main">
            <a:pPr>
              <a:buNone/>
              <a:defRPr sz="1000" b="0"/>
            </a:pPr>
            <a:r>
              <a:t>- experiments/results/opening_image_project_fourjob_observe_only_formal_20260810/README.md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汇报讲稿：本页回答“研究基础支撑后续逐层验证”。先陈述现象或设计，再用底部结论收束并转入下一页。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figures/opening_figure_set/main_png/P19_研究基础与后续工作计划.png</a:t>
            </a:r>
          </a:p>
          <a:p xmlns:a="http://schemas.openxmlformats.org/drawingml/2006/main">
            <a:pPr>
              <a:buNone/>
              <a:defRPr sz="1000" b="0"/>
            </a:pPr>
            <a:r>
              <a:t>- opening/opening_defense_outline_20260808.md#第-19-页主实验用同上限强静态-ab-逐层验证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汇报讲稿：回到 AI-Native Data Infra：本课题不覆盖全部平台，而是把数据库任务到模型服务之间这一段做成可估计、可感知、可调度的闭环。</a:t>
            </a:r>
          </a:p>
          <a:p xmlns:a="http://schemas.openxmlformats.org/drawingml/2006/main">
            <a:pPr>
              <a:buNone/>
              <a:defRPr sz="1100" b="1"/>
            </a:pPr>
            <a:r>
              <a:t/>
            </a:r>
          </a:p>
          <a:p xmlns:a="http://schemas.openxmlformats.org/drawingml/2006/main">
            <a:pPr>
              <a:buNone/>
              <a:defRPr sz="1000" b="0"/>
            </a:pPr>
            <a:r>
              <a:t>答辩提示：数据图只在成立的比较合同内解读；现有 observe-only 或 preliminary 结果不替代后续同上限 A/B。</a:t>
            </a:r>
          </a:p>
          <a:p xmlns:a="http://schemas.openxmlformats.org/drawingml/2006/main">
            <a:pPr>
              <a:buNone/>
              <a:defRPr sz="1100" b="0"/>
            </a:pPr>
            <a:r>
              <a:t/>
            </a:r>
          </a:p>
          <a:p xmlns:a="http://schemas.openxmlformats.org/drawingml/2006/main">
            <a:pPr>
              <a:buNone/>
              <a:defRPr sz="1100" b="1"/>
            </a:pPr>
            <a:r>
              <a:t>[Sources]</a:t>
            </a:r>
          </a:p>
          <a:p xmlns:a="http://schemas.openxmlformats.org/drawingml/2006/main">
            <a:pPr>
              <a:buNone/>
              <a:defRPr sz="1000" b="0"/>
            </a:pPr>
            <a:r>
              <a:t>- opening/report/opening_report.md#7-预期成果创新点与风险控制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f8477f4e247f3" /><Relationship Type="http://schemas.openxmlformats.org/officeDocument/2006/relationships/image" Target="/ppt/media/image.jpeg" Id="R293212546a404f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4b24cf88b41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14fa33dfc46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0f99324fa4e69" /><Relationship Type="http://schemas.openxmlformats.org/officeDocument/2006/relationships/image" Target="/ppt/media/image.jpeg" Id="R8b082edeade743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898fa6ddd941d6" /><Relationship Type="http://schemas.openxmlformats.org/officeDocument/2006/relationships/image" Target="/ppt/media/image.jpeg" Id="Rfa33ea822f9f4e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e3adfd12f944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cd0ef09788462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a0216244ee479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de982ba660439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6c0188580e4ac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f28a284b2b48f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9a616ee4a3476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b796b2120a4ef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4b32a6354e414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bed922221640a3" /></Relationships>
</file>

<file path=ppt/slideLayouts/slideLayout1.xml><?xml version="1.0" encoding="utf-8"?>
<p:sldLayout xmlns:p="http://schemas.openxmlformats.org/presentationml/2006/main" showMasterSp="0" preserve="1" userDrawn="1">
  <p:cSld name="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19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212546a404f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BFCB351-E1E5-4857-9445-3C0938C5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1217" y="3589339"/>
            <a:ext cx="11590867" cy="55563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</a:pPr>
            <a:endParaRPr sz="2000" b="0" i="0" u="none" kern="1200" cap="none" spc="0" baseline="0">
              <a:ln>
                <a:noFill/>
              </a:ln>
              <a:solidFill>
                <a:srgbClr val="FF33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19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5396EB-6B5E-4A6F-B478-35E72A8237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Font typeface="Wingdings"/>
              <a:buNone/>
              <a:defRPr b="1">
                <a:solidFill>
                  <a:srgbClr val="0000CC"/>
                </a:solidFill>
                <a:latin typeface="Times"/>
                <a:ea typeface="Times"/>
                <a:cs typeface="Times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C4896E42-C145-4209-AA23-4AA296C08C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908720"/>
            <a:ext cx="10972800" cy="86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1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DC08F10-CCB9-4E21-87D7-D74E373944D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B1F4432-B30A-462E-8D67-33077B3006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59F0B66-D1AF-4A08-ABE6-E1122E698F5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E8F414-7BA4-4BF8-AFEE-BEC3D900B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978FBC1-3301-4187-9427-B5E11983A7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AC307AF-C397-4291-9A22-DD32417AB4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4558658-CCB1-4F60-98BD-4838F22D8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25C85B-E07E-4390-A16E-34452EE981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43E4D85-0484-407D-8582-968BEDCAC2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64F251F-C5D2-452F-A52A-D78EA876A8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1AE8EE0-1B8E-4F47-93D8-58FD13E682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1_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19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82edeade743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13619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5691E9-F4EA-49AE-B257-DDA09514C3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Font typeface="Wingdings"/>
              <a:buNone/>
              <a:defRPr b="1">
                <a:solidFill>
                  <a:srgbClr val="0000CC"/>
                </a:solidFill>
                <a:latin typeface="Times"/>
                <a:ea typeface="Times"/>
                <a:cs typeface="Times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E6E750B8-5300-44F9-B2CB-A4CAC0D24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908720"/>
            <a:ext cx="10972800" cy="86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1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81627F1-C389-4129-B0F0-F386468EEF2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A06EBC2-E106-439B-8564-7FC0E76EF64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A2BAB78-F595-4061-9820-78391D2EB9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27FA0B-9E1A-4CCB-AF4D-5B95961855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6A689A8-1720-4772-B72D-B573F05D4A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74C0D3-234D-4165-8DA2-BDA366DB87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5FBC53-D111-4236-AA0A-EB7EEB2D37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EF34C-1495-4DDF-857A-BC64FC9730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pic>
        <p:nvPicPr>
          <p:cNvPr id="13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3ea822f9f4e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7" y="9525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38D315-DA65-4C0E-903A-3A828C9FB3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5488FA-5B33-4A38-95B6-6C9159C81B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4FD035-A86F-4BA6-9499-791955F123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2B70F1-32F4-4098-8E92-E540C38394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5C0CD3-EFA9-46BA-8C0C-D3A86EB53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F04735-E317-4806-B340-875DB62D31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A0A3F6-8D14-4DD8-9387-4AE9AE07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9D59F9-9532-427F-A3AF-EB14DD114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CE9946-F695-48A3-AC96-8F216112CA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DA36B2-3892-4AD0-84EF-27160EE7E4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9C4990-7FFA-4FFA-A898-5B3491D0A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A59B69-4A06-4F97-8C03-72F937828F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012650A-727E-4C39-AC4B-06EC352BA57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E8498CA-14FB-4D41-B667-B7B8DE854D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44C0DD-838F-46F1-8AC0-2498F17E3A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6E4911C-F768-46E7-A02A-68797E79B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16AE5-85AF-4400-A74B-D3A0C1E379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CD81E9-85A8-479E-8F28-CFE62DB589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D76929C-7E8E-40FB-9326-7F0588B8671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F8B5BF1-12D3-4129-A0E6-0F328166A59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6F46ABD-A08D-41D5-9552-0B1AFC420B9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B5BD36-AD68-4DC5-8E57-FA833F3A80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58F38D4-8BEE-4DAC-A7B4-88C89DCC4C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06BEE58-5D48-4A09-8577-0BE1B1A7AA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F9BC95-4DE0-4F44-9294-D8734B721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AA0FAD8-064B-45BA-9FFA-A9457CAC21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61278B-67F3-48A3-AEE2-0742DC710A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007B669-97AC-4D90-99FE-F7CEB7A9DE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37F2E03-2251-42D3-AEA1-54F5551F86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3EFA2BD-CD98-41E2-8B33-38B618D1C6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E7A03B3-1209-45F9-8C9D-748285B880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D9A6B6-8A53-4A13-9CD7-EDB1A7C16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FA1B11-773C-4DD3-9AEE-79F4AB2F56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927460-D7AB-4E56-8C59-E85D351534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22737D-FD8F-4520-B20F-E1ED680E13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47B796-312D-40EB-BC85-9E366575CB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5EFE053-4978-4297-B653-5B991F47DF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761ED9-6B18-4990-A7CE-7572FE985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6C63169-5F70-45DC-9B57-690C6BAB92D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单击图标添加图片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C1A210E-1950-446A-9319-C8F3D8C6F8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62922A6-D77C-4E48-B06C-27DF1A6C3B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14C8B34-6CFC-4ABB-A2D1-B1842F915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B46DE8F-7D6C-490E-AB13-BAB85D5A14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43362B-E29C-4569-872A-A8B356E95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081B1E-D1D9-49D5-8B01-2C1295CEF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6EE62D-9C79-4D6E-92D1-9BBBC892AD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A6E86F-8723-4D65-ABE8-1FC91DA80F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B2FCA-2181-4825-8D76-AFC748B07E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4EC4236-CB14-46A8-941E-CF92531CA8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0C4FF8-22FF-4F2C-9439-96095B7CB6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698874-6169-43A2-A9CD-425C96E972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DA4207-8CB3-4CC3-B2A1-993ED5343A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0BC3CF-B20B-41DC-B8B7-E402367454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221564976b7543ff" /><Relationship Type="http://schemas.openxmlformats.org/officeDocument/2006/relationships/theme" Target="/ppt/slideMasters/theme/theme2.xml" Id="R891370226c234d25" /><Relationship Type="http://schemas.openxmlformats.org/officeDocument/2006/relationships/slideLayout" Target="/ppt/slideLayouts/slideLayout1.xml" Id="R204b347b396e4e79" /><Relationship Type="http://schemas.openxmlformats.org/officeDocument/2006/relationships/slideLayout" Target="/ppt/slideLayouts/slideLayout2.xml" Id="Ree80f4967f07490a" /><Relationship Type="http://schemas.openxmlformats.org/officeDocument/2006/relationships/slideLayout" Target="/ppt/slideLayouts/slideLayout3.xml" Id="R0a73ddcdfa034e6f" /><Relationship Type="http://schemas.openxmlformats.org/officeDocument/2006/relationships/slideLayout" Target="/ppt/slideLayouts/slideLayout4.xml" Id="Rab93ae8f0c324e9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jpeg" Id="Ra4d8f3afe805499d" /><Relationship Type="http://schemas.openxmlformats.org/officeDocument/2006/relationships/theme" Target="/ppt/slideMasters/theme/theme3.xml" Id="R194c197aa6af449a" /><Relationship Type="http://schemas.openxmlformats.org/officeDocument/2006/relationships/slideLayout" Target="/ppt/slideLayouts/slideLayout5.xml" Id="R11952a26aac845c1" /><Relationship Type="http://schemas.openxmlformats.org/officeDocument/2006/relationships/slideLayout" Target="/ppt/slideLayouts/slideLayout6.xml" Id="Rfac91d9f4912476e" /><Relationship Type="http://schemas.openxmlformats.org/officeDocument/2006/relationships/slideLayout" Target="/ppt/slideLayouts/slideLayout7.xml" Id="R5c8f1dd3db664d4d" /><Relationship Type="http://schemas.openxmlformats.org/officeDocument/2006/relationships/slideLayout" Target="/ppt/slideLayouts/slideLayout8.xml" Id="Rbbe93aab85f04215" /><Relationship Type="http://schemas.openxmlformats.org/officeDocument/2006/relationships/slideLayout" Target="/ppt/slideLayouts/slideLayout9.xml" Id="Rb360de8450744ad0" /><Relationship Type="http://schemas.openxmlformats.org/officeDocument/2006/relationships/slideLayout" Target="/ppt/slideLayouts/slideLayout10.xml" Id="R9e8869ec4627496f" /><Relationship Type="http://schemas.openxmlformats.org/officeDocument/2006/relationships/slideLayout" Target="/ppt/slideLayouts/slideLayout11.xml" Id="R7206307e9f7f4f4b" /><Relationship Type="http://schemas.openxmlformats.org/officeDocument/2006/relationships/slideLayout" Target="/ppt/slideLayouts/slideLayout12.xml" Id="R0c083659a699447e" /><Relationship Type="http://schemas.openxmlformats.org/officeDocument/2006/relationships/slideLayout" Target="/ppt/slideLayouts/slideLayout13.xml" Id="Rf790da25c41440f3" /><Relationship Type="http://schemas.openxmlformats.org/officeDocument/2006/relationships/slideLayout" Target="/ppt/slideLayouts/slideLayout14.xml" Id="R808303dd9d904ac5" /><Relationship Type="http://schemas.openxmlformats.org/officeDocument/2006/relationships/slideLayout" Target="/ppt/slideLayouts/slideLayout15.xml" Id="R117a6dfb8532424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517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564976b7543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50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135170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36B2E5C-1652-4330-BE5D-C605052BF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836613"/>
            <a:ext cx="109728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模板</a:t>
            </a:r>
            <a:r>
              <a:t>Chapter</a:t>
            </a:r>
            <a:endParaRPr/>
          </a:p>
        </p:txBody>
      </p:sp>
      <p:sp>
        <p:nvSpPr>
          <p:cNvPr id="102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40B016-DD5A-425A-A1F9-2D18FC436F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916113"/>
            <a:ext cx="10972800" cy="4525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第一级</a:t>
            </a:r>
            <a:r>
              <a:t>abcd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r>
              <a:t>adb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r>
              <a:t>kljaskf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3517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37CEC0C-A984-4F84-882D-3A78936949B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245225"/>
            <a:ext cx="284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517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8C509B-C574-4FEA-BF2C-66B1F24F3A8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245225"/>
            <a:ext cx="386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517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6BCBE3-75BE-4518-80F3-1940570A17A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245225"/>
            <a:ext cx="284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3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88F4C6F-E3B2-432F-ADEC-BC45D61A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1" y="1668463"/>
            <a:ext cx="10968567" cy="3175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4b347b396e4e79"/>
    <p:sldLayoutId xmlns:r="http://schemas.openxmlformats.org/officeDocument/2006/relationships" id="2147483650" r:id="Ree80f4967f07490a"/>
    <p:sldLayoutId xmlns:r="http://schemas.openxmlformats.org/officeDocument/2006/relationships" id="2147483651" r:id="R0a73ddcdfa034e6f"/>
    <p:sldLayoutId xmlns:r="http://schemas.openxmlformats.org/officeDocument/2006/relationships" id="2147483652" r:id="Rab93ae8f0c324e96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600" b="0" kern="12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/>
          <a:ea typeface="Lucida Sans"/>
          <a:cs typeface="Lucida Sans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Clr>
          <a:srgbClr val="3366FF"/>
        </a:buClr>
        <a:buSzPct val="75000"/>
        <a:buFont typeface="Wingdings"/>
        <a:buChar char="ª"/>
        <a:defRPr sz="3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Clr>
          <a:srgbClr val="990033"/>
        </a:buClr>
        <a:buSzPct val="80000"/>
        <a:buFont typeface="Wingdings"/>
        <a:buChar char="Ø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Clr>
          <a:srgbClr val="FF0000"/>
        </a:buClr>
        <a:buChar char="•"/>
        <a:defRPr sz="2400" b="1" kern="1200">
          <a:solidFill>
            <a:schemeClr val="tx1"/>
          </a:solidFill>
          <a:latin typeface="Comic Sans MS"/>
          <a:ea typeface="Comic Sans MS"/>
          <a:cs typeface="Comic Sans MS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A00C0D9-D0DC-4EF7-AECF-FC7B016A6F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1E4D2F9-C16A-4014-BC87-F5BA7A039F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B05990-3FB7-4F07-86FE-7927121C527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9A19BD-E6E4-4346-9E0A-939132F26A7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0640C9-F3FE-49C4-B594-ECB131BA99A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8f3afe80549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350"/>
            <a:ext cx="12192000" cy="68453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F881C27-4B2A-4F53-9727-86CCDC0D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1" y="1668463"/>
            <a:ext cx="10968567" cy="31750"/>
          </a:xfrm>
          <a:prstGeom xmlns:a="http://schemas.openxmlformats.org/drawingml/2006/main" prst="rect">
            <a:avLst/>
          </a:prstGeom>
          <a:gradFill xmlns:a="http://schemas.openxmlformats.org/drawingml/2006/main"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/>
              <a:buNone/>
              <a:defRPr sz="2000">
                <a:solidFill>
                  <a:srgbClr val="FF3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i="0" u="none" kern="1200" cap="none" spc="0" baseline="0">
              <a:ln>
                <a:noFill/>
              </a:ln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11952a26aac845c1"/>
    <p:sldLayoutId xmlns:r="http://schemas.openxmlformats.org/officeDocument/2006/relationships" id="2147483655" r:id="Rfac91d9f4912476e"/>
    <p:sldLayoutId xmlns:r="http://schemas.openxmlformats.org/officeDocument/2006/relationships" id="2147483656" r:id="R5c8f1dd3db664d4d"/>
    <p:sldLayoutId xmlns:r="http://schemas.openxmlformats.org/officeDocument/2006/relationships" id="2147483657" r:id="Rbbe93aab85f04215"/>
    <p:sldLayoutId xmlns:r="http://schemas.openxmlformats.org/officeDocument/2006/relationships" id="2147483658" r:id="Rb360de8450744ad0"/>
    <p:sldLayoutId xmlns:r="http://schemas.openxmlformats.org/officeDocument/2006/relationships" id="2147483659" r:id="R9e8869ec4627496f"/>
    <p:sldLayoutId xmlns:r="http://schemas.openxmlformats.org/officeDocument/2006/relationships" id="2147483660" r:id="R7206307e9f7f4f4b"/>
    <p:sldLayoutId xmlns:r="http://schemas.openxmlformats.org/officeDocument/2006/relationships" id="2147483661" r:id="R0c083659a699447e"/>
    <p:sldLayoutId xmlns:r="http://schemas.openxmlformats.org/officeDocument/2006/relationships" id="2147483662" r:id="Rf790da25c41440f3"/>
    <p:sldLayoutId xmlns:r="http://schemas.openxmlformats.org/officeDocument/2006/relationships" id="2147483663" r:id="R808303dd9d904ac5"/>
    <p:sldLayoutId xmlns:r="http://schemas.openxmlformats.org/officeDocument/2006/relationships" id="2147483664" r:id="R117a6dfb85324248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f25c91a474833" /><Relationship Type="http://schemas.openxmlformats.org/officeDocument/2006/relationships/notesSlide" Target="/ppt/notesSlides/notesSlide1.xml" Id="R9321d25803da47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425e9f4e9e4365" /><Relationship Type="http://schemas.openxmlformats.org/officeDocument/2006/relationships/notesSlide" Target="/ppt/notesSlides/notesSlide2.xml" Id="R2b2aedb175d94f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49d998d30e4873" /><Relationship Type="http://schemas.openxmlformats.org/officeDocument/2006/relationships/notesSlide" Target="/ppt/notesSlides/notesSlide3.xml" Id="R196df1a67d2c40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19a248b83245c8" /><Relationship Type="http://schemas.openxmlformats.org/officeDocument/2006/relationships/notesSlide" Target="/ppt/notesSlides/notesSlide4.xml" Id="Rb0ef042a0cb248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92ab270456f4e6e" /><Relationship Type="http://schemas.openxmlformats.org/officeDocument/2006/relationships/image" Target="/ppt/media/image.png" Id="Rb1a3ec3a003e4761" /><Relationship Type="http://schemas.openxmlformats.org/officeDocument/2006/relationships/notesSlide" Target="/ppt/notesSlides/notesSlide5.xml" Id="R63c09f4b492a49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2fc0fa80fd455d" /><Relationship Type="http://schemas.openxmlformats.org/officeDocument/2006/relationships/image" Target="/ppt/media/image2.png" Id="R7208d7f162fe4d27" /><Relationship Type="http://schemas.openxmlformats.org/officeDocument/2006/relationships/notesSlide" Target="/ppt/notesSlides/notesSlide6.xml" Id="R6010f3f79cad49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d939b62fee4269" /><Relationship Type="http://schemas.openxmlformats.org/officeDocument/2006/relationships/image" Target="/ppt/media/image3.png" Id="Rb866c41d3892475e" /><Relationship Type="http://schemas.openxmlformats.org/officeDocument/2006/relationships/notesSlide" Target="/ppt/notesSlides/notesSlide7.xml" Id="R696d9439bfaf4f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fa357b6fe2040ef" /><Relationship Type="http://schemas.openxmlformats.org/officeDocument/2006/relationships/image" Target="/ppt/media/image4.png" Id="R0bb0a493ac914435" /><Relationship Type="http://schemas.openxmlformats.org/officeDocument/2006/relationships/notesSlide" Target="/ppt/notesSlides/notesSlide8.xml" Id="R313a4f2883ce40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ed6086c85042ef" /><Relationship Type="http://schemas.openxmlformats.org/officeDocument/2006/relationships/image" Target="/ppt/media/image5.png" Id="Rc1cae95e985143d6" /><Relationship Type="http://schemas.openxmlformats.org/officeDocument/2006/relationships/notesSlide" Target="/ppt/notesSlides/notesSlide9.xml" Id="R478415e4120b4c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84662098414ff5" /><Relationship Type="http://schemas.openxmlformats.org/officeDocument/2006/relationships/notesSlide" Target="/ppt/notesSlides/notesSlide10.xml" Id="R6d12064bb82048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026693c04e4b46" /><Relationship Type="http://schemas.openxmlformats.org/officeDocument/2006/relationships/image" Target="/ppt/media/image6.png" Id="R414d5aa58ee44cdf" /><Relationship Type="http://schemas.openxmlformats.org/officeDocument/2006/relationships/notesSlide" Target="/ppt/notesSlides/notesSlide11.xml" Id="R8554529ecd8b43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72cedf36824678" /><Relationship Type="http://schemas.openxmlformats.org/officeDocument/2006/relationships/image" Target="/ppt/media/image7.png" Id="Raf5a1ea3c4644b66" /><Relationship Type="http://schemas.openxmlformats.org/officeDocument/2006/relationships/notesSlide" Target="/ppt/notesSlides/notesSlide12.xml" Id="R0f26d19e496a4d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9d8bd322414e38" /><Relationship Type="http://schemas.openxmlformats.org/officeDocument/2006/relationships/image" Target="/ppt/media/image8.png" Id="Rb5fe2d7f1cf54b4a" /><Relationship Type="http://schemas.openxmlformats.org/officeDocument/2006/relationships/notesSlide" Target="/ppt/notesSlides/notesSlide13.xml" Id="Rf2794321305c4b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07aaf8af9754969" /><Relationship Type="http://schemas.openxmlformats.org/officeDocument/2006/relationships/image" Target="/ppt/media/image9.png" Id="R873b65cc848b4ad2" /><Relationship Type="http://schemas.openxmlformats.org/officeDocument/2006/relationships/notesSlide" Target="/ppt/notesSlides/notesSlide14.xml" Id="R9d71425beacc41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25a52073e644d6" /><Relationship Type="http://schemas.openxmlformats.org/officeDocument/2006/relationships/image" Target="/ppt/media/image10.png" Id="R3396e4a4a15a43f6" /><Relationship Type="http://schemas.openxmlformats.org/officeDocument/2006/relationships/notesSlide" Target="/ppt/notesSlides/notesSlide15.xml" Id="Rdd7542436e6046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7c8812ab954d14" /><Relationship Type="http://schemas.openxmlformats.org/officeDocument/2006/relationships/image" Target="/ppt/media/image11.png" Id="Ra6c6d0ad68334438" /><Relationship Type="http://schemas.openxmlformats.org/officeDocument/2006/relationships/notesSlide" Target="/ppt/notesSlides/notesSlide16.xml" Id="R99c3cf66ac284f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9fb0816869484d" /><Relationship Type="http://schemas.openxmlformats.org/officeDocument/2006/relationships/image" Target="/ppt/media/image12.png" Id="R99192bf142d94524" /><Relationship Type="http://schemas.openxmlformats.org/officeDocument/2006/relationships/notesSlide" Target="/ppt/notesSlides/notesSlide17.xml" Id="Rf61d3f63d55f4a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a5ecfa414846f9" /><Relationship Type="http://schemas.openxmlformats.org/officeDocument/2006/relationships/image" Target="/ppt/media/image13.png" Id="R248317a64eea43e2" /><Relationship Type="http://schemas.openxmlformats.org/officeDocument/2006/relationships/notesSlide" Target="/ppt/notesSlides/notesSlide18.xml" Id="R4adf8ca3079e425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cad459c9b0b4c8e" /><Relationship Type="http://schemas.openxmlformats.org/officeDocument/2006/relationships/image" Target="/ppt/media/image14.png" Id="R75f49e9842c447ac" /><Relationship Type="http://schemas.openxmlformats.org/officeDocument/2006/relationships/notesSlide" Target="/ppt/notesSlides/notesSlide19.xml" Id="Rc947d505e7a741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ac891e062e845d9" /><Relationship Type="http://schemas.openxmlformats.org/officeDocument/2006/relationships/notesSlide" Target="/ppt/notesSlides/notesSlide20.xml" Id="Rea03676a002e44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15024799-1CC6-4588-B14E-AB4E7BFE3B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12899" y="3788918"/>
            <a:ext cx="8412480" cy="365760"/>
          </a:xfrm>
        </p:spPr>
        <p:txBody>
          <a:bodyPr xmlns:a="http://schemas.openxmlformats.org/drawingml/2006/main" lIns="0" rIns="0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526078"/>
                </a:solidFill>
                <a:latin typeface="微软雅黑"/>
                <a:ea typeface="微软雅黑"/>
                <a:cs typeface="微软雅黑"/>
              </a:rPr>
              <a:t>面向 AI Data Execution Layer 的 work-unit 构造与状态感知调度</a:t>
            </a:r>
            <a:endParaRPr sz="1400">
              <a:solidFill>
                <a:srgbClr val="6B7280"/>
              </a:solidFill>
            </a:endParaRP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C6F99C8C-491B-475B-A051-891BF4EAC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7060" y="2492375"/>
            <a:ext cx="10469880" cy="1005840"/>
          </a:xfrm>
        </p:spPr>
        <p:txBody>
          <a:bodyPr xmlns:a="http://schemas.openxmlformats.org/drawingml/2006/main" lIns="0" rIns="0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0000"/>
                </a:solidFill>
              </a:rPr>
              <a:t>数据库 AI 负载的执行优化与调度研究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630EE88-CC36-4843-B533-311D07D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320" y="4220845"/>
            <a:ext cx="8595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报告人：____________    指导老师：____________</a:t>
            </a:r>
            <a:endParaRPr sz="16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106027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AI 算子已经进入数据库工作流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Snowflake Cortex AISQL、BigQuery ML/AI、Oracle AI Vector Search 与 pgai/pgvector 已把文本生成、向量计算与多模态分析接入数据工作流。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数据库正在成为 AI workload 的数据入口和结果管理载体。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AI 算子形成新的外部执行链路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数据库记录要经过请求组织、队列、CPU prepare、tensor transfer、模型执行与结果回收；这些阶段共同决定端到端性能。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固定行数、固定 batch size 与固定并发都不足以单独描述 AI 执行。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代表工作推进了相邻层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数据库 AI：LOTUS / Galois / GaussML / Cortex AISQL；推理服务：Orca / vLLM / Sarathi-Serve / VTC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数据执行：Ray / Ray Data / Daft / NeuStream；代价决策：Learned Cost Models / GRACEFUL / COSTREAM / Abacus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相邻层已有强工作，但数据库 Job、上游数据阶段和模型服务状态仍未形成统一闭环。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AI Data Infra 仍缺少上游执行闭环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数据库知道 Job、SLO 与结果语义；模型服务知道 running、waiting、KV 与完成节奏。中间层需要统一 work、state、control 与 cost 接口。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本课题研究 Database 与 Model Service 之间的 AI Data Execution Layer。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6A5FC-674E-49C1-8CD7-09DDE2B9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3ec3a003e4761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同一任务会落入不同服务状态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左：统一 source/sink 的产品 database-E2E；右：同一 ShareGPT manifest 的官方 Chat graph。两条轨分别回答正确性边界与服务供给状态。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现有路径的关键差异不仅是 JCT，还包括欠供给、有效供给与过量排队。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8d7f162fe4d27"/>
          <a:stretch xmlns:a="http://schemas.openxmlformats.org/drawingml/2006/main"/>
        </p:blipFill>
        <p:spPr>
          <a:xfrm xmlns:a="http://schemas.openxmlformats.org/drawingml/2006/main">
            <a:off x="1991995" y="2052341"/>
            <a:ext cx="7564120" cy="2971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记录数和静态上限都不是运行状态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同行数的 token work 可相差 14.3×；相同 W65K 在不同 offered load 下呈现不同 running/MFU；容量扫描存在最小近饱和区。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需要可比较的 work、新鲜状态快照和保持总上限不变的份额控制。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6c41d3892475e"/>
          <a:stretch xmlns:a="http://schemas.openxmlformats.org/drawingml/2006/main"/>
        </p:blipFill>
        <p:spPr>
          <a:xfrm xmlns:a="http://schemas.openxmlformats.org/drawingml/2006/main">
            <a:off x="1991995" y="2041115"/>
            <a:ext cx="7564120" cy="29942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图像把 work 扩展为多阶段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CPU prepare、host-to-device transfer 与 model forward 的代价形态明显不同；继续增大 active window 还会带来等待与回退。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跨模态接口应表达 source/prepare/model/result stage，而非单一图片数。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0a493ac914435"/>
          <a:stretch xmlns:a="http://schemas.openxmlformats.org/drawingml/2006/main"/>
        </p:blipFill>
        <p:spPr>
          <a:xfrm xmlns:a="http://schemas.openxmlformats.org/drawingml/2006/main">
            <a:off x="1991995" y="2039221"/>
            <a:ext cx="7564120" cy="29979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四 Job 并发同时影响 Short 与 Long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每条原生路径内部比较 four-job JCT / isolated JCT。Short 与三个 Long Job 均受影响，但退化幅度和压力形态不同。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作业到达、活跃、drain 与公平需要模型服务上游的任务级管理。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ae95e985143d6"/>
          <a:stretch xmlns:a="http://schemas.openxmlformats.org/drawingml/2006/main"/>
        </p:blipFill>
        <p:spPr>
          <a:xfrm xmlns:a="http://schemas.openxmlformats.org/drawingml/2006/main">
            <a:off x="1991995" y="1751766"/>
            <a:ext cx="7564120" cy="35729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F90E21-DBD3-40F8-A980-D12524A7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80F08C-3D11-4187-8DBE-13C3D65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实验现象导出四项设计要求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12081-7C09-419D-A564-77E2962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Work 表征 → staged WorkDescriptor；运行状态 → fresh stage/service/job snapshot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多 Job 干扰 → 额度借用、完成回收与公平保护；配置风险 → profile + residual，以 ranking/regret 验收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04FBB0-0AB1-43E6-A0FA-BF62FA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521BE-906E-4D9D-A1C2-D67359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F6FEB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Work Unit、状态感知、动态调度与代价估计具有同等证据要求。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518957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AI 数据执行层形成反馈闭环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Organizer 决定一个 work unit 包含什么；Scheduler 决定何时、向哪里、以多少 active work 提交；代价估计同时服务两者。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研究发生在数据库与模型服务之间，不修改模型内部 batching。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6A5FC-674E-49C1-8CD7-09DDE2B9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d5aa58ee44cdf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WorkDescriptor 连接组织与调度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文本表达 prompt/output token 与 prefix locality；图像表达 encoded bytes、prepare、tensor 与 model work。共同字段包括 deadline、uncertainty 与 calibration signature。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字段不是清单：每个字段都要对应组织、路由、准入或公平决策。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ED548-754F-4DED-93B1-96841B4A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a1ea3c4644b66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数据组织没有全局最优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低压力下五种策略近似中性；高压力下重排策略的 cache hit 与吞吐同步下降。颜色对应组织策略，实线保持输入顺序，虚线改变排序或装箱。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balance 与 locality 可联合约束，但实验臂的排序/装箱策略互斥比较。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e2d7f1cf54b4a"/>
          <a:stretch xmlns:a="http://schemas.openxmlformats.org/drawingml/2006/main"/>
        </p:blipFill>
        <p:spPr>
          <a:xfrm xmlns:a="http://schemas.openxmlformats.org/drawingml/2006/main">
            <a:off x="1991995" y="1852609"/>
            <a:ext cx="7564120" cy="33712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总容量固定，份额随活跃集调整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先离线标定当前配置的稳定总上限；运行时仅在活跃 Job 间借用空闲份额、完成即回收，并以 freshness、SLO debt 与公平 deficit 决定释放顺序。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状态缺失或过期时回退全局 FIFO/DRR；简单策略足够好则不引入复杂控制。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F1471-720F-48AA-928A-3A215188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b65cc848b4ad2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共享调度存在效率—公平权衡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Project 的 full/quarter 控制先分离额度损失，再比较同上限 static 与 shared。shared 提高组吞吐与 MFU，但各 Job 收益和 Jain fairness 并不总是同向。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动态调度必须同时报告效率、隔离与公平，不能只看总吞吐。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6e4a4a15a43f6"/>
          <a:stretch xmlns:a="http://schemas.openxmlformats.org/drawingml/2006/main"/>
        </p:blipFill>
        <p:spPr>
          <a:xfrm xmlns:a="http://schemas.openxmlformats.org/drawingml/2006/main">
            <a:off x="2053967" y="1700530"/>
            <a:ext cx="7440176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代价估计要评价决策质量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20 个 context 的完整点云展示每个估计器的选择损失；另报告配置 pairwise accuracy、平均与最坏 regret。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逐行 MAE 更低不保证配置选择更好；代价估计以 ranking/regret 验收。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6d0ad68334438"/>
          <a:stretch xmlns:a="http://schemas.openxmlformats.org/drawingml/2006/main"/>
        </p:blipFill>
        <p:spPr>
          <a:xfrm xmlns:a="http://schemas.openxmlformats.org/drawingml/2006/main">
            <a:off x="1991995" y="1815678"/>
            <a:ext cx="7564120" cy="34450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图像 baseline 分层解释能力边界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Direct CLIP 是容量参照；Daft Built-in 与 Ray Data 是原生 baseline；Project 是冻结静态方法参考；vLLM pooling 当前 capability gate 未通过。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12K 结构诊断与 120K matched-resource 正式比较必须分开解释。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92bf142d94524"/>
          <a:stretch xmlns:a="http://schemas.openxmlformats.org/drawingml/2006/main"/>
        </p:blipFill>
        <p:spPr>
          <a:xfrm xmlns:a="http://schemas.openxmlformats.org/drawingml/2006/main">
            <a:off x="1991995" y="1906996"/>
            <a:ext cx="7564120" cy="32624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图像四 Job 重现任务级干扰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Daft Built-in、Ray Data 与 Project 分别按自身 isolated JCT 归一化。Project static/shared 只展示份额改变，不把 observe-only snapshot 写成动态收益。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统一 work/state 接口具有跨模态价值，但阶段字段必须随模态变化。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317a64eea43e2"/>
          <a:stretch xmlns:a="http://schemas.openxmlformats.org/drawingml/2006/main"/>
        </p:blipFill>
        <p:spPr>
          <a:xfrm xmlns:a="http://schemas.openxmlformats.org/drawingml/2006/main">
            <a:off x="2059552" y="1700530"/>
            <a:ext cx="7429006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3EA05A-F3A5-4439-B39E-580196FE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  <a:def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85D81-33B0-4B98-8BAF-615975A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研究基础支撑后续逐层验证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E998A0-78D8-4183-BBD1-5D9FA0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12740"/>
            <a:ext cx="10928350" cy="937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已有基础覆盖执行闭环、WorkDescriptor、共享 credit 和正式 trace；后续按数据组织、状态与公平调度、代价估计和外部有效性逐层验证。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052E5B-0611-42E4-A3D2-2635C12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A45667-373E-466B-A9CB-7288C56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每一步固定比较合同并保存状态—动作—结果 trace。</a:t>
            </a:r>
            <a:endParaRPr sz="1250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BE16E-5E17-4601-A325-D157BE5D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995" y="1700530"/>
            <a:ext cx="7564120" cy="3675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49e9842c447ac"/>
          <a:stretch xmlns:a="http://schemas.openxmlformats.org/drawingml/2006/main"/>
        </p:blipFill>
        <p:spPr>
          <a:xfrm xmlns:a="http://schemas.openxmlformats.org/drawingml/2006/main">
            <a:off x="2507051" y="1700530"/>
            <a:ext cx="6534009" cy="3675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662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3CC47C4-6B93-4280-87F4-1507C309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78408"/>
            <a:ext cx="731520" cy="649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8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7636CA5-5415-46B5-A009-553D1CFC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024128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t>预期贡献：可估计、可感知、可调度的 AI 数据执行方法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5E2ACA-F899-4CA4-8DD3-D6BBE8E9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097280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244C89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研究内容一：面向 AI workload 的分阶段 work-unit 构造与组织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研究内容二：固定总容量下的状态感知提交、路由与多作业协调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共同使能：以配置排序和决策损失验收的轻量代价估计</a:t>
            </a:r>
            <a:endParaRPr>
              <a:solidFill>
                <a:srgbClr val="244C89"/>
              </a:solidFill>
            </a:endParaRPr>
          </a:p>
          <a:p xmlns:a="http://schemas.openxmlformats.org/drawingml/2006/main">
            <a:pPr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244C89"/>
                </a:solidFill>
              </a:rPr>
              <a:t>■ 跨模态验证：文本 AI_COMPLETE 与图像 AI_EMBED/AI_CLASSIFY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3D98E87-56FA-4F0B-87E0-8CA3B965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6318504"/>
            <a:ext cx="4114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DB3E26C-FCE1-47E2-823A-BF2DEB82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318504"/>
            <a:ext cx="11201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88C7"/>
                </a:solidFill>
                <a:latin typeface="微软雅黑"/>
                <a:ea typeface="微软雅黑"/>
                <a:cs typeface="微软雅黑"/>
              </a:defRPr>
            </a:pPr>
            <a:r>
              <a:rPr sz="1250"/>
              <a:t>最终贡献是 AI-Native Data Infra 中一段可复现、可证伪的上游执行闭环。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1171957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1_自定义设计方案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2026-08-12T02:12:57.6270000Z</dcterms:created>
  <dcterms:modified xsi:type="dcterms:W3CDTF">2026-08-12T02:12:57.6270000Z</dcterms:modified>
</coreProperties>
</file>