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84dbcd03d4d9b" /><Relationship Type="http://schemas.openxmlformats.org/officeDocument/2006/relationships/extended-properties" Target="/docProps/app.xml" Id="Rb2ac4baca28f4781" /><Relationship Type="http://schemas.openxmlformats.org/officeDocument/2006/relationships/officeDocument" Target="/ppt/presentation.xml" Id="Rb7e7840852c8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e763d5c374812"/>
    <p:sldMasterId xmlns:r="http://schemas.openxmlformats.org/officeDocument/2006/relationships" id="2147483653" r:id="Rbfaad8b00dfd4e31"/>
  </p:sldMasterIdLst>
  <p:notesMasterIdLst>
    <p:notesMasterId xmlns:r="http://schemas.openxmlformats.org/officeDocument/2006/relationships" r:id="R3636809c85d14613"/>
  </p:notesMasterIdLst>
  <p:sldIdLst>
    <p:sldId xmlns:r="http://schemas.openxmlformats.org/officeDocument/2006/relationships" id="256" r:id="R34b8d70bbeeb4187"/>
    <p:sldId xmlns:r="http://schemas.openxmlformats.org/officeDocument/2006/relationships" id="257" r:id="R4467aecca4534ae3"/>
    <p:sldId xmlns:r="http://schemas.openxmlformats.org/officeDocument/2006/relationships" id="258" r:id="R5e4bb33f4ada49da"/>
    <p:sldId xmlns:r="http://schemas.openxmlformats.org/officeDocument/2006/relationships" id="259" r:id="R5bdab1b2b5ce412e"/>
    <p:sldId xmlns:r="http://schemas.openxmlformats.org/officeDocument/2006/relationships" id="260" r:id="R7c6b0ab14b7f44b8"/>
    <p:sldId xmlns:r="http://schemas.openxmlformats.org/officeDocument/2006/relationships" id="261" r:id="R6948731bdd724b65"/>
    <p:sldId xmlns:r="http://schemas.openxmlformats.org/officeDocument/2006/relationships" id="262" r:id="R4912a441da924ccf"/>
    <p:sldId xmlns:r="http://schemas.openxmlformats.org/officeDocument/2006/relationships" id="263" r:id="R6efb1dfbbdcd420c"/>
    <p:sldId xmlns:r="http://schemas.openxmlformats.org/officeDocument/2006/relationships" id="264" r:id="R268bfb1031584d80"/>
    <p:sldId xmlns:r="http://schemas.openxmlformats.org/officeDocument/2006/relationships" id="265" r:id="R3cafcd3fa9ad4d66"/>
    <p:sldId xmlns:r="http://schemas.openxmlformats.org/officeDocument/2006/relationships" id="266" r:id="R217669dbf4774d71"/>
    <p:sldId xmlns:r="http://schemas.openxmlformats.org/officeDocument/2006/relationships" id="267" r:id="R6a3f75bdbc2b46fa"/>
    <p:sldId xmlns:r="http://schemas.openxmlformats.org/officeDocument/2006/relationships" id="268" r:id="Rba5c90c35c044635"/>
    <p:sldId xmlns:r="http://schemas.openxmlformats.org/officeDocument/2006/relationships" id="269" r:id="R92a71786b0854880"/>
    <p:sldId xmlns:r="http://schemas.openxmlformats.org/officeDocument/2006/relationships" id="270" r:id="R2acd14ee95604885"/>
    <p:sldId xmlns:r="http://schemas.openxmlformats.org/officeDocument/2006/relationships" id="271" r:id="Rd64da0a4b7694cf2"/>
    <p:sldId xmlns:r="http://schemas.openxmlformats.org/officeDocument/2006/relationships" id="272" r:id="Rb5fe27e3f327492c"/>
    <p:sldId xmlns:r="http://schemas.openxmlformats.org/officeDocument/2006/relationships" id="273" r:id="Rf9487b9913ee4a91"/>
    <p:sldId xmlns:r="http://schemas.openxmlformats.org/officeDocument/2006/relationships" id="274" r:id="R63a83c385dfe41a2"/>
    <p:sldId xmlns:r="http://schemas.openxmlformats.org/officeDocument/2006/relationships" id="275" r:id="R8f76498b7d8641a4"/>
    <p:sldId xmlns:r="http://schemas.openxmlformats.org/officeDocument/2006/relationships" id="276" r:id="R67173ba455c84ee8"/>
    <p:sldId xmlns:r="http://schemas.openxmlformats.org/officeDocument/2006/relationships" id="277" r:id="Re92cae594c0a4997"/>
    <p:sldId xmlns:r="http://schemas.openxmlformats.org/officeDocument/2006/relationships" id="278" r:id="R8528ce4c718e4a09"/>
    <p:sldId xmlns:r="http://schemas.openxmlformats.org/officeDocument/2006/relationships" id="279" r:id="R0c8dcaf9d4f64444"/>
    <p:sldId xmlns:r="http://schemas.openxmlformats.org/officeDocument/2006/relationships" id="280" r:id="R70f5fa8d6d3c4cac"/>
    <p:sldId xmlns:r="http://schemas.openxmlformats.org/officeDocument/2006/relationships" id="281" r:id="Rb66b10347b7e46be"/>
    <p:sldId xmlns:r="http://schemas.openxmlformats.org/officeDocument/2006/relationships" id="282" r:id="R824a88830ff64490"/>
    <p:sldId xmlns:r="http://schemas.openxmlformats.org/officeDocument/2006/relationships" id="283" r:id="Rf4532076153b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b615152ca64810" /><Relationship Type="http://schemas.openxmlformats.org/officeDocument/2006/relationships/slideMaster" Target="/ppt/slideMasters/slideMaster1.xml" Id="R4a6e763d5c374812" /><Relationship Type="http://schemas.openxmlformats.org/officeDocument/2006/relationships/slideMaster" Target="/ppt/slideMasters/slideMaster2.xml" Id="Rbfaad8b00dfd4e31" /><Relationship Type="http://schemas.openxmlformats.org/officeDocument/2006/relationships/notesMaster" Target="/ppt/notesMasters/notesMaster1.xml" Id="R3636809c85d14613" /><Relationship Type="http://schemas.openxmlformats.org/officeDocument/2006/relationships/presProps" Target="/ppt/presProps.xml" Id="Rf429f7df663e4c8a" /><Relationship Type="http://schemas.openxmlformats.org/officeDocument/2006/relationships/viewProps" Target="/ppt/viewProps.xml" Id="Ree6ef230e4e44fcd" /><Relationship Type="http://schemas.openxmlformats.org/officeDocument/2006/relationships/tableStyles" Target="/ppt/tableStyles.xml" Id="Raaa4c73d91ef4265" /><Relationship Type="http://schemas.openxmlformats.org/officeDocument/2006/relationships/slide" Target="/ppt/slides/slide1.xml" Id="R34b8d70bbeeb4187" /><Relationship Type="http://schemas.openxmlformats.org/officeDocument/2006/relationships/slide" Target="/ppt/slides/slide2.xml" Id="R4467aecca4534ae3" /><Relationship Type="http://schemas.openxmlformats.org/officeDocument/2006/relationships/slide" Target="/ppt/slides/slide3.xml" Id="R5e4bb33f4ada49da" /><Relationship Type="http://schemas.openxmlformats.org/officeDocument/2006/relationships/slide" Target="/ppt/slides/slide4.xml" Id="R5bdab1b2b5ce412e" /><Relationship Type="http://schemas.openxmlformats.org/officeDocument/2006/relationships/slide" Target="/ppt/slides/slide5.xml" Id="R7c6b0ab14b7f44b8" /><Relationship Type="http://schemas.openxmlformats.org/officeDocument/2006/relationships/slide" Target="/ppt/slides/slide6.xml" Id="R6948731bdd724b65" /><Relationship Type="http://schemas.openxmlformats.org/officeDocument/2006/relationships/slide" Target="/ppt/slides/slide7.xml" Id="R4912a441da924ccf" /><Relationship Type="http://schemas.openxmlformats.org/officeDocument/2006/relationships/slide" Target="/ppt/slides/slide8.xml" Id="R6efb1dfbbdcd420c" /><Relationship Type="http://schemas.openxmlformats.org/officeDocument/2006/relationships/slide" Target="/ppt/slides/slide9.xml" Id="R268bfb1031584d80" /><Relationship Type="http://schemas.openxmlformats.org/officeDocument/2006/relationships/slide" Target="/ppt/slides/slide10.xml" Id="R3cafcd3fa9ad4d66" /><Relationship Type="http://schemas.openxmlformats.org/officeDocument/2006/relationships/slide" Target="/ppt/slides/slide11.xml" Id="R217669dbf4774d71" /><Relationship Type="http://schemas.openxmlformats.org/officeDocument/2006/relationships/slide" Target="/ppt/slides/slide12.xml" Id="R6a3f75bdbc2b46fa" /><Relationship Type="http://schemas.openxmlformats.org/officeDocument/2006/relationships/slide" Target="/ppt/slides/slide13.xml" Id="Rba5c90c35c044635" /><Relationship Type="http://schemas.openxmlformats.org/officeDocument/2006/relationships/slide" Target="/ppt/slides/slide14.xml" Id="R92a71786b0854880" /><Relationship Type="http://schemas.openxmlformats.org/officeDocument/2006/relationships/slide" Target="/ppt/slides/slide15.xml" Id="R2acd14ee95604885" /><Relationship Type="http://schemas.openxmlformats.org/officeDocument/2006/relationships/slide" Target="/ppt/slides/slide16.xml" Id="Rd64da0a4b7694cf2" /><Relationship Type="http://schemas.openxmlformats.org/officeDocument/2006/relationships/slide" Target="/ppt/slides/slide17.xml" Id="Rb5fe27e3f327492c" /><Relationship Type="http://schemas.openxmlformats.org/officeDocument/2006/relationships/slide" Target="/ppt/slides/slide18.xml" Id="Rf9487b9913ee4a91" /><Relationship Type="http://schemas.openxmlformats.org/officeDocument/2006/relationships/slide" Target="/ppt/slides/slide19.xml" Id="R63a83c385dfe41a2" /><Relationship Type="http://schemas.openxmlformats.org/officeDocument/2006/relationships/slide" Target="/ppt/slides/slide20.xml" Id="R8f76498b7d8641a4" /><Relationship Type="http://schemas.openxmlformats.org/officeDocument/2006/relationships/slide" Target="/ppt/slides/slide21.xml" Id="R67173ba455c84ee8" /><Relationship Type="http://schemas.openxmlformats.org/officeDocument/2006/relationships/slide" Target="/ppt/slides/slide22.xml" Id="Re92cae594c0a4997" /><Relationship Type="http://schemas.openxmlformats.org/officeDocument/2006/relationships/slide" Target="/ppt/slides/slide23.xml" Id="R8528ce4c718e4a09" /><Relationship Type="http://schemas.openxmlformats.org/officeDocument/2006/relationships/slide" Target="/ppt/slides/slide24.xml" Id="R0c8dcaf9d4f64444" /><Relationship Type="http://schemas.openxmlformats.org/officeDocument/2006/relationships/slide" Target="/ppt/slides/slide25.xml" Id="R70f5fa8d6d3c4cac" /><Relationship Type="http://schemas.openxmlformats.org/officeDocument/2006/relationships/slide" Target="/ppt/slides/slide26.xml" Id="Rb66b10347b7e46be" /><Relationship Type="http://schemas.openxmlformats.org/officeDocument/2006/relationships/slide" Target="/ppt/slides/slide27.xml" Id="R824a88830ff64490" /><Relationship Type="http://schemas.openxmlformats.org/officeDocument/2006/relationships/slide" Target="/ppt/slides/slide28.xml" Id="Rf4532076153b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a3834098041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03194a6164140" /><Relationship Type="http://schemas.openxmlformats.org/officeDocument/2006/relationships/notesMaster" Target="/ppt/notesMasters/notesMaster1.xml" Id="R3ecfa141cbde48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7df1823707431b" /><Relationship Type="http://schemas.openxmlformats.org/officeDocument/2006/relationships/notesMaster" Target="/ppt/notesMasters/notesMaster1.xml" Id="R2bdb7b1cb1a8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6ae1f78d174370" /><Relationship Type="http://schemas.openxmlformats.org/officeDocument/2006/relationships/notesMaster" Target="/ppt/notesMasters/notesMaster1.xml" Id="R5ffe239ae9ef44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907dacc7f41bc" /><Relationship Type="http://schemas.openxmlformats.org/officeDocument/2006/relationships/notesMaster" Target="/ppt/notesMasters/notesMaster1.xml" Id="R434fc351c4ae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835bfe73a45c9" /><Relationship Type="http://schemas.openxmlformats.org/officeDocument/2006/relationships/notesMaster" Target="/ppt/notesMasters/notesMaster1.xml" Id="Rd5df7825e8244c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021fd1cd6047c3" /><Relationship Type="http://schemas.openxmlformats.org/officeDocument/2006/relationships/notesMaster" Target="/ppt/notesMasters/notesMaster1.xml" Id="Rf42f705df52549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2eae092c5441b0" /><Relationship Type="http://schemas.openxmlformats.org/officeDocument/2006/relationships/notesMaster" Target="/ppt/notesMasters/notesMaster1.xml" Id="Rb0c51fc656144d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a69e205b534f5d" /><Relationship Type="http://schemas.openxmlformats.org/officeDocument/2006/relationships/notesMaster" Target="/ppt/notesMasters/notesMaster1.xml" Id="R795a1bfd4a96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247f3d59934da3" /><Relationship Type="http://schemas.openxmlformats.org/officeDocument/2006/relationships/notesMaster" Target="/ppt/notesMasters/notesMaster1.xml" Id="R52f5e45440ad49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3ebd897fd46a7" /><Relationship Type="http://schemas.openxmlformats.org/officeDocument/2006/relationships/notesMaster" Target="/ppt/notesMasters/notesMaster1.xml" Id="R11c594c34a814a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e74230224c4547" /><Relationship Type="http://schemas.openxmlformats.org/officeDocument/2006/relationships/notesMaster" Target="/ppt/notesMasters/notesMaster1.xml" Id="Rb8aaf6bae80549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73ed0af8a8406e" /><Relationship Type="http://schemas.openxmlformats.org/officeDocument/2006/relationships/notesMaster" Target="/ppt/notesMasters/notesMaster1.xml" Id="R21da2f8fd07949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1816ff7a7548ba" /><Relationship Type="http://schemas.openxmlformats.org/officeDocument/2006/relationships/notesMaster" Target="/ppt/notesMasters/notesMaster1.xml" Id="R813df6709d934c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62b92fa8ed489e" /><Relationship Type="http://schemas.openxmlformats.org/officeDocument/2006/relationships/notesMaster" Target="/ppt/notesMasters/notesMaster1.xml" Id="Rde2e3afe647243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1b334a54d24d39" /><Relationship Type="http://schemas.openxmlformats.org/officeDocument/2006/relationships/notesMaster" Target="/ppt/notesMasters/notesMaster1.xml" Id="Ra41b59f1c5aa49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e579452ee44ddb" /><Relationship Type="http://schemas.openxmlformats.org/officeDocument/2006/relationships/notesMaster" Target="/ppt/notesMasters/notesMaster1.xml" Id="R96e703ebdf9245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12d0ec51fd4c4a" /><Relationship Type="http://schemas.openxmlformats.org/officeDocument/2006/relationships/notesMaster" Target="/ppt/notesMasters/notesMaster1.xml" Id="R0a48a7fa232e45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9d179657c42bb" /><Relationship Type="http://schemas.openxmlformats.org/officeDocument/2006/relationships/notesMaster" Target="/ppt/notesMasters/notesMaster1.xml" Id="Re22ee9d9961143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de837edf704239" /><Relationship Type="http://schemas.openxmlformats.org/officeDocument/2006/relationships/notesMaster" Target="/ppt/notesMasters/notesMaster1.xml" Id="R8c920c30d8954b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73e9220a2843c5" /><Relationship Type="http://schemas.openxmlformats.org/officeDocument/2006/relationships/notesMaster" Target="/ppt/notesMasters/notesMaster1.xml" Id="Rc63efed61ad743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852ec87eb54f16" /><Relationship Type="http://schemas.openxmlformats.org/officeDocument/2006/relationships/notesMaster" Target="/ppt/notesMasters/notesMaster1.xml" Id="R8a0eb7d75c9f48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235c8d14504af2" /><Relationship Type="http://schemas.openxmlformats.org/officeDocument/2006/relationships/notesMaster" Target="/ppt/notesMasters/notesMaster1.xml" Id="R236bedb953454d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7f6719e7054e72" /><Relationship Type="http://schemas.openxmlformats.org/officeDocument/2006/relationships/notesMaster" Target="/ppt/notesMasters/notesMaster1.xml" Id="R8f2a3d5dfae94d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54d6aca2b8d44a3" /><Relationship Type="http://schemas.openxmlformats.org/officeDocument/2006/relationships/notesMaster" Target="/ppt/notesMasters/notesMaster1.xml" Id="Ra9930b8824094c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63ecdbfcd148f2" /><Relationship Type="http://schemas.openxmlformats.org/officeDocument/2006/relationships/notesMaster" Target="/ppt/notesMasters/notesMaster1.xml" Id="R5d52760306ac45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9f87adfc0b4dd6" /><Relationship Type="http://schemas.openxmlformats.org/officeDocument/2006/relationships/notesMaster" Target="/ppt/notesMasters/notesMaster1.xml" Id="Rd0df9389864a4f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e2f65961404a56" /><Relationship Type="http://schemas.openxmlformats.org/officeDocument/2006/relationships/notesMaster" Target="/ppt/notesMasters/notesMaster1.xml" Id="R0214e22af5aa4d1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147b71788c4a60" /><Relationship Type="http://schemas.openxmlformats.org/officeDocument/2006/relationships/notesMaster" Target="/ppt/notesMasters/notesMaster1.xml" Id="Rb1fe7bd4f44e47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汇报讲稿：本页聚焦“数据库 AI 负载的执行优化与调度研究”。先给出证据或设计，再说明它如何收敛到下一页。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页面角色：可跳过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汇报讲稿：本页聚焦“01”。先给出证据或设计，再说明它如何收敛到下一页。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100" b="1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汇报讲稿：本页聚焦“数据库正在成为 AI workload 入口”。先给出证据或设计，再说明它如何收敛到下一页。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汇报讲稿：本页聚焦“模型服务前后出现新的数据执行层”。先给出证据或设计，再说明它如何收敛到下一页。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汇报讲稿：本页聚焦“现有系统分别优化两端，连接层仍缺方法”。先给出证据或设计，再说明它如何收敛到下一页。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页面角色：可跳过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汇报讲稿：本页聚焦“01”。先给出证据或设计，再说明它如何收敛到下一页。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100" b="1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汇报讲稿：本页聚焦“统一文本三臂揭示静态路径边界”。先给出证据或设计，再说明它如何收敛到下一页。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答辩备注：SQuAD 项目臂未过 95% feeding 门；ShareGPT DuckDB AI 的 cap 语义失败不是基础设施失败。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experiments/results/opening_database_e2e_text_20260807/README.md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汇报讲稿：本页聚焦“先标定最小饱和点，再比较策略”。先给出证据或设计，再说明它如何收敛到下一页。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答辩备注：65K 只绑定当前机器、模型、协议和 workload。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experiments/results/dual_gpu_active_work_saturation_20260729/README.md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汇报讲稿：本页聚焦“数据组织收益取决于 serving regime”。先给出证据或设计，再说明它如何收敛到下一页。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答辩备注：只声称 regime dependency，不声称 sequential 全局最优。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experiments/results/rc1_data_organization/README.md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汇报讲稿：本页聚焦“相同资源下，图像执行结构获得可重复收益”。先给出证据或设计，再说明它如何收敛到下一页。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答辩备注：headline 为 13%–15%；GPU busy 低，不声称 GPU-serving 优化。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experiments/results/image_ai_embed_operator_formal_20260803/README.md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汇报讲稿：本页聚焦“代价估计已能辅助选择，但仍有最坏情形”。先给出证据或设计，再说明它如何收敛到下一页。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答辩备注：max regret 14.72% 为 marginal pass。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experiments/results/operator_cost_profile_dual4090_formal_v2_cache_on_20260807/README.md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汇报讲稿：本页聚焦“证据支持问题存在，不代表方法已经完成”。先给出证据或设计，再说明它如何收敛到下一页。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答辩备注：state-aware 仍是待验证，不使用完成时。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页面角色：可跳过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汇报讲稿：本页聚焦“01”。先给出证据或设计，再说明它如何收敛到下一页。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100" b="1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汇报讲稿：本页聚焦“AI 数据执行层连接数据库与模型服务”。先给出证据或设计，再说明它如何收敛到下一页。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PROJECT_OUTLINE.md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汇报讲稿：本页聚焦“三个研究问题限定方法设计”。先给出证据或设计，再说明它如何收敛到下一页。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汇报讲稿：本页聚焦“研究内容一：按工作量构造 work-unit”。先给出证据或设计，再说明它如何收敛到下一页。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汇报讲稿：本页聚焦“数据组织同时处理 balance 与 locality”。先给出证据或设计，再说明它如何收敛到下一页。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汇报讲稿：本页聚焦“数据组织策略用强静态点和机制指标证伪”。先给出证据或设计，再说明它如何收敛到下一页。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汇报讲稿：本页聚焦“研究内容二：按容量提交、路由与协调”。先给出证据或设计，再说明它如何收敛到下一页。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汇报讲稿：本页聚焦“request/work credit 在完成时精确释放”。先给出证据或设计，再说明它如何收敛到下一页。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汇报讲稿：本页聚焦“状态感知策略必须超过同上限静态点”。先给出证据或设计，再说明它如何收敛到下一页。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页面角色：可跳过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汇报讲稿：本页聚焦“代价估计共同服务两项研究内容”。先给出证据或设计，再说明它如何收敛到下一页。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页面角色：可跳过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汇报讲稿：本页聚焦“01”。先给出证据或设计，再说明它如何收敛到下一页。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100" b="1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汇报讲稿：本页聚焦“实验矩阵只回答可证伪问题”。先给出证据或设计，再说明它如何收敛到下一页。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汇报讲稿：本页聚焦“同一抽象跨文本与图像复用”。先给出证据或设计，再说明它如何收敛到下一页。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汇报讲稿：本页聚焦“进度安排与停止规则”。先给出证据或设计，再说明它如何收敛到下一页。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汇报讲稿：本页聚焦“■ 创新一：token/frame work-unit 构造与 balance/locality 边界</a:t>
            </a:r>
          </a:p>
          <a:p xmlns:a="http://schemas.openxmlformats.org/drawingml/2006/main">
            <a:pPr>
              <a:buNone/>
              <a:defRPr sz="1100" b="0"/>
            </a:pPr>
            <a:r>
              <a:t>■ 创新二：shared request/work credit 的提交、路由与多 job 调度</a:t>
            </a:r>
          </a:p>
          <a:p xmlns:a="http://schemas.openxmlformats.org/drawingml/2006/main">
            <a:pPr>
              <a:buNone/>
              <a:defRPr sz="1100" b="1"/>
            </a:pPr>
            <a:r>
              <a:t>■ 共同组件：面向 ranking/regret 的轻量代价估计</a:t>
            </a:r>
          </a:p>
          <a:p xmlns:a="http://schemas.openxmlformats.org/drawingml/2006/main">
            <a:pPr>
              <a:buNone/>
              <a:defRPr sz="1000" b="0"/>
            </a:pPr>
            <a:r>
              <a:t>■ 降级：动态不增益时收敛为最小饱和、regime 诊断和失效边界”。先给出证据或设计，再说明它如何收敛到下一页。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000" b="0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页面角色：优先讲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汇报讲稿：本页聚焦“谢谢各位老师”。先给出证据或设计，再说明它如何收敛到下一页。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答辩备注：只陈述本页证据等级；平台组件不是贡献，拟研究方法不得写成已有成果。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100" b="1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dfcf92b6c4a12" /><Relationship Type="http://schemas.openxmlformats.org/officeDocument/2006/relationships/image" Target="/ppt/media/image.jpeg" Id="Rd618883be36d4c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de83823bb49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d8218290848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64a03ab6c4b2d" /><Relationship Type="http://schemas.openxmlformats.org/officeDocument/2006/relationships/image" Target="/ppt/media/image.jpeg" Id="Rdcd157d3f9734e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910d2344cd4d22" /><Relationship Type="http://schemas.openxmlformats.org/officeDocument/2006/relationships/image" Target="/ppt/media/image.jpeg" Id="R1234d0ff57fa46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b49e5a3a8845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2d77ae0a4749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920a09b031440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55ae834de544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b1d97795544f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a8497221044c0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bdbaea568d4e4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14dedfb84a48a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035d5119ce4f7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7c336814c84dca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8883be36d4c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FCB351-E1E5-4857-9445-3C0938C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5396EB-6B5E-4A6F-B478-35E72A8237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4896E42-C145-4209-AA23-4AA296C08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DC08F10-CCB9-4E21-87D7-D74E373944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1F4432-B30A-462E-8D67-33077B3006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9F0B66-D1AF-4A08-ABE6-E1122E698F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E8F414-7BA4-4BF8-AFEE-BEC3D900B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78FBC1-3301-4187-9427-B5E11983A7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C307AF-C397-4291-9A22-DD32417AB4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58658-CCB1-4F60-98BD-4838F22D8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25C85B-E07E-4390-A16E-34452EE98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3E4D85-0484-407D-8582-968BEDCAC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64F251F-C5D2-452F-A52A-D78EA876A8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1AE8EE0-1B8E-4F47-93D8-58FD13E68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157d3f9734e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5691E9-F4EA-49AE-B257-DDA09514C3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E6E750B8-5300-44F9-B2CB-A4CAC0D24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81627F1-C389-4129-B0F0-F386468EEF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A06EBC2-E106-439B-8564-7FC0E76EF6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A2BAB78-F595-4061-9820-78391D2E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27FA0B-9E1A-4CCB-AF4D-5B95961855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A689A8-1720-4772-B72D-B573F05D4A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74C0D3-234D-4165-8DA2-BDA366DB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5FBC53-D111-4236-AA0A-EB7EEB2D3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EF34C-1495-4DDF-857A-BC64FC973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4d0ff57fa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8D315-DA65-4C0E-903A-3A828C9FB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5488FA-5B33-4A38-95B6-6C9159C81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4FD035-A86F-4BA6-9499-791955F12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2B70F1-32F4-4098-8E92-E540C38394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5C0CD3-EFA9-46BA-8C0C-D3A86EB53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04735-E317-4806-B340-875DB62D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0A3F6-8D14-4DD8-9387-4AE9AE0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D59F9-9532-427F-A3AF-EB14DD114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CE9946-F695-48A3-AC96-8F216112C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A36B2-3892-4AD0-84EF-27160EE7E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9C4990-7FFA-4FFA-A898-5B3491D0A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A59B69-4A06-4F97-8C03-72F937828F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12650A-727E-4C39-AC4B-06EC352BA57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8498CA-14FB-4D41-B667-B7B8DE854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44C0DD-838F-46F1-8AC0-2498F17E3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E4911C-F768-46E7-A02A-68797E79B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16AE5-85AF-4400-A74B-D3A0C1E37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CD81E9-85A8-479E-8F28-CFE62DB58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76929C-7E8E-40FB-9326-7F0588B867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8B5BF1-12D3-4129-A0E6-0F328166A5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6F46ABD-A08D-41D5-9552-0B1AFC420B9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B5BD36-AD68-4DC5-8E57-FA833F3A8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8F38D4-8BEE-4DAC-A7B4-88C89DCC4C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06BEE58-5D48-4A09-8577-0BE1B1A7A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F9BC95-4DE0-4F44-9294-D8734B721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A0FAD8-064B-45BA-9FFA-A9457CAC21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61278B-67F3-48A3-AEE2-0742DC710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007B669-97AC-4D90-99FE-F7CEB7A9D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37F2E03-2251-42D3-AEA1-54F5551F8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3EFA2BD-CD98-41E2-8B33-38B618D1C6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7A03B3-1209-45F9-8C9D-748285B88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D9A6B6-8A53-4A13-9CD7-EDB1A7C1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A1B11-773C-4DD3-9AEE-79F4AB2F56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927460-D7AB-4E56-8C59-E85D351534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22737D-FD8F-4520-B20F-E1ED680E1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47B796-312D-40EB-BC85-9E366575C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EFE053-4978-4297-B653-5B991F47D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761ED9-6B18-4990-A7CE-7572FE98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C63169-5F70-45DC-9B57-690C6BAB92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1A210E-1950-446A-9319-C8F3D8C6F8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2922A6-D77C-4E48-B06C-27DF1A6C3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4C8B34-6CFC-4ABB-A2D1-B1842F915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46DE8F-7D6C-490E-AB13-BAB85D5A1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43362B-E29C-4569-872A-A8B356E95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81B1E-D1D9-49D5-8B01-2C1295CEF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6EE62D-9C79-4D6E-92D1-9BBBC892A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A6E86F-8723-4D65-ABE8-1FC91DA80F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B2FCA-2181-4825-8D76-AFC748B07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4EC4236-CB14-46A8-941E-CF92531CA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C4FF8-22FF-4F2C-9439-96095B7CB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698874-6169-43A2-A9CD-425C96E97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DA4207-8CB3-4CC3-B2A1-993ED5343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0BC3CF-B20B-41DC-B8B7-E40236745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8ec5371c04a84ebd" /><Relationship Type="http://schemas.openxmlformats.org/officeDocument/2006/relationships/theme" Target="/ppt/slideMasters/theme/theme2.xml" Id="R66aaedad25024073" /><Relationship Type="http://schemas.openxmlformats.org/officeDocument/2006/relationships/slideLayout" Target="/ppt/slideLayouts/slideLayout1.xml" Id="Rc14dccd20195403f" /><Relationship Type="http://schemas.openxmlformats.org/officeDocument/2006/relationships/slideLayout" Target="/ppt/slideLayouts/slideLayout2.xml" Id="Rff28da6433a34925" /><Relationship Type="http://schemas.openxmlformats.org/officeDocument/2006/relationships/slideLayout" Target="/ppt/slideLayouts/slideLayout3.xml" Id="R2978ce4e35e24ca7" /><Relationship Type="http://schemas.openxmlformats.org/officeDocument/2006/relationships/slideLayout" Target="/ppt/slideLayouts/slideLayout4.xml" Id="R41db729324c240a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a8d12b9c120e4c8a" /><Relationship Type="http://schemas.openxmlformats.org/officeDocument/2006/relationships/theme" Target="/ppt/slideMasters/theme/theme3.xml" Id="R687164058f524a0e" /><Relationship Type="http://schemas.openxmlformats.org/officeDocument/2006/relationships/slideLayout" Target="/ppt/slideLayouts/slideLayout5.xml" Id="Rd1cbdb3f83cb44ac" /><Relationship Type="http://schemas.openxmlformats.org/officeDocument/2006/relationships/slideLayout" Target="/ppt/slideLayouts/slideLayout6.xml" Id="R37a77a91a6b64803" /><Relationship Type="http://schemas.openxmlformats.org/officeDocument/2006/relationships/slideLayout" Target="/ppt/slideLayouts/slideLayout7.xml" Id="R84d49477e273473d" /><Relationship Type="http://schemas.openxmlformats.org/officeDocument/2006/relationships/slideLayout" Target="/ppt/slideLayouts/slideLayout8.xml" Id="R726c776a6f344162" /><Relationship Type="http://schemas.openxmlformats.org/officeDocument/2006/relationships/slideLayout" Target="/ppt/slideLayouts/slideLayout9.xml" Id="R0b8a47f0ce064c57" /><Relationship Type="http://schemas.openxmlformats.org/officeDocument/2006/relationships/slideLayout" Target="/ppt/slideLayouts/slideLayout10.xml" Id="R50c844c9884248c0" /><Relationship Type="http://schemas.openxmlformats.org/officeDocument/2006/relationships/slideLayout" Target="/ppt/slideLayouts/slideLayout11.xml" Id="R5455ebb2b0714eb4" /><Relationship Type="http://schemas.openxmlformats.org/officeDocument/2006/relationships/slideLayout" Target="/ppt/slideLayouts/slideLayout12.xml" Id="R6cc80bc5af8a4413" /><Relationship Type="http://schemas.openxmlformats.org/officeDocument/2006/relationships/slideLayout" Target="/ppt/slideLayouts/slideLayout13.xml" Id="R8e8968cbfbf04a4a" /><Relationship Type="http://schemas.openxmlformats.org/officeDocument/2006/relationships/slideLayout" Target="/ppt/slideLayouts/slideLayout14.xml" Id="Raf03a770d5354566" /><Relationship Type="http://schemas.openxmlformats.org/officeDocument/2006/relationships/slideLayout" Target="/ppt/slideLayouts/slideLayout15.xml" Id="R6807bcbbf18f4e4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5371c04a84e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6B2E5C-1652-4330-BE5D-C605052BF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40B016-DD5A-425A-A1F9-2D18FC436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7CEC0C-A984-4F84-882D-3A78936949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8C509B-C574-4FEA-BF2C-66B1F24F3A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6BCBE3-75BE-4518-80F3-1940570A17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8F4C6F-E3B2-432F-ADEC-BC45D61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4dccd20195403f"/>
    <p:sldLayoutId xmlns:r="http://schemas.openxmlformats.org/officeDocument/2006/relationships" id="2147483650" r:id="Rff28da6433a34925"/>
    <p:sldLayoutId xmlns:r="http://schemas.openxmlformats.org/officeDocument/2006/relationships" id="2147483651" r:id="R2978ce4e35e24ca7"/>
    <p:sldLayoutId xmlns:r="http://schemas.openxmlformats.org/officeDocument/2006/relationships" id="2147483652" r:id="R41db729324c240ac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00C0D9-D0DC-4EF7-AECF-FC7B016A6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E4D2F9-C16A-4014-BC87-F5BA7A039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05990-3FB7-4F07-86FE-7927121C527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9A19BD-E6E4-4346-9E0A-939132F26A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0640C9-F3FE-49C4-B594-ECB131BA99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12b9c120e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881C27-4B2A-4F53-9727-86CCDC0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d1cbdb3f83cb44ac"/>
    <p:sldLayoutId xmlns:r="http://schemas.openxmlformats.org/officeDocument/2006/relationships" id="2147483655" r:id="R37a77a91a6b64803"/>
    <p:sldLayoutId xmlns:r="http://schemas.openxmlformats.org/officeDocument/2006/relationships" id="2147483656" r:id="R84d49477e273473d"/>
    <p:sldLayoutId xmlns:r="http://schemas.openxmlformats.org/officeDocument/2006/relationships" id="2147483657" r:id="R726c776a6f344162"/>
    <p:sldLayoutId xmlns:r="http://schemas.openxmlformats.org/officeDocument/2006/relationships" id="2147483658" r:id="R0b8a47f0ce064c57"/>
    <p:sldLayoutId xmlns:r="http://schemas.openxmlformats.org/officeDocument/2006/relationships" id="2147483659" r:id="R50c844c9884248c0"/>
    <p:sldLayoutId xmlns:r="http://schemas.openxmlformats.org/officeDocument/2006/relationships" id="2147483660" r:id="R5455ebb2b0714eb4"/>
    <p:sldLayoutId xmlns:r="http://schemas.openxmlformats.org/officeDocument/2006/relationships" id="2147483661" r:id="R6cc80bc5af8a4413"/>
    <p:sldLayoutId xmlns:r="http://schemas.openxmlformats.org/officeDocument/2006/relationships" id="2147483662" r:id="R8e8968cbfbf04a4a"/>
    <p:sldLayoutId xmlns:r="http://schemas.openxmlformats.org/officeDocument/2006/relationships" id="2147483663" r:id="Raf03a770d5354566"/>
    <p:sldLayoutId xmlns:r="http://schemas.openxmlformats.org/officeDocument/2006/relationships" id="2147483664" r:id="R6807bcbbf18f4e4a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fd671bf0c4339" /><Relationship Type="http://schemas.openxmlformats.org/officeDocument/2006/relationships/notesSlide" Target="/ppt/notesSlides/notesSlide1.xml" Id="R542ece0b166f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fcd427a0e04f58" /><Relationship Type="http://schemas.openxmlformats.org/officeDocument/2006/relationships/notesSlide" Target="/ppt/notesSlides/notesSlide2.xml" Id="R9d82f5abeefc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a4d10eec1d4b63" /><Relationship Type="http://schemas.openxmlformats.org/officeDocument/2006/relationships/notesSlide" Target="/ppt/notesSlides/notesSlide3.xml" Id="R23876e3aa5b4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c83a39faf347ac" /><Relationship Type="http://schemas.openxmlformats.org/officeDocument/2006/relationships/image" Target="/ppt/media/image.png" Id="Re3892825026c4116" /><Relationship Type="http://schemas.openxmlformats.org/officeDocument/2006/relationships/image" Target="/ppt/media/image2.png" Id="R65e4e07bab7c492a" /><Relationship Type="http://schemas.openxmlformats.org/officeDocument/2006/relationships/notesSlide" Target="/ppt/notesSlides/notesSlide4.xml" Id="Rf209c7f93f8a4f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1741b7d7b54b42" /><Relationship Type="http://schemas.openxmlformats.org/officeDocument/2006/relationships/image" Target="/ppt/media/image.png" Id="Ra859d65fb23747d7" /><Relationship Type="http://schemas.openxmlformats.org/officeDocument/2006/relationships/image" Target="/ppt/media/image3.png" Id="R732fe762675f45fb" /><Relationship Type="http://schemas.openxmlformats.org/officeDocument/2006/relationships/notesSlide" Target="/ppt/notesSlides/notesSlide5.xml" Id="Rc5a243cbc5fe43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4b8bec6d9045f2" /><Relationship Type="http://schemas.openxmlformats.org/officeDocument/2006/relationships/notesSlide" Target="/ppt/notesSlides/notesSlide6.xml" Id="R8df1a51486ff47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4a1fecbdd94efe" /><Relationship Type="http://schemas.openxmlformats.org/officeDocument/2006/relationships/notesSlide" Target="/ppt/notesSlides/notesSlide7.xml" Id="R95599e10801f48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caa77d265e4e04" /><Relationship Type="http://schemas.openxmlformats.org/officeDocument/2006/relationships/image" Target="/ppt/media/image.png" Id="R16f33c8c110b4e57" /><Relationship Type="http://schemas.openxmlformats.org/officeDocument/2006/relationships/image" Target="/ppt/media/image4.png" Id="R3b023fe8017b40bd" /><Relationship Type="http://schemas.openxmlformats.org/officeDocument/2006/relationships/notesSlide" Target="/ppt/notesSlides/notesSlide8.xml" Id="Rc42549a18dc14e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f38bf55f6a4a42" /><Relationship Type="http://schemas.openxmlformats.org/officeDocument/2006/relationships/image" Target="/ppt/media/image.png" Id="R8a3002b346fc4eac" /><Relationship Type="http://schemas.openxmlformats.org/officeDocument/2006/relationships/image" Target="/ppt/media/image5.png" Id="R174ae1a9826b4857" /><Relationship Type="http://schemas.openxmlformats.org/officeDocument/2006/relationships/notesSlide" Target="/ppt/notesSlides/notesSlide9.xml" Id="Rd77e7b1b84b545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13f48e5e6446a2" /><Relationship Type="http://schemas.openxmlformats.org/officeDocument/2006/relationships/image" Target="/ppt/media/image.png" Id="R34bbd3eab68244f3" /><Relationship Type="http://schemas.openxmlformats.org/officeDocument/2006/relationships/image" Target="/ppt/media/image6.png" Id="Ra3934199119043f8" /><Relationship Type="http://schemas.openxmlformats.org/officeDocument/2006/relationships/notesSlide" Target="/ppt/notesSlides/notesSlide10.xml" Id="Rb5232002d2694b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7ffaff3bf64cc0" /><Relationship Type="http://schemas.openxmlformats.org/officeDocument/2006/relationships/image" Target="/ppt/media/image.png" Id="R5a196b81c2b14607" /><Relationship Type="http://schemas.openxmlformats.org/officeDocument/2006/relationships/image" Target="/ppt/media/image7.png" Id="Rfb3c83547d0e4701" /><Relationship Type="http://schemas.openxmlformats.org/officeDocument/2006/relationships/notesSlide" Target="/ppt/notesSlides/notesSlide11.xml" Id="R387ab137fa6d41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39dafb60474134" /><Relationship Type="http://schemas.openxmlformats.org/officeDocument/2006/relationships/notesSlide" Target="/ppt/notesSlides/notesSlide12.xml" Id="R949d9ffd40ff4c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ff1a5b25034fee" /><Relationship Type="http://schemas.openxmlformats.org/officeDocument/2006/relationships/notesSlide" Target="/ppt/notesSlides/notesSlide13.xml" Id="R684ead10fd6449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138cb76fa94743" /><Relationship Type="http://schemas.openxmlformats.org/officeDocument/2006/relationships/image" Target="/ppt/media/image.png" Id="Rb67c4afdfe5849eb" /><Relationship Type="http://schemas.openxmlformats.org/officeDocument/2006/relationships/image" Target="/ppt/media/image8.png" Id="Rac34579097584cac" /><Relationship Type="http://schemas.openxmlformats.org/officeDocument/2006/relationships/notesSlide" Target="/ppt/notesSlides/notesSlide14.xml" Id="R9b7c863800c14e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ac038d70224eaf" /><Relationship Type="http://schemas.openxmlformats.org/officeDocument/2006/relationships/notesSlide" Target="/ppt/notesSlides/notesSlide15.xml" Id="R638a333714ab4d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22e7e49657449b" /><Relationship Type="http://schemas.openxmlformats.org/officeDocument/2006/relationships/image" Target="/ppt/media/image.png" Id="R24b53cf397ab416d" /><Relationship Type="http://schemas.openxmlformats.org/officeDocument/2006/relationships/image" Target="/ppt/media/image9.png" Id="Rd5082fb37c7d459c" /><Relationship Type="http://schemas.openxmlformats.org/officeDocument/2006/relationships/notesSlide" Target="/ppt/notesSlides/notesSlide16.xml" Id="R9ccf0e83ff3c42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3cceab8ebf455e" /><Relationship Type="http://schemas.openxmlformats.org/officeDocument/2006/relationships/image" Target="/ppt/media/image.png" Id="R859bb0c99a414cc9" /><Relationship Type="http://schemas.openxmlformats.org/officeDocument/2006/relationships/image" Target="/ppt/media/image10.png" Id="Rf7d8dedf39df465f" /><Relationship Type="http://schemas.openxmlformats.org/officeDocument/2006/relationships/notesSlide" Target="/ppt/notesSlides/notesSlide17.xml" Id="R7e52b7511bca4b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e4f3512c2a46a7" /><Relationship Type="http://schemas.openxmlformats.org/officeDocument/2006/relationships/notesSlide" Target="/ppt/notesSlides/notesSlide18.xml" Id="R737ed004494f45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7befa49deb45a7" /><Relationship Type="http://schemas.openxmlformats.org/officeDocument/2006/relationships/image" Target="/ppt/media/image.png" Id="Ra975b029b87643ff" /><Relationship Type="http://schemas.openxmlformats.org/officeDocument/2006/relationships/image" Target="/ppt/media/image11.png" Id="Rd7249aecc2254ca5" /><Relationship Type="http://schemas.openxmlformats.org/officeDocument/2006/relationships/notesSlide" Target="/ppt/notesSlides/notesSlide19.xml" Id="R5e5dc745bb294c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497ac3c80047bf" /><Relationship Type="http://schemas.openxmlformats.org/officeDocument/2006/relationships/image" Target="/ppt/media/image.png" Id="Rbe4b3a4e72944e82" /><Relationship Type="http://schemas.openxmlformats.org/officeDocument/2006/relationships/image" Target="/ppt/media/image12.png" Id="Rb91a0ff2b1664030" /><Relationship Type="http://schemas.openxmlformats.org/officeDocument/2006/relationships/notesSlide" Target="/ppt/notesSlides/notesSlide20.xml" Id="Rae6f8b4ff5da47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ac494f3c034384" /><Relationship Type="http://schemas.openxmlformats.org/officeDocument/2006/relationships/notesSlide" Target="/ppt/notesSlides/notesSlide21.xml" Id="R0a568a03ed9a41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cac7e5ef3a4fd2" /><Relationship Type="http://schemas.openxmlformats.org/officeDocument/2006/relationships/notesSlide" Target="/ppt/notesSlides/notesSlide22.xml" Id="R949908afda3841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c86e5c11b6454b" /><Relationship Type="http://schemas.openxmlformats.org/officeDocument/2006/relationships/notesSlide" Target="/ppt/notesSlides/notesSlide23.xml" Id="R48157348d57f4e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5b5b337066423e" /><Relationship Type="http://schemas.openxmlformats.org/officeDocument/2006/relationships/notesSlide" Target="/ppt/notesSlides/notesSlide24.xml" Id="R0555c378b0a342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d454dff4764cd1" /><Relationship Type="http://schemas.openxmlformats.org/officeDocument/2006/relationships/image" Target="/ppt/media/image.png" Id="R9b4153583ded46bb" /><Relationship Type="http://schemas.openxmlformats.org/officeDocument/2006/relationships/image" Target="/ppt/media/image13.png" Id="R085b7faa45d446cd" /><Relationship Type="http://schemas.openxmlformats.org/officeDocument/2006/relationships/notesSlide" Target="/ppt/notesSlides/notesSlide25.xml" Id="R93f064b1b09b42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65a41561f14657" /><Relationship Type="http://schemas.openxmlformats.org/officeDocument/2006/relationships/notesSlide" Target="/ppt/notesSlides/notesSlide26.xml" Id="Recddf8ae78e34e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3e390d2c6a4680" /><Relationship Type="http://schemas.openxmlformats.org/officeDocument/2006/relationships/notesSlide" Target="/ppt/notesSlides/notesSlide27.xml" Id="R1fbf7eaeff3443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4222dfc332d47de" /><Relationship Type="http://schemas.openxmlformats.org/officeDocument/2006/relationships/notesSlide" Target="/ppt/notesSlides/notesSlide28.xml" Id="Rf84877793cd745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15024799-1CC6-4588-B14E-AB4E7BFE3B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2899" y="3788918"/>
            <a:ext cx="8412480" cy="36576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526078"/>
                </a:solidFill>
                <a:latin typeface="微软雅黑"/>
                <a:ea typeface="微软雅黑"/>
                <a:cs typeface="微软雅黑"/>
              </a:rPr>
              <a:t>AI 数据执行层：work-unit · cost · admission · routing · multi-job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F99C8C-491B-475B-A051-891BF4EA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060" y="2492375"/>
            <a:ext cx="10469880" cy="100584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数据库 AI 负载的执行优化与调度研究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30EE88-CC36-4843-B533-311D07D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20" y="4220845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报告人：____________    指导老师：____________</a:t>
            </a:r>
            <a:endParaRPr sz="16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602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884FDD-1CFA-4FA1-9C53-18485015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47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7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3A440D-617E-40B7-B2E0-1D9B28A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65960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1588C7"/>
                </a:solidFill>
                <a:latin typeface="Arial"/>
                <a:ea typeface="Arial"/>
                <a:cs typeface="Arial"/>
              </a:rPr>
              <a:t>01</a:t>
            </a:r>
            <a:endParaRPr sz="1900" b="1">
              <a:solidFill>
                <a:srgbClr val="1588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5B9A4CE-DA2E-40F3-9AA2-294232BF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65960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问题与缺口</a:t>
            </a:r>
            <a:endParaRPr sz="19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D985B46-CC03-4E1E-9D43-18389E3D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24328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02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859760-E2C1-403F-AEA6-06F63E06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624328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证据与边界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90A34E8-4232-4A65-AC95-D902210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82696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03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0D17838-3FDE-4054-B0C0-D013721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82696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研究方法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D97AE7B-AFEA-4719-8F3D-E79803E8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41064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04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101FE6F-5423-48C7-8476-998EE30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41064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计划与风险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20D39C7-336E-4688-948B-9643249E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45182"/>
            <a:ext cx="50292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78513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数据库正在成为 AI workload 入口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Cortex AISQL、BigQuery 与 Oracle 已把生成、向量化和语义操作带入 SQL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数据库不再只管理结构化数据，还要触发模型调用并管理结果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AI 算子成本同时受数据组织、模型服务和写回影响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场景已经成立；研究问题是数据库如何有效驱动外部模型服务。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模型服务前后出现新的数据执行层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数据库行需要先转换为计算量可控的请求，再经过准入、路由、模型执行和结果写回。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92825026c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行数不等于 work；数据库语义与 serving 状态需要在连接层汇合。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7522-89C3-4C2F-972A-E13EF0C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4e07bab7c492a"/>
          <a:stretch xmlns:a="http://schemas.openxmlformats.org/drawingml/2006/main"/>
        </p:blipFill>
        <p:spPr>
          <a:xfrm xmlns:a="http://schemas.openxmlformats.org/drawingml/2006/main">
            <a:off x="1991995" y="2345416"/>
            <a:ext cx="7564120" cy="2385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现有系统分别优化两端，连接层仍缺方法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DB 内优化减少模型调用；serving 内优化已到达请求；数据框架提供机制。三者都没有完整覆盖数据库记录如何形成并提交模型请求。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9d65fb23747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研究空白位于 Database 与 Model Service 之间，而不是再造一个 serving engine。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276C-8DE5-48CA-B7E6-A95E33A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e762675f45fb"/>
          <a:stretch xmlns:a="http://schemas.openxmlformats.org/drawingml/2006/main"/>
        </p:blipFill>
        <p:spPr>
          <a:xfrm xmlns:a="http://schemas.openxmlformats.org/drawingml/2006/main">
            <a:off x="2098675" y="1700530"/>
            <a:ext cx="7350760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826F98-35E0-4E50-A17D-CE6197C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46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7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E2ED01-09B3-4692-B214-8C770B2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65960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01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69044E-E72A-44EC-83D3-0F291A1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65960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问题与缺口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A957A0-580F-48E1-80EE-F761BD6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62732"/>
            <a:ext cx="50292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268DC9-2E76-4D09-A2F1-CDB98C6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24328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1588C7"/>
                </a:solidFill>
                <a:latin typeface="Arial"/>
                <a:ea typeface="Arial"/>
                <a:cs typeface="Arial"/>
              </a:rPr>
              <a:t>02</a:t>
            </a:r>
            <a:endParaRPr sz="1900" b="1">
              <a:solidFill>
                <a:srgbClr val="1588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1287D6-76A3-4E76-87DF-E65E79A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624328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证据与边界</a:t>
            </a:r>
            <a:endParaRPr sz="19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4F137E-9969-4FB1-9FEE-E353891A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82696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03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51407B-CC2A-4856-BA45-A91BA251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82696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研究方法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48D29D-2541-447D-B789-026BF67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41064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04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5D42AFB-D55F-46B2-93CA-6694DF1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41064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计划与风险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338166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统一文本三臂揭示静态路径边界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SQuAD correct rows/s：direct 129.85｜DuckDB AI 135.71｜project 116.88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SQuAD feeding：project / direct = 89.9%（未过 95% 门）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ShareGPT correct rows/s：direct 11.34｜DuckDB AI 2.23｜project 10.36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DuckDB AI ShareGPT：三次 formal 共 4936/6144 行 cap 语义失败；基础设施失败 0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同 source/sink 后不预设项目胜出；语义失败和 feeding 门必须与吞吐同表呈现。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先标定最小饱和点，再比较策略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固定资源下，65K active work 已接近吞吐平台；继续增压主要增加尾延迟。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33c8c110b4e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65K 是当前签名下的最小饱和点，不是跨机器通用常数。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23fe8017b40bd"/>
          <a:stretch xmlns:a="http://schemas.openxmlformats.org/drawingml/2006/main"/>
        </p:blipFill>
        <p:spPr>
          <a:xfrm xmlns:a="http://schemas.openxmlformats.org/drawingml/2006/main">
            <a:off x="1991995" y="1858357"/>
            <a:ext cx="7564120" cy="33597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数据组织收益取决于 serving regime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大 KV 池、低压力时策略近似中性；小 KV 池、KV 饱和时出现分化和排名反转。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002b346fc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组织策略必须在明确的 endpoint/KV regime 下评价。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128AD-C779-432B-BDE8-0A02128C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ae1a9826b4857"/>
          <a:stretch xmlns:a="http://schemas.openxmlformats.org/drawingml/2006/main"/>
        </p:blipFill>
        <p:spPr>
          <a:xfrm xmlns:a="http://schemas.openxmlformats.org/drawingml/2006/main">
            <a:off x="1991995" y="1744724"/>
            <a:ext cx="7564120" cy="3586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相同资源下，图像执行结构获得可重复收益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matched-resource 两轮正式结果方向一致，主报告冻结约 13%–15% operator-JCT 改善。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bd3eab68244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图像证据支持执行结构可行性，尚不支持状态感知增量。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B74CA-B163-4BED-B690-6C219ADB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34199119043f8"/>
          <a:stretch xmlns:a="http://schemas.openxmlformats.org/drawingml/2006/main"/>
        </p:blipFill>
        <p:spPr>
          <a:xfrm xmlns:a="http://schemas.openxmlformats.org/drawingml/2006/main">
            <a:off x="1991995" y="1858357"/>
            <a:ext cx="7564120" cy="33597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代价估计已能辅助选择，但仍有最坏情形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Hybrid pooled regret 1.67%，macro 2.90%，pairwise 0.808；max regret 14.72%。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6b81c2b1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代价估计进入决策闭环，但最坏 regret 仍需压缩。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C224A-004C-4581-B4F4-9689158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c83547d0e4701"/>
          <a:stretch xmlns:a="http://schemas.openxmlformats.org/drawingml/2006/main"/>
        </p:blipFill>
        <p:spPr>
          <a:xfrm xmlns:a="http://schemas.openxmlformats.org/drawingml/2006/main">
            <a:off x="1991995" y="1858357"/>
            <a:ext cx="7564120" cy="33597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证据支持问题存在，不代表方法已经完成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已证明：最小饱和点、regime dependence、图像静态结构收益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条件性：代价估计配置选择价值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待验证：state-aware 提交、路由和多作业增量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不能声称：项目路径普遍胜出、某 organizer 全局最优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所有后续方法都必须超过同资源、同上限的冻结强静态点。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6AEA6E1-6A3F-4FB5-BCAF-2FCE0EA9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471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7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163DFA5-9CDD-4C1E-90EB-96B254A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65960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01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AE4048-DDE8-43B4-92B5-2896A8C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65960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问题与缺口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FFD340-6AE6-4634-A2B5-7D4CB03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24328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02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5EF88D-D521-4BFD-B5EA-D2751D4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624328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证据与边界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8D5D7D-2042-4F39-A8A1-9B57BBCB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21100"/>
            <a:ext cx="50292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A264BD-089E-48AB-BF4D-3ED96E1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82696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1588C7"/>
                </a:solidFill>
                <a:latin typeface="Arial"/>
                <a:ea typeface="Arial"/>
                <a:cs typeface="Arial"/>
              </a:rPr>
              <a:t>03</a:t>
            </a:r>
            <a:endParaRPr sz="1900" b="1">
              <a:solidFill>
                <a:srgbClr val="1588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68514D0-D619-48F5-9BD7-41665BA3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82696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研究方法</a:t>
            </a:r>
            <a:endParaRPr sz="19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4AE220-D24F-4C92-B5F5-CD6500D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41064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04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86E75A-2822-4C1A-A151-D3998B6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41064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计划与风险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104390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数据执行层连接数据库与模型服务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两项研究内容位于同一层：work-unit 构造；容量感知的提交、路由与多作业调度。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4afdfe58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模型服务保持黑盒；数据库和 sink 提供任务与正确性边界。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4579097584cac"/>
          <a:stretch xmlns:a="http://schemas.openxmlformats.org/drawingml/2006/main"/>
        </p:blipFill>
        <p:spPr>
          <a:xfrm xmlns:a="http://schemas.openxmlformats.org/drawingml/2006/main">
            <a:off x="2833751" y="1700530"/>
            <a:ext cx="5880608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三个研究问题限定方法设计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最小饱和：多少 active work 足以达到容量平台？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相同 work：balance 与 locality 何时冲突？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多作业共享：怎样兼顾 work-conserving、JCT 与公平？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每个方法组件必须对应一个可证伪问题，而不是因框架可用就加入。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研究内容一：按工作量构造 work-unit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Cost Adapter 把数据库记录映射为 token/frame work；Organizer 在预算内形成 BatchRequest，并显式处理 oversize row。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53cf397ab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从固定行数转向计算量预算，但不预设某种 organizer 必然胜出。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D548-754F-4DED-93B1-96841B4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82fb37c7d459c"/>
          <a:stretch xmlns:a="http://schemas.openxmlformats.org/drawingml/2006/main"/>
        </p:blipFill>
        <p:spPr>
          <a:xfrm xmlns:a="http://schemas.openxmlformats.org/drawingml/2006/main">
            <a:off x="1991995" y="1984874"/>
            <a:ext cx="7564120" cy="3106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数据组织同时处理 balance 与 locality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length alignment 可降低 work 方差；prefix affinity 可保留缓存复用。重排序可能改善前者、破坏后者。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bb0c99a414c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候选信号必须通过跨 serving-regime 消融决定是否保留。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A17C4-286E-4C3F-BE6D-540D19D6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8dedf39df465f"/>
          <a:stretch xmlns:a="http://schemas.openxmlformats.org/drawingml/2006/main"/>
        </p:blipFill>
        <p:spPr>
          <a:xfrm xmlns:a="http://schemas.openxmlformats.org/drawingml/2006/main">
            <a:off x="1991995" y="2003988"/>
            <a:ext cx="7564120" cy="3068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数据组织策略用强静态点和机制指标证伪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固定 manifest 与服务配置，分别报告 packing、endpoint work skew、prefix group ratio、cache hit、TTFT、P99、吞吐和能耗。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先做单因素消融，再检查跨 regime 排名是否稳定。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差异不足 5% 仍是有效结果，不更换 workload 追求正数。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研究内容二：按容量提交、路由与协调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控制 request/work credit 与 active work，在完成事件后连续补位；候选状态信号只驱动上游决策。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5b029b876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目标是维持有效供给，不是无限压入请求。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F1471-720F-48AA-928A-3A21518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49aecc2254ca5"/>
          <a:stretch xmlns:a="http://schemas.openxmlformats.org/drawingml/2006/main"/>
        </p:blipFill>
        <p:spPr>
          <a:xfrm xmlns:a="http://schemas.openxmlformats.org/drawingml/2006/main">
            <a:off x="1991995" y="2072672"/>
            <a:ext cx="7564120" cy="29310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request/work credit 在完成时精确释放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共享 endpoint 上限支持 request-level replenishment、idle borrowing、routing 和多 job fair queue。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b3a4e72944e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request count 与 work credit 分开；credit 不在 submit 时提前释放。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A0349-E818-4848-8653-2309BA1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a0ff2b1664030"/>
          <a:stretch xmlns:a="http://schemas.openxmlformats.org/drawingml/2006/main"/>
        </p:blipFill>
        <p:spPr>
          <a:xfrm xmlns:a="http://schemas.openxmlformats.org/drawingml/2006/main">
            <a:off x="1991995" y="1935652"/>
            <a:ext cx="7564120" cy="3205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状态感知策略必须超过同上限静态点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输入信号：predicted work、active work、completion、running/waiting、KV、TTFT/ITL。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评价顺序：吞吐 → tail/SLO → JCT/fairness → 失效边界。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“动态”不是贡献；未过门时保留强静态点。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代价估计共同服务两项研究内容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解析特征 + profile 校准 + residual correction，预测 work、service、remaining work 与 SLO slack。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用 ranking、selection regret 和最坏 context 评价决策价值。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代价估计是共同使能组件，不扩张为第三项研究内容。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17C5BB-F7B8-43D9-9E12-58FBADD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46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27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5D4FC9-1CDD-427A-B3CC-53A588AE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65960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01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446AF0-80A0-429C-B8DD-7F3311AB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65960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问题与缺口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0EB7C08-FB9B-40B3-A35C-357D662B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24328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02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9A98AC-9CFA-42B8-ACDA-B7DF3F9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624328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证据与边界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3DE30BC-0D43-4105-9C02-50619473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82696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526078"/>
                </a:solidFill>
                <a:latin typeface="Arial"/>
                <a:ea typeface="Arial"/>
                <a:cs typeface="Arial"/>
              </a:rPr>
              <a:t>03</a:t>
            </a:r>
            <a:endParaRPr sz="1900" b="1">
              <a:solidFill>
                <a:srgbClr val="5260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ACB898-D65B-484C-8994-9847ABC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82696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C3443"/>
                </a:solidFill>
                <a:latin typeface="微软雅黑"/>
                <a:ea typeface="微软雅黑"/>
                <a:cs typeface="微软雅黑"/>
              </a:rPr>
              <a:t>研究方法</a:t>
            </a:r>
            <a:endParaRPr sz="1900" b="0">
              <a:solidFill>
                <a:srgbClr val="2C34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2A11C1B-593C-4020-8105-5152C80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9468"/>
            <a:ext cx="50292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E4F467-04D8-4402-9A30-1DAA941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41064"/>
            <a:ext cx="5120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900" b="1">
                <a:solidFill>
                  <a:srgbClr val="1588C7"/>
                </a:solidFill>
                <a:latin typeface="Arial"/>
                <a:ea typeface="Arial"/>
                <a:cs typeface="Arial"/>
              </a:rPr>
              <a:t>04</a:t>
            </a:r>
            <a:endParaRPr sz="1900" b="1">
              <a:solidFill>
                <a:srgbClr val="1588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F5889-DCC5-4437-ADE6-4E93C3E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941064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计划与风险</a:t>
            </a:r>
            <a:endParaRPr sz="1900" b="1">
              <a:solidFill>
                <a:srgbClr val="17203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256712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实验矩阵只回答可证伪问题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研究内容一、二分别与冻结静态点消融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独立最优拼接，再与小规模联合搜索对比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多 job 评价 JCT、tail、SLO 与公平性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correctness、feeding-saturation、stability 任一不过即限制 claim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正式 baseline 由被测系统拥有调度；项目只做统一 source/sink 与审计适配。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同一抽象跨文本与图像复用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文本 adapter 输出 token work，图像 adapter 输出 frame/pixel/preprocess work；Organizer、Scheduler、Tracing 和配置逻辑保持一致。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153583ded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多模态用于检验抽象边界，不是第二套独立系统。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97986-B4CA-46A1-9663-E6CF5E5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b7faa45d446cd"/>
          <a:stretch xmlns:a="http://schemas.openxmlformats.org/drawingml/2006/main"/>
        </p:blipFill>
        <p:spPr>
          <a:xfrm xmlns:a="http://schemas.openxmlformats.org/drawingml/2006/main">
            <a:off x="2432800" y="1700530"/>
            <a:ext cx="66825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7104FE-35E7-47A8-B2E8-E4BE8E0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63023E-2837-4E18-AFE3-BCAD06B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进度安排与停止规则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DE20A1-BD6E-470D-8E90-CE0C80AF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2026.08  冻结开题材料与统一实验合同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2026.09  work-unit 构造跨 workload/regime 消融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2026.10  state-aware 提交、路由与多 job 公平性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2026.11  代价模型 held-out 与两项策略耦合验证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2026.12+  外部有效性、论文图表与正文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77A604-9262-4D60-B03D-5445B68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95CF66-2D42-4A1E-8865-F9B65292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开题前不扩第二数据库和无关矩阵；后续实验必须对应核心 claim。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03718688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CC47C4-6B93-4280-87F4-1507C30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636CA5-5415-46B5-A009-553D1CF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预期创新、风险与降级路径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5E2ACA-F899-4CA4-8DD3-D6BBE8E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创新一：token/frame work-unit 构造与 balance/locality 边界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创新二：shared request/work credit 的提交、路由与多 job 调度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共同组件：面向 ranking/regret 的轻量代价估计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降级：动态不增益时收敛为最小饱和、regime 诊断和失效边界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D98E87-56FA-4F0B-87E0-8CA3B96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B3E26C-FCE1-47E2-823A-BF2DEB8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88C7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不改问题追结果；负结果同样用于限定方法适用范围。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117195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194DCE5C-AB8E-428F-9CB6-0CA60939DB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6B7280"/>
                </a:solidFill>
              </a:rPr>
              <a:t>谢谢各位老师</a:t>
            </a:r>
            <a:endParaRPr sz="2000">
              <a:solidFill>
                <a:srgbClr val="6B7280"/>
              </a:solidFill>
            </a:endParaRP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5108D60-0242-46B0-9B25-95D865645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000000"/>
                </a:solidFill>
              </a:rPr>
              <a:t>恳请批评指正</a:t>
            </a:r>
            <a:endParaRPr sz="36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146504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2026-08-07T09:40:58.6160000Z</dcterms:created>
  <dcterms:modified xsi:type="dcterms:W3CDTF">2026-08-07T09:40:58.6160000Z</dcterms:modified>
</coreProperties>
</file>