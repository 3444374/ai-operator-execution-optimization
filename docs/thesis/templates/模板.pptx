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4.svg" ContentType="image/svg+xml"/>
  <Override PartName="/ppt/media/image16.svg" ContentType="image/svg+xml"/>
  <Override PartName="/ppt/media/image20.svg" ContentType="image/svg+xml"/>
  <Override PartName="/ppt/media/image22.svg" ContentType="image/svg+xml"/>
  <Override PartName="/ppt/media/image24.svg" ContentType="image/svg+xml"/>
  <Override PartName="/ppt/media/image28.svg" ContentType="image/svg+xml"/>
  <Override PartName="/ppt/media/image30.svg" ContentType="image/svg+xml"/>
  <Override PartName="/ppt/media/image32.svg" ContentType="image/svg+xml"/>
  <Override PartName="/ppt/media/image37.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Lst>
  <p:notesMasterIdLst>
    <p:notesMasterId r:id="rId5"/>
  </p:notesMasterIdLst>
  <p:handoutMasterIdLst>
    <p:handoutMasterId r:id="rId34"/>
  </p:handoutMasterIdLst>
  <p:sldIdLst>
    <p:sldId id="400" r:id="rId4"/>
    <p:sldId id="432" r:id="rId6"/>
    <p:sldId id="466" r:id="rId7"/>
    <p:sldId id="552" r:id="rId8"/>
    <p:sldId id="551" r:id="rId9"/>
    <p:sldId id="556" r:id="rId10"/>
    <p:sldId id="560" r:id="rId11"/>
    <p:sldId id="561" r:id="rId12"/>
    <p:sldId id="535" r:id="rId13"/>
    <p:sldId id="558" r:id="rId14"/>
    <p:sldId id="559" r:id="rId15"/>
    <p:sldId id="562" r:id="rId16"/>
    <p:sldId id="563" r:id="rId17"/>
    <p:sldId id="565" r:id="rId18"/>
    <p:sldId id="579" r:id="rId19"/>
    <p:sldId id="592" r:id="rId20"/>
    <p:sldId id="593" r:id="rId21"/>
    <p:sldId id="594" r:id="rId22"/>
    <p:sldId id="580" r:id="rId23"/>
    <p:sldId id="581" r:id="rId24"/>
    <p:sldId id="582" r:id="rId25"/>
    <p:sldId id="584" r:id="rId26"/>
    <p:sldId id="585" r:id="rId27"/>
    <p:sldId id="586" r:id="rId28"/>
    <p:sldId id="587" r:id="rId29"/>
    <p:sldId id="564" r:id="rId30"/>
    <p:sldId id="555" r:id="rId31"/>
    <p:sldId id="568" r:id="rId32"/>
    <p:sldId id="387" r:id="rId33"/>
  </p:sldIdLst>
  <p:sldSz cx="12192000" cy="6858000"/>
  <p:notesSz cx="7099300" cy="10234295"/>
  <p:custDataLst>
    <p:tags r:id="rId38"/>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82" userDrawn="1">
          <p15:clr>
            <a:srgbClr val="A4A3A4"/>
          </p15:clr>
        </p15:guide>
        <p15:guide id="2" pos="38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B72B9"/>
    <a:srgbClr val="006DB2"/>
    <a:srgbClr val="0C2A55"/>
    <a:srgbClr val="1F56A5"/>
    <a:srgbClr val="1588C7"/>
    <a:srgbClr val="4472C4"/>
    <a:srgbClr val="C7D4ED"/>
    <a:srgbClr val="B8DBEE"/>
    <a:srgbClr val="8BAE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47D2557-9050-45F3-9E77-591402EB7796}" styleName="表样式 1 25">
    <a:wholeTbl>
      <a:tcTxStyle>
        <a:fontRef idx="none">
          <a:schemeClr val="tx1"/>
        </a:fontRef>
      </a:tcTxStyle>
      <a:tcStyle>
        <a:tcBdr>
          <a:left>
            <a:ln w="9525" cmpd="sng">
              <a:solidFill>
                <a:schemeClr val="accent2"/>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w="9525" cmpd="sng">
              <a:solidFill>
                <a:schemeClr val="accent2">
                  <a:lumMod val="40000"/>
                  <a:lumOff val="60000"/>
                </a:schemeClr>
              </a:solidFill>
              <a:prstDash val="solid"/>
            </a:ln>
          </a:insideH>
          <a:insideV>
            <a:ln w="9525" cmpd="sng">
              <a:solidFill>
                <a:schemeClr val="accent2">
                  <a:lumMod val="40000"/>
                  <a:lumOff val="60000"/>
                </a:schemeClr>
              </a:solidFill>
              <a:prstDash val="solid"/>
            </a:ln>
          </a:insideV>
        </a:tcBdr>
        <a:fill>
          <a:solidFill>
            <a:schemeClr val="bg1">
              <a:alpha val="0"/>
            </a:schemeClr>
          </a:solidFill>
        </a:fill>
      </a:tcStyle>
    </a:wholeTbl>
    <a:band2H>
      <a:tcStyle>
        <a:tcBdr/>
        <a:fill>
          <a:solidFill>
            <a:schemeClr val="accent2">
              <a:lumMod val="40000"/>
              <a:lumOff val="60000"/>
              <a:alpha val="25000"/>
            </a:schemeClr>
          </a:solidFill>
        </a:fill>
      </a:tcStyle>
    </a:band2H>
    <a:band1V>
      <a:tcStyle>
        <a:tcBdr/>
        <a:fill>
          <a:solidFill>
            <a:schemeClr val="accent2">
              <a:lumMod val="40000"/>
              <a:lumOff val="60000"/>
              <a:alpha val="25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2">
                  <a:lumMod val="40000"/>
                  <a:lumOff val="60000"/>
                </a:schemeClr>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w="9525" cmpd="sng">
              <a:solidFill>
                <a:schemeClr val="accent2">
                  <a:lumMod val="40000"/>
                  <a:lumOff val="60000"/>
                </a:schemeClr>
              </a:solidFill>
              <a:prstDash val="solid"/>
            </a:ln>
          </a:insideH>
          <a:insideV>
            <a:ln>
              <a:noFill/>
            </a:ln>
          </a:insideV>
        </a:tcBdr>
        <a:fill>
          <a:solidFill>
            <a:schemeClr val="accent2">
              <a:lumMod val="40000"/>
              <a:lumOff val="60000"/>
              <a:alpha val="40000"/>
            </a:schemeClr>
          </a:solidFill>
        </a:fill>
      </a:tcStyle>
    </a:lastCol>
    <a:firstCol>
      <a:tcTxStyle b="on">
        <a:fontRef idx="none">
          <a:schemeClr val="tx1"/>
        </a:fontRef>
      </a:tcTxStyle>
      <a:tcStyle>
        <a:tcBdr>
          <a:left>
            <a:ln w="9525" cmpd="sng">
              <a:solidFill>
                <a:schemeClr val="accent2"/>
              </a:solidFill>
              <a:prstDash val="solid"/>
            </a:ln>
          </a:left>
          <a:right>
            <a:ln w="9525" cmpd="sng">
              <a:solidFill>
                <a:schemeClr val="accent2">
                  <a:lumMod val="40000"/>
                  <a:lumOff val="60000"/>
                </a:schemeClr>
              </a:solidFill>
              <a:prstDash val="solid"/>
            </a:ln>
          </a:right>
          <a:top>
            <a:ln w="9525" cmpd="sng">
              <a:solidFill>
                <a:schemeClr val="accent2"/>
              </a:solidFill>
              <a:prstDash val="solid"/>
            </a:ln>
          </a:top>
          <a:bottom>
            <a:ln w="9525" cmpd="sng">
              <a:solidFill>
                <a:schemeClr val="accent2"/>
              </a:solidFill>
              <a:prstDash val="solid"/>
            </a:ln>
          </a:bottom>
          <a:insideH>
            <a:ln w="9525" cmpd="sng">
              <a:solidFill>
                <a:schemeClr val="accent2">
                  <a:lumMod val="40000"/>
                  <a:lumOff val="60000"/>
                </a:schemeClr>
              </a:solidFill>
              <a:prstDash val="solid"/>
            </a:ln>
          </a:insideH>
          <a:insideV>
            <a:ln>
              <a:noFill/>
            </a:ln>
          </a:insideV>
        </a:tcBdr>
        <a:fill>
          <a:solidFill>
            <a:schemeClr val="accent2">
              <a:lumMod val="40000"/>
              <a:lumOff val="60000"/>
              <a:alpha val="40000"/>
            </a:schemeClr>
          </a:solidFill>
        </a:fill>
      </a:tcStyle>
    </a:firstCol>
    <a:lastRow>
      <a:tcTxStyle b="on">
        <a:fontRef idx="none">
          <a:schemeClr val="accent2"/>
        </a:fontRef>
      </a:tcTxStyle>
      <a:tcStyle>
        <a:tcBdr>
          <a:left>
            <a:ln w="9525" cmpd="sng">
              <a:solidFill>
                <a:schemeClr val="accent2"/>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2">
                  <a:lumMod val="40000"/>
                  <a:lumOff val="60000"/>
                </a:schemeClr>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a:noFill/>
            </a:ln>
          </a:insideV>
        </a:tcBdr>
        <a:fill>
          <a:solidFill>
            <a:schemeClr val="bg1">
              <a:alpha val="0"/>
            </a:schemeClr>
          </a:solidFill>
        </a:fill>
      </a:tcStyle>
    </a:seCell>
    <a:swCell>
      <a:tcTxStyle b="on">
        <a:fontRef idx="none">
          <a:schemeClr val="accent2"/>
        </a:fontRef>
      </a:tcTxStyle>
      <a:tcStyle>
        <a:tcBdr>
          <a:left>
            <a:ln w="9525" cmpd="sng">
              <a:solidFill>
                <a:schemeClr val="accent2"/>
              </a:solidFill>
              <a:prstDash val="solid"/>
            </a:ln>
          </a:left>
          <a:right>
            <a:ln w="9525" cmpd="sng">
              <a:solidFill>
                <a:schemeClr val="accent2">
                  <a:lumMod val="40000"/>
                  <a:lumOff val="60000"/>
                </a:schemeClr>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2"/>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w="9525" cmpd="sng">
              <a:solidFill>
                <a:schemeClr val="accent2">
                  <a:lumMod val="40000"/>
                  <a:lumOff val="60000"/>
                </a:schemeClr>
              </a:solidFill>
              <a:prstDash val="solid"/>
            </a:ln>
          </a:insideV>
        </a:tcBdr>
        <a:fill>
          <a:solidFill>
            <a:schemeClr val="accent2"/>
          </a:solidFill>
        </a:fill>
      </a:tcStyle>
    </a:firstRow>
    <a:neCell>
      <a:tcStyle>
        <a:tcBdr>
          <a:left>
            <a:ln w="9525" cmpd="sng">
              <a:solidFill>
                <a:schemeClr val="accent2">
                  <a:lumMod val="40000"/>
                  <a:lumOff val="60000"/>
                </a:schemeClr>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83" autoAdjust="0"/>
    <p:restoredTop sz="79279" autoAdjust="0"/>
  </p:normalViewPr>
  <p:slideViewPr>
    <p:cSldViewPr showGuides="1">
      <p:cViewPr varScale="1">
        <p:scale>
          <a:sx n="100" d="100"/>
          <a:sy n="100" d="100"/>
        </p:scale>
        <p:origin x="702" y="72"/>
      </p:cViewPr>
      <p:guideLst>
        <p:guide orient="horz" pos="2182"/>
        <p:guide pos="3804"/>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8" Type="http://schemas.openxmlformats.org/officeDocument/2006/relationships/tags" Target="tags/tag67.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3"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4"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5"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51542B31-73EC-40E4-BA2E-3718341A1938}"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39700" y="768350"/>
            <a:ext cx="6819900" cy="3836988"/>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989180F7-3713-4556-8363-0F6EEBB166EB}"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大家好，我的</a:t>
            </a:r>
            <a:r>
              <a:rPr lang="zh-CN" altLang="en-US" dirty="0">
                <a:sym typeface="+mn-ea"/>
              </a:rPr>
              <a:t>题目是</a:t>
            </a:r>
            <a:r>
              <a:rPr lang="en-US" altLang="zh-CN" dirty="0">
                <a:sym typeface="+mn-ea"/>
              </a:rPr>
              <a:t>：</a:t>
            </a:r>
            <a:r>
              <a:rPr lang="zh-CN" altLang="en-US" dirty="0">
                <a:sym typeface="+mn-ea"/>
              </a:rPr>
              <a:t>存算分离架构下的高效向量存储引擎研究</a:t>
            </a:r>
            <a:endParaRPr lang="zh-CN" altLang="en-US" dirty="0"/>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a:sym typeface="+mn-ea"/>
              </a:rPr>
              <a:t>我将从以下四个方面来介绍我的</a:t>
            </a:r>
            <a:r>
              <a:rPr lang="zh-CN" altLang="en-US">
                <a:sym typeface="+mn-ea"/>
              </a:rPr>
              <a:t>课题</a:t>
            </a:r>
            <a:endParaRPr lang="zh-CN" altLang="en-US">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sym typeface="+mn-ea"/>
              </a:rPr>
              <a:t>首先讲一下我的工作的研究背景。随着社交媒体和生成式AI的发展，全球数据量不断的激增。
其中80%是非结构化的数据，这类数据大部分都要通过embedding的方式转化成向量来处理。
这导致向量的存储规模不断扩大</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pPr>
            <a:r>
              <a:rPr lang="en-US" altLang="zh-CN" dirty="0">
                <a:solidFill>
                  <a:srgbClr val="CCCCCC"/>
                </a:solidFill>
                <a:effectLst/>
                <a:latin typeface="Consolas" panose="020B0609020204030204" pitchFamily="49" charset="0"/>
                <a:sym typeface="+mn-ea"/>
              </a:rPr>
              <a:t>那么现在向量检索的应用场景也非常广泛，这些都是它的一些应用场景</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向量存储</a:t>
            </a:r>
            <a:r>
              <a:rPr lang="zh-CN" altLang="en-US" dirty="0"/>
              <a:t>是大语言模型应用中的关键基础设施。大模型本身的知识主要来自训练阶段，面对企业私有数据、实时数据和专业领域知识时，需要通过向量存储进行语义检索。典型流程是先把用户问题转成 </a:t>
            </a:r>
            <a:r>
              <a:rPr lang="en-US" altLang="zh-CN" dirty="0"/>
              <a:t>embedding，</a:t>
            </a:r>
            <a:r>
              <a:rPr lang="zh-CN" altLang="en-US" dirty="0"/>
              <a:t>再从向量存储中检索相关内容，最后把检索结果交给大模型生成答案。因此，向量存储的检索效率和扩展能力，会直接影响整个 </a:t>
            </a:r>
            <a:r>
              <a:rPr lang="en-US" altLang="zh-CN" dirty="0"/>
              <a:t>LLM </a:t>
            </a:r>
            <a:r>
              <a:rPr lang="zh-CN" altLang="en-US" dirty="0"/>
              <a:t>应用的响应速度和可用性。</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sym typeface="+mn-ea"/>
              </a:rPr>
              <a:t>根据一些背景调查表示，现在这种向量的特征数据更新非常频繁，而某些应用对于更新的实时性要求比较高，那么这对向量数据库在动态读写的场景下的性能提出了要求</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这是我针对研究背景做的一些测试，选择了内存型，磁盘型以及存算分离型的的向量索引，测试了它们的内存占用，可以观察到内存型的向量索引随着数据集的规模增长，内存占用增长非常</a:t>
            </a:r>
            <a:r>
              <a:rPr lang="zh-CN" altLang="en-US" dirty="0"/>
              <a:t>快速</a:t>
            </a:r>
            <a:endParaRPr lang="zh-CN" altLang="en-US" dirty="0"/>
          </a:p>
          <a:p>
            <a:r>
              <a:rPr lang="zh-CN" altLang="en-US" dirty="0"/>
              <a:t>因此现在很多的向量索引的研究集中于基于磁盘的和存算分离的，这样可以支持更大规模的向量</a:t>
            </a:r>
            <a:r>
              <a:rPr lang="zh-CN" altLang="en-US" dirty="0"/>
              <a:t>存储</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这是针对向量索引在不同的读写比例下的并发吞吐性能测试，可以观察到</a:t>
            </a:r>
            <a:r>
              <a:rPr lang="en-US" altLang="zh-CN" dirty="0"/>
              <a:t>SSD</a:t>
            </a:r>
            <a:r>
              <a:rPr lang="zh-CN" altLang="en-US" dirty="0"/>
              <a:t>和存算分离的向量索引性能上和内存型的向量索引有一定的差距，并且在动态更新的情况下性能会受到较大的</a:t>
            </a:r>
            <a:r>
              <a:rPr lang="zh-CN" altLang="en-US" dirty="0"/>
              <a:t>影响</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接下来是研究</a:t>
            </a:r>
            <a:r>
              <a:rPr lang="zh-CN" altLang="en-US" dirty="0"/>
              <a:t>动机</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sym typeface="+mn-ea"/>
              </a:rPr>
              <a:t>那么现在总结主要是两个场景，一个是要面对不断扩大的存储规模，一个是要面对动态更新的场景
但是传统的单机和分布式的引擎在面对这些场景时会存在一些问题
针对存储规模问题，那么单机是无法扩展的，而分布式虽然可以通过水平扩展来扩大存储规模，但是扩展时会受到硬件资源紧耦合的限制，也就是说你扩充一台服务器必须同时让他配备高性能的计算资源和大规模的存储资源
针对动态更新的问题，单机它在面对有动态更新的场景时，它需要不断的进行索引的更新和重建，这会消耗大量的计算资源和存储资源，导致它的性能受到影响。而分布式在更新的时候需要保证不同节点之间的数据同步，这部分会受到网络延迟的影响</a:t>
            </a: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sym typeface="+mn-ea"/>
              </a:rPr>
              <a:t>而存算分离的架构可以很好的解决这个问题。首先存算分离架构把计算和存储资源解耦，使得可以分别扩展计算和存储资源，这样提高了扩展能力和资源的</a:t>
            </a:r>
            <a:r>
              <a:rPr lang="zh-CN" altLang="en-US" dirty="0">
                <a:sym typeface="+mn-ea"/>
              </a:rPr>
              <a:t>利用率，更有利于支持更大规模的数据存储和计算
然后针对动态更新问题，存算分离架构分为计算侧和存储侧，计算侧可以专门进行向量检索，存储侧可以专门进行向量索引的更新维护，使得索引的更新和重建不影响向量检索的性能</a:t>
            </a:r>
            <a:endParaRPr lang="zh-CN" altLang="en-US" baseline="0" dirty="0"/>
          </a:p>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这是现有的一些基于存算分离架构对向量索引进行优化的工作，这证明存算分离可行，但主要面向 </a:t>
            </a:r>
            <a:r>
              <a:rPr lang="en-US" altLang="zh-CN" dirty="0"/>
              <a:t>CPU </a:t>
            </a:r>
            <a:r>
              <a:rPr lang="zh-CN" altLang="en-US" dirty="0"/>
              <a:t>查询优化，对</a:t>
            </a:r>
            <a:r>
              <a:rPr lang="en-US" altLang="zh-CN" dirty="0"/>
              <a:t>GPU</a:t>
            </a:r>
            <a:r>
              <a:rPr lang="zh-CN" altLang="en-US" dirty="0"/>
              <a:t>利用不足，并且对于动态更新的场景也没有什么</a:t>
            </a:r>
            <a:r>
              <a:rPr lang="zh-CN" altLang="en-US" dirty="0"/>
              <a:t>涉及</a:t>
            </a: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因此接下来介绍</a:t>
            </a:r>
            <a:r>
              <a:rPr lang="zh-CN" altLang="en-US" dirty="0"/>
              <a:t>方案设计</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设计并实现了一个基于存算分离架构的向量存储系统</a:t>
            </a:r>
            <a:r>
              <a:rPr lang="en-US" altLang="zh-CN" dirty="0"/>
              <a:t>Baseline</a:t>
            </a:r>
            <a:endParaRPr lang="en-US" altLang="zh-CN" dirty="0"/>
          </a:p>
          <a:p>
            <a:r>
              <a:rPr lang="zh-CN" altLang="en-US" dirty="0"/>
              <a:t>计算侧由</a:t>
            </a:r>
            <a:r>
              <a:rPr lang="en-US" altLang="zh-CN" dirty="0"/>
              <a:t>GPU</a:t>
            </a:r>
            <a:r>
              <a:rPr lang="zh-CN" altLang="en-US" dirty="0"/>
              <a:t>进行距离计算</a:t>
            </a:r>
            <a:r>
              <a:rPr lang="en-US" altLang="zh-CN" dirty="0"/>
              <a:t>，CPU</a:t>
            </a:r>
            <a:r>
              <a:rPr lang="zh-CN" altLang="en-US" dirty="0"/>
              <a:t>负责图遍历</a:t>
            </a:r>
            <a:r>
              <a:rPr lang="en-US" altLang="zh-CN" dirty="0"/>
              <a:t>，</a:t>
            </a:r>
            <a:r>
              <a:rPr lang="zh-CN" altLang="en-US" dirty="0"/>
              <a:t>通过</a:t>
            </a:r>
            <a:r>
              <a:rPr lang="en-US" altLang="zh-CN" dirty="0"/>
              <a:t>RDMA</a:t>
            </a:r>
            <a:r>
              <a:rPr lang="zh-CN" altLang="en-US" dirty="0"/>
              <a:t>从存储侧拉取数据</a:t>
            </a:r>
            <a:r>
              <a:rPr lang="en-US" altLang="zh-CN" dirty="0"/>
              <a:t>，</a:t>
            </a:r>
            <a:r>
              <a:rPr lang="zh-CN" altLang="en-US" dirty="0"/>
              <a:t>并且通过</a:t>
            </a:r>
            <a:r>
              <a:rPr lang="en-US" altLang="zh-CN" dirty="0"/>
              <a:t>GPU Direct RDMA</a:t>
            </a:r>
            <a:r>
              <a:rPr lang="zh-CN" altLang="en-US" dirty="0"/>
              <a:t>直接读到显存中由</a:t>
            </a:r>
            <a:r>
              <a:rPr lang="en-US" altLang="zh-CN" dirty="0"/>
              <a:t>GPU</a:t>
            </a:r>
            <a:r>
              <a:rPr lang="zh-CN" altLang="en-US" dirty="0"/>
              <a:t>做计算</a:t>
            </a:r>
            <a:endParaRPr lang="zh-CN" altLang="en-US" dirty="0"/>
          </a:p>
          <a:p>
            <a:r>
              <a:rPr lang="zh-CN" altLang="en-US" dirty="0"/>
              <a:t>然后将更新操作卸载到由存储节点</a:t>
            </a:r>
            <a:r>
              <a:rPr lang="zh-CN" altLang="en-US" dirty="0"/>
              <a:t>来执行</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对</a:t>
            </a:r>
            <a:r>
              <a:rPr lang="en-US" altLang="zh-CN" dirty="0"/>
              <a:t>Baseline</a:t>
            </a:r>
            <a:r>
              <a:rPr lang="zh-CN" altLang="en-US" dirty="0"/>
              <a:t>进行查询性能瓶颈分析</a:t>
            </a:r>
            <a:r>
              <a:rPr lang="en-US" altLang="zh-CN" dirty="0"/>
              <a:t>，</a:t>
            </a:r>
            <a:r>
              <a:rPr lang="zh-CN" altLang="en-US" dirty="0"/>
              <a:t>图遍历的特点是细粒度以及严格串行化问题</a:t>
            </a:r>
            <a:r>
              <a:rPr lang="en-US" altLang="zh-CN" dirty="0"/>
              <a:t>，</a:t>
            </a:r>
            <a:r>
              <a:rPr lang="zh-CN" altLang="en-US" dirty="0"/>
              <a:t>在存算分离</a:t>
            </a:r>
            <a:r>
              <a:rPr lang="en-US" altLang="zh-CN" dirty="0"/>
              <a:t>+GPU</a:t>
            </a:r>
            <a:r>
              <a:rPr lang="zh-CN" altLang="en-US" dirty="0"/>
              <a:t>这样的场景下被放大了</a:t>
            </a:r>
            <a:r>
              <a:rPr lang="en-US" altLang="zh-CN" dirty="0"/>
              <a:t>，</a:t>
            </a:r>
            <a:r>
              <a:rPr lang="zh-CN" altLang="en-US" dirty="0"/>
              <a:t>图中是一次邻居的流程图</a:t>
            </a:r>
            <a:r>
              <a:rPr lang="en-US" altLang="zh-CN" dirty="0"/>
              <a:t>，</a:t>
            </a:r>
            <a:r>
              <a:rPr lang="zh-CN" altLang="en-US" dirty="0"/>
              <a:t>平均一次查询需要做</a:t>
            </a:r>
            <a:r>
              <a:rPr lang="en-US" altLang="zh-CN" dirty="0"/>
              <a:t>154</a:t>
            </a:r>
            <a:r>
              <a:rPr lang="zh-CN" altLang="en-US" dirty="0"/>
              <a:t>次的图遍历扩展</a:t>
            </a:r>
            <a:r>
              <a:rPr lang="en-US" altLang="zh-CN" dirty="0"/>
              <a:t>，</a:t>
            </a:r>
            <a:r>
              <a:rPr lang="zh-CN" altLang="en-US" dirty="0"/>
              <a:t>而这</a:t>
            </a:r>
            <a:r>
              <a:rPr lang="en-US" altLang="zh-CN" dirty="0"/>
              <a:t>100</a:t>
            </a:r>
            <a:r>
              <a:rPr lang="zh-CN" altLang="en-US" dirty="0"/>
              <a:t>多次扩展都是串行化的，且在扩展操作内部</a:t>
            </a:r>
            <a:r>
              <a:rPr lang="en-US" altLang="zh-CN" dirty="0"/>
              <a:t>CPU、RDMA、GPU</a:t>
            </a:r>
            <a:r>
              <a:rPr lang="zh-CN" altLang="en-US" dirty="0"/>
              <a:t>之间也是高度串行化</a:t>
            </a:r>
            <a:r>
              <a:rPr lang="zh-CN" altLang="en-US" dirty="0"/>
              <a:t>的</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solidFill>
                  <a:schemeClr val="tx1">
                    <a:lumMod val="75000"/>
                    <a:lumOff val="25000"/>
                  </a:schemeClr>
                </a:solidFill>
                <a:sym typeface="+mn-ea"/>
              </a:rPr>
              <a:t>首先主要的思想是要让它每次多扩展几个节点</a:t>
            </a:r>
            <a:r>
              <a:rPr lang="en-US" altLang="zh-CN" dirty="0">
                <a:solidFill>
                  <a:schemeClr val="tx1">
                    <a:lumMod val="75000"/>
                    <a:lumOff val="25000"/>
                  </a:schemeClr>
                </a:solidFill>
                <a:sym typeface="+mn-ea"/>
              </a:rPr>
              <a:t>，</a:t>
            </a:r>
            <a:r>
              <a:rPr lang="zh-CN" altLang="en-US" dirty="0">
                <a:solidFill>
                  <a:schemeClr val="tx1">
                    <a:lumMod val="75000"/>
                    <a:lumOff val="25000"/>
                  </a:schemeClr>
                </a:solidFill>
                <a:sym typeface="+mn-ea"/>
              </a:rPr>
              <a:t>从扩展一个节点变成扩展</a:t>
            </a:r>
            <a:r>
              <a:rPr lang="en-US" altLang="zh-CN" dirty="0">
                <a:solidFill>
                  <a:schemeClr val="tx1">
                    <a:lumMod val="75000"/>
                    <a:lumOff val="25000"/>
                  </a:schemeClr>
                </a:solidFill>
                <a:sym typeface="+mn-ea"/>
              </a:rPr>
              <a:t>K</a:t>
            </a:r>
            <a:r>
              <a:rPr lang="zh-CN" altLang="en-US" dirty="0">
                <a:solidFill>
                  <a:schemeClr val="tx1">
                    <a:lumMod val="75000"/>
                    <a:lumOff val="25000"/>
                  </a:schemeClr>
                </a:solidFill>
                <a:sym typeface="+mn-ea"/>
              </a:rPr>
              <a:t>个节点</a:t>
            </a:r>
            <a:r>
              <a:rPr lang="en-US" altLang="zh-CN" dirty="0">
                <a:solidFill>
                  <a:schemeClr val="tx1">
                    <a:lumMod val="75000"/>
                    <a:lumOff val="25000"/>
                  </a:schemeClr>
                </a:solidFill>
                <a:sym typeface="+mn-ea"/>
              </a:rPr>
              <a:t>。</a:t>
            </a: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solidFill>
                  <a:schemeClr val="tx1">
                    <a:lumMod val="75000"/>
                    <a:lumOff val="25000"/>
                  </a:schemeClr>
                </a:solidFill>
                <a:sym typeface="+mn-ea"/>
              </a:rPr>
              <a:t>首先主要的思想是要让它每次多扩展几个节点</a:t>
            </a:r>
            <a:r>
              <a:rPr lang="en-US" altLang="zh-CN" dirty="0">
                <a:solidFill>
                  <a:schemeClr val="tx1">
                    <a:lumMod val="75000"/>
                    <a:lumOff val="25000"/>
                  </a:schemeClr>
                </a:solidFill>
                <a:sym typeface="+mn-ea"/>
              </a:rPr>
              <a:t>，</a:t>
            </a:r>
            <a:r>
              <a:rPr lang="zh-CN" altLang="en-US" dirty="0">
                <a:solidFill>
                  <a:schemeClr val="tx1">
                    <a:lumMod val="75000"/>
                    <a:lumOff val="25000"/>
                  </a:schemeClr>
                </a:solidFill>
                <a:sym typeface="+mn-ea"/>
              </a:rPr>
              <a:t>从扩展一个节点变成扩展</a:t>
            </a:r>
            <a:r>
              <a:rPr lang="en-US" altLang="zh-CN" dirty="0">
                <a:solidFill>
                  <a:schemeClr val="tx1">
                    <a:lumMod val="75000"/>
                    <a:lumOff val="25000"/>
                  </a:schemeClr>
                </a:solidFill>
                <a:sym typeface="+mn-ea"/>
              </a:rPr>
              <a:t>K</a:t>
            </a:r>
            <a:r>
              <a:rPr lang="zh-CN" altLang="en-US" dirty="0">
                <a:solidFill>
                  <a:schemeClr val="tx1">
                    <a:lumMod val="75000"/>
                    <a:lumOff val="25000"/>
                  </a:schemeClr>
                </a:solidFill>
                <a:sym typeface="+mn-ea"/>
              </a:rPr>
              <a:t>个节点</a:t>
            </a:r>
            <a:r>
              <a:rPr lang="en-US" altLang="zh-CN" dirty="0">
                <a:solidFill>
                  <a:schemeClr val="tx1">
                    <a:lumMod val="75000"/>
                    <a:lumOff val="25000"/>
                  </a:schemeClr>
                </a:solidFill>
                <a:sym typeface="+mn-ea"/>
              </a:rPr>
              <a:t>。</a:t>
            </a:r>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solidFill>
                  <a:schemeClr val="tx1">
                    <a:lumMod val="75000"/>
                    <a:lumOff val="25000"/>
                  </a:schemeClr>
                </a:solidFill>
                <a:sym typeface="+mn-ea"/>
              </a:rPr>
              <a:t>首先主要的思想是要让它每次多扩展几个节点</a:t>
            </a:r>
            <a:r>
              <a:rPr lang="en-US" altLang="zh-CN" dirty="0">
                <a:solidFill>
                  <a:schemeClr val="tx1">
                    <a:lumMod val="75000"/>
                    <a:lumOff val="25000"/>
                  </a:schemeClr>
                </a:solidFill>
                <a:sym typeface="+mn-ea"/>
              </a:rPr>
              <a:t>，</a:t>
            </a:r>
            <a:r>
              <a:rPr lang="zh-CN" altLang="en-US" dirty="0">
                <a:solidFill>
                  <a:schemeClr val="tx1">
                    <a:lumMod val="75000"/>
                    <a:lumOff val="25000"/>
                  </a:schemeClr>
                </a:solidFill>
                <a:sym typeface="+mn-ea"/>
              </a:rPr>
              <a:t>从扩展一个节点变成扩展</a:t>
            </a:r>
            <a:r>
              <a:rPr lang="en-US" altLang="zh-CN" dirty="0">
                <a:solidFill>
                  <a:schemeClr val="tx1">
                    <a:lumMod val="75000"/>
                    <a:lumOff val="25000"/>
                  </a:schemeClr>
                </a:solidFill>
                <a:sym typeface="+mn-ea"/>
              </a:rPr>
              <a:t>K</a:t>
            </a:r>
            <a:r>
              <a:rPr lang="zh-CN" altLang="en-US" dirty="0">
                <a:solidFill>
                  <a:schemeClr val="tx1">
                    <a:lumMod val="75000"/>
                    <a:lumOff val="25000"/>
                  </a:schemeClr>
                </a:solidFill>
                <a:sym typeface="+mn-ea"/>
              </a:rPr>
              <a:t>个节点</a:t>
            </a:r>
            <a:r>
              <a:rPr lang="en-US" altLang="zh-CN" dirty="0">
                <a:solidFill>
                  <a:schemeClr val="tx1">
                    <a:lumMod val="75000"/>
                    <a:lumOff val="25000"/>
                  </a:schemeClr>
                </a:solidFill>
                <a:sym typeface="+mn-ea"/>
              </a:rPr>
              <a:t>。</a:t>
            </a: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solidFill>
                  <a:schemeClr val="tx1">
                    <a:lumMod val="75000"/>
                    <a:lumOff val="25000"/>
                  </a:schemeClr>
                </a:solidFill>
                <a:sym typeface="+mn-ea"/>
              </a:rPr>
              <a:t>于是就设计了一个基于</a:t>
            </a:r>
            <a:r>
              <a:rPr lang="en-US" altLang="zh-CN" dirty="0">
                <a:solidFill>
                  <a:schemeClr val="tx1">
                    <a:lumMod val="75000"/>
                    <a:lumOff val="25000"/>
                  </a:schemeClr>
                </a:solidFill>
                <a:sym typeface="+mn-ea"/>
              </a:rPr>
              <a:t>RabitQ</a:t>
            </a:r>
            <a:r>
              <a:rPr lang="zh-CN" altLang="en-US" dirty="0">
                <a:solidFill>
                  <a:schemeClr val="tx1">
                    <a:lumMod val="75000"/>
                    <a:lumOff val="25000"/>
                  </a:schemeClr>
                </a:solidFill>
                <a:sym typeface="+mn-ea"/>
              </a:rPr>
              <a:t>的过滤器</a:t>
            </a:r>
            <a:r>
              <a:rPr lang="en-US" altLang="zh-CN" dirty="0">
                <a:solidFill>
                  <a:schemeClr val="tx1">
                    <a:lumMod val="75000"/>
                    <a:lumOff val="25000"/>
                  </a:schemeClr>
                </a:solidFill>
                <a:sym typeface="+mn-ea"/>
              </a:rPr>
              <a:t>，RabitQ</a:t>
            </a:r>
            <a:r>
              <a:rPr lang="zh-CN" altLang="en-US" dirty="0">
                <a:solidFill>
                  <a:schemeClr val="tx1">
                    <a:lumMod val="75000"/>
                    <a:lumOff val="25000"/>
                  </a:schemeClr>
                </a:solidFill>
                <a:sym typeface="+mn-ea"/>
              </a:rPr>
              <a:t>本身是一种向量压缩方法</a:t>
            </a:r>
            <a:r>
              <a:rPr lang="en-US" altLang="zh-CN" dirty="0">
                <a:solidFill>
                  <a:schemeClr val="tx1">
                    <a:lumMod val="75000"/>
                    <a:lumOff val="25000"/>
                  </a:schemeClr>
                </a:solidFill>
                <a:sym typeface="+mn-ea"/>
              </a:rPr>
              <a:t>，</a:t>
            </a:r>
            <a:r>
              <a:rPr lang="zh-CN" altLang="en-US" dirty="0">
                <a:solidFill>
                  <a:schemeClr val="tx1">
                    <a:lumMod val="75000"/>
                    <a:lumOff val="25000"/>
                  </a:schemeClr>
                </a:solidFill>
                <a:sym typeface="+mn-ea"/>
              </a:rPr>
              <a:t>这里指的就是在本地存储压缩后的低精度向量</a:t>
            </a:r>
            <a:r>
              <a:rPr lang="en-US" altLang="zh-CN" dirty="0">
                <a:solidFill>
                  <a:schemeClr val="tx1">
                    <a:lumMod val="75000"/>
                    <a:lumOff val="25000"/>
                  </a:schemeClr>
                </a:solidFill>
                <a:sym typeface="+mn-ea"/>
              </a:rPr>
              <a:t>，</a:t>
            </a:r>
            <a:r>
              <a:rPr lang="zh-CN" altLang="en-US" dirty="0">
                <a:solidFill>
                  <a:schemeClr val="tx1">
                    <a:lumMod val="75000"/>
                    <a:lumOff val="25000"/>
                  </a:schemeClr>
                </a:solidFill>
                <a:sym typeface="+mn-ea"/>
              </a:rPr>
              <a:t>在要从远端拉取邻居数据时</a:t>
            </a:r>
            <a:r>
              <a:rPr lang="en-US" altLang="zh-CN" dirty="0">
                <a:solidFill>
                  <a:schemeClr val="tx1">
                    <a:lumMod val="75000"/>
                    <a:lumOff val="25000"/>
                  </a:schemeClr>
                </a:solidFill>
                <a:sym typeface="+mn-ea"/>
              </a:rPr>
              <a:t>，</a:t>
            </a:r>
            <a:r>
              <a:rPr lang="zh-CN" altLang="en-US" dirty="0">
                <a:solidFill>
                  <a:schemeClr val="tx1">
                    <a:lumMod val="75000"/>
                    <a:lumOff val="25000"/>
                  </a:schemeClr>
                </a:solidFill>
                <a:sym typeface="+mn-ea"/>
              </a:rPr>
              <a:t>先在本地用低精度的向量做粗筛</a:t>
            </a:r>
            <a:r>
              <a:rPr lang="en-US" altLang="zh-CN" dirty="0">
                <a:solidFill>
                  <a:schemeClr val="tx1">
                    <a:lumMod val="75000"/>
                    <a:lumOff val="25000"/>
                  </a:schemeClr>
                </a:solidFill>
                <a:sym typeface="+mn-ea"/>
              </a:rPr>
              <a:t>，</a:t>
            </a:r>
            <a:r>
              <a:rPr lang="zh-CN" altLang="en-US" dirty="0">
                <a:solidFill>
                  <a:schemeClr val="tx1">
                    <a:lumMod val="75000"/>
                    <a:lumOff val="25000"/>
                  </a:schemeClr>
                </a:solidFill>
                <a:sym typeface="+mn-ea"/>
              </a:rPr>
              <a:t>将低质量的邻居节点过滤掉</a:t>
            </a:r>
            <a:r>
              <a:rPr lang="en-US" altLang="zh-CN" dirty="0">
                <a:solidFill>
                  <a:schemeClr val="tx1">
                    <a:lumMod val="75000"/>
                    <a:lumOff val="25000"/>
                  </a:schemeClr>
                </a:solidFill>
                <a:sym typeface="+mn-ea"/>
              </a:rPr>
              <a:t>。</a:t>
            </a:r>
            <a:r>
              <a:rPr lang="zh-CN" altLang="en-US" dirty="0">
                <a:solidFill>
                  <a:schemeClr val="tx1">
                    <a:lumMod val="75000"/>
                    <a:lumOff val="25000"/>
                  </a:schemeClr>
                </a:solidFill>
                <a:sym typeface="+mn-ea"/>
              </a:rPr>
              <a:t>这样就保证了批量化地做图遍历扩展</a:t>
            </a:r>
            <a:r>
              <a:rPr lang="en-US" altLang="zh-CN" dirty="0">
                <a:solidFill>
                  <a:schemeClr val="tx1">
                    <a:lumMod val="75000"/>
                    <a:lumOff val="25000"/>
                  </a:schemeClr>
                </a:solidFill>
                <a:sym typeface="+mn-ea"/>
              </a:rPr>
              <a:t>，</a:t>
            </a:r>
            <a:r>
              <a:rPr lang="zh-CN" altLang="en-US" dirty="0">
                <a:solidFill>
                  <a:schemeClr val="tx1">
                    <a:lumMod val="75000"/>
                    <a:lumOff val="25000"/>
                  </a:schemeClr>
                </a:solidFill>
                <a:sym typeface="+mn-ea"/>
              </a:rPr>
              <a:t>又避免拉取和计算过多的无效</a:t>
            </a:r>
            <a:r>
              <a:rPr lang="zh-CN" altLang="en-US" dirty="0">
                <a:solidFill>
                  <a:schemeClr val="tx1">
                    <a:lumMod val="75000"/>
                    <a:lumOff val="25000"/>
                  </a:schemeClr>
                </a:solidFill>
                <a:sym typeface="+mn-ea"/>
              </a:rPr>
              <a:t>数据</a:t>
            </a:r>
            <a:endParaRPr lang="zh-CN" altLang="en-US" dirty="0">
              <a:solidFill>
                <a:schemeClr val="tx1">
                  <a:lumMod val="75000"/>
                  <a:lumOff val="25000"/>
                </a:schemeClr>
              </a:solidFill>
              <a:sym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latin typeface="Segoe UI Light" panose="020B0502040204020203" pitchFamily="34" charset="0"/>
                <a:ea typeface="微软雅黑 Light" panose="020B0502040204020203" pitchFamily="34" charset="-122"/>
                <a:sym typeface="+mn-ea"/>
              </a:rPr>
              <a:t>将更新卸载到存储侧后</a:t>
            </a:r>
            <a:r>
              <a:rPr lang="en-US" altLang="zh-CN" dirty="0">
                <a:latin typeface="Segoe UI Light" panose="020B0502040204020203" pitchFamily="34" charset="0"/>
                <a:ea typeface="微软雅黑 Light" panose="020B0502040204020203" pitchFamily="34" charset="-122"/>
                <a:sym typeface="+mn-ea"/>
              </a:rPr>
              <a:t>，</a:t>
            </a:r>
            <a:r>
              <a:rPr lang="zh-CN" altLang="en-US" dirty="0">
                <a:latin typeface="Segoe UI Light" panose="020B0502040204020203" pitchFamily="34" charset="0"/>
                <a:ea typeface="微软雅黑 Light" panose="020B0502040204020203" pitchFamily="34" charset="-122"/>
                <a:sym typeface="+mn-ea"/>
              </a:rPr>
              <a:t>查询的性能有显著提高</a:t>
            </a:r>
            <a:r>
              <a:rPr lang="en-US" altLang="zh-CN" dirty="0">
                <a:latin typeface="Segoe UI Light" panose="020B0502040204020203" pitchFamily="34" charset="0"/>
                <a:ea typeface="微软雅黑 Light" panose="020B0502040204020203" pitchFamily="34" charset="-122"/>
                <a:sym typeface="+mn-ea"/>
              </a:rPr>
              <a:t>，</a:t>
            </a:r>
            <a:r>
              <a:rPr lang="zh-CN" altLang="en-US" dirty="0">
                <a:latin typeface="Segoe UI Light" panose="020B0502040204020203" pitchFamily="34" charset="0"/>
                <a:ea typeface="微软雅黑 Light" panose="020B0502040204020203" pitchFamily="34" charset="-122"/>
                <a:sym typeface="+mn-ea"/>
              </a:rPr>
              <a:t>但是更新的性能下降了</a:t>
            </a:r>
            <a:endParaRPr lang="zh-CN" altLang="en-US" dirty="0">
              <a:solidFill>
                <a:schemeClr val="tx1"/>
              </a:solidFill>
              <a:latin typeface="Segoe UI Light" panose="020B0502040204020203" pitchFamily="34" charset="0"/>
              <a:ea typeface="微软雅黑 Light" panose="020B0502040204020203" pitchFamily="34" charset="-122"/>
              <a:sym typeface="+mn-ea"/>
            </a:endParaRPr>
          </a:p>
          <a:p>
            <a:r>
              <a:rPr lang="zh-CN" altLang="en-US" dirty="0"/>
              <a:t>根据</a:t>
            </a:r>
            <a:r>
              <a:rPr lang="en-US" altLang="zh-CN" dirty="0"/>
              <a:t>breakdown</a:t>
            </a:r>
            <a:r>
              <a:rPr lang="zh-CN" altLang="en-US" dirty="0"/>
              <a:t>测试发现</a:t>
            </a:r>
            <a:r>
              <a:rPr lang="en-US" altLang="zh-CN" dirty="0"/>
              <a:t>，</a:t>
            </a:r>
            <a:r>
              <a:rPr lang="zh-CN" altLang="en-US" dirty="0"/>
              <a:t>更新性能下降主要是因为</a:t>
            </a:r>
            <a:r>
              <a:rPr lang="en-US" altLang="zh-CN" dirty="0"/>
              <a:t>RDMA</a:t>
            </a:r>
            <a:r>
              <a:rPr lang="zh-CN" altLang="en-US" dirty="0"/>
              <a:t>的开销过高</a:t>
            </a:r>
            <a:r>
              <a:rPr lang="en-US" altLang="zh-CN" dirty="0"/>
              <a:t>，</a:t>
            </a:r>
            <a:r>
              <a:rPr lang="zh-CN" altLang="en-US" dirty="0"/>
              <a:t>主要就是因为在邻居搜索阶段的远端访问数量</a:t>
            </a:r>
            <a:r>
              <a:rPr lang="zh-CN" altLang="en-US" dirty="0"/>
              <a:t>多</a:t>
            </a:r>
            <a:endParaRPr lang="zh-CN" altLang="en-US" dirty="0"/>
          </a:p>
          <a:p>
            <a:r>
              <a:rPr lang="zh-CN" altLang="en-US" dirty="0"/>
              <a:t>这主要是因为在有多个存储节点的情况下</a:t>
            </a:r>
            <a:r>
              <a:rPr lang="en-US" altLang="zh-CN" dirty="0"/>
              <a:t>，</a:t>
            </a:r>
            <a:r>
              <a:rPr lang="zh-CN" altLang="en-US" dirty="0"/>
              <a:t>单个存储节点本地只有一部分的分片数据</a:t>
            </a:r>
            <a:r>
              <a:rPr lang="en-US" altLang="zh-CN" dirty="0"/>
              <a:t>，</a:t>
            </a:r>
            <a:r>
              <a:rPr lang="zh-CN" altLang="en-US" dirty="0"/>
              <a:t>要做全图搜索时还是要通过</a:t>
            </a:r>
            <a:r>
              <a:rPr lang="en-US" altLang="zh-CN" dirty="0"/>
              <a:t>RDMA</a:t>
            </a:r>
            <a:r>
              <a:rPr lang="zh-CN" altLang="en-US" dirty="0"/>
              <a:t>从其他分片拉取</a:t>
            </a:r>
            <a:r>
              <a:rPr lang="zh-CN" altLang="en-US" dirty="0"/>
              <a:t>数据</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于是对于更新的优化方向主要就是要降低存储节点做更新时的</a:t>
            </a:r>
            <a:r>
              <a:rPr lang="zh-CN" altLang="en-US" dirty="0"/>
              <a:t>远端访问</a:t>
            </a:r>
            <a:endParaRPr lang="zh-CN" altLang="en-US" dirty="0"/>
          </a:p>
          <a:p>
            <a:r>
              <a:rPr lang="zh-CN" altLang="en-US" dirty="0"/>
              <a:t>首先第一个点就是通过</a:t>
            </a:r>
            <a:r>
              <a:rPr lang="en-US" altLang="zh-CN" dirty="0"/>
              <a:t>Metis</a:t>
            </a:r>
            <a:r>
              <a:rPr lang="zh-CN" altLang="en-US" dirty="0"/>
              <a:t>图划分算法</a:t>
            </a:r>
            <a:r>
              <a:rPr lang="en-US" altLang="zh-CN" dirty="0"/>
              <a:t>，</a:t>
            </a:r>
            <a:r>
              <a:rPr lang="zh-CN" altLang="en-US" dirty="0"/>
              <a:t>让图划分具有局部性</a:t>
            </a:r>
            <a:r>
              <a:rPr lang="en-US" altLang="zh-CN" dirty="0"/>
              <a:t>，</a:t>
            </a:r>
            <a:r>
              <a:rPr lang="zh-CN" altLang="en-US" dirty="0"/>
              <a:t>减少跨分片边的数量</a:t>
            </a:r>
            <a:r>
              <a:rPr lang="en-US" altLang="zh-CN" dirty="0"/>
              <a:t>，</a:t>
            </a:r>
            <a:r>
              <a:rPr lang="zh-CN" altLang="en-US" dirty="0"/>
              <a:t>从而减少</a:t>
            </a:r>
            <a:r>
              <a:rPr lang="zh-CN" altLang="en-US" dirty="0"/>
              <a:t>远程访问</a:t>
            </a:r>
            <a:endParaRPr lang="zh-CN" altLang="en-US" dirty="0"/>
          </a:p>
          <a:p>
            <a:r>
              <a:rPr lang="zh-CN" altLang="en-US" dirty="0"/>
              <a:t>然后就是在插入向量的时候</a:t>
            </a:r>
            <a:r>
              <a:rPr lang="en-US" altLang="zh-CN" dirty="0"/>
              <a:t>，</a:t>
            </a:r>
            <a:r>
              <a:rPr lang="zh-CN" altLang="en-US" dirty="0"/>
              <a:t>与每个分片的质心做距离计算</a:t>
            </a:r>
            <a:r>
              <a:rPr lang="en-US" altLang="zh-CN" dirty="0"/>
              <a:t>，</a:t>
            </a:r>
            <a:r>
              <a:rPr lang="zh-CN" altLang="en-US" dirty="0"/>
              <a:t>选择与插入向量最接近的分片</a:t>
            </a:r>
            <a:r>
              <a:rPr lang="zh-CN" altLang="en-US" dirty="0"/>
              <a:t>做插入</a:t>
            </a:r>
            <a:endParaRPr lang="zh-CN" altLang="en-US" dirty="0"/>
          </a:p>
          <a:p>
            <a:endParaRPr lang="zh-CN" altLang="en-US" dirty="0"/>
          </a:p>
          <a:p>
            <a:r>
              <a:rPr lang="zh-CN" altLang="en-US" dirty="0"/>
              <a:t>之后在分片上做插入时，要先搜索它的目标邻居，这个过程会涉及到大量的远端访问</a:t>
            </a:r>
            <a:endParaRPr lang="zh-CN" altLang="en-US" dirty="0"/>
          </a:p>
          <a:p>
            <a:r>
              <a:rPr lang="zh-CN" altLang="en-US" dirty="0"/>
              <a:t>因此这里就给它的远端邻居搜索扩展设定搜索预算，限制搜索的远端访问频率，比如说只允许它扩展16个远端节点，并且扩展深度不能超过8之类的</a:t>
            </a: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但是这样可能会导致插入的质量不高</a:t>
            </a:r>
            <a:r>
              <a:rPr lang="en-US" altLang="zh-CN" dirty="0"/>
              <a:t>，</a:t>
            </a:r>
            <a:r>
              <a:rPr lang="zh-CN" altLang="en-US" dirty="0"/>
              <a:t>因为它的目标邻居可能就是某个远端节点</a:t>
            </a:r>
            <a:r>
              <a:rPr lang="en-US" altLang="zh-CN" dirty="0"/>
              <a:t>，</a:t>
            </a:r>
            <a:r>
              <a:rPr lang="zh-CN" altLang="en-US" dirty="0"/>
              <a:t>但是由于预算限制就没能连上这条边</a:t>
            </a:r>
            <a:r>
              <a:rPr lang="en-US" altLang="zh-CN" dirty="0"/>
              <a:t>，</a:t>
            </a:r>
            <a:r>
              <a:rPr lang="zh-CN" altLang="en-US" dirty="0"/>
              <a:t>导致搜索的时候就找不到这个节点</a:t>
            </a:r>
            <a:r>
              <a:rPr lang="en-US" altLang="zh-CN" dirty="0"/>
              <a:t>。</a:t>
            </a:r>
            <a:endParaRPr lang="en-US" altLang="zh-CN" dirty="0"/>
          </a:p>
          <a:p>
            <a:r>
              <a:rPr lang="zh-CN" altLang="en-US" dirty="0"/>
              <a:t>因此这里做了一个后台周期性抽查的机制</a:t>
            </a:r>
            <a:r>
              <a:rPr lang="en-US" altLang="zh-CN" dirty="0"/>
              <a:t>，</a:t>
            </a:r>
            <a:r>
              <a:rPr lang="zh-CN" altLang="en-US" dirty="0"/>
              <a:t>抽查一部分的插入节点</a:t>
            </a:r>
            <a:r>
              <a:rPr lang="en-US" altLang="zh-CN" dirty="0"/>
              <a:t>，</a:t>
            </a:r>
            <a:r>
              <a:rPr lang="zh-CN" altLang="en-US" dirty="0"/>
              <a:t>做完整的邻居扩展</a:t>
            </a:r>
            <a:r>
              <a:rPr lang="en-US" altLang="zh-CN" dirty="0"/>
              <a:t>，</a:t>
            </a:r>
            <a:r>
              <a:rPr lang="zh-CN" altLang="en-US" dirty="0"/>
              <a:t>然后计算邻居重合度是否小于阈值</a:t>
            </a:r>
            <a:r>
              <a:rPr lang="en-US" altLang="zh-CN" dirty="0"/>
              <a:t>，</a:t>
            </a:r>
            <a:r>
              <a:rPr lang="zh-CN" altLang="en-US" dirty="0"/>
              <a:t>如果小于就重做这批插入</a:t>
            </a:r>
            <a:r>
              <a:rPr lang="en-US" altLang="zh-CN" dirty="0"/>
              <a:t>，</a:t>
            </a:r>
            <a:r>
              <a:rPr lang="zh-CN" altLang="en-US" dirty="0"/>
              <a:t>并且动态的调整远端搜索预算</a:t>
            </a:r>
            <a:r>
              <a:rPr lang="en-US" altLang="zh-CN" dirty="0"/>
              <a:t>。</a:t>
            </a:r>
            <a:r>
              <a:rPr lang="zh-CN" altLang="en-US" dirty="0"/>
              <a:t>通过这种后台抽查机制来保证快速插入的</a:t>
            </a:r>
            <a:r>
              <a:rPr lang="zh-CN" altLang="en-US" dirty="0"/>
              <a:t>质量</a:t>
            </a:r>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在做了上面那个方案之后</a:t>
            </a:r>
            <a:r>
              <a:rPr lang="en-US" altLang="zh-CN" dirty="0"/>
              <a:t>，</a:t>
            </a:r>
            <a:r>
              <a:rPr lang="zh-CN" altLang="en-US" dirty="0"/>
              <a:t>局部性图划分以及偏向本地的更新机制确实降低了更新的远程开销</a:t>
            </a:r>
            <a:r>
              <a:rPr lang="en-US" altLang="zh-CN" dirty="0"/>
              <a:t>，</a:t>
            </a:r>
            <a:r>
              <a:rPr lang="zh-CN" altLang="en-US" dirty="0"/>
              <a:t>提高了更新</a:t>
            </a:r>
            <a:r>
              <a:rPr lang="zh-CN" altLang="en-US" dirty="0"/>
              <a:t>性能</a:t>
            </a:r>
            <a:endParaRPr lang="zh-CN" altLang="en-US" dirty="0"/>
          </a:p>
          <a:p>
            <a:r>
              <a:rPr lang="zh-CN" altLang="en-US" dirty="0"/>
              <a:t>但是它导致节点的局部性加强</a:t>
            </a:r>
            <a:r>
              <a:rPr lang="en-US" altLang="zh-CN" dirty="0"/>
              <a:t>，</a:t>
            </a:r>
            <a:r>
              <a:rPr lang="zh-CN" altLang="en-US" dirty="0"/>
              <a:t>导致查询时使用</a:t>
            </a:r>
            <a:r>
              <a:rPr lang="en-US" altLang="zh-CN" dirty="0"/>
              <a:t>RDMA</a:t>
            </a:r>
            <a:r>
              <a:rPr lang="zh-CN" altLang="en-US" dirty="0"/>
              <a:t>访问的远端节点集中在同一个分片上</a:t>
            </a:r>
            <a:r>
              <a:rPr lang="en-US" altLang="zh-CN" dirty="0"/>
              <a:t>，</a:t>
            </a:r>
            <a:r>
              <a:rPr lang="zh-CN" altLang="en-US" dirty="0"/>
              <a:t>导致</a:t>
            </a:r>
            <a:r>
              <a:rPr lang="en-US" altLang="zh-CN" dirty="0"/>
              <a:t>RDMA</a:t>
            </a:r>
            <a:r>
              <a:rPr lang="zh-CN" altLang="en-US" dirty="0"/>
              <a:t>的并发性能下降</a:t>
            </a:r>
            <a:r>
              <a:rPr lang="en-US" altLang="zh-CN" dirty="0"/>
              <a:t>，</a:t>
            </a:r>
            <a:r>
              <a:rPr lang="zh-CN" altLang="en-US" dirty="0"/>
              <a:t>因此可以观察到在使用跨边比率越低的图分片算法</a:t>
            </a:r>
            <a:r>
              <a:rPr lang="en-US" altLang="zh-CN" dirty="0"/>
              <a:t>，</a:t>
            </a:r>
            <a:r>
              <a:rPr lang="zh-CN" altLang="en-US" dirty="0"/>
              <a:t>查询的性能下降</a:t>
            </a:r>
            <a:r>
              <a:rPr lang="zh-CN" altLang="en-US" dirty="0"/>
              <a:t>越多</a:t>
            </a:r>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直观看的话就是这样</a:t>
            </a:r>
            <a:r>
              <a:rPr lang="en-US" altLang="zh-CN" dirty="0"/>
              <a:t>，</a:t>
            </a:r>
            <a:r>
              <a:rPr lang="zh-CN" altLang="en-US" dirty="0"/>
              <a:t>原本一次查询所需的节点数据可能是分布在多个分片上的</a:t>
            </a:r>
            <a:r>
              <a:rPr lang="en-US" altLang="zh-CN" dirty="0"/>
              <a:t>，</a:t>
            </a:r>
            <a:r>
              <a:rPr lang="zh-CN" altLang="en-US" dirty="0"/>
              <a:t>因此多个分片的</a:t>
            </a:r>
            <a:r>
              <a:rPr lang="en-US" altLang="zh-CN" dirty="0"/>
              <a:t>QP</a:t>
            </a:r>
            <a:r>
              <a:rPr lang="zh-CN" altLang="en-US" dirty="0"/>
              <a:t>可以同时读取</a:t>
            </a:r>
            <a:r>
              <a:rPr lang="en-US" altLang="zh-CN" dirty="0"/>
              <a:t>，</a:t>
            </a:r>
            <a:r>
              <a:rPr lang="zh-CN" altLang="en-US" dirty="0"/>
              <a:t>而现在可能很多节点同时分布在一个分片上</a:t>
            </a:r>
            <a:r>
              <a:rPr lang="en-US" altLang="zh-CN" dirty="0"/>
              <a:t>，</a:t>
            </a:r>
            <a:r>
              <a:rPr lang="zh-CN" altLang="en-US" dirty="0"/>
              <a:t>因此就全都挤在一个</a:t>
            </a:r>
            <a:r>
              <a:rPr lang="en-US" altLang="zh-CN" dirty="0"/>
              <a:t>QP</a:t>
            </a:r>
            <a:r>
              <a:rPr lang="zh-CN" altLang="en-US" dirty="0"/>
              <a:t>连接上</a:t>
            </a:r>
            <a:r>
              <a:rPr lang="en-US" altLang="zh-CN" dirty="0"/>
              <a:t>，</a:t>
            </a:r>
            <a:r>
              <a:rPr lang="zh-CN" altLang="en-US" dirty="0"/>
              <a:t>导致性能</a:t>
            </a:r>
            <a:r>
              <a:rPr lang="zh-CN" altLang="en-US" dirty="0"/>
              <a:t>下滑</a:t>
            </a:r>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针对这个问题主要是设计了这样一个方案</a:t>
            </a:r>
            <a:r>
              <a:rPr lang="en-US" altLang="zh-CN" dirty="0"/>
              <a:t>，</a:t>
            </a:r>
            <a:r>
              <a:rPr lang="zh-CN" altLang="en-US" dirty="0"/>
              <a:t>首先每个分片下内置一个</a:t>
            </a:r>
            <a:r>
              <a:rPr lang="en-US" altLang="zh-CN" dirty="0"/>
              <a:t>RDMA</a:t>
            </a:r>
            <a:r>
              <a:rPr lang="zh-CN" altLang="en-US" dirty="0"/>
              <a:t>连接池</a:t>
            </a:r>
            <a:r>
              <a:rPr lang="en-US" altLang="zh-CN" dirty="0"/>
              <a:t>，</a:t>
            </a:r>
            <a:r>
              <a:rPr lang="zh-CN" altLang="en-US" dirty="0"/>
              <a:t>里面有多个</a:t>
            </a:r>
            <a:r>
              <a:rPr lang="en-US" altLang="zh-CN" dirty="0"/>
              <a:t>QP</a:t>
            </a:r>
            <a:r>
              <a:rPr lang="zh-CN" altLang="en-US" dirty="0"/>
              <a:t>连接</a:t>
            </a:r>
            <a:r>
              <a:rPr lang="en-US" altLang="zh-CN" dirty="0"/>
              <a:t>，</a:t>
            </a:r>
            <a:r>
              <a:rPr lang="zh-CN" altLang="en-US" dirty="0"/>
              <a:t>这个是为了提高一下</a:t>
            </a:r>
            <a:r>
              <a:rPr lang="en-US" altLang="zh-CN" dirty="0"/>
              <a:t>RDMA</a:t>
            </a:r>
            <a:r>
              <a:rPr lang="zh-CN" altLang="en-US" dirty="0"/>
              <a:t>并发</a:t>
            </a:r>
            <a:r>
              <a:rPr lang="zh-CN" altLang="en-US" dirty="0"/>
              <a:t>能力</a:t>
            </a:r>
            <a:endParaRPr lang="zh-CN" altLang="en-US" dirty="0"/>
          </a:p>
          <a:p>
            <a:r>
              <a:rPr lang="zh-CN" altLang="en-US" dirty="0"/>
              <a:t>然后设计了一个动态计算当前访问特征偏斜度的机制</a:t>
            </a:r>
            <a:r>
              <a:rPr lang="en-US" altLang="zh-CN" dirty="0"/>
              <a:t>，</a:t>
            </a:r>
            <a:r>
              <a:rPr lang="zh-CN" altLang="en-US" dirty="0"/>
              <a:t>可以知道现在的访问特征主要集中在哪个分片上</a:t>
            </a:r>
            <a:r>
              <a:rPr lang="en-US" altLang="zh-CN" dirty="0"/>
              <a:t>，</a:t>
            </a:r>
            <a:r>
              <a:rPr lang="zh-CN" altLang="en-US" dirty="0"/>
              <a:t>然后动态调整连接数给对应分片的连接池</a:t>
            </a:r>
            <a:r>
              <a:rPr lang="en-US" altLang="zh-CN" dirty="0"/>
              <a:t>，</a:t>
            </a:r>
            <a:r>
              <a:rPr lang="zh-CN" altLang="en-US" dirty="0"/>
              <a:t>通过这种方式来缓解局部性带来的</a:t>
            </a:r>
            <a:r>
              <a:rPr lang="en-US" altLang="zh-CN" dirty="0"/>
              <a:t>RDMA</a:t>
            </a:r>
            <a:r>
              <a:rPr lang="zh-CN" altLang="en-US" dirty="0"/>
              <a:t>压力</a:t>
            </a:r>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最后是一些初步的实验结果以及</a:t>
            </a:r>
            <a:r>
              <a:rPr lang="zh-CN" altLang="en-US" dirty="0"/>
              <a:t>预期目标</a:t>
            </a:r>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这是初步的实验结果，在目前的基础方案下，可以观察到目前的一些方案已经有了一定的提升</a:t>
            </a:r>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后续的安排就是进一步的去优化方案的设计</a:t>
            </a:r>
            <a:r>
              <a:rPr lang="zh-CN" dirty="0"/>
              <a:t>，以及</a:t>
            </a:r>
            <a:r>
              <a:rPr lang="zh-CN" dirty="0"/>
              <a:t>实验设计</a:t>
            </a:r>
            <a:endParaRPr lang="zh-CN" dirty="0"/>
          </a:p>
          <a:p>
            <a:r>
              <a:rPr lang="zh-CN" altLang="en-US" dirty="0"/>
              <a:t>预期目标是在大规模读写混合负载下，显著提升查询和更新的性能，缩小与高性能单机索引的查询性能差距，并在动态更新场景下体现更好的系统扩展性和资源解耦优势。</a:t>
            </a:r>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我的报告到此结束，</a:t>
            </a:r>
            <a:r>
              <a:rPr lang="zh-CN" altLang="en-US"/>
              <a:t>谢谢</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solidFill>
          <a:schemeClr val="bg1"/>
        </a:solidFill>
        <a:effectLst/>
      </p:bgPr>
    </p:bg>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2117" y="9525"/>
            <a:ext cx="12192000" cy="6845300"/>
          </a:xfrm>
          <a:prstGeom prst="rect">
            <a:avLst/>
          </a:prstGeom>
          <a:noFill/>
          <a:ln w="9525">
            <a:noFill/>
          </a:ln>
        </p:spPr>
      </p:pic>
      <p:sp>
        <p:nvSpPr>
          <p:cNvPr id="2" name="Rectangle 23"/>
          <p:cNvSpPr>
            <a:spLocks noChangeArrowheads="1"/>
          </p:cNvSpPr>
          <p:nvPr/>
        </p:nvSpPr>
        <p:spPr bwMode="auto">
          <a:xfrm flipV="1">
            <a:off x="421217" y="3589339"/>
            <a:ext cx="11590867" cy="55563"/>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a:pPr>
            <a:endParaRPr kumimoji="1" lang="zh-CN" altLang="en-US" sz="2000" b="0" i="0" u="none" strike="noStrike" kern="1200" cap="none" spc="0" normalizeH="0" baseline="0" noProof="0">
              <a:ln>
                <a:noFill/>
              </a:ln>
              <a:solidFill>
                <a:srgbClr val="FF3300"/>
              </a:solidFill>
              <a:effectLst/>
              <a:uLnTx/>
              <a:uFillTx/>
              <a:latin typeface="Arial" panose="020B0604020202020204" pitchFamily="34" charset="0"/>
              <a:ea typeface="黑体" panose="02010609060101010101" pitchFamily="49" charset="-122"/>
              <a:cs typeface="+mn-cs"/>
            </a:endParaRPr>
          </a:p>
        </p:txBody>
      </p:sp>
      <p:sp>
        <p:nvSpPr>
          <p:cNvPr id="136195" name="Rectangle 3"/>
          <p:cNvSpPr>
            <a:spLocks noGrp="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endParaRPr lang="zh-CN" altLang="en-US" noProof="0"/>
          </a:p>
        </p:txBody>
      </p:sp>
      <p:sp>
        <p:nvSpPr>
          <p:cNvPr id="10" name="标题 9"/>
          <p:cNvSpPr>
            <a:spLocks noGrp="1"/>
          </p:cNvSpPr>
          <p:nvPr>
            <p:ph type="title"/>
          </p:nvPr>
        </p:nvSpPr>
        <p:spPr>
          <a:xfrm>
            <a:off x="647700" y="908720"/>
            <a:ext cx="10972800" cy="863600"/>
          </a:xfrm>
        </p:spPr>
        <p:txBody>
          <a:bodyPr/>
          <a:lstStyle/>
          <a:p>
            <a:r>
              <a:rPr lang="zh-CN" altLang="en-US" dirty="0"/>
              <a:t>单击此处编辑母版标题样式</a:t>
            </a:r>
            <a:endParaRPr lang="zh-CN" altLang="en-US" dirty="0"/>
          </a:p>
        </p:txBody>
      </p:sp>
      <p:sp>
        <p:nvSpPr>
          <p:cNvPr id="11" name="日期占位符 1"/>
          <p:cNvSpPr>
            <a:spLocks noGrp="1"/>
          </p:cNvSpPr>
          <p:nvPr>
            <p:ph type="dt" sz="half" idx="2"/>
          </p:nvPr>
        </p:nvSpPr>
        <p:spPr bwMode="auto">
          <a:xfrm>
            <a:off x="609600" y="6245225"/>
            <a:ext cx="2844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defRPr/>
            </a:pPr>
            <a:endParaRPr lang="en-US" altLang="zh-CN"/>
          </a:p>
        </p:txBody>
      </p:sp>
      <p:sp>
        <p:nvSpPr>
          <p:cNvPr id="12" name="页脚占位符 2"/>
          <p:cNvSpPr>
            <a:spLocks noGrp="1"/>
          </p:cNvSpPr>
          <p:nvPr>
            <p:ph type="ftr" sz="quarter" idx="3"/>
          </p:nvPr>
        </p:nvSpPr>
        <p:spPr bwMode="auto">
          <a:xfrm>
            <a:off x="4165600" y="6245225"/>
            <a:ext cx="3860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defRPr/>
            </a:pPr>
            <a:endParaRPr lang="en-US" altLang="zh-CN"/>
          </a:p>
        </p:txBody>
      </p:sp>
      <p:sp>
        <p:nvSpPr>
          <p:cNvPr id="13" name="灯片编号占位符 8"/>
          <p:cNvSpPr>
            <a:spLocks noGrp="1"/>
          </p:cNvSpPr>
          <p:nvPr>
            <p:ph type="sldNum" sz="quarter" idx="4"/>
          </p:nvPr>
        </p:nvSpPr>
        <p:spPr bwMode="auto">
          <a:xfrm>
            <a:off x="8737600" y="6245225"/>
            <a:ext cx="2844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defRPr/>
            </a:pPr>
            <a:fld id="{6A90D09A-ED5D-47CC-A45F-D492BA9A6C1B}" type="slidenum">
              <a:rPr lang="en-US" altLang="zh-CN" smtClean="0"/>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0"/>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en-US" altLang="zh-CN"/>
          </a:p>
        </p:txBody>
      </p:sp>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2117" y="9525"/>
            <a:ext cx="12192000" cy="6845300"/>
          </a:xfrm>
          <a:prstGeom prst="rect">
            <a:avLst/>
          </a:prstGeom>
          <a:noFill/>
          <a:ln w="9525">
            <a:noFill/>
          </a:ln>
        </p:spPr>
      </p:pic>
      <p:sp>
        <p:nvSpPr>
          <p:cNvPr id="136195" name="Rectangle 3"/>
          <p:cNvSpPr>
            <a:spLocks noGrp="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endParaRPr lang="zh-CN" altLang="en-US" noProof="0"/>
          </a:p>
        </p:txBody>
      </p:sp>
      <p:sp>
        <p:nvSpPr>
          <p:cNvPr id="10" name="标题 9"/>
          <p:cNvSpPr>
            <a:spLocks noGrp="1"/>
          </p:cNvSpPr>
          <p:nvPr>
            <p:ph type="title"/>
          </p:nvPr>
        </p:nvSpPr>
        <p:spPr>
          <a:xfrm>
            <a:off x="647700" y="908720"/>
            <a:ext cx="10972800" cy="863600"/>
          </a:xfrm>
        </p:spPr>
        <p:txBody>
          <a:bodyPr/>
          <a:lstStyle/>
          <a:p>
            <a:r>
              <a:rPr lang="zh-CN" altLang="en-US" dirty="0"/>
              <a:t>单击此处编辑母版标题样式</a:t>
            </a:r>
            <a:endParaRPr lang="zh-CN" altLang="en-US" dirty="0"/>
          </a:p>
        </p:txBody>
      </p:sp>
      <p:sp>
        <p:nvSpPr>
          <p:cNvPr id="11" name="日期占位符 1"/>
          <p:cNvSpPr>
            <a:spLocks noGrp="1"/>
          </p:cNvSpPr>
          <p:nvPr>
            <p:ph type="dt" sz="half" idx="2"/>
          </p:nvPr>
        </p:nvSpPr>
        <p:spPr bwMode="auto">
          <a:xfrm>
            <a:off x="609600" y="6245225"/>
            <a:ext cx="2844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defRPr/>
            </a:pPr>
            <a:endParaRPr lang="en-US" altLang="zh-CN"/>
          </a:p>
        </p:txBody>
      </p:sp>
      <p:sp>
        <p:nvSpPr>
          <p:cNvPr id="12" name="页脚占位符 2"/>
          <p:cNvSpPr>
            <a:spLocks noGrp="1"/>
          </p:cNvSpPr>
          <p:nvPr>
            <p:ph type="ftr" sz="quarter" idx="3"/>
          </p:nvPr>
        </p:nvSpPr>
        <p:spPr bwMode="auto">
          <a:xfrm>
            <a:off x="4165600" y="6245225"/>
            <a:ext cx="3860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defRPr/>
            </a:pPr>
            <a:endParaRPr lang="en-US" altLang="zh-CN"/>
          </a:p>
        </p:txBody>
      </p:sp>
      <p:sp>
        <p:nvSpPr>
          <p:cNvPr id="13" name="灯片编号占位符 8"/>
          <p:cNvSpPr>
            <a:spLocks noGrp="1"/>
          </p:cNvSpPr>
          <p:nvPr>
            <p:ph type="sldNum" sz="quarter" idx="4"/>
          </p:nvPr>
        </p:nvSpPr>
        <p:spPr bwMode="auto">
          <a:xfrm>
            <a:off x="8737600" y="6245225"/>
            <a:ext cx="2844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defRPr/>
            </a:pPr>
            <a:fld id="{6A90D09A-ED5D-47CC-A45F-D492BA9A6C1B}" type="slidenum">
              <a:rPr lang="en-US" altLang="zh-CN" smtClean="0"/>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pic>
        <p:nvPicPr>
          <p:cNvPr id="7" name="图片 8"/>
          <p:cNvPicPr>
            <a:picLocks noChangeAspect="1"/>
          </p:cNvPicPr>
          <p:nvPr userDrawn="1"/>
        </p:nvPicPr>
        <p:blipFill>
          <a:blip r:embed="rId2"/>
          <a:stretch>
            <a:fillRect/>
          </a:stretch>
        </p:blipFill>
        <p:spPr>
          <a:xfrm>
            <a:off x="2117" y="9525"/>
            <a:ext cx="12192000" cy="6845300"/>
          </a:xfrm>
          <a:prstGeom prst="rect">
            <a:avLst/>
          </a:prstGeom>
          <a:noFill/>
          <a:ln w="9525">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en-US" altLang="zh-CN"/>
          </a:p>
        </p:txBody>
      </p:sp>
      <p:sp>
        <p:nvSpPr>
          <p:cNvPr id="4" name="Footer Placeholder 3"/>
          <p:cNvSpPr>
            <a:spLocks noGrp="1"/>
          </p:cNvSpPr>
          <p:nvPr>
            <p:ph type="ftr" sz="quarter" idx="11"/>
          </p:nvPr>
        </p:nvSpPr>
        <p:spPr/>
        <p:txBody>
          <a:bodyPr/>
          <a:lstStyle/>
          <a:p>
            <a:pPr>
              <a:defRPr/>
            </a:pPr>
            <a:endParaRPr lang="en-US" altLang="zh-CN"/>
          </a:p>
        </p:txBody>
      </p:sp>
      <p:sp>
        <p:nvSpPr>
          <p:cNvPr id="5" name="Slide Number Placeholder 4"/>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a:p>
        </p:txBody>
      </p:sp>
      <p:sp>
        <p:nvSpPr>
          <p:cNvPr id="3" name="Footer Placeholder 2"/>
          <p:cNvSpPr>
            <a:spLocks noGrp="1"/>
          </p:cNvSpPr>
          <p:nvPr>
            <p:ph type="ftr" sz="quarter" idx="11"/>
          </p:nvPr>
        </p:nvSpPr>
        <p:spPr/>
        <p:txBody>
          <a:bodyPr/>
          <a:lstStyle/>
          <a:p>
            <a:pPr>
              <a:defRPr/>
            </a:pPr>
            <a:endParaRPr lang="en-US" altLang="zh-CN"/>
          </a:p>
        </p:txBody>
      </p:sp>
      <p:sp>
        <p:nvSpPr>
          <p:cNvPr id="4" name="Slide Number Placeholder 3"/>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1.jpe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slideLayout" Target="../slideLayouts/slideLayout12.xml"/><Relationship Id="rId7" Type="http://schemas.openxmlformats.org/officeDocument/2006/relationships/slideLayout" Target="../slideLayouts/slideLayout11.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3" Type="http://schemas.openxmlformats.org/officeDocument/2006/relationships/theme" Target="../theme/theme2.xml"/><Relationship Id="rId12" Type="http://schemas.openxmlformats.org/officeDocument/2006/relationships/image" Target="../media/image1.jpeg"/><Relationship Id="rId11" Type="http://schemas.openxmlformats.org/officeDocument/2006/relationships/slideLayout" Target="../slideLayouts/slideLayout15.xml"/><Relationship Id="rId10" Type="http://schemas.openxmlformats.org/officeDocument/2006/relationships/slideLayout" Target="../slideLayouts/slideLayout14.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
          <p:cNvPicPr>
            <a:picLocks noChangeAspect="1"/>
          </p:cNvPicPr>
          <p:nvPr userDrawn="1"/>
        </p:nvPicPr>
        <p:blipFill>
          <a:blip r:embed="rId5"/>
          <a:stretch>
            <a:fillRect/>
          </a:stretch>
        </p:blipFill>
        <p:spPr>
          <a:xfrm>
            <a:off x="0" y="6350"/>
            <a:ext cx="12192000" cy="6845300"/>
          </a:xfrm>
          <a:prstGeom prst="rect">
            <a:avLst/>
          </a:prstGeom>
          <a:noFill/>
          <a:ln w="9525">
            <a:noFill/>
          </a:ln>
        </p:spPr>
      </p:pic>
      <p:sp>
        <p:nvSpPr>
          <p:cNvPr id="135170" name="Rectangle 2"/>
          <p:cNvSpPr>
            <a:spLocks noGrp="1" noChangeArrowheads="1"/>
          </p:cNvSpPr>
          <p:nvPr>
            <p:ph type="title"/>
          </p:nvPr>
        </p:nvSpPr>
        <p:spPr bwMode="auto">
          <a:xfrm>
            <a:off x="609600" y="836613"/>
            <a:ext cx="109728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模板</a:t>
            </a:r>
            <a:r>
              <a:rPr lang="en-US" altLang="zh-CN" dirty="0"/>
              <a:t>Chapter</a:t>
            </a:r>
            <a:endParaRPr lang="en-US" altLang="zh-CN" dirty="0"/>
          </a:p>
        </p:txBody>
      </p:sp>
      <p:sp>
        <p:nvSpPr>
          <p:cNvPr id="1028" name="Rectangle 3"/>
          <p:cNvSpPr>
            <a:spLocks noGrp="1"/>
          </p:cNvSpPr>
          <p:nvPr>
            <p:ph type="body" idx="1"/>
          </p:nvPr>
        </p:nvSpPr>
        <p:spPr>
          <a:xfrm>
            <a:off x="609600" y="1916113"/>
            <a:ext cx="10972800" cy="4525962"/>
          </a:xfrm>
          <a:prstGeom prst="rect">
            <a:avLst/>
          </a:prstGeom>
          <a:noFill/>
          <a:ln w="9525">
            <a:noFill/>
          </a:ln>
        </p:spPr>
        <p:txBody>
          <a:bodyPr/>
          <a:lstStyle/>
          <a:p>
            <a:pPr lvl="0"/>
            <a:r>
              <a:rPr lang="zh-CN" altLang="en-US" dirty="0"/>
              <a:t>第一级</a:t>
            </a:r>
            <a:r>
              <a:rPr lang="en-US" altLang="zh-CN" dirty="0"/>
              <a:t>abcd</a:t>
            </a:r>
            <a:endParaRPr lang="en-US" altLang="zh-CN" dirty="0"/>
          </a:p>
          <a:p>
            <a:pPr lvl="1"/>
            <a:r>
              <a:rPr lang="zh-CN" altLang="en-US" dirty="0"/>
              <a:t>第二级</a:t>
            </a:r>
            <a:r>
              <a:rPr lang="en-US" altLang="zh-CN" dirty="0"/>
              <a:t>adb</a:t>
            </a:r>
            <a:endParaRPr lang="en-US" altLang="zh-CN" dirty="0"/>
          </a:p>
          <a:p>
            <a:pPr lvl="2"/>
            <a:r>
              <a:rPr lang="zh-CN" altLang="en-US" dirty="0"/>
              <a:t>第三级</a:t>
            </a:r>
            <a:r>
              <a:rPr lang="en-US" altLang="zh-CN" dirty="0"/>
              <a:t>kljaskf</a:t>
            </a:r>
            <a:endParaRPr lang="en-US" altLang="zh-CN" dirty="0"/>
          </a:p>
          <a:p>
            <a:pPr lvl="3"/>
            <a:r>
              <a:rPr lang="zh-CN" altLang="en-US" dirty="0"/>
              <a:t>第四级</a:t>
            </a:r>
            <a:endParaRPr lang="zh-CN" altLang="en-US" dirty="0"/>
          </a:p>
          <a:p>
            <a:pPr lvl="4"/>
            <a:r>
              <a:rPr lang="zh-CN" altLang="en-US" dirty="0"/>
              <a:t>第五级</a:t>
            </a:r>
            <a:endParaRPr lang="zh-CN" altLang="en-US" dirty="0"/>
          </a:p>
        </p:txBody>
      </p:sp>
      <p:sp>
        <p:nvSpPr>
          <p:cNvPr id="135172"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a:defRPr/>
            </a:pPr>
            <a:endParaRPr lang="en-US" altLang="zh-CN"/>
          </a:p>
        </p:txBody>
      </p:sp>
      <p:sp>
        <p:nvSpPr>
          <p:cNvPr id="135173"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a:defRPr/>
            </a:pPr>
            <a:endParaRPr lang="en-US" altLang="zh-CN"/>
          </a:p>
        </p:txBody>
      </p:sp>
      <p:sp>
        <p:nvSpPr>
          <p:cNvPr id="135174"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a:defRPr/>
            </a:pPr>
            <a:fld id="{6A90D09A-ED5D-47CC-A45F-D492BA9A6C1B}" type="slidenum">
              <a:rPr lang="en-US" altLang="zh-CN" smtClean="0"/>
            </a:fld>
            <a:endParaRPr lang="en-US" altLang="zh-CN"/>
          </a:p>
        </p:txBody>
      </p:sp>
      <p:sp>
        <p:nvSpPr>
          <p:cNvPr id="1032" name="Rectangle 17"/>
          <p:cNvSpPr>
            <a:spLocks noChangeArrowheads="1"/>
          </p:cNvSpPr>
          <p:nvPr userDrawn="1"/>
        </p:nvSpPr>
        <p:spPr bwMode="gray">
          <a:xfrm>
            <a:off x="590551" y="1668463"/>
            <a:ext cx="10968567"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rtl="0" eaLnBrk="0" fontAlgn="base" hangingPunct="0">
        <a:spcBef>
          <a:spcPct val="0"/>
        </a:spcBef>
        <a:spcAft>
          <a:spcPct val="0"/>
        </a:spcAft>
        <a:defRPr kumimoji="1" sz="3600" b="0" kern="1200">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2pPr>
      <a:lvl3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3pPr>
      <a:lvl4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4pPr>
      <a:lvl5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5pPr>
      <a:lvl6pPr marL="4572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6pPr>
      <a:lvl7pPr marL="9144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7pPr>
      <a:lvl8pPr marL="13716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8pPr>
      <a:lvl9pPr marL="18288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SzPct val="75000"/>
        <a:buFont typeface="Wingdings" panose="05000000000000000000" pitchFamily="2" charset="2"/>
        <a:buChar char="ª"/>
        <a:defRPr kumimoji="1" sz="36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33"/>
        </a:buClr>
        <a:buSzPct val="80000"/>
        <a:buFont typeface="Wingdings" panose="05000000000000000000" pitchFamily="2" charset="2"/>
        <a:buChar char="Ø"/>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rgbClr val="FF0000"/>
        </a:buClr>
        <a:buChar char="•"/>
        <a:defRPr sz="2400" b="1" kern="1200">
          <a:solidFill>
            <a:schemeClr val="tx1"/>
          </a:solidFill>
          <a:latin typeface="Comic Sans MS" panose="030F0702030302020204" pitchFamily="66" charset="0"/>
          <a:ea typeface="楷体_GB2312" pitchFamily="49"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zh-C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A90D09A-ED5D-47CC-A45F-D492BA9A6C1B}" type="slidenum">
              <a:rPr lang="en-US" altLang="zh-CN" smtClean="0"/>
            </a:fld>
            <a:endParaRPr lang="en-US" altLang="zh-CN"/>
          </a:p>
        </p:txBody>
      </p:sp>
      <p:pic>
        <p:nvPicPr>
          <p:cNvPr id="7" name="图片 1"/>
          <p:cNvPicPr>
            <a:picLocks noChangeAspect="1"/>
          </p:cNvPicPr>
          <p:nvPr userDrawn="1"/>
        </p:nvPicPr>
        <p:blipFill>
          <a:blip r:embed="rId12"/>
          <a:stretch>
            <a:fillRect/>
          </a:stretch>
        </p:blipFill>
        <p:spPr>
          <a:xfrm>
            <a:off x="0" y="6350"/>
            <a:ext cx="12192000" cy="6845300"/>
          </a:xfrm>
          <a:prstGeom prst="rect">
            <a:avLst/>
          </a:prstGeom>
          <a:noFill/>
          <a:ln w="9525">
            <a:noFill/>
          </a:ln>
        </p:spPr>
      </p:pic>
      <p:sp>
        <p:nvSpPr>
          <p:cNvPr id="8" name="Rectangle 17"/>
          <p:cNvSpPr>
            <a:spLocks noChangeArrowheads="1"/>
          </p:cNvSpPr>
          <p:nvPr userDrawn="1"/>
        </p:nvSpPr>
        <p:spPr bwMode="gray">
          <a:xfrm>
            <a:off x="590551" y="1668463"/>
            <a:ext cx="10968567"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3.jpe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6.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image" Target="../media/image8.png"/><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image" Target="../media/image7.jpeg"/><Relationship Id="rId3" Type="http://schemas.openxmlformats.org/officeDocument/2006/relationships/tags" Target="../tags/tag3.xml"/><Relationship Id="rId26" Type="http://schemas.openxmlformats.org/officeDocument/2006/relationships/notesSlide" Target="../notesSlides/notesSlide4.xml"/><Relationship Id="rId25" Type="http://schemas.openxmlformats.org/officeDocument/2006/relationships/slideLayout" Target="../slideLayouts/slideLayout11.xml"/><Relationship Id="rId24" Type="http://schemas.openxmlformats.org/officeDocument/2006/relationships/image" Target="../media/image12.jpeg"/><Relationship Id="rId23" Type="http://schemas.openxmlformats.org/officeDocument/2006/relationships/tags" Target="../tags/tag18.xml"/><Relationship Id="rId22" Type="http://schemas.openxmlformats.org/officeDocument/2006/relationships/image" Target="../media/image11.jpeg"/><Relationship Id="rId21" Type="http://schemas.openxmlformats.org/officeDocument/2006/relationships/tags" Target="../tags/tag17.xml"/><Relationship Id="rId20" Type="http://schemas.openxmlformats.org/officeDocument/2006/relationships/image" Target="../media/image10.png"/><Relationship Id="rId2" Type="http://schemas.openxmlformats.org/officeDocument/2006/relationships/tags" Target="../tags/tag2.xml"/><Relationship Id="rId19" Type="http://schemas.openxmlformats.org/officeDocument/2006/relationships/tags" Target="../tags/tag16.xml"/><Relationship Id="rId18" Type="http://schemas.openxmlformats.org/officeDocument/2006/relationships/tags" Target="../tags/tag15.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image" Target="../media/image9.jpeg"/><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1.xml"/><Relationship Id="rId2" Type="http://schemas.openxmlformats.org/officeDocument/2006/relationships/image" Target="../media/image14.sv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6.xml"/><Relationship Id="rId2" Type="http://schemas.openxmlformats.org/officeDocument/2006/relationships/image" Target="../media/image16.sv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0" Type="http://schemas.openxmlformats.org/officeDocument/2006/relationships/notesSlide" Target="../notesSlides/notesSlide10.xml"/><Relationship Id="rId2" Type="http://schemas.openxmlformats.org/officeDocument/2006/relationships/tags" Target="../tags/tag20.xml"/><Relationship Id="rId19" Type="http://schemas.openxmlformats.org/officeDocument/2006/relationships/slideLayout" Target="../slideLayouts/slideLayout6.xml"/><Relationship Id="rId18" Type="http://schemas.openxmlformats.org/officeDocument/2006/relationships/tags" Target="../tags/tag36.xml"/><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6.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s>
</file>

<file path=ppt/slides/_rels/slide12.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0" Type="http://schemas.openxmlformats.org/officeDocument/2006/relationships/notesSlide" Target="../notesSlides/notesSlide12.xml"/><Relationship Id="rId2" Type="http://schemas.openxmlformats.org/officeDocument/2006/relationships/tags" Target="../tags/tag42.xml"/><Relationship Id="rId19" Type="http://schemas.openxmlformats.org/officeDocument/2006/relationships/slideLayout" Target="../slideLayouts/slideLayout6.xml"/><Relationship Id="rId18" Type="http://schemas.openxmlformats.org/officeDocument/2006/relationships/tags" Target="../tags/tag58.xml"/><Relationship Id="rId17" Type="http://schemas.openxmlformats.org/officeDocument/2006/relationships/tags" Target="../tags/tag57.xml"/><Relationship Id="rId16" Type="http://schemas.openxmlformats.org/officeDocument/2006/relationships/tags" Target="../tags/tag56.xml"/><Relationship Id="rId15" Type="http://schemas.openxmlformats.org/officeDocument/2006/relationships/tags" Target="../tags/tag55.xml"/><Relationship Id="rId14" Type="http://schemas.openxmlformats.org/officeDocument/2006/relationships/tags" Target="../tags/tag54.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tags" Target="../tags/tag4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6.xml"/><Relationship Id="rId2" Type="http://schemas.openxmlformats.org/officeDocument/2006/relationships/image" Target="../media/image22.svg"/><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6.xml"/><Relationship Id="rId2" Type="http://schemas.openxmlformats.org/officeDocument/2006/relationships/image" Target="../media/image24.svg"/><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6.xml"/><Relationship Id="rId2" Type="http://schemas.openxmlformats.org/officeDocument/2006/relationships/image" Target="../media/image26.png"/><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6.xml"/><Relationship Id="rId2" Type="http://schemas.openxmlformats.org/officeDocument/2006/relationships/image" Target="../media/image28.svg"/><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6.xml"/><Relationship Id="rId2" Type="http://schemas.openxmlformats.org/officeDocument/2006/relationships/image" Target="../media/image30.svg"/><Relationship Id="rId1" Type="http://schemas.openxmlformats.org/officeDocument/2006/relationships/image" Target="../media/image29.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6.xml"/><Relationship Id="rId2" Type="http://schemas.openxmlformats.org/officeDocument/2006/relationships/image" Target="../media/image32.svg"/><Relationship Id="rId1" Type="http://schemas.openxmlformats.org/officeDocument/2006/relationships/image" Target="../media/image31.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6.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6.xml"/><Relationship Id="rId2" Type="http://schemas.openxmlformats.org/officeDocument/2006/relationships/image" Target="../media/image37.svg"/><Relationship Id="rId1" Type="http://schemas.openxmlformats.org/officeDocument/2006/relationships/image" Target="../media/image36.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6.xml"/><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tags" Target="../tags/tag59.xml"/></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6.xml"/><Relationship Id="rId4" Type="http://schemas.openxmlformats.org/officeDocument/2006/relationships/image" Target="../media/image44.svg"/><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1.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6.xml"/><Relationship Id="rId2" Type="http://schemas.openxmlformats.org/officeDocument/2006/relationships/image" Target="../media/image46.svg"/><Relationship Id="rId1" Type="http://schemas.openxmlformats.org/officeDocument/2006/relationships/image" Target="../media/image4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tags" Target="../tags/tag60.xml"/></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3.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rcRect t="41239" b="27598"/>
          <a:stretch>
            <a:fillRect/>
          </a:stretch>
        </p:blipFill>
        <p:spPr>
          <a:xfrm>
            <a:off x="0" y="4843452"/>
            <a:ext cx="12192000" cy="2014548"/>
          </a:xfrm>
          <a:custGeom>
            <a:avLst/>
            <a:gdLst>
              <a:gd name="connsiteX0" fmla="*/ 6704242 w 9144000"/>
              <a:gd name="connsiteY0" fmla="*/ 12 h 2014548"/>
              <a:gd name="connsiteX1" fmla="*/ 9144000 w 9144000"/>
              <a:gd name="connsiteY1" fmla="*/ 108895 h 2014548"/>
              <a:gd name="connsiteX2" fmla="*/ 9144000 w 9144000"/>
              <a:gd name="connsiteY2" fmla="*/ 2014548 h 2014548"/>
              <a:gd name="connsiteX3" fmla="*/ 0 w 9144000"/>
              <a:gd name="connsiteY3" fmla="*/ 2014548 h 2014548"/>
              <a:gd name="connsiteX4" fmla="*/ 0 w 9144000"/>
              <a:gd name="connsiteY4" fmla="*/ 378136 h 2014548"/>
              <a:gd name="connsiteX5" fmla="*/ 6704242 w 9144000"/>
              <a:gd name="connsiteY5" fmla="*/ 12 h 201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2014548">
                <a:moveTo>
                  <a:pt x="6704242" y="12"/>
                </a:moveTo>
                <a:cubicBezTo>
                  <a:pt x="7362528" y="693"/>
                  <a:pt x="8143875" y="31400"/>
                  <a:pt x="9144000" y="108895"/>
                </a:cubicBezTo>
                <a:lnTo>
                  <a:pt x="9144000" y="2014548"/>
                </a:lnTo>
                <a:lnTo>
                  <a:pt x="0" y="2014548"/>
                </a:lnTo>
                <a:lnTo>
                  <a:pt x="0" y="378136"/>
                </a:lnTo>
                <a:cubicBezTo>
                  <a:pt x="3571875" y="378136"/>
                  <a:pt x="4353223" y="-2420"/>
                  <a:pt x="6704242" y="12"/>
                </a:cubicBezTo>
                <a:close/>
              </a:path>
            </a:pathLst>
          </a:custGeom>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t="27368" b="30623"/>
          <a:stretch>
            <a:fillRect/>
          </a:stretch>
        </p:blipFill>
        <p:spPr>
          <a:xfrm>
            <a:off x="0" y="892149"/>
            <a:ext cx="12192000" cy="2356583"/>
          </a:xfrm>
          <a:custGeom>
            <a:avLst/>
            <a:gdLst>
              <a:gd name="connsiteX0" fmla="*/ 0 w 9144000"/>
              <a:gd name="connsiteY0" fmla="*/ 0 h 2716252"/>
              <a:gd name="connsiteX1" fmla="*/ 9144000 w 9144000"/>
              <a:gd name="connsiteY1" fmla="*/ 0 h 2716252"/>
              <a:gd name="connsiteX2" fmla="*/ 9144000 w 9144000"/>
              <a:gd name="connsiteY2" fmla="*/ 2206406 h 2716252"/>
              <a:gd name="connsiteX3" fmla="*/ 0 w 9144000"/>
              <a:gd name="connsiteY3" fmla="*/ 2569427 h 2716252"/>
            </a:gdLst>
            <a:ahLst/>
            <a:cxnLst>
              <a:cxn ang="0">
                <a:pos x="connsiteX0" y="connsiteY0"/>
              </a:cxn>
              <a:cxn ang="0">
                <a:pos x="connsiteX1" y="connsiteY1"/>
              </a:cxn>
              <a:cxn ang="0">
                <a:pos x="connsiteX2" y="connsiteY2"/>
              </a:cxn>
              <a:cxn ang="0">
                <a:pos x="connsiteX3" y="connsiteY3"/>
              </a:cxn>
            </a:cxnLst>
            <a:rect l="l" t="t" r="r" b="b"/>
            <a:pathLst>
              <a:path w="9144000" h="2716252">
                <a:moveTo>
                  <a:pt x="0" y="0"/>
                </a:moveTo>
                <a:lnTo>
                  <a:pt x="9144000" y="0"/>
                </a:lnTo>
                <a:lnTo>
                  <a:pt x="9144000" y="2206406"/>
                </a:lnTo>
                <a:cubicBezTo>
                  <a:pt x="4572000" y="2206406"/>
                  <a:pt x="4572000" y="3047087"/>
                  <a:pt x="0" y="2569427"/>
                </a:cubicBezTo>
                <a:close/>
              </a:path>
            </a:pathLst>
          </a:custGeom>
        </p:spPr>
      </p:pic>
      <p:sp>
        <p:nvSpPr>
          <p:cNvPr id="16" name="标题 1"/>
          <p:cNvSpPr txBox="1"/>
          <p:nvPr/>
        </p:nvSpPr>
        <p:spPr>
          <a:xfrm>
            <a:off x="9305815" y="2847664"/>
            <a:ext cx="2915816" cy="432048"/>
          </a:xfrm>
          <a:prstGeom prst="rect">
            <a:avLst/>
          </a:prstGeom>
          <a:effectLst>
            <a:outerShdw blurRad="50800" dist="38100" dir="2700000" algn="tl" rotWithShape="0">
              <a:prstClr val="black">
                <a:alpha val="40000"/>
              </a:prstClr>
            </a:outerShdw>
          </a:effectLst>
        </p:spPr>
        <p:txBody>
          <a:bodyPr anchor="b"/>
          <a:lstStyle>
            <a:lvl1pPr algn="l" defTabSz="914400" rtl="0" eaLnBrk="1" latinLnBrk="0" hangingPunct="1">
              <a:lnSpc>
                <a:spcPct val="90000"/>
              </a:lnSpc>
              <a:spcBef>
                <a:spcPct val="0"/>
              </a:spcBef>
              <a:buNone/>
              <a:defRPr sz="3600" b="1" kern="1200">
                <a:solidFill>
                  <a:schemeClr val="accent1"/>
                </a:solidFill>
                <a:latin typeface="微软雅黑" panose="020B0503020204020204" charset="-122"/>
                <a:ea typeface="微软雅黑" panose="020B0503020204020204" charset="-122"/>
                <a:cs typeface="+mj-cs"/>
              </a:defRPr>
            </a:lvl1pPr>
          </a:lstStyle>
          <a:p>
            <a:pPr algn="ctr"/>
            <a:r>
              <a:rPr lang="zh-CN" altLang="en-US" sz="2000" b="0">
                <a:solidFill>
                  <a:schemeClr val="accent1">
                    <a:lumMod val="25000"/>
                  </a:schemeClr>
                </a:solidFill>
              </a:rPr>
              <a:t>武汉光电国家研究中心</a:t>
            </a:r>
            <a:endParaRPr lang="zh-CN" altLang="en-US" sz="2000" b="0">
              <a:solidFill>
                <a:schemeClr val="accent1">
                  <a:lumMod val="25000"/>
                </a:schemeClr>
              </a:solidFill>
            </a:endParaRPr>
          </a:p>
        </p:txBody>
      </p:sp>
      <p:sp>
        <p:nvSpPr>
          <p:cNvPr id="6" name="标题 1"/>
          <p:cNvSpPr>
            <a:spLocks noGrp="1"/>
          </p:cNvSpPr>
          <p:nvPr>
            <p:ph type="ctrTitle"/>
          </p:nvPr>
        </p:nvSpPr>
        <p:spPr>
          <a:xfrm>
            <a:off x="1559496" y="3269990"/>
            <a:ext cx="9080679" cy="663062"/>
          </a:xfrm>
        </p:spPr>
        <p:txBody>
          <a:bodyPr>
            <a:noAutofit/>
          </a:bodyPr>
          <a:lstStyle/>
          <a:p>
            <a:pPr algn="l"/>
            <a:r>
              <a:rPr lang="zh-CN" altLang="en-US" sz="2800" b="1">
                <a:solidFill>
                  <a:srgbClr val="000000"/>
                </a:solidFill>
                <a:latin typeface="微软雅黑" panose="020B0503020204020204" charset="-122"/>
                <a:ea typeface="微软雅黑" panose="020B0503020204020204" charset="-122"/>
              </a:rPr>
              <a:t>存算分离架构下的高效向量存储引擎</a:t>
            </a:r>
            <a:r>
              <a:rPr lang="zh-CN" altLang="en-US" sz="2800" b="1">
                <a:solidFill>
                  <a:srgbClr val="000000"/>
                </a:solidFill>
                <a:latin typeface="微软雅黑" panose="020B0503020204020204" charset="-122"/>
                <a:ea typeface="微软雅黑" panose="020B0503020204020204" charset="-122"/>
              </a:rPr>
              <a:t>研究</a:t>
            </a:r>
            <a:endParaRPr lang="zh-CN" altLang="en-US" sz="2800" b="1">
              <a:solidFill>
                <a:srgbClr val="000000"/>
              </a:solidFill>
              <a:latin typeface="微软雅黑" panose="020B0503020204020204" charset="-122"/>
              <a:ea typeface="微软雅黑" panose="020B0503020204020204" charset="-122"/>
            </a:endParaRPr>
          </a:p>
        </p:txBody>
      </p:sp>
      <p:sp>
        <p:nvSpPr>
          <p:cNvPr id="3" name="TextBox 2"/>
          <p:cNvSpPr txBox="1"/>
          <p:nvPr/>
        </p:nvSpPr>
        <p:spPr>
          <a:xfrm>
            <a:off x="1559496" y="4087119"/>
            <a:ext cx="8352928" cy="909320"/>
          </a:xfrm>
          <a:prstGeom prst="rect">
            <a:avLst/>
          </a:prstGeom>
          <a:noFill/>
        </p:spPr>
        <p:txBody>
          <a:bodyPr wrap="square" rtlCol="0">
            <a:spAutoFit/>
          </a:bodyPr>
          <a:lstStyle/>
          <a:p>
            <a:pPr>
              <a:lnSpc>
                <a:spcPct val="120000"/>
              </a:lnSpc>
              <a:spcBef>
                <a:spcPts val="1200"/>
              </a:spcBef>
            </a:pPr>
            <a:r>
              <a:rPr lang="zh-CN" altLang="en-US" sz="1800">
                <a:solidFill>
                  <a:schemeClr val="tx1"/>
                </a:solidFill>
                <a:latin typeface="微软雅黑" panose="020B0503020204020204" charset="-122"/>
                <a:ea typeface="微软雅黑" panose="020B0503020204020204" charset="-122"/>
              </a:rPr>
              <a:t>报告人：熊嘉晟</a:t>
            </a:r>
            <a:endParaRPr lang="en-US" altLang="zh-CN" sz="1800">
              <a:solidFill>
                <a:schemeClr val="tx1"/>
              </a:solidFill>
              <a:latin typeface="微软雅黑" panose="020B0503020204020204" charset="-122"/>
              <a:ea typeface="微软雅黑" panose="020B0503020204020204" charset="-122"/>
            </a:endParaRPr>
          </a:p>
          <a:p>
            <a:pPr>
              <a:lnSpc>
                <a:spcPct val="120000"/>
              </a:lnSpc>
              <a:spcBef>
                <a:spcPts val="1200"/>
              </a:spcBef>
            </a:pPr>
            <a:r>
              <a:rPr lang="zh-CN" altLang="en-US" sz="1800">
                <a:solidFill>
                  <a:schemeClr val="tx1"/>
                </a:solidFill>
                <a:latin typeface="微软雅黑" panose="020B0503020204020204" charset="-122"/>
                <a:ea typeface="微软雅黑" panose="020B0503020204020204" charset="-122"/>
              </a:rPr>
              <a:t>导　师：王　芳</a:t>
            </a:r>
            <a:endParaRPr lang="zh-CN" altLang="en-US" sz="1800">
              <a:solidFill>
                <a:schemeClr val="tx1"/>
              </a:solidFill>
              <a:latin typeface="微软雅黑" panose="020B0503020204020204" charset="-122"/>
              <a:ea typeface="微软雅黑" panose="020B0503020204020204" charset="-122"/>
            </a:endParaRPr>
          </a:p>
        </p:txBody>
      </p:sp>
      <p:cxnSp>
        <p:nvCxnSpPr>
          <p:cNvPr id="14" name="直接连接符 13"/>
          <p:cNvCxnSpPr/>
          <p:nvPr/>
        </p:nvCxnSpPr>
        <p:spPr>
          <a:xfrm>
            <a:off x="1629660" y="4005064"/>
            <a:ext cx="50424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灯片编号占位符 3"/>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551384" y="1052736"/>
            <a:ext cx="8774632" cy="523220"/>
          </a:xfrm>
          <a:prstGeom prst="rect">
            <a:avLst/>
          </a:prstGeom>
          <a:noFill/>
        </p:spPr>
        <p:txBody>
          <a:bodyPr wrap="square">
            <a:spAutoFit/>
          </a:bodyPr>
          <a:lstStyle/>
          <a:p>
            <a:r>
              <a:rPr lang="zh-CN" altLang="en-US" sz="2800">
                <a:solidFill>
                  <a:schemeClr val="tx1">
                    <a:lumMod val="75000"/>
                    <a:lumOff val="25000"/>
                  </a:schemeClr>
                </a:solidFill>
              </a:rPr>
              <a:t>提纲</a:t>
            </a:r>
            <a:endParaRPr lang="zh-CN" altLang="en-US" sz="2800">
              <a:solidFill>
                <a:schemeClr val="tx1">
                  <a:lumMod val="75000"/>
                  <a:lumOff val="25000"/>
                </a:schemeClr>
              </a:solidFill>
            </a:endParaRPr>
          </a:p>
        </p:txBody>
      </p:sp>
      <p:sp>
        <p:nvSpPr>
          <p:cNvPr id="10" name="文本框 9"/>
          <p:cNvSpPr txBox="1"/>
          <p:nvPr/>
        </p:nvSpPr>
        <p:spPr>
          <a:xfrm>
            <a:off x="916596" y="2204864"/>
            <a:ext cx="7915708" cy="1938020"/>
          </a:xfrm>
          <a:prstGeom prst="rect">
            <a:avLst/>
          </a:prstGeom>
          <a:noFill/>
        </p:spPr>
        <p:txBody>
          <a:bodyPr wrap="square" rtlCol="0">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r>
              <a:rPr kumimoji="0" lang="en-US" altLang="zh-CN"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01 </a:t>
            </a:r>
            <a:r>
              <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研究背景</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r>
              <a:rPr kumimoji="0" lang="en-US" altLang="zh-CN" sz="2000" b="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02 </a:t>
            </a:r>
            <a:r>
              <a:rPr kumimoji="0" lang="zh-CN" altLang="en-US" sz="2000" b="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研究动机</a:t>
            </a:r>
            <a:endParaRPr kumimoji="0" lang="en-US" altLang="zh-CN" sz="2000" b="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indent="-342900">
              <a:lnSpc>
                <a:spcPct val="150000"/>
              </a:lnSpc>
              <a:buFont typeface="Wingdings" panose="05000000000000000000" pitchFamily="2" charset="2"/>
              <a:buChar char="l"/>
              <a:defRPr/>
            </a:pPr>
            <a:r>
              <a:rPr kumimoji="0" lang="en-US" altLang="zh-CN" sz="2000" b="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03 </a:t>
            </a:r>
            <a:r>
              <a:rPr kumimoji="0" lang="zh-CN" altLang="en-US" sz="2000" b="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研究方案设计</a:t>
            </a:r>
            <a:endParaRPr lang="en-US" altLang="zh-CN" dirty="0">
              <a:solidFill>
                <a:schemeClr val="tx1">
                  <a:lumMod val="50000"/>
                  <a:lumOff val="50000"/>
                </a:schemeClr>
              </a:solidFill>
              <a:latin typeface="微软雅黑" panose="020B0503020204020204" charset="-122"/>
              <a:ea typeface="微软雅黑" panose="020B0503020204020204" charset="-122"/>
            </a:endParaRPr>
          </a:p>
          <a:p>
            <a:pPr marL="342900" lvl="0" indent="-342900">
              <a:lnSpc>
                <a:spcPct val="150000"/>
              </a:lnSpc>
              <a:buFont typeface="Wingdings" panose="05000000000000000000" pitchFamily="2" charset="2"/>
              <a:buChar char="l"/>
              <a:defRPr/>
            </a:pPr>
            <a:r>
              <a:rPr lang="en-US" altLang="zh-CN" dirty="0">
                <a:solidFill>
                  <a:schemeClr val="tx1">
                    <a:lumMod val="50000"/>
                    <a:lumOff val="50000"/>
                  </a:schemeClr>
                </a:solidFill>
                <a:latin typeface="微软雅黑" panose="020B0503020204020204" charset="-122"/>
                <a:ea typeface="微软雅黑" panose="020B0503020204020204" charset="-122"/>
              </a:rPr>
              <a:t>04 </a:t>
            </a:r>
            <a:r>
              <a:rPr lang="zh-CN" altLang="en-US" dirty="0">
                <a:solidFill>
                  <a:schemeClr val="tx1">
                    <a:lumMod val="50000"/>
                    <a:lumOff val="50000"/>
                  </a:schemeClr>
                </a:solidFill>
                <a:latin typeface="微软雅黑" panose="020B0503020204020204" charset="-122"/>
                <a:ea typeface="微软雅黑" panose="020B0503020204020204" charset="-122"/>
              </a:rPr>
              <a:t>初步实验结果与预期</a:t>
            </a:r>
            <a:r>
              <a:rPr lang="zh-CN" altLang="en-US" dirty="0">
                <a:solidFill>
                  <a:schemeClr val="tx1">
                    <a:lumMod val="50000"/>
                    <a:lumOff val="50000"/>
                  </a:schemeClr>
                </a:solidFill>
                <a:latin typeface="微软雅黑" panose="020B0503020204020204" charset="-122"/>
                <a:ea typeface="微软雅黑" panose="020B0503020204020204" charset="-122"/>
              </a:rPr>
              <a:t>目标</a:t>
            </a:r>
            <a:endParaRPr lang="zh-CN" altLang="en-US" dirty="0">
              <a:solidFill>
                <a:schemeClr val="tx1">
                  <a:lumMod val="50000"/>
                  <a:lumOff val="50000"/>
                </a:schemeClr>
              </a:solidFill>
              <a:latin typeface="微软雅黑" panose="020B0503020204020204" charset="-122"/>
              <a:ea typeface="微软雅黑" panose="020B0503020204020204" charset="-122"/>
            </a:endParaRPr>
          </a:p>
        </p:txBody>
      </p:sp>
      <p:sp>
        <p:nvSpPr>
          <p:cNvPr id="2" name="灯片编号占位符 1"/>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01</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16" y="1052736"/>
            <a:ext cx="9206680" cy="521970"/>
          </a:xfrm>
          <a:prstGeom prst="rect">
            <a:avLst/>
          </a:prstGeom>
          <a:noFill/>
        </p:spPr>
        <p:txBody>
          <a:bodyPr wrap="square">
            <a:spAutoFit/>
          </a:bodyPr>
          <a:lstStyle/>
          <a:p>
            <a:r>
              <a:rPr lang="zh-CN" altLang="en-US" sz="2800" dirty="0">
                <a:solidFill>
                  <a:schemeClr val="tx1">
                    <a:lumMod val="75000"/>
                    <a:lumOff val="25000"/>
                  </a:schemeClr>
                </a:solidFill>
              </a:rPr>
              <a:t>研究背景 </a:t>
            </a:r>
            <a:r>
              <a:rPr lang="en-US" altLang="zh-CN" sz="2800" dirty="0">
                <a:solidFill>
                  <a:schemeClr val="tx1">
                    <a:lumMod val="75000"/>
                    <a:lumOff val="25000"/>
                  </a:schemeClr>
                </a:solidFill>
              </a:rPr>
              <a:t>– </a:t>
            </a:r>
            <a:r>
              <a:rPr lang="zh-CN" altLang="en-US" sz="2800" dirty="0">
                <a:solidFill>
                  <a:schemeClr val="tx1">
                    <a:lumMod val="75000"/>
                    <a:lumOff val="25000"/>
                  </a:schemeClr>
                </a:solidFill>
              </a:rPr>
              <a:t>向量数据的存储规模不断</a:t>
            </a:r>
            <a:r>
              <a:rPr lang="zh-CN" altLang="en-US" sz="2800" dirty="0">
                <a:solidFill>
                  <a:schemeClr val="tx1">
                    <a:lumMod val="75000"/>
                    <a:lumOff val="25000"/>
                  </a:schemeClr>
                </a:solidFill>
              </a:rPr>
              <a:t>扩大</a:t>
            </a:r>
            <a:endParaRPr lang="zh-CN" altLang="en-US"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sp>
        <p:nvSpPr>
          <p:cNvPr id="1048598" name="文本框 8"/>
          <p:cNvSpPr txBox="1"/>
          <p:nvPr/>
        </p:nvSpPr>
        <p:spPr>
          <a:xfrm>
            <a:off x="695960" y="1772920"/>
            <a:ext cx="6276975" cy="1989455"/>
          </a:xfrm>
          <a:prstGeom prst="rect">
            <a:avLst/>
          </a:prstGeom>
          <a:noFill/>
        </p:spPr>
        <p:txBody>
          <a:bodyPr wrap="square" rtlCol="0" anchor="t">
            <a:spAutoFit/>
          </a:bodyPr>
          <a:p>
            <a:pPr algn="just" defTabSz="266700">
              <a:lnSpc>
                <a:spcPct val="150000"/>
              </a:lnSpc>
              <a:spcBef>
                <a:spcPts val="2000"/>
              </a:spcBef>
              <a:spcAft>
                <a:spcPts val="2000"/>
              </a:spcAft>
              <a:buClrTx/>
              <a:buSzTx/>
              <a:buFontTx/>
            </a:pPr>
            <a:r>
              <a:rPr lang="zh-CN" altLang="en-US" dirty="0">
                <a:solidFill>
                  <a:schemeClr val="tx1"/>
                </a:solidFill>
                <a:latin typeface="Segoe UI Light" panose="020B0502040204020203" pitchFamily="34" charset="0"/>
                <a:ea typeface="微软雅黑 Light" panose="020B0502040204020203" pitchFamily="34" charset="-122"/>
                <a:sym typeface="+mn-ea"/>
              </a:rPr>
              <a:t>社交媒体和生成式AI快速发展，产生的数据量激增</a:t>
            </a:r>
            <a:endParaRPr lang="zh-CN" altLang="en-US" dirty="0">
              <a:solidFill>
                <a:schemeClr val="tx1"/>
              </a:solidFill>
              <a:latin typeface="Segoe UI Light" panose="020B0502040204020203" pitchFamily="34" charset="0"/>
              <a:ea typeface="微软雅黑 Light" panose="020B0502040204020203" pitchFamily="34" charset="-122"/>
            </a:endParaRPr>
          </a:p>
          <a:p>
            <a:pPr algn="just" defTabSz="266700">
              <a:lnSpc>
                <a:spcPct val="150000"/>
              </a:lnSpc>
              <a:spcBef>
                <a:spcPts val="2000"/>
              </a:spcBef>
              <a:spcAft>
                <a:spcPts val="2000"/>
              </a:spcAft>
              <a:buClrTx/>
              <a:buSzTx/>
              <a:buFontTx/>
            </a:pPr>
            <a:r>
              <a:rPr lang="zh-CN" altLang="en-US" dirty="0">
                <a:solidFill>
                  <a:schemeClr val="tx1"/>
                </a:solidFill>
                <a:latin typeface="Segoe UI Light" panose="020B0502040204020203" pitchFamily="34" charset="0"/>
                <a:ea typeface="微软雅黑 Light" panose="020B0502040204020203" pitchFamily="34" charset="-122"/>
                <a:sym typeface="+mn-ea"/>
              </a:rPr>
              <a:t>其中非结构化数据占80%以上，一般需要通过特征提取或嵌入来转为向量处理</a:t>
            </a:r>
            <a:endParaRPr lang="zh-CN" altLang="en-US" dirty="0">
              <a:solidFill>
                <a:schemeClr val="tx1"/>
              </a:solidFill>
              <a:latin typeface="Segoe UI Light" panose="020B0502040204020203" pitchFamily="34" charset="0"/>
              <a:ea typeface="微软雅黑 Light" panose="020B0502040204020203" pitchFamily="34" charset="-122"/>
              <a:sym typeface="+mn-ea"/>
            </a:endParaRPr>
          </a:p>
        </p:txBody>
      </p:sp>
      <p:pic>
        <p:nvPicPr>
          <p:cNvPr id="2097162" name="Picture 4" descr="A graph of blue bars&#10;&#10;Description automatically generated with medium confidence"/>
          <p:cNvPicPr>
            <a:picLocks noChangeAspect="1" noChangeArrowheads="1"/>
          </p:cNvPicPr>
          <p:nvPr/>
        </p:nvPicPr>
        <p:blipFill>
          <a:blip r:embed="rId1"/>
          <a:srcRect/>
          <a:stretch>
            <a:fillRect/>
          </a:stretch>
        </p:blipFill>
        <p:spPr bwMode="auto">
          <a:xfrm>
            <a:off x="7031696" y="1484390"/>
            <a:ext cx="4839564" cy="2722254"/>
          </a:xfrm>
          <a:prstGeom prst="rect">
            <a:avLst/>
          </a:prstGeom>
          <a:noFill/>
        </p:spPr>
      </p:pic>
      <p:sp>
        <p:nvSpPr>
          <p:cNvPr id="1048599" name="矩形 13"/>
          <p:cNvSpPr/>
          <p:nvPr/>
        </p:nvSpPr>
        <p:spPr>
          <a:xfrm>
            <a:off x="407670" y="2060575"/>
            <a:ext cx="172720" cy="158115"/>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400" dirty="0">
              <a:latin typeface="思源黑体" panose="020B0500000000000000" pitchFamily="34" charset="-122"/>
              <a:ea typeface="思源黑体" panose="020B0500000000000000" pitchFamily="34" charset="-122"/>
            </a:endParaRPr>
          </a:p>
        </p:txBody>
      </p:sp>
      <p:sp>
        <p:nvSpPr>
          <p:cNvPr id="1048601" name="文本框 17"/>
          <p:cNvSpPr txBox="1"/>
          <p:nvPr/>
        </p:nvSpPr>
        <p:spPr>
          <a:xfrm>
            <a:off x="263525" y="4796790"/>
            <a:ext cx="4984115" cy="829945"/>
          </a:xfrm>
          <a:prstGeom prst="rect">
            <a:avLst/>
          </a:prstGeom>
          <a:noFill/>
        </p:spPr>
        <p:txBody>
          <a:bodyPr wrap="square" rtlCol="0" anchor="t">
            <a:spAutoFit/>
          </a:bodyPr>
          <a:p>
            <a:pPr indent="0" fontAlgn="auto">
              <a:spcBef>
                <a:spcPts val="1000"/>
              </a:spcBef>
            </a:pPr>
            <a:r>
              <a:rPr lang="zh-CN" altLang="en-US" sz="2400" dirty="0">
                <a:solidFill>
                  <a:schemeClr val="tx1">
                    <a:lumMod val="75000"/>
                    <a:lumOff val="25000"/>
                  </a:schemeClr>
                </a:solidFill>
                <a:sym typeface="+mn-ea"/>
              </a:rPr>
              <a:t>这造成了</a:t>
            </a:r>
            <a:r>
              <a:rPr lang="zh-CN" altLang="en-US" sz="2400" dirty="0">
                <a:solidFill>
                  <a:srgbClr val="FF0000"/>
                </a:solidFill>
                <a:sym typeface="+mn-ea"/>
              </a:rPr>
              <a:t>向量数据的存储规模不断扩大</a:t>
            </a:r>
            <a:endParaRPr lang="zh-CN" altLang="en-US" sz="2400" b="1" dirty="0">
              <a:solidFill>
                <a:srgbClr val="FF0000"/>
              </a:solidFill>
              <a:latin typeface="Segoe UI Light" panose="020B0502040204020203" pitchFamily="34" charset="0"/>
              <a:ea typeface="微软雅黑 Light" panose="020B0502040204020203" pitchFamily="34" charset="-122"/>
              <a:sym typeface="+mn-ea"/>
            </a:endParaRPr>
          </a:p>
        </p:txBody>
      </p:sp>
      <p:sp>
        <p:nvSpPr>
          <p:cNvPr id="3" name="矩形 13"/>
          <p:cNvSpPr/>
          <p:nvPr/>
        </p:nvSpPr>
        <p:spPr>
          <a:xfrm>
            <a:off x="407670" y="2982595"/>
            <a:ext cx="172720" cy="158115"/>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400" dirty="0">
              <a:latin typeface="思源黑体" panose="020B0500000000000000" pitchFamily="34" charset="-122"/>
              <a:ea typeface="思源黑体" panose="020B0500000000000000" pitchFamily="34" charset="-122"/>
            </a:endParaRPr>
          </a:p>
        </p:txBody>
      </p:sp>
      <p:pic>
        <p:nvPicPr>
          <p:cNvPr id="16" name="图片 15" descr="background.drawio"/>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91810" y="4221480"/>
            <a:ext cx="5915025" cy="25812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08760" y="1024128"/>
            <a:ext cx="9692640" cy="521970"/>
          </a:xfrm>
          <a:prstGeom prst="rect">
            <a:avLst/>
          </a:prstGeom>
          <a:noFill/>
        </p:spPr>
        <p:txBody>
          <a:bodyPr wrap="square">
            <a:spAutoFit/>
          </a:bodyPr>
          <a:lstStyle/>
          <a:p>
            <a:pPr>
              <a:defRPr sz="2600" b="0">
                <a:solidFill>
                  <a:srgbClr val="414141"/>
                </a:solidFill>
                <a:latin typeface="微软雅黑" panose="020B0503020204020204" charset="-122"/>
              </a:defRPr>
            </a:pPr>
            <a:r>
              <a:rPr sz="2800" dirty="0" err="1">
                <a:solidFill>
                  <a:schemeClr val="tx1">
                    <a:lumMod val="75000"/>
                    <a:lumOff val="25000"/>
                  </a:schemeClr>
                </a:solidFill>
              </a:rPr>
              <a:t>研究</a:t>
            </a:r>
            <a:r>
              <a:rPr lang="zh-CN" altLang="en-US" sz="2800" dirty="0">
                <a:solidFill>
                  <a:schemeClr val="tx1">
                    <a:lumMod val="75000"/>
                    <a:lumOff val="25000"/>
                  </a:schemeClr>
                </a:solidFill>
              </a:rPr>
              <a:t>背景</a:t>
            </a:r>
            <a:r>
              <a:rPr sz="2800" dirty="0">
                <a:solidFill>
                  <a:schemeClr val="tx1">
                    <a:lumMod val="75000"/>
                    <a:lumOff val="25000"/>
                  </a:schemeClr>
                </a:solidFill>
              </a:rPr>
              <a:t> – </a:t>
            </a:r>
            <a:r>
              <a:rPr lang="zh-CN" sz="2800">
                <a:sym typeface="+mn-ea"/>
              </a:rPr>
              <a:t>向量搜索的应用场景</a:t>
            </a:r>
            <a:endParaRPr sz="2800" dirty="0">
              <a:solidFill>
                <a:schemeClr val="tx1">
                  <a:lumMod val="75000"/>
                  <a:lumOff val="25000"/>
                </a:schemeClr>
              </a:solidFill>
            </a:endParaRPr>
          </a:p>
        </p:txBody>
      </p:sp>
      <p:sp>
        <p:nvSpPr>
          <p:cNvPr id="4" name="Rectangle 3"/>
          <p:cNvSpPr/>
          <p:nvPr/>
        </p:nvSpPr>
        <p:spPr>
          <a:xfrm>
            <a:off x="548640" y="1673352"/>
            <a:ext cx="10881360" cy="18288"/>
          </a:xfrm>
          <a:prstGeom prst="rect">
            <a:avLst/>
          </a:prstGeom>
          <a:solidFill>
            <a:srgbClr val="E2E2E2"/>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标题 3"/>
          <p:cNvSpPr txBox="1"/>
          <p:nvPr/>
        </p:nvSpPr>
        <p:spPr>
          <a:xfrm>
            <a:off x="551384" y="980728"/>
            <a:ext cx="730424" cy="555464"/>
          </a:xfrm>
          <a:prstGeom prst="rect">
            <a:avLst/>
          </a:prstGeom>
          <a:solidFill>
            <a:srgbClr val="1588C7"/>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pPr>
            <a:r>
              <a:rPr lang="en-US" altLang="zh-CN" sz="3200" b="1" dirty="0">
                <a:solidFill>
                  <a:schemeClr val="bg1"/>
                </a:solidFill>
                <a:latin typeface="微软雅黑" panose="020B0503020204020204" charset="-122"/>
                <a:ea typeface="微软雅黑" panose="020B0503020204020204" charset="-122"/>
              </a:rPr>
              <a:t>01</a:t>
            </a:r>
            <a:endParaRPr lang="zh-CN" altLang="en-US" sz="3200" b="1" dirty="0">
              <a:solidFill>
                <a:schemeClr val="bg1"/>
              </a:solidFill>
              <a:latin typeface="微软雅黑" panose="020B0503020204020204" charset="-122"/>
              <a:ea typeface="微软雅黑" panose="020B0503020204020204" charset="-122"/>
            </a:endParaRPr>
          </a:p>
        </p:txBody>
      </p:sp>
      <p:sp>
        <p:nvSpPr>
          <p:cNvPr id="59" name="灯片编号占位符 58"/>
          <p:cNvSpPr>
            <a:spLocks noGrp="1"/>
          </p:cNvSpPr>
          <p:nvPr>
            <p:ph type="sldNum" sz="quarter" idx="12"/>
          </p:nvPr>
        </p:nvSpPr>
        <p:spPr>
          <a:xfrm>
            <a:off x="9264352" y="6352741"/>
            <a:ext cx="2743200" cy="365125"/>
          </a:xfrm>
        </p:spPr>
        <p:txBody>
          <a:bodyPr/>
          <a:lstStyle/>
          <a:p>
            <a:pPr>
              <a:defRPr/>
            </a:pPr>
            <a:fld id="{6A90D09A-ED5D-47CC-A45F-D492BA9A6C1B}" type="slidenum">
              <a:rPr lang="en-US" altLang="zh-CN" smtClean="0"/>
            </a:fld>
            <a:endParaRPr lang="en-US" altLang="zh-CN"/>
          </a:p>
        </p:txBody>
      </p:sp>
      <p:sp>
        <p:nvSpPr>
          <p:cNvPr id="1048606" name="Text 0"/>
          <p:cNvSpPr/>
          <p:nvPr>
            <p:custDataLst>
              <p:tags r:id="rId1"/>
            </p:custDataLst>
          </p:nvPr>
        </p:nvSpPr>
        <p:spPr>
          <a:xfrm>
            <a:off x="431165" y="3103245"/>
            <a:ext cx="3547745" cy="1358900"/>
          </a:xfrm>
          <a:prstGeom prst="rect">
            <a:avLst/>
          </a:prstGeom>
          <a:noFill/>
        </p:spPr>
        <p:txBody>
          <a:bodyPr wrap="square" rtlCol="0" anchor="t"/>
          <a:p>
            <a:pPr algn="ctr">
              <a:lnSpc>
                <a:spcPct val="150000"/>
              </a:lnSpc>
            </a:pPr>
            <a:r>
              <a:rPr lang="zh-CN" altLang="en-US" sz="1600">
                <a:solidFill>
                  <a:schemeClr val="tx1"/>
                </a:solidFill>
                <a:latin typeface="微软雅黑 Light" panose="020B0502040204020203" pitchFamily="34" charset="-122"/>
                <a:ea typeface="微软雅黑 Light" panose="020B0502040204020203" pitchFamily="34" charset="-122"/>
                <a:sym typeface="+mn-ea"/>
              </a:rPr>
              <a:t>通过高效的相似性匹配，根据用户偏好、物品特征或内容相似性提供个性化的推荐。</a:t>
            </a:r>
            <a:endParaRPr lang="zh-CN" altLang="en-US" sz="1600" b="1" dirty="0">
              <a:solidFill>
                <a:schemeClr val="tx1"/>
              </a:solidFill>
              <a:latin typeface="微软雅黑 Light" panose="020B0502040204020203" pitchFamily="34" charset="-122"/>
              <a:ea typeface="微软雅黑 Light" panose="020B0502040204020203" pitchFamily="34" charset="-122"/>
              <a:sym typeface="+mn-ea"/>
            </a:endParaRPr>
          </a:p>
        </p:txBody>
      </p:sp>
      <p:sp>
        <p:nvSpPr>
          <p:cNvPr id="1048607" name="Text 2"/>
          <p:cNvSpPr/>
          <p:nvPr>
            <p:custDataLst>
              <p:tags r:id="rId2"/>
            </p:custDataLst>
          </p:nvPr>
        </p:nvSpPr>
        <p:spPr>
          <a:xfrm>
            <a:off x="7680325" y="3125470"/>
            <a:ext cx="3722370" cy="571500"/>
          </a:xfrm>
          <a:prstGeom prst="rect">
            <a:avLst/>
          </a:prstGeom>
          <a:noFill/>
        </p:spPr>
        <p:txBody>
          <a:bodyPr wrap="square" rtlCol="0" anchor="t"/>
          <a:p>
            <a:pPr algn="ctr">
              <a:lnSpc>
                <a:spcPct val="150000"/>
              </a:lnSpc>
              <a:buClrTx/>
              <a:buSzTx/>
              <a:buFontTx/>
            </a:pPr>
            <a:r>
              <a:rPr lang="zh-CN" altLang="en-US" sz="1600" dirty="0">
                <a:solidFill>
                  <a:schemeClr val="tx1"/>
                </a:solidFill>
                <a:latin typeface="微软雅黑 Light" panose="020B0502040204020203" pitchFamily="34" charset="-122"/>
                <a:ea typeface="微软雅黑 Light" panose="020B0502040204020203" pitchFamily="34" charset="-122"/>
                <a:sym typeface="+mn-ea"/>
              </a:rPr>
              <a:t>将图像和视频等转换为高维向量表示，实现基于内容的相似搜索。</a:t>
            </a:r>
            <a:endParaRPr lang="zh-CN" altLang="en-US" sz="1600" dirty="0">
              <a:solidFill>
                <a:schemeClr val="tx1"/>
              </a:solidFill>
              <a:latin typeface="微软雅黑 Light" panose="020B0502040204020203" pitchFamily="34" charset="-122"/>
              <a:ea typeface="微软雅黑 Light" panose="020B0502040204020203" pitchFamily="34" charset="-122"/>
              <a:sym typeface="+mn-ea"/>
            </a:endParaRPr>
          </a:p>
        </p:txBody>
      </p:sp>
      <p:pic>
        <p:nvPicPr>
          <p:cNvPr id="2097164" name="图片 2"/>
          <p:cNvPicPr/>
          <p:nvPr>
            <p:custDataLst>
              <p:tags r:id="rId3"/>
            </p:custDataLst>
          </p:nvPr>
        </p:nvPicPr>
        <p:blipFill>
          <a:blip r:embed="rId4"/>
          <a:stretch>
            <a:fillRect/>
          </a:stretch>
        </p:blipFill>
        <p:spPr>
          <a:xfrm>
            <a:off x="1559560" y="2132330"/>
            <a:ext cx="990600" cy="993140"/>
          </a:xfrm>
          <a:prstGeom prst="rect">
            <a:avLst/>
          </a:prstGeom>
        </p:spPr>
      </p:pic>
      <p:sp>
        <p:nvSpPr>
          <p:cNvPr id="1048608" name="文本框 4"/>
          <p:cNvSpPr txBox="1"/>
          <p:nvPr>
            <p:custDataLst>
              <p:tags r:id="rId5"/>
            </p:custDataLst>
          </p:nvPr>
        </p:nvSpPr>
        <p:spPr>
          <a:xfrm>
            <a:off x="977900" y="1671955"/>
            <a:ext cx="2020570" cy="460375"/>
          </a:xfrm>
          <a:prstGeom prst="rect">
            <a:avLst/>
          </a:prstGeom>
          <a:noFill/>
        </p:spPr>
        <p:txBody>
          <a:bodyPr wrap="square" rtlCol="0" anchor="t">
            <a:spAutoFit/>
          </a:bodyPr>
          <a:p>
            <a:r>
              <a:rPr lang="en-US" sz="2400" b="1" dirty="0">
                <a:solidFill>
                  <a:srgbClr val="383838"/>
                </a:solidFill>
                <a:latin typeface="+mj-ea"/>
                <a:ea typeface="+mj-ea"/>
                <a:cs typeface="Noto Sans SC" panose="020B0200000000000000" pitchFamily="34" charset="-120"/>
                <a:sym typeface="+mn-ea"/>
              </a:rPr>
              <a:t>(1) </a:t>
            </a:r>
            <a:r>
              <a:rPr lang="zh-CN" altLang="en-US" sz="2400" b="1" dirty="0">
                <a:solidFill>
                  <a:srgbClr val="383838"/>
                </a:solidFill>
                <a:latin typeface="+mj-ea"/>
                <a:ea typeface="+mj-ea"/>
                <a:cs typeface="Noto Sans SC" panose="020B0200000000000000" pitchFamily="34" charset="-120"/>
                <a:sym typeface="+mn-ea"/>
              </a:rPr>
              <a:t>推荐系统</a:t>
            </a:r>
            <a:r>
              <a:rPr lang="en-US" sz="2400" b="1" dirty="0">
                <a:solidFill>
                  <a:srgbClr val="383838"/>
                </a:solidFill>
                <a:latin typeface="+mj-ea"/>
                <a:ea typeface="+mj-ea"/>
                <a:cs typeface="Noto Sans SC" panose="020B0200000000000000" pitchFamily="34" charset="-120"/>
                <a:sym typeface="+mn-ea"/>
              </a:rPr>
              <a:t> </a:t>
            </a:r>
            <a:endParaRPr lang="en-US" altLang="en-US" sz="2400" b="1" dirty="0">
              <a:solidFill>
                <a:srgbClr val="383838"/>
              </a:solidFill>
              <a:latin typeface="+mj-ea"/>
              <a:ea typeface="+mj-ea"/>
              <a:cs typeface="Noto Sans SC" panose="020B0200000000000000" pitchFamily="34" charset="-120"/>
              <a:sym typeface="+mn-ea"/>
            </a:endParaRPr>
          </a:p>
        </p:txBody>
      </p:sp>
      <p:pic>
        <p:nvPicPr>
          <p:cNvPr id="2097165" name="图片 6"/>
          <p:cNvPicPr/>
          <p:nvPr>
            <p:custDataLst>
              <p:tags r:id="rId6"/>
            </p:custDataLst>
          </p:nvPr>
        </p:nvPicPr>
        <p:blipFill>
          <a:blip r:embed="rId7"/>
          <a:stretch>
            <a:fillRect/>
          </a:stretch>
        </p:blipFill>
        <p:spPr>
          <a:xfrm>
            <a:off x="5245100" y="2132330"/>
            <a:ext cx="881380" cy="832485"/>
          </a:xfrm>
          <a:prstGeom prst="rect">
            <a:avLst/>
          </a:prstGeom>
        </p:spPr>
      </p:pic>
      <p:sp>
        <p:nvSpPr>
          <p:cNvPr id="1048609" name="文本框 7"/>
          <p:cNvSpPr txBox="1"/>
          <p:nvPr>
            <p:custDataLst>
              <p:tags r:id="rId8"/>
            </p:custDataLst>
          </p:nvPr>
        </p:nvSpPr>
        <p:spPr>
          <a:xfrm>
            <a:off x="4409440" y="1671955"/>
            <a:ext cx="2552700" cy="460375"/>
          </a:xfrm>
          <a:prstGeom prst="rect">
            <a:avLst/>
          </a:prstGeom>
          <a:noFill/>
        </p:spPr>
        <p:txBody>
          <a:bodyPr wrap="square" rtlCol="0" anchor="t">
            <a:spAutoFit/>
          </a:bodyPr>
          <a:p>
            <a:r>
              <a:rPr lang="en-US" sz="2400" b="1" dirty="0">
                <a:solidFill>
                  <a:srgbClr val="383838"/>
                </a:solidFill>
                <a:latin typeface="+mj-ea"/>
                <a:ea typeface="+mj-ea"/>
                <a:cs typeface="Noto Sans SC" panose="020B0200000000000000" pitchFamily="34" charset="-120"/>
                <a:sym typeface="+mn-ea"/>
              </a:rPr>
              <a:t>(2) </a:t>
            </a:r>
            <a:r>
              <a:rPr lang="zh-CN" altLang="en-US" sz="2400" b="1" dirty="0">
                <a:solidFill>
                  <a:srgbClr val="383838"/>
                </a:solidFill>
                <a:latin typeface="+mj-ea"/>
                <a:ea typeface="+mj-ea"/>
                <a:cs typeface="Noto Sans SC" panose="020B0200000000000000" pitchFamily="34" charset="-120"/>
                <a:sym typeface="+mn-ea"/>
              </a:rPr>
              <a:t>自然语言处理</a:t>
            </a:r>
            <a:r>
              <a:rPr lang="en-US" sz="2400" b="1" dirty="0">
                <a:solidFill>
                  <a:srgbClr val="383838"/>
                </a:solidFill>
                <a:latin typeface="+mj-ea"/>
                <a:ea typeface="+mj-ea"/>
                <a:cs typeface="Noto Sans SC" panose="020B0200000000000000" pitchFamily="34" charset="-120"/>
                <a:sym typeface="+mn-ea"/>
              </a:rPr>
              <a:t> </a:t>
            </a:r>
            <a:endParaRPr lang="en-US" altLang="en-US" sz="2400" b="1" dirty="0">
              <a:solidFill>
                <a:srgbClr val="383838"/>
              </a:solidFill>
              <a:latin typeface="+mj-ea"/>
              <a:ea typeface="+mj-ea"/>
              <a:cs typeface="Noto Sans SC" panose="020B0200000000000000" pitchFamily="34" charset="-120"/>
              <a:sym typeface="+mn-ea"/>
            </a:endParaRPr>
          </a:p>
        </p:txBody>
      </p:sp>
      <p:sp>
        <p:nvSpPr>
          <p:cNvPr id="1048610" name="Text 0"/>
          <p:cNvSpPr/>
          <p:nvPr>
            <p:custDataLst>
              <p:tags r:id="rId9"/>
            </p:custDataLst>
          </p:nvPr>
        </p:nvSpPr>
        <p:spPr>
          <a:xfrm>
            <a:off x="4153535" y="3068955"/>
            <a:ext cx="3547745" cy="1358900"/>
          </a:xfrm>
          <a:prstGeom prst="rect">
            <a:avLst/>
          </a:prstGeom>
          <a:noFill/>
        </p:spPr>
        <p:txBody>
          <a:bodyPr wrap="square" rtlCol="0" anchor="t"/>
          <a:p>
            <a:pPr algn="ctr">
              <a:lnSpc>
                <a:spcPct val="150000"/>
              </a:lnSpc>
            </a:pPr>
            <a:r>
              <a:rPr lang="zh-CN" altLang="en-US" sz="1600" dirty="0">
                <a:solidFill>
                  <a:schemeClr val="tx1"/>
                </a:solidFill>
                <a:latin typeface="微软雅黑 Light" panose="020B0502040204020203" pitchFamily="34" charset="-122"/>
                <a:ea typeface="微软雅黑 Light" panose="020B0502040204020203" pitchFamily="34" charset="-122"/>
                <a:sym typeface="+mn-ea"/>
              </a:rPr>
              <a:t>将文本数据转化为词向量或句子向量，用于语义相似度计算、情感分析、机器翻译等任务。</a:t>
            </a:r>
            <a:endParaRPr lang="zh-CN" altLang="en-US" sz="1600" b="1" dirty="0">
              <a:solidFill>
                <a:schemeClr val="tx1"/>
              </a:solidFill>
              <a:latin typeface="微软雅黑 Light" panose="020B0502040204020203" pitchFamily="34" charset="-122"/>
              <a:ea typeface="微软雅黑 Light" panose="020B0502040204020203" pitchFamily="34" charset="-122"/>
              <a:sym typeface="+mn-ea"/>
            </a:endParaRPr>
          </a:p>
        </p:txBody>
      </p:sp>
      <p:sp>
        <p:nvSpPr>
          <p:cNvPr id="1048611" name="文本框 9"/>
          <p:cNvSpPr txBox="1"/>
          <p:nvPr>
            <p:custDataLst>
              <p:tags r:id="rId10"/>
            </p:custDataLst>
          </p:nvPr>
        </p:nvSpPr>
        <p:spPr>
          <a:xfrm>
            <a:off x="8121650" y="1671955"/>
            <a:ext cx="2552700" cy="460375"/>
          </a:xfrm>
          <a:prstGeom prst="rect">
            <a:avLst/>
          </a:prstGeom>
          <a:noFill/>
        </p:spPr>
        <p:txBody>
          <a:bodyPr wrap="square" rtlCol="0" anchor="t">
            <a:spAutoFit/>
          </a:bodyPr>
          <a:p>
            <a:r>
              <a:rPr lang="en-US" sz="2400" b="1" dirty="0">
                <a:solidFill>
                  <a:srgbClr val="383838"/>
                </a:solidFill>
                <a:latin typeface="+mj-ea"/>
                <a:ea typeface="+mj-ea"/>
                <a:cs typeface="Noto Sans SC" panose="020B0200000000000000" pitchFamily="34" charset="-120"/>
                <a:sym typeface="+mn-ea"/>
              </a:rPr>
              <a:t>(3) </a:t>
            </a:r>
            <a:r>
              <a:rPr lang="zh-CN" altLang="en-US" sz="2400" b="1" dirty="0">
                <a:solidFill>
                  <a:srgbClr val="383838"/>
                </a:solidFill>
                <a:latin typeface="+mj-ea"/>
                <a:ea typeface="+mj-ea"/>
                <a:cs typeface="Noto Sans SC" panose="020B0200000000000000" pitchFamily="34" charset="-120"/>
                <a:sym typeface="+mn-ea"/>
              </a:rPr>
              <a:t>搜索引擎</a:t>
            </a:r>
            <a:r>
              <a:rPr lang="en-US" sz="2400" b="1" dirty="0">
                <a:solidFill>
                  <a:srgbClr val="383838"/>
                </a:solidFill>
                <a:latin typeface="+mj-ea"/>
                <a:ea typeface="+mj-ea"/>
                <a:cs typeface="Noto Sans SC" panose="020B0200000000000000" pitchFamily="34" charset="-120"/>
                <a:sym typeface="+mn-ea"/>
              </a:rPr>
              <a:t> </a:t>
            </a:r>
            <a:endParaRPr lang="en-US" altLang="en-US" sz="2400" b="1" dirty="0">
              <a:solidFill>
                <a:srgbClr val="383838"/>
              </a:solidFill>
              <a:latin typeface="+mj-ea"/>
              <a:ea typeface="+mj-ea"/>
              <a:cs typeface="Noto Sans SC" panose="020B0200000000000000" pitchFamily="34" charset="-120"/>
              <a:sym typeface="+mn-ea"/>
            </a:endParaRPr>
          </a:p>
        </p:txBody>
      </p:sp>
      <p:pic>
        <p:nvPicPr>
          <p:cNvPr id="2097166" name="图片 10"/>
          <p:cNvPicPr/>
          <p:nvPr>
            <p:custDataLst>
              <p:tags r:id="rId11"/>
            </p:custDataLst>
          </p:nvPr>
        </p:nvPicPr>
        <p:blipFill>
          <a:blip r:embed="rId12"/>
          <a:stretch>
            <a:fillRect/>
          </a:stretch>
        </p:blipFill>
        <p:spPr>
          <a:xfrm>
            <a:off x="8760460" y="2080260"/>
            <a:ext cx="1083945" cy="1052830"/>
          </a:xfrm>
          <a:prstGeom prst="rect">
            <a:avLst/>
          </a:prstGeom>
        </p:spPr>
      </p:pic>
      <p:sp>
        <p:nvSpPr>
          <p:cNvPr id="1048612" name="Text 0"/>
          <p:cNvSpPr/>
          <p:nvPr>
            <p:custDataLst>
              <p:tags r:id="rId13"/>
            </p:custDataLst>
          </p:nvPr>
        </p:nvSpPr>
        <p:spPr>
          <a:xfrm>
            <a:off x="278765" y="5660390"/>
            <a:ext cx="3874770" cy="1358900"/>
          </a:xfrm>
          <a:prstGeom prst="rect">
            <a:avLst/>
          </a:prstGeom>
          <a:noFill/>
        </p:spPr>
        <p:txBody>
          <a:bodyPr wrap="square" rtlCol="0" anchor="t"/>
          <a:p>
            <a:pPr algn="ctr">
              <a:lnSpc>
                <a:spcPct val="150000"/>
              </a:lnSpc>
            </a:pPr>
            <a:r>
              <a:rPr lang="zh-CN" altLang="en-US" sz="1600">
                <a:solidFill>
                  <a:schemeClr val="tx1"/>
                </a:solidFill>
                <a:latin typeface="微软雅黑 Light" panose="020B0502040204020203" pitchFamily="34" charset="-122"/>
                <a:ea typeface="微软雅黑 Light" panose="020B0502040204020203" pitchFamily="34" charset="-122"/>
                <a:sym typeface="+mn-ea"/>
              </a:rPr>
              <a:t>通过将交易行为、用户画像、市场数据等转化为高维向量，利用相似性检索和异常检测技术识别潜在风险。</a:t>
            </a:r>
            <a:endParaRPr lang="zh-CN" altLang="en-US" sz="1600">
              <a:solidFill>
                <a:schemeClr val="tx1"/>
              </a:solidFill>
              <a:latin typeface="微软雅黑 Light" panose="020B0502040204020203" pitchFamily="34" charset="-122"/>
              <a:ea typeface="微软雅黑 Light" panose="020B0502040204020203" pitchFamily="34" charset="-122"/>
              <a:sym typeface="+mn-ea"/>
            </a:endParaRPr>
          </a:p>
        </p:txBody>
      </p:sp>
      <p:sp>
        <p:nvSpPr>
          <p:cNvPr id="1048613" name="文本框 13"/>
          <p:cNvSpPr txBox="1"/>
          <p:nvPr>
            <p:custDataLst>
              <p:tags r:id="rId14"/>
            </p:custDataLst>
          </p:nvPr>
        </p:nvSpPr>
        <p:spPr>
          <a:xfrm>
            <a:off x="977900" y="4283075"/>
            <a:ext cx="2552065" cy="460375"/>
          </a:xfrm>
          <a:prstGeom prst="rect">
            <a:avLst/>
          </a:prstGeom>
          <a:noFill/>
        </p:spPr>
        <p:txBody>
          <a:bodyPr wrap="square" rtlCol="0" anchor="t">
            <a:spAutoFit/>
          </a:bodyPr>
          <a:p>
            <a:r>
              <a:rPr lang="en-US" sz="2400" b="1" dirty="0">
                <a:solidFill>
                  <a:srgbClr val="383838"/>
                </a:solidFill>
                <a:latin typeface="+mj-ea"/>
                <a:ea typeface="+mj-ea"/>
                <a:cs typeface="Noto Sans SC" panose="020B0200000000000000" pitchFamily="34" charset="-120"/>
                <a:sym typeface="+mn-ea"/>
              </a:rPr>
              <a:t>(4) </a:t>
            </a:r>
            <a:r>
              <a:rPr lang="zh-CN" altLang="en-US" sz="2400" b="1" dirty="0">
                <a:solidFill>
                  <a:srgbClr val="383838"/>
                </a:solidFill>
                <a:latin typeface="+mj-ea"/>
                <a:ea typeface="+mj-ea"/>
                <a:cs typeface="Noto Sans SC" panose="020B0200000000000000" pitchFamily="34" charset="-120"/>
                <a:sym typeface="+mn-ea"/>
              </a:rPr>
              <a:t>金融风险检测</a:t>
            </a:r>
            <a:r>
              <a:rPr lang="en-US" sz="2400" b="1" dirty="0">
                <a:solidFill>
                  <a:srgbClr val="383838"/>
                </a:solidFill>
                <a:latin typeface="+mj-ea"/>
                <a:ea typeface="+mj-ea"/>
                <a:cs typeface="Noto Sans SC" panose="020B0200000000000000" pitchFamily="34" charset="-120"/>
                <a:sym typeface="+mn-ea"/>
              </a:rPr>
              <a:t> </a:t>
            </a:r>
            <a:endParaRPr lang="en-US" altLang="en-US" sz="2400" b="1" dirty="0">
              <a:solidFill>
                <a:srgbClr val="383838"/>
              </a:solidFill>
              <a:latin typeface="+mj-ea"/>
              <a:ea typeface="+mj-ea"/>
              <a:cs typeface="Noto Sans SC" panose="020B0200000000000000" pitchFamily="34" charset="-120"/>
              <a:sym typeface="+mn-ea"/>
            </a:endParaRPr>
          </a:p>
        </p:txBody>
      </p:sp>
      <p:sp>
        <p:nvSpPr>
          <p:cNvPr id="1048614" name="Text 0"/>
          <p:cNvSpPr/>
          <p:nvPr>
            <p:custDataLst>
              <p:tags r:id="rId15"/>
            </p:custDataLst>
          </p:nvPr>
        </p:nvSpPr>
        <p:spPr>
          <a:xfrm>
            <a:off x="4152265" y="5661025"/>
            <a:ext cx="3547745" cy="1358900"/>
          </a:xfrm>
          <a:prstGeom prst="rect">
            <a:avLst/>
          </a:prstGeom>
          <a:noFill/>
        </p:spPr>
        <p:txBody>
          <a:bodyPr wrap="square" rtlCol="0" anchor="t"/>
          <a:p>
            <a:pPr algn="ctr">
              <a:lnSpc>
                <a:spcPct val="150000"/>
              </a:lnSpc>
            </a:pPr>
            <a:r>
              <a:rPr lang="zh-CN" altLang="en-US" sz="1600">
                <a:solidFill>
                  <a:schemeClr val="tx1"/>
                </a:solidFill>
                <a:latin typeface="微软雅黑 Light" panose="020B0502040204020203" pitchFamily="34" charset="-122"/>
                <a:ea typeface="微软雅黑 Light" panose="020B0502040204020203" pitchFamily="34" charset="-122"/>
                <a:sym typeface="+mn-ea"/>
              </a:rPr>
              <a:t>通过将用户行为、社交关系、内容偏好等转化为高维向量，实现精准匹配、聚类和推荐。</a:t>
            </a:r>
            <a:endParaRPr lang="zh-CN" altLang="en-US" sz="1600">
              <a:solidFill>
                <a:schemeClr val="tx1"/>
              </a:solidFill>
              <a:latin typeface="微软雅黑 Light" panose="020B0502040204020203" pitchFamily="34" charset="-122"/>
              <a:ea typeface="微软雅黑 Light" panose="020B0502040204020203" pitchFamily="34" charset="-122"/>
              <a:sym typeface="+mn-ea"/>
            </a:endParaRPr>
          </a:p>
        </p:txBody>
      </p:sp>
      <p:sp>
        <p:nvSpPr>
          <p:cNvPr id="1048615" name="文本框 17"/>
          <p:cNvSpPr txBox="1"/>
          <p:nvPr>
            <p:custDataLst>
              <p:tags r:id="rId16"/>
            </p:custDataLst>
          </p:nvPr>
        </p:nvSpPr>
        <p:spPr>
          <a:xfrm>
            <a:off x="4700270" y="4305300"/>
            <a:ext cx="2020570" cy="460375"/>
          </a:xfrm>
          <a:prstGeom prst="rect">
            <a:avLst/>
          </a:prstGeom>
          <a:noFill/>
        </p:spPr>
        <p:txBody>
          <a:bodyPr wrap="square" rtlCol="0" anchor="t">
            <a:spAutoFit/>
          </a:bodyPr>
          <a:p>
            <a:r>
              <a:rPr lang="en-US" sz="2400" b="1" dirty="0">
                <a:solidFill>
                  <a:srgbClr val="383838"/>
                </a:solidFill>
                <a:latin typeface="+mj-ea"/>
                <a:ea typeface="+mj-ea"/>
                <a:cs typeface="Noto Sans SC" panose="020B0200000000000000" pitchFamily="34" charset="-120"/>
                <a:sym typeface="+mn-ea"/>
              </a:rPr>
              <a:t>(5) </a:t>
            </a:r>
            <a:r>
              <a:rPr lang="zh-CN" altLang="en-US" sz="2400" b="1" dirty="0">
                <a:solidFill>
                  <a:srgbClr val="383838"/>
                </a:solidFill>
                <a:latin typeface="+mj-ea"/>
                <a:ea typeface="+mj-ea"/>
                <a:cs typeface="Noto Sans SC" panose="020B0200000000000000" pitchFamily="34" charset="-120"/>
                <a:sym typeface="+mn-ea"/>
              </a:rPr>
              <a:t>社交网络</a:t>
            </a:r>
            <a:r>
              <a:rPr lang="en-US" sz="2400" b="1" dirty="0">
                <a:solidFill>
                  <a:srgbClr val="383838"/>
                </a:solidFill>
                <a:latin typeface="+mj-ea"/>
                <a:ea typeface="+mj-ea"/>
                <a:cs typeface="Noto Sans SC" panose="020B0200000000000000" pitchFamily="34" charset="-120"/>
                <a:sym typeface="+mn-ea"/>
              </a:rPr>
              <a:t> </a:t>
            </a:r>
            <a:endParaRPr lang="en-US" altLang="en-US" sz="2400" b="1" dirty="0">
              <a:solidFill>
                <a:srgbClr val="383838"/>
              </a:solidFill>
              <a:latin typeface="+mj-ea"/>
              <a:ea typeface="+mj-ea"/>
              <a:cs typeface="Noto Sans SC" panose="020B0200000000000000" pitchFamily="34" charset="-120"/>
              <a:sym typeface="+mn-ea"/>
            </a:endParaRPr>
          </a:p>
        </p:txBody>
      </p:sp>
      <p:sp>
        <p:nvSpPr>
          <p:cNvPr id="1048616" name="Text 0"/>
          <p:cNvSpPr/>
          <p:nvPr>
            <p:custDataLst>
              <p:tags r:id="rId17"/>
            </p:custDataLst>
          </p:nvPr>
        </p:nvSpPr>
        <p:spPr>
          <a:xfrm>
            <a:off x="7882255" y="5673725"/>
            <a:ext cx="3547745" cy="1358900"/>
          </a:xfrm>
          <a:prstGeom prst="rect">
            <a:avLst/>
          </a:prstGeom>
          <a:noFill/>
        </p:spPr>
        <p:txBody>
          <a:bodyPr wrap="square" rtlCol="0" anchor="t"/>
          <a:p>
            <a:pPr algn="ctr">
              <a:lnSpc>
                <a:spcPct val="150000"/>
              </a:lnSpc>
            </a:pPr>
            <a:r>
              <a:rPr lang="zh-CN" altLang="en-US" sz="1600">
                <a:solidFill>
                  <a:schemeClr val="tx1"/>
                </a:solidFill>
                <a:latin typeface="微软雅黑 Light" panose="020B0502040204020203" pitchFamily="34" charset="-122"/>
                <a:ea typeface="微软雅黑 Light" panose="020B0502040204020203" pitchFamily="34" charset="-122"/>
                <a:sym typeface="+mn-ea"/>
              </a:rPr>
              <a:t>通过将分子结构、基因序列、蛋白质相互作用等转化为高维向量，实现高效相似性检索和模式发现。</a:t>
            </a:r>
            <a:endParaRPr lang="zh-CN" altLang="en-US" sz="1600">
              <a:solidFill>
                <a:schemeClr val="tx1"/>
              </a:solidFill>
              <a:latin typeface="微软雅黑 Light" panose="020B0502040204020203" pitchFamily="34" charset="-122"/>
              <a:ea typeface="微软雅黑 Light" panose="020B0502040204020203" pitchFamily="34" charset="-122"/>
              <a:sym typeface="+mn-ea"/>
            </a:endParaRPr>
          </a:p>
        </p:txBody>
      </p:sp>
      <p:sp>
        <p:nvSpPr>
          <p:cNvPr id="1048617" name="文本框 26"/>
          <p:cNvSpPr txBox="1"/>
          <p:nvPr>
            <p:custDataLst>
              <p:tags r:id="rId18"/>
            </p:custDataLst>
          </p:nvPr>
        </p:nvSpPr>
        <p:spPr>
          <a:xfrm>
            <a:off x="8121650" y="4305300"/>
            <a:ext cx="2843530" cy="460375"/>
          </a:xfrm>
          <a:prstGeom prst="rect">
            <a:avLst/>
          </a:prstGeom>
          <a:noFill/>
        </p:spPr>
        <p:txBody>
          <a:bodyPr wrap="square" rtlCol="0" anchor="t">
            <a:spAutoFit/>
          </a:bodyPr>
          <a:p>
            <a:r>
              <a:rPr lang="en-US" sz="2400" b="1" dirty="0">
                <a:solidFill>
                  <a:srgbClr val="383838"/>
                </a:solidFill>
                <a:latin typeface="+mj-ea"/>
                <a:ea typeface="+mj-ea"/>
                <a:cs typeface="Noto Sans SC" panose="020B0200000000000000" pitchFamily="34" charset="-120"/>
                <a:sym typeface="+mn-ea"/>
              </a:rPr>
              <a:t>(6) </a:t>
            </a:r>
            <a:r>
              <a:rPr lang="zh-CN" altLang="en-US" sz="2400" b="1" dirty="0">
                <a:solidFill>
                  <a:srgbClr val="383838"/>
                </a:solidFill>
                <a:latin typeface="+mj-ea"/>
                <a:ea typeface="+mj-ea"/>
                <a:cs typeface="Noto Sans SC" panose="020B0200000000000000" pitchFamily="34" charset="-120"/>
                <a:sym typeface="+mn-ea"/>
              </a:rPr>
              <a:t>生物信息与化学</a:t>
            </a:r>
            <a:r>
              <a:rPr lang="en-US" sz="2400" b="1" dirty="0">
                <a:solidFill>
                  <a:srgbClr val="383838"/>
                </a:solidFill>
                <a:latin typeface="+mj-ea"/>
                <a:ea typeface="+mj-ea"/>
                <a:cs typeface="Noto Sans SC" panose="020B0200000000000000" pitchFamily="34" charset="-120"/>
                <a:sym typeface="+mn-ea"/>
              </a:rPr>
              <a:t> </a:t>
            </a:r>
            <a:endParaRPr lang="en-US" altLang="en-US" sz="2400" b="1" dirty="0">
              <a:solidFill>
                <a:srgbClr val="383838"/>
              </a:solidFill>
              <a:latin typeface="+mj-ea"/>
              <a:ea typeface="+mj-ea"/>
              <a:cs typeface="Noto Sans SC" panose="020B0200000000000000" pitchFamily="34" charset="-120"/>
              <a:sym typeface="+mn-ea"/>
            </a:endParaRPr>
          </a:p>
        </p:txBody>
      </p:sp>
      <p:pic>
        <p:nvPicPr>
          <p:cNvPr id="2097167" name="图片 27" descr="生成自然语言处理卡通图片"/>
          <p:cNvPicPr>
            <a:picLocks noChangeAspect="1"/>
          </p:cNvPicPr>
          <p:nvPr>
            <p:custDataLst>
              <p:tags r:id="rId19"/>
            </p:custDataLst>
          </p:nvPr>
        </p:nvPicPr>
        <p:blipFill>
          <a:blip r:embed="rId20"/>
          <a:stretch>
            <a:fillRect/>
          </a:stretch>
        </p:blipFill>
        <p:spPr>
          <a:xfrm>
            <a:off x="1631950" y="4765675"/>
            <a:ext cx="894715" cy="894715"/>
          </a:xfrm>
          <a:prstGeom prst="rect">
            <a:avLst/>
          </a:prstGeom>
        </p:spPr>
      </p:pic>
      <p:pic>
        <p:nvPicPr>
          <p:cNvPr id="2097168" name="图片 28" descr="Unknown-2"/>
          <p:cNvPicPr>
            <a:picLocks noChangeAspect="1"/>
          </p:cNvPicPr>
          <p:nvPr>
            <p:custDataLst>
              <p:tags r:id="rId21"/>
            </p:custDataLst>
          </p:nvPr>
        </p:nvPicPr>
        <p:blipFill>
          <a:blip r:embed="rId22"/>
          <a:stretch>
            <a:fillRect/>
          </a:stretch>
        </p:blipFill>
        <p:spPr>
          <a:xfrm>
            <a:off x="5257800" y="4765675"/>
            <a:ext cx="868680" cy="868680"/>
          </a:xfrm>
          <a:prstGeom prst="rect">
            <a:avLst/>
          </a:prstGeom>
        </p:spPr>
      </p:pic>
      <p:pic>
        <p:nvPicPr>
          <p:cNvPr id="2097169" name="图片 29"/>
          <p:cNvPicPr/>
          <p:nvPr>
            <p:custDataLst>
              <p:tags r:id="rId23"/>
            </p:custDataLst>
          </p:nvPr>
        </p:nvPicPr>
        <p:blipFill>
          <a:blip r:embed="rId24"/>
          <a:stretch>
            <a:fillRect/>
          </a:stretch>
        </p:blipFill>
        <p:spPr>
          <a:xfrm>
            <a:off x="8904605" y="4779010"/>
            <a:ext cx="815975" cy="8813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8640" y="1673352"/>
            <a:ext cx="10881360" cy="18288"/>
          </a:xfrm>
          <a:prstGeom prst="rect">
            <a:avLst/>
          </a:prstGeom>
          <a:solidFill>
            <a:srgbClr val="E2E2E2"/>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2"/>
          <p:cNvSpPr txBox="1"/>
          <p:nvPr/>
        </p:nvSpPr>
        <p:spPr>
          <a:xfrm>
            <a:off x="1508760" y="1024128"/>
            <a:ext cx="9692640" cy="521970"/>
          </a:xfrm>
          <a:prstGeom prst="rect">
            <a:avLst/>
          </a:prstGeom>
          <a:noFill/>
        </p:spPr>
        <p:txBody>
          <a:bodyPr wrap="square">
            <a:spAutoFit/>
          </a:bodyPr>
          <a:lstStyle/>
          <a:p>
            <a:pPr>
              <a:defRPr sz="2600" b="0">
                <a:solidFill>
                  <a:srgbClr val="414141"/>
                </a:solidFill>
                <a:latin typeface="微软雅黑" panose="020B0503020204020204" charset="-122"/>
              </a:defRPr>
            </a:pPr>
            <a:r>
              <a:rPr sz="2800" dirty="0" err="1">
                <a:solidFill>
                  <a:schemeClr val="tx1">
                    <a:lumMod val="75000"/>
                    <a:lumOff val="25000"/>
                  </a:schemeClr>
                </a:solidFill>
              </a:rPr>
              <a:t>研究</a:t>
            </a:r>
            <a:r>
              <a:rPr lang="zh-CN" altLang="en-US" sz="2800" dirty="0">
                <a:solidFill>
                  <a:schemeClr val="tx1">
                    <a:lumMod val="75000"/>
                    <a:lumOff val="25000"/>
                  </a:schemeClr>
                </a:solidFill>
              </a:rPr>
              <a:t>背景</a:t>
            </a:r>
            <a:r>
              <a:rPr sz="2800" dirty="0">
                <a:solidFill>
                  <a:schemeClr val="tx1">
                    <a:lumMod val="75000"/>
                    <a:lumOff val="25000"/>
                  </a:schemeClr>
                </a:solidFill>
              </a:rPr>
              <a:t> – </a:t>
            </a:r>
            <a:r>
              <a:rPr lang="zh-CN" altLang="en-US" sz="2800" dirty="0">
                <a:solidFill>
                  <a:schemeClr val="tx1">
                    <a:lumMod val="75000"/>
                    <a:lumOff val="25000"/>
                  </a:schemeClr>
                </a:solidFill>
              </a:rPr>
              <a:t>大语言模型的外部知识记忆</a:t>
            </a:r>
            <a:endParaRPr lang="zh-CN" altLang="en-US" sz="2800" dirty="0">
              <a:solidFill>
                <a:schemeClr val="tx1">
                  <a:lumMod val="75000"/>
                  <a:lumOff val="25000"/>
                </a:schemeClr>
              </a:solidFill>
            </a:endParaRPr>
          </a:p>
        </p:txBody>
      </p:sp>
      <p:sp>
        <p:nvSpPr>
          <p:cNvPr id="82" name="标题 3"/>
          <p:cNvSpPr txBox="1"/>
          <p:nvPr/>
        </p:nvSpPr>
        <p:spPr>
          <a:xfrm>
            <a:off x="551384" y="980728"/>
            <a:ext cx="730424" cy="555464"/>
          </a:xfrm>
          <a:prstGeom prst="rect">
            <a:avLst/>
          </a:prstGeom>
          <a:solidFill>
            <a:srgbClr val="1588C7"/>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pPr>
            <a:r>
              <a:rPr lang="en-US" altLang="zh-CN" sz="3200" b="1" dirty="0">
                <a:solidFill>
                  <a:schemeClr val="bg1"/>
                </a:solidFill>
                <a:latin typeface="微软雅黑" panose="020B0503020204020204" charset="-122"/>
                <a:ea typeface="微软雅黑" panose="020B0503020204020204" charset="-122"/>
              </a:rPr>
              <a:t>01</a:t>
            </a:r>
            <a:endParaRPr lang="zh-CN" altLang="en-US" sz="3200" b="1" dirty="0">
              <a:solidFill>
                <a:schemeClr val="bg1"/>
              </a:solidFill>
              <a:latin typeface="微软雅黑" panose="020B0503020204020204" charset="-122"/>
              <a:ea typeface="微软雅黑" panose="020B0503020204020204" charset="-122"/>
            </a:endParaRPr>
          </a:p>
        </p:txBody>
      </p:sp>
      <p:sp>
        <p:nvSpPr>
          <p:cNvPr id="49" name="灯片编号占位符 48"/>
          <p:cNvSpPr>
            <a:spLocks noGrp="1"/>
          </p:cNvSpPr>
          <p:nvPr>
            <p:ph type="sldNum" sz="quarter" idx="12"/>
          </p:nvPr>
        </p:nvSpPr>
        <p:spPr>
          <a:xfrm>
            <a:off x="9336360" y="6401435"/>
            <a:ext cx="2743200" cy="365125"/>
          </a:xfrm>
        </p:spPr>
        <p:txBody>
          <a:bodyPr/>
          <a:lstStyle/>
          <a:p>
            <a:pPr>
              <a:defRPr/>
            </a:pPr>
            <a:fld id="{6A90D09A-ED5D-47CC-A45F-D492BA9A6C1B}" type="slidenum">
              <a:rPr lang="en-US" altLang="zh-CN" smtClean="0"/>
            </a:fld>
            <a:endParaRPr lang="en-US" altLang="zh-CN" dirty="0"/>
          </a:p>
        </p:txBody>
      </p:sp>
      <p:sp>
        <p:nvSpPr>
          <p:cNvPr id="3" name="文本框 2"/>
          <p:cNvSpPr txBox="1"/>
          <p:nvPr/>
        </p:nvSpPr>
        <p:spPr>
          <a:xfrm>
            <a:off x="407670" y="5157470"/>
            <a:ext cx="2978150" cy="1568450"/>
          </a:xfrm>
          <a:prstGeom prst="rect">
            <a:avLst/>
          </a:prstGeom>
        </p:spPr>
        <p:txBody>
          <a:bodyPr>
            <a:noAutofit/>
          </a:bodyPr>
          <a:p>
            <a:pPr marL="342900" indent="-342900">
              <a:spcBef>
                <a:spcPts val="1000"/>
              </a:spcBef>
              <a:spcAft>
                <a:spcPts val="1000"/>
              </a:spcAft>
              <a:buFont typeface="Arial" panose="020B0604020202020204" pitchFamily="34" charset="0"/>
              <a:buChar char="•"/>
            </a:pPr>
            <a:r>
              <a:rPr lang="zh-CN" altLang="en-US">
                <a:solidFill>
                  <a:schemeClr val="tx1"/>
                </a:solidFill>
              </a:rPr>
              <a:t>弥补模型知识边界</a:t>
            </a:r>
            <a:endParaRPr lang="zh-CN" altLang="en-US">
              <a:solidFill>
                <a:schemeClr val="tx1"/>
              </a:solidFill>
            </a:endParaRPr>
          </a:p>
          <a:p>
            <a:pPr marL="342900" indent="-342900">
              <a:spcBef>
                <a:spcPts val="1000"/>
              </a:spcBef>
              <a:spcAft>
                <a:spcPts val="1000"/>
              </a:spcAft>
              <a:buFont typeface="Arial" panose="020B0604020202020204" pitchFamily="34" charset="0"/>
              <a:buChar char="•"/>
            </a:pPr>
            <a:r>
              <a:rPr lang="zh-CN" altLang="en-US">
                <a:solidFill>
                  <a:schemeClr val="tx1"/>
                </a:solidFill>
              </a:rPr>
              <a:t>支撑 </a:t>
            </a:r>
            <a:r>
              <a:rPr lang="en-US" altLang="zh-CN">
                <a:solidFill>
                  <a:schemeClr val="tx1"/>
                </a:solidFill>
              </a:rPr>
              <a:t>RAG </a:t>
            </a:r>
            <a:r>
              <a:rPr lang="zh-CN" altLang="en-US">
                <a:solidFill>
                  <a:schemeClr val="tx1"/>
                </a:solidFill>
              </a:rPr>
              <a:t>应用范式</a:t>
            </a:r>
            <a:endParaRPr lang="zh-CN" altLang="en-US">
              <a:solidFill>
                <a:schemeClr val="tx1"/>
              </a:solidFill>
            </a:endParaRPr>
          </a:p>
          <a:p>
            <a:pPr marL="342900" indent="-342900">
              <a:spcBef>
                <a:spcPts val="1000"/>
              </a:spcBef>
              <a:spcAft>
                <a:spcPts val="1000"/>
              </a:spcAft>
              <a:buFont typeface="Arial" panose="020B0604020202020204" pitchFamily="34" charset="0"/>
              <a:buChar char="•"/>
            </a:pPr>
            <a:r>
              <a:rPr lang="zh-CN" altLang="en-US">
                <a:solidFill>
                  <a:schemeClr val="tx1"/>
                </a:solidFill>
              </a:rPr>
              <a:t>决定系统响应效率</a:t>
            </a:r>
            <a:endParaRPr lang="zh-CN" altLang="en-US">
              <a:solidFill>
                <a:schemeClr val="tx1"/>
              </a:solidFill>
            </a:endParaRPr>
          </a:p>
        </p:txBody>
      </p:sp>
      <p:pic>
        <p:nvPicPr>
          <p:cNvPr id="2" name="图片 1" descr="LLM.drawi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9425" y="1916430"/>
            <a:ext cx="10702925" cy="27851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01</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16" y="1052736"/>
            <a:ext cx="9422704" cy="521970"/>
          </a:xfrm>
          <a:prstGeom prst="rect">
            <a:avLst/>
          </a:prstGeom>
          <a:noFill/>
        </p:spPr>
        <p:txBody>
          <a:bodyPr wrap="square">
            <a:spAutoFit/>
          </a:bodyPr>
          <a:lstStyle/>
          <a:p>
            <a:r>
              <a:rPr lang="zh-CN" altLang="en-US" sz="2800" dirty="0">
                <a:solidFill>
                  <a:schemeClr val="tx1">
                    <a:lumMod val="75000"/>
                    <a:lumOff val="25000"/>
                  </a:schemeClr>
                </a:solidFill>
              </a:rPr>
              <a:t>研究背景 </a:t>
            </a:r>
            <a:r>
              <a:rPr lang="en-US" altLang="zh-CN" sz="2800" dirty="0">
                <a:solidFill>
                  <a:schemeClr val="tx1">
                    <a:lumMod val="75000"/>
                    <a:lumOff val="25000"/>
                  </a:schemeClr>
                </a:solidFill>
              </a:rPr>
              <a:t>– </a:t>
            </a:r>
            <a:r>
              <a:rPr lang="zh-CN" altLang="en-US" sz="2800" dirty="0">
                <a:solidFill>
                  <a:schemeClr val="tx1">
                    <a:lumMod val="75000"/>
                    <a:lumOff val="25000"/>
                  </a:schemeClr>
                </a:solidFill>
              </a:rPr>
              <a:t>动态更新实时性</a:t>
            </a:r>
            <a:endParaRPr lang="zh-CN" altLang="en-US"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sp>
        <p:nvSpPr>
          <p:cNvPr id="1048628" name="文本框 1"/>
          <p:cNvSpPr txBox="1"/>
          <p:nvPr/>
        </p:nvSpPr>
        <p:spPr>
          <a:xfrm>
            <a:off x="983615" y="1637030"/>
            <a:ext cx="9371965" cy="1014730"/>
          </a:xfrm>
          <a:prstGeom prst="rect">
            <a:avLst/>
          </a:prstGeom>
        </p:spPr>
        <p:txBody>
          <a:bodyPr wrap="square">
            <a:spAutoFit/>
          </a:bodyPr>
          <a:p>
            <a:pPr marL="0" indent="0" algn="just" defTabSz="266700">
              <a:lnSpc>
                <a:spcPct val="150000"/>
              </a:lnSpc>
              <a:spcBef>
                <a:spcPct val="0"/>
              </a:spcBef>
              <a:spcAft>
                <a:spcPct val="0"/>
              </a:spcAft>
            </a:pPr>
            <a:r>
              <a:rPr lang="zh-CN" altLang="en-US" dirty="0">
                <a:solidFill>
                  <a:schemeClr val="tx1"/>
                </a:solidFill>
                <a:latin typeface="Segoe UI Light" panose="020B0502040204020203" pitchFamily="34" charset="0"/>
                <a:ea typeface="微软雅黑 Light" panose="020B0502040204020203" pitchFamily="34" charset="-122"/>
              </a:rPr>
              <a:t>根据Visa技术报告，Visa 的实时欺诈检测系统延迟要求&lt;10ms，否则会导致交易失败率上升</a:t>
            </a:r>
            <a:endParaRPr lang="zh-CN" altLang="en-US" dirty="0">
              <a:solidFill>
                <a:schemeClr val="tx1"/>
              </a:solidFill>
              <a:latin typeface="Segoe UI Light" panose="020B0502040204020203" pitchFamily="34" charset="0"/>
              <a:ea typeface="微软雅黑 Light" panose="020B0502040204020203" pitchFamily="34" charset="-122"/>
            </a:endParaRPr>
          </a:p>
        </p:txBody>
      </p:sp>
      <p:sp>
        <p:nvSpPr>
          <p:cNvPr id="1048629" name="矩形 3"/>
          <p:cNvSpPr/>
          <p:nvPr/>
        </p:nvSpPr>
        <p:spPr>
          <a:xfrm>
            <a:off x="583873" y="1897662"/>
            <a:ext cx="256882" cy="251692"/>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400" dirty="0">
              <a:latin typeface="思源黑体" panose="020B0500000000000000" pitchFamily="34" charset="-122"/>
              <a:ea typeface="思源黑体" panose="020B0500000000000000" pitchFamily="34" charset="-122"/>
            </a:endParaRPr>
          </a:p>
        </p:txBody>
      </p:sp>
      <p:sp>
        <p:nvSpPr>
          <p:cNvPr id="1048630" name="文本框 4"/>
          <p:cNvSpPr txBox="1"/>
          <p:nvPr/>
        </p:nvSpPr>
        <p:spPr>
          <a:xfrm>
            <a:off x="983615" y="2781935"/>
            <a:ext cx="9371965" cy="1014730"/>
          </a:xfrm>
          <a:prstGeom prst="rect">
            <a:avLst/>
          </a:prstGeom>
        </p:spPr>
        <p:txBody>
          <a:bodyPr wrap="square">
            <a:spAutoFit/>
          </a:bodyPr>
          <a:p>
            <a:pPr marL="0" indent="0" algn="just" defTabSz="266700">
              <a:lnSpc>
                <a:spcPct val="150000"/>
              </a:lnSpc>
              <a:spcBef>
                <a:spcPct val="0"/>
              </a:spcBef>
              <a:spcAft>
                <a:spcPct val="0"/>
              </a:spcAft>
            </a:pPr>
            <a:r>
              <a:rPr lang="zh-CN" altLang="en-US" dirty="0">
                <a:solidFill>
                  <a:schemeClr val="tx1"/>
                </a:solidFill>
                <a:latin typeface="Segoe UI Light" panose="020B0502040204020203" pitchFamily="34" charset="0"/>
                <a:ea typeface="微软雅黑 Light" panose="020B0502040204020203" pitchFamily="34" charset="-122"/>
                <a:sym typeface="+mn-ea"/>
              </a:rPr>
              <a:t>Twitter的工程师报告中提到</a:t>
            </a:r>
            <a:r>
              <a:rPr lang="en-US" altLang="zh-CN" dirty="0">
                <a:solidFill>
                  <a:schemeClr val="tx1"/>
                </a:solidFill>
                <a:latin typeface="Segoe UI Light" panose="020B0502040204020203" pitchFamily="34" charset="0"/>
                <a:ea typeface="微软雅黑 Light" panose="020B0502040204020203" pitchFamily="34" charset="-122"/>
                <a:sym typeface="+mn-ea"/>
              </a:rPr>
              <a:t>，</a:t>
            </a:r>
            <a:r>
              <a:rPr lang="zh-CN" altLang="en-US" dirty="0">
                <a:solidFill>
                  <a:schemeClr val="tx1"/>
                </a:solidFill>
                <a:latin typeface="Segoe UI Light" panose="020B0502040204020203" pitchFamily="34" charset="0"/>
                <a:ea typeface="微软雅黑 Light" panose="020B0502040204020203" pitchFamily="34" charset="-122"/>
              </a:rPr>
              <a:t>Twitter的实时推荐系统每天更新超过50亿次用户兴趣向量</a:t>
            </a:r>
            <a:endParaRPr lang="zh-CN" altLang="en-US" dirty="0">
              <a:solidFill>
                <a:schemeClr val="tx1"/>
              </a:solidFill>
              <a:latin typeface="Segoe UI Light" panose="020B0502040204020203" pitchFamily="34" charset="0"/>
              <a:ea typeface="微软雅黑 Light" panose="020B0502040204020203" pitchFamily="34" charset="-122"/>
            </a:endParaRPr>
          </a:p>
        </p:txBody>
      </p:sp>
      <p:sp>
        <p:nvSpPr>
          <p:cNvPr id="1048631" name="矩形 5"/>
          <p:cNvSpPr/>
          <p:nvPr/>
        </p:nvSpPr>
        <p:spPr>
          <a:xfrm>
            <a:off x="583873" y="3042567"/>
            <a:ext cx="256882" cy="251692"/>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400" dirty="0">
              <a:latin typeface="思源黑体" panose="020B0500000000000000" pitchFamily="34" charset="-122"/>
              <a:ea typeface="思源黑体" panose="020B0500000000000000" pitchFamily="34" charset="-122"/>
            </a:endParaRPr>
          </a:p>
        </p:txBody>
      </p:sp>
      <p:sp>
        <p:nvSpPr>
          <p:cNvPr id="1048632" name="文本框 17"/>
          <p:cNvSpPr txBox="1"/>
          <p:nvPr/>
        </p:nvSpPr>
        <p:spPr>
          <a:xfrm>
            <a:off x="8256270" y="4509135"/>
            <a:ext cx="3775710" cy="1014730"/>
          </a:xfrm>
          <a:prstGeom prst="rect">
            <a:avLst/>
          </a:prstGeom>
          <a:noFill/>
        </p:spPr>
        <p:txBody>
          <a:bodyPr wrap="square" rtlCol="0" anchor="t">
            <a:spAutoFit/>
          </a:bodyPr>
          <a:p>
            <a:pPr algn="l" fontAlgn="auto">
              <a:spcBef>
                <a:spcPts val="1000"/>
              </a:spcBef>
              <a:buClrTx/>
              <a:buSzTx/>
              <a:buFontTx/>
            </a:pPr>
            <a:r>
              <a:rPr lang="zh-CN" altLang="en-US" dirty="0">
                <a:solidFill>
                  <a:schemeClr val="tx1">
                    <a:lumMod val="75000"/>
                    <a:lumOff val="25000"/>
                  </a:schemeClr>
                </a:solidFill>
                <a:sym typeface="+mn-ea"/>
              </a:rPr>
              <a:t>这使得现有应用对向量数据库的</a:t>
            </a:r>
            <a:r>
              <a:rPr lang="zh-CN" altLang="en-US" dirty="0">
                <a:solidFill>
                  <a:srgbClr val="FF0000"/>
                </a:solidFill>
                <a:sym typeface="+mn-ea"/>
              </a:rPr>
              <a:t>读写混合的动态场景</a:t>
            </a:r>
            <a:r>
              <a:rPr lang="zh-CN" altLang="en-US" dirty="0">
                <a:solidFill>
                  <a:schemeClr val="tx1">
                    <a:lumMod val="75000"/>
                    <a:lumOff val="25000"/>
                  </a:schemeClr>
                </a:solidFill>
                <a:sym typeface="+mn-ea"/>
              </a:rPr>
              <a:t>下的吞吐性能有较高的要求</a:t>
            </a:r>
            <a:endParaRPr lang="zh-CN" altLang="en-US" dirty="0">
              <a:solidFill>
                <a:schemeClr val="tx1">
                  <a:lumMod val="75000"/>
                  <a:lumOff val="25000"/>
                </a:schemeClr>
              </a:solidFill>
              <a:sym typeface="+mn-ea"/>
            </a:endParaRPr>
          </a:p>
        </p:txBody>
      </p:sp>
      <p:pic>
        <p:nvPicPr>
          <p:cNvPr id="2" name="图片 1" descr="instantly.drawi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9380" y="3845560"/>
            <a:ext cx="8027670" cy="22771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01</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16" y="1052736"/>
            <a:ext cx="9422704" cy="521970"/>
          </a:xfrm>
          <a:prstGeom prst="rect">
            <a:avLst/>
          </a:prstGeom>
          <a:noFill/>
        </p:spPr>
        <p:txBody>
          <a:bodyPr wrap="square">
            <a:spAutoFit/>
          </a:bodyPr>
          <a:lstStyle/>
          <a:p>
            <a:r>
              <a:rPr lang="zh-CN" altLang="en-US" sz="2800" dirty="0">
                <a:solidFill>
                  <a:schemeClr val="tx1">
                    <a:lumMod val="75000"/>
                    <a:lumOff val="25000"/>
                  </a:schemeClr>
                </a:solidFill>
              </a:rPr>
              <a:t>研究背景 </a:t>
            </a:r>
            <a:r>
              <a:rPr lang="en-US" altLang="zh-CN" sz="2800" dirty="0">
                <a:solidFill>
                  <a:schemeClr val="tx1">
                    <a:lumMod val="75000"/>
                    <a:lumOff val="25000"/>
                  </a:schemeClr>
                </a:solidFill>
              </a:rPr>
              <a:t>– </a:t>
            </a:r>
            <a:r>
              <a:rPr lang="zh-CN" altLang="en-US" sz="2800" dirty="0">
                <a:solidFill>
                  <a:schemeClr val="tx1">
                    <a:lumMod val="75000"/>
                    <a:lumOff val="25000"/>
                  </a:schemeClr>
                </a:solidFill>
                <a:sym typeface="+mn-ea"/>
              </a:rPr>
              <a:t>向量索引的内存占用测试</a:t>
            </a:r>
            <a:endParaRPr lang="zh-CN" altLang="en-US" sz="2800" dirty="0">
              <a:latin typeface="Segoe UI Light" panose="020B0502040204020203" pitchFamily="34" charset="0"/>
              <a:ea typeface="微软雅黑 Light" panose="020B0502040204020203" pitchFamily="34" charset="-122"/>
              <a:sym typeface="+mn-ea"/>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sp>
        <p:nvSpPr>
          <p:cNvPr id="2" name="文本框 1"/>
          <p:cNvSpPr txBox="1"/>
          <p:nvPr/>
        </p:nvSpPr>
        <p:spPr>
          <a:xfrm>
            <a:off x="191135" y="1988820"/>
            <a:ext cx="4707890" cy="3181985"/>
          </a:xfrm>
          <a:prstGeom prst="rect">
            <a:avLst/>
          </a:prstGeom>
          <a:noFill/>
        </p:spPr>
        <p:txBody>
          <a:bodyPr wrap="square" rtlCol="0">
            <a:spAutoFit/>
          </a:bodyPr>
          <a:p>
            <a:pPr algn="just" defTabSz="266700">
              <a:lnSpc>
                <a:spcPct val="150000"/>
              </a:lnSpc>
              <a:spcBef>
                <a:spcPts val="500"/>
              </a:spcBef>
              <a:buClrTx/>
              <a:buSzTx/>
              <a:buFontTx/>
            </a:pPr>
            <a:r>
              <a:rPr lang="zh-CN" altLang="en-US" dirty="0">
                <a:solidFill>
                  <a:schemeClr val="tx1"/>
                </a:solidFill>
                <a:latin typeface="Segoe UI Light" panose="020B0502040204020203" pitchFamily="34" charset="0"/>
                <a:ea typeface="微软雅黑 Light" panose="020B0502040204020203" pitchFamily="34" charset="-122"/>
              </a:rPr>
              <a:t>测试对象：</a:t>
            </a:r>
            <a:endParaRPr lang="zh-CN" altLang="en-US" dirty="0">
              <a:solidFill>
                <a:schemeClr val="tx1"/>
              </a:solidFill>
              <a:latin typeface="Segoe UI Light" panose="020B0502040204020203" pitchFamily="34" charset="0"/>
              <a:ea typeface="微软雅黑 Light" panose="020B0502040204020203" pitchFamily="34" charset="-122"/>
            </a:endParaRPr>
          </a:p>
          <a:p>
            <a:pPr algn="just" defTabSz="266700">
              <a:lnSpc>
                <a:spcPct val="150000"/>
              </a:lnSpc>
              <a:spcBef>
                <a:spcPts val="500"/>
              </a:spcBef>
              <a:buClrTx/>
              <a:buSzTx/>
              <a:buFontTx/>
            </a:pPr>
            <a:r>
              <a:rPr lang="en-US" altLang="zh-CN" dirty="0">
                <a:solidFill>
                  <a:schemeClr val="tx1"/>
                </a:solidFill>
                <a:latin typeface="Segoe UI Light" panose="020B0502040204020203" pitchFamily="34" charset="0"/>
                <a:ea typeface="微软雅黑 Light" panose="020B0502040204020203" pitchFamily="34" charset="-122"/>
              </a:rPr>
              <a:t>Vamana (NeurIPS 2019)</a:t>
            </a:r>
            <a:r>
              <a:rPr lang="zh-CN" altLang="en-US" dirty="0">
                <a:solidFill>
                  <a:schemeClr val="tx1"/>
                </a:solidFill>
                <a:latin typeface="Segoe UI Light" panose="020B0502040204020203" pitchFamily="34" charset="0"/>
                <a:ea typeface="微软雅黑 Light" panose="020B0502040204020203" pitchFamily="34" charset="-122"/>
              </a:rPr>
              <a:t>：in-memory</a:t>
            </a:r>
            <a:endParaRPr lang="zh-CN" altLang="en-US" dirty="0">
              <a:solidFill>
                <a:schemeClr val="tx1"/>
              </a:solidFill>
              <a:latin typeface="Segoe UI Light" panose="020B0502040204020203" pitchFamily="34" charset="0"/>
              <a:ea typeface="微软雅黑 Light" panose="020B0502040204020203" pitchFamily="34" charset="-122"/>
            </a:endParaRPr>
          </a:p>
          <a:p>
            <a:pPr algn="just" defTabSz="266700">
              <a:lnSpc>
                <a:spcPct val="150000"/>
              </a:lnSpc>
              <a:spcBef>
                <a:spcPts val="500"/>
              </a:spcBef>
              <a:buClrTx/>
              <a:buSzTx/>
              <a:buFontTx/>
            </a:pPr>
            <a:r>
              <a:rPr lang="zh-CN" altLang="en-US" dirty="0">
                <a:solidFill>
                  <a:schemeClr val="tx1"/>
                </a:solidFill>
                <a:latin typeface="Segoe UI Light" panose="020B0502040204020203" pitchFamily="34" charset="0"/>
                <a:ea typeface="微软雅黑 Light" panose="020B0502040204020203" pitchFamily="34" charset="-122"/>
              </a:rPr>
              <a:t>HNSW</a:t>
            </a:r>
            <a:r>
              <a:rPr lang="en-US" altLang="zh-CN" dirty="0">
                <a:solidFill>
                  <a:schemeClr val="tx1"/>
                </a:solidFill>
                <a:latin typeface="Segoe UI Light" panose="020B0502040204020203" pitchFamily="34" charset="0"/>
                <a:ea typeface="微软雅黑 Light" panose="020B0502040204020203" pitchFamily="34" charset="-122"/>
              </a:rPr>
              <a:t> (TPAMI 2020)</a:t>
            </a:r>
            <a:r>
              <a:rPr lang="zh-CN" altLang="en-US" dirty="0">
                <a:solidFill>
                  <a:schemeClr val="tx1"/>
                </a:solidFill>
                <a:latin typeface="Segoe UI Light" panose="020B0502040204020203" pitchFamily="34" charset="0"/>
                <a:ea typeface="微软雅黑 Light" panose="020B0502040204020203" pitchFamily="34" charset="-122"/>
              </a:rPr>
              <a:t>：in-memory</a:t>
            </a:r>
            <a:endParaRPr lang="zh-CN" altLang="en-US" dirty="0">
              <a:solidFill>
                <a:schemeClr val="tx1"/>
              </a:solidFill>
              <a:latin typeface="Segoe UI Light" panose="020B0502040204020203" pitchFamily="34" charset="0"/>
              <a:ea typeface="微软雅黑 Light" panose="020B0502040204020203" pitchFamily="34" charset="-122"/>
            </a:endParaRPr>
          </a:p>
          <a:p>
            <a:pPr algn="just" defTabSz="266700">
              <a:lnSpc>
                <a:spcPct val="150000"/>
              </a:lnSpc>
              <a:spcBef>
                <a:spcPts val="500"/>
              </a:spcBef>
              <a:buClrTx/>
              <a:buSzTx/>
              <a:buFontTx/>
            </a:pPr>
            <a:r>
              <a:rPr lang="zh-CN" altLang="en-US" dirty="0">
                <a:solidFill>
                  <a:schemeClr val="tx1"/>
                </a:solidFill>
                <a:latin typeface="Segoe UI Light" panose="020B0502040204020203" pitchFamily="34" charset="0"/>
                <a:ea typeface="微软雅黑 Light" panose="020B0502040204020203" pitchFamily="34" charset="-122"/>
              </a:rPr>
              <a:t>FreshDiskANN</a:t>
            </a:r>
            <a:r>
              <a:rPr lang="en-US" altLang="zh-CN" dirty="0">
                <a:solidFill>
                  <a:schemeClr val="tx1"/>
                </a:solidFill>
                <a:latin typeface="Segoe UI Light" panose="020B0502040204020203" pitchFamily="34" charset="0"/>
                <a:ea typeface="微软雅黑 Light" panose="020B0502040204020203" pitchFamily="34" charset="-122"/>
              </a:rPr>
              <a:t> (arXiv 2021)</a:t>
            </a:r>
            <a:r>
              <a:rPr lang="zh-CN" altLang="en-US" dirty="0">
                <a:solidFill>
                  <a:schemeClr val="tx1"/>
                </a:solidFill>
                <a:latin typeface="Segoe UI Light" panose="020B0502040204020203" pitchFamily="34" charset="0"/>
                <a:ea typeface="微软雅黑 Light" panose="020B0502040204020203" pitchFamily="34" charset="-122"/>
              </a:rPr>
              <a:t>：SSD</a:t>
            </a:r>
            <a:endParaRPr lang="zh-CN" altLang="en-US" dirty="0">
              <a:solidFill>
                <a:schemeClr val="tx1"/>
              </a:solidFill>
              <a:latin typeface="Segoe UI Light" panose="020B0502040204020203" pitchFamily="34" charset="0"/>
              <a:ea typeface="微软雅黑 Light" panose="020B0502040204020203" pitchFamily="34" charset="-122"/>
            </a:endParaRPr>
          </a:p>
          <a:p>
            <a:pPr algn="just" defTabSz="266700">
              <a:lnSpc>
                <a:spcPct val="150000"/>
              </a:lnSpc>
              <a:spcBef>
                <a:spcPts val="500"/>
              </a:spcBef>
              <a:buClrTx/>
              <a:buSzTx/>
              <a:buFontTx/>
            </a:pPr>
            <a:r>
              <a:rPr lang="zh-CN" altLang="en-US" dirty="0">
                <a:solidFill>
                  <a:schemeClr val="tx1"/>
                </a:solidFill>
                <a:latin typeface="Segoe UI Light" panose="020B0502040204020203" pitchFamily="34" charset="0"/>
                <a:ea typeface="微软雅黑 Light" panose="020B0502040204020203" pitchFamily="34" charset="-122"/>
              </a:rPr>
              <a:t>OdinANN</a:t>
            </a:r>
            <a:r>
              <a:rPr lang="en-US" altLang="zh-CN" dirty="0">
                <a:solidFill>
                  <a:schemeClr val="tx1"/>
                </a:solidFill>
                <a:latin typeface="Segoe UI Light" panose="020B0502040204020203" pitchFamily="34" charset="0"/>
                <a:ea typeface="微软雅黑 Light" panose="020B0502040204020203" pitchFamily="34" charset="-122"/>
              </a:rPr>
              <a:t> (FAST 2026)</a:t>
            </a:r>
            <a:r>
              <a:rPr lang="zh-CN" altLang="en-US" dirty="0">
                <a:solidFill>
                  <a:schemeClr val="tx1"/>
                </a:solidFill>
                <a:latin typeface="Segoe UI Light" panose="020B0502040204020203" pitchFamily="34" charset="0"/>
                <a:ea typeface="微软雅黑 Light" panose="020B0502040204020203" pitchFamily="34" charset="-122"/>
              </a:rPr>
              <a:t>：SSD</a:t>
            </a:r>
            <a:endParaRPr lang="zh-CN" altLang="en-US" dirty="0">
              <a:solidFill>
                <a:schemeClr val="tx1"/>
              </a:solidFill>
              <a:latin typeface="Segoe UI Light" panose="020B0502040204020203" pitchFamily="34" charset="0"/>
              <a:ea typeface="微软雅黑 Light" panose="020B0502040204020203" pitchFamily="34" charset="-122"/>
            </a:endParaRPr>
          </a:p>
          <a:p>
            <a:pPr algn="just" defTabSz="266700">
              <a:lnSpc>
                <a:spcPct val="150000"/>
              </a:lnSpc>
              <a:spcBef>
                <a:spcPts val="500"/>
              </a:spcBef>
              <a:buClrTx/>
              <a:buSzTx/>
              <a:buFontTx/>
            </a:pPr>
            <a:r>
              <a:rPr lang="zh-CN" altLang="en-US" dirty="0">
                <a:solidFill>
                  <a:schemeClr val="tx1"/>
                </a:solidFill>
                <a:latin typeface="Segoe UI Light" panose="020B0502040204020203" pitchFamily="34" charset="0"/>
                <a:ea typeface="微软雅黑 Light" panose="020B0502040204020203" pitchFamily="34" charset="-122"/>
              </a:rPr>
              <a:t>Shine</a:t>
            </a:r>
            <a:r>
              <a:rPr lang="en-US" altLang="zh-CN" dirty="0">
                <a:solidFill>
                  <a:schemeClr val="tx1"/>
                </a:solidFill>
                <a:latin typeface="Segoe UI Light" panose="020B0502040204020203" pitchFamily="34" charset="0"/>
                <a:ea typeface="微软雅黑 Light" panose="020B0502040204020203" pitchFamily="34" charset="-122"/>
              </a:rPr>
              <a:t> (</a:t>
            </a:r>
            <a:r>
              <a:rPr lang="en-US" altLang="zh-CN" dirty="0">
                <a:solidFill>
                  <a:schemeClr val="tx1"/>
                </a:solidFill>
                <a:latin typeface="Segoe UI Light" panose="020B0502040204020203" pitchFamily="34" charset="0"/>
                <a:ea typeface="微软雅黑 Light" panose="020B0502040204020203" pitchFamily="34" charset="-122"/>
                <a:sym typeface="+mn-ea"/>
              </a:rPr>
              <a:t>arXiv 2025</a:t>
            </a:r>
            <a:r>
              <a:rPr lang="en-US" altLang="zh-CN" dirty="0">
                <a:solidFill>
                  <a:schemeClr val="tx1"/>
                </a:solidFill>
                <a:latin typeface="Segoe UI Light" panose="020B0502040204020203" pitchFamily="34" charset="0"/>
                <a:ea typeface="微软雅黑 Light" panose="020B0502040204020203" pitchFamily="34" charset="-122"/>
              </a:rPr>
              <a:t>)</a:t>
            </a:r>
            <a:r>
              <a:rPr lang="zh-CN" altLang="en-US" dirty="0">
                <a:solidFill>
                  <a:schemeClr val="tx1"/>
                </a:solidFill>
                <a:latin typeface="Segoe UI Light" panose="020B0502040204020203" pitchFamily="34" charset="0"/>
                <a:ea typeface="微软雅黑 Light" panose="020B0502040204020203" pitchFamily="34" charset="-122"/>
              </a:rPr>
              <a:t>：存算分离</a:t>
            </a:r>
            <a:endParaRPr lang="zh-CN" altLang="en-US" dirty="0">
              <a:solidFill>
                <a:schemeClr val="tx1"/>
              </a:solidFill>
              <a:latin typeface="Segoe UI Light" panose="020B0502040204020203" pitchFamily="34" charset="0"/>
              <a:ea typeface="微软雅黑 Light" panose="020B0502040204020203" pitchFamily="34" charset="-122"/>
            </a:endParaRPr>
          </a:p>
        </p:txBody>
      </p:sp>
      <p:pic>
        <p:nvPicPr>
          <p:cNvPr id="3" name="图片 2" descr="微信图片_20260519020459_91_9"/>
          <p:cNvPicPr>
            <a:picLocks noChangeAspect="1"/>
          </p:cNvPicPr>
          <p:nvPr/>
        </p:nvPicPr>
        <p:blipFill>
          <a:blip r:embed="rId1"/>
          <a:stretch>
            <a:fillRect/>
          </a:stretch>
        </p:blipFill>
        <p:spPr>
          <a:xfrm>
            <a:off x="5153660" y="1772920"/>
            <a:ext cx="6816090" cy="4466590"/>
          </a:xfrm>
          <a:prstGeom prst="rect">
            <a:avLst/>
          </a:prstGeom>
        </p:spPr>
      </p:pic>
      <p:sp>
        <p:nvSpPr>
          <p:cNvPr id="5" name="文本框 4"/>
          <p:cNvSpPr txBox="1"/>
          <p:nvPr/>
        </p:nvSpPr>
        <p:spPr>
          <a:xfrm>
            <a:off x="191135" y="5733415"/>
            <a:ext cx="6096000" cy="706755"/>
          </a:xfrm>
          <a:prstGeom prst="rect">
            <a:avLst/>
          </a:prstGeom>
          <a:noFill/>
        </p:spPr>
        <p:txBody>
          <a:bodyPr wrap="square" rtlCol="0" anchor="t">
            <a:spAutoFit/>
          </a:bodyPr>
          <a:p>
            <a:r>
              <a:rPr lang="zh-CN" altLang="en-US" b="1" dirty="0">
                <a:latin typeface="Segoe UI Light" panose="020B0502040204020203" pitchFamily="34" charset="0"/>
                <a:ea typeface="微软雅黑 Light" panose="020B0502040204020203" pitchFamily="34" charset="-122"/>
                <a:sym typeface="+mn-ea"/>
              </a:rPr>
              <a:t>随着数据规模的增长</a:t>
            </a:r>
            <a:r>
              <a:rPr lang="en-US" altLang="zh-CN" b="1" dirty="0">
                <a:latin typeface="Segoe UI Light" panose="020B0502040204020203" pitchFamily="34" charset="0"/>
                <a:ea typeface="微软雅黑 Light" panose="020B0502040204020203" pitchFamily="34" charset="-122"/>
                <a:sym typeface="+mn-ea"/>
              </a:rPr>
              <a:t>，</a:t>
            </a:r>
            <a:r>
              <a:rPr lang="zh-CN" altLang="en-US" b="1" dirty="0">
                <a:latin typeface="Segoe UI Light" panose="020B0502040204020203" pitchFamily="34" charset="0"/>
                <a:ea typeface="微软雅黑 Light" panose="020B0502040204020203" pitchFamily="34" charset="-122"/>
                <a:sym typeface="+mn-ea"/>
              </a:rPr>
              <a:t>向量索引的内存占用在不断的扩大</a:t>
            </a:r>
            <a:endParaRPr lang="zh-CN" altLang="en-US" b="1" dirty="0">
              <a:latin typeface="Segoe UI Light" panose="020B0502040204020203" pitchFamily="34" charset="0"/>
              <a:ea typeface="微软雅黑 Light" panose="020B0502040204020203" pitchFamily="3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5664200" y="1916430"/>
            <a:ext cx="6546850" cy="4332605"/>
          </a:xfrm>
          <a:prstGeom prst="rect">
            <a:avLst/>
          </a:prstGeom>
        </p:spPr>
      </p:pic>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01</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16" y="1052736"/>
            <a:ext cx="9422704" cy="521970"/>
          </a:xfrm>
          <a:prstGeom prst="rect">
            <a:avLst/>
          </a:prstGeom>
          <a:noFill/>
        </p:spPr>
        <p:txBody>
          <a:bodyPr wrap="square">
            <a:spAutoFit/>
          </a:bodyPr>
          <a:lstStyle/>
          <a:p>
            <a:r>
              <a:rPr lang="zh-CN" altLang="en-US" sz="2800" dirty="0">
                <a:solidFill>
                  <a:schemeClr val="tx1">
                    <a:lumMod val="75000"/>
                    <a:lumOff val="25000"/>
                  </a:schemeClr>
                </a:solidFill>
              </a:rPr>
              <a:t>研究背景 </a:t>
            </a:r>
            <a:r>
              <a:rPr lang="en-US" altLang="zh-CN" sz="2800" dirty="0">
                <a:solidFill>
                  <a:schemeClr val="tx1">
                    <a:lumMod val="75000"/>
                    <a:lumOff val="25000"/>
                  </a:schemeClr>
                </a:solidFill>
              </a:rPr>
              <a:t>– </a:t>
            </a:r>
            <a:r>
              <a:rPr lang="zh-CN" altLang="en-US" sz="2800" dirty="0">
                <a:solidFill>
                  <a:schemeClr val="tx1">
                    <a:lumMod val="75000"/>
                    <a:lumOff val="25000"/>
                  </a:schemeClr>
                </a:solidFill>
                <a:sym typeface="+mn-ea"/>
              </a:rPr>
              <a:t>向量索引的动态更新测试</a:t>
            </a:r>
            <a:endParaRPr lang="zh-CN" altLang="en-US" sz="2800" dirty="0">
              <a:latin typeface="Segoe UI Light" panose="020B0502040204020203" pitchFamily="34" charset="0"/>
              <a:ea typeface="微软雅黑 Light" panose="020B0502040204020203" pitchFamily="34" charset="-122"/>
              <a:sym typeface="+mn-ea"/>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sp>
        <p:nvSpPr>
          <p:cNvPr id="2" name="文本框 1"/>
          <p:cNvSpPr txBox="1"/>
          <p:nvPr/>
        </p:nvSpPr>
        <p:spPr>
          <a:xfrm>
            <a:off x="191135" y="1916430"/>
            <a:ext cx="4707890" cy="3181985"/>
          </a:xfrm>
          <a:prstGeom prst="rect">
            <a:avLst/>
          </a:prstGeom>
          <a:noFill/>
        </p:spPr>
        <p:txBody>
          <a:bodyPr wrap="square" rtlCol="0">
            <a:spAutoFit/>
          </a:bodyPr>
          <a:p>
            <a:pPr algn="just" defTabSz="266700">
              <a:lnSpc>
                <a:spcPct val="150000"/>
              </a:lnSpc>
              <a:spcBef>
                <a:spcPts val="500"/>
              </a:spcBef>
              <a:buClrTx/>
              <a:buSzTx/>
              <a:buFontTx/>
            </a:pPr>
            <a:r>
              <a:rPr lang="zh-CN" altLang="en-US" dirty="0">
                <a:solidFill>
                  <a:schemeClr val="tx1"/>
                </a:solidFill>
                <a:latin typeface="Segoe UI Light" panose="020B0502040204020203" pitchFamily="34" charset="0"/>
                <a:ea typeface="微软雅黑 Light" panose="020B0502040204020203" pitchFamily="34" charset="-122"/>
                <a:sym typeface="+mn-ea"/>
              </a:rPr>
              <a:t>测试对象：</a:t>
            </a:r>
            <a:endParaRPr lang="zh-CN" altLang="en-US" dirty="0">
              <a:solidFill>
                <a:schemeClr val="tx1"/>
              </a:solidFill>
              <a:latin typeface="Segoe UI Light" panose="020B0502040204020203" pitchFamily="34" charset="0"/>
              <a:ea typeface="微软雅黑 Light" panose="020B0502040204020203" pitchFamily="34" charset="-122"/>
            </a:endParaRPr>
          </a:p>
          <a:p>
            <a:pPr algn="just" defTabSz="266700">
              <a:lnSpc>
                <a:spcPct val="150000"/>
              </a:lnSpc>
              <a:spcBef>
                <a:spcPts val="500"/>
              </a:spcBef>
              <a:buClrTx/>
              <a:buSzTx/>
              <a:buFontTx/>
            </a:pPr>
            <a:r>
              <a:rPr lang="en-US" altLang="zh-CN" dirty="0">
                <a:solidFill>
                  <a:schemeClr val="tx1"/>
                </a:solidFill>
                <a:latin typeface="Segoe UI Light" panose="020B0502040204020203" pitchFamily="34" charset="0"/>
                <a:ea typeface="微软雅黑 Light" panose="020B0502040204020203" pitchFamily="34" charset="-122"/>
                <a:sym typeface="+mn-ea"/>
              </a:rPr>
              <a:t>Vamana (NeurIPS 2019)</a:t>
            </a:r>
            <a:r>
              <a:rPr lang="zh-CN" altLang="en-US" dirty="0">
                <a:solidFill>
                  <a:schemeClr val="tx1"/>
                </a:solidFill>
                <a:latin typeface="Segoe UI Light" panose="020B0502040204020203" pitchFamily="34" charset="0"/>
                <a:ea typeface="微软雅黑 Light" panose="020B0502040204020203" pitchFamily="34" charset="-122"/>
                <a:sym typeface="+mn-ea"/>
              </a:rPr>
              <a:t>：in-memory</a:t>
            </a:r>
            <a:endParaRPr lang="zh-CN" altLang="en-US" dirty="0">
              <a:solidFill>
                <a:schemeClr val="tx1"/>
              </a:solidFill>
              <a:latin typeface="Segoe UI Light" panose="020B0502040204020203" pitchFamily="34" charset="0"/>
              <a:ea typeface="微软雅黑 Light" panose="020B0502040204020203" pitchFamily="34" charset="-122"/>
            </a:endParaRPr>
          </a:p>
          <a:p>
            <a:pPr algn="just" defTabSz="266700">
              <a:lnSpc>
                <a:spcPct val="150000"/>
              </a:lnSpc>
              <a:spcBef>
                <a:spcPts val="500"/>
              </a:spcBef>
              <a:buClrTx/>
              <a:buSzTx/>
              <a:buFontTx/>
            </a:pPr>
            <a:r>
              <a:rPr lang="zh-CN" altLang="en-US" dirty="0">
                <a:solidFill>
                  <a:schemeClr val="tx1"/>
                </a:solidFill>
                <a:latin typeface="Segoe UI Light" panose="020B0502040204020203" pitchFamily="34" charset="0"/>
                <a:ea typeface="微软雅黑 Light" panose="020B0502040204020203" pitchFamily="34" charset="-122"/>
                <a:sym typeface="+mn-ea"/>
              </a:rPr>
              <a:t>HNSW</a:t>
            </a:r>
            <a:r>
              <a:rPr lang="en-US" altLang="zh-CN" dirty="0">
                <a:solidFill>
                  <a:schemeClr val="tx1"/>
                </a:solidFill>
                <a:latin typeface="Segoe UI Light" panose="020B0502040204020203" pitchFamily="34" charset="0"/>
                <a:ea typeface="微软雅黑 Light" panose="020B0502040204020203" pitchFamily="34" charset="-122"/>
                <a:sym typeface="+mn-ea"/>
              </a:rPr>
              <a:t> (TPAMI 2020)</a:t>
            </a:r>
            <a:r>
              <a:rPr lang="zh-CN" altLang="en-US" dirty="0">
                <a:solidFill>
                  <a:schemeClr val="tx1"/>
                </a:solidFill>
                <a:latin typeface="Segoe UI Light" panose="020B0502040204020203" pitchFamily="34" charset="0"/>
                <a:ea typeface="微软雅黑 Light" panose="020B0502040204020203" pitchFamily="34" charset="-122"/>
                <a:sym typeface="+mn-ea"/>
              </a:rPr>
              <a:t>：in-memory</a:t>
            </a:r>
            <a:endParaRPr lang="zh-CN" altLang="en-US" dirty="0">
              <a:solidFill>
                <a:schemeClr val="tx1"/>
              </a:solidFill>
              <a:latin typeface="Segoe UI Light" panose="020B0502040204020203" pitchFamily="34" charset="0"/>
              <a:ea typeface="微软雅黑 Light" panose="020B0502040204020203" pitchFamily="34" charset="-122"/>
            </a:endParaRPr>
          </a:p>
          <a:p>
            <a:pPr algn="just" defTabSz="266700">
              <a:lnSpc>
                <a:spcPct val="150000"/>
              </a:lnSpc>
              <a:spcBef>
                <a:spcPts val="500"/>
              </a:spcBef>
              <a:buClrTx/>
              <a:buSzTx/>
              <a:buFontTx/>
            </a:pPr>
            <a:r>
              <a:rPr lang="zh-CN" altLang="en-US" dirty="0">
                <a:solidFill>
                  <a:schemeClr val="tx1"/>
                </a:solidFill>
                <a:latin typeface="Segoe UI Light" panose="020B0502040204020203" pitchFamily="34" charset="0"/>
                <a:ea typeface="微软雅黑 Light" panose="020B0502040204020203" pitchFamily="34" charset="-122"/>
                <a:sym typeface="+mn-ea"/>
              </a:rPr>
              <a:t>FreshDiskANN</a:t>
            </a:r>
            <a:r>
              <a:rPr lang="en-US" altLang="zh-CN" dirty="0">
                <a:solidFill>
                  <a:schemeClr val="tx1"/>
                </a:solidFill>
                <a:latin typeface="Segoe UI Light" panose="020B0502040204020203" pitchFamily="34" charset="0"/>
                <a:ea typeface="微软雅黑 Light" panose="020B0502040204020203" pitchFamily="34" charset="-122"/>
                <a:sym typeface="+mn-ea"/>
              </a:rPr>
              <a:t> (arXiv 2021)</a:t>
            </a:r>
            <a:r>
              <a:rPr lang="zh-CN" altLang="en-US" dirty="0">
                <a:solidFill>
                  <a:schemeClr val="tx1"/>
                </a:solidFill>
                <a:latin typeface="Segoe UI Light" panose="020B0502040204020203" pitchFamily="34" charset="0"/>
                <a:ea typeface="微软雅黑 Light" panose="020B0502040204020203" pitchFamily="34" charset="-122"/>
                <a:sym typeface="+mn-ea"/>
              </a:rPr>
              <a:t>：SSD</a:t>
            </a:r>
            <a:endParaRPr lang="zh-CN" altLang="en-US" dirty="0">
              <a:solidFill>
                <a:schemeClr val="tx1"/>
              </a:solidFill>
              <a:latin typeface="Segoe UI Light" panose="020B0502040204020203" pitchFamily="34" charset="0"/>
              <a:ea typeface="微软雅黑 Light" panose="020B0502040204020203" pitchFamily="34" charset="-122"/>
            </a:endParaRPr>
          </a:p>
          <a:p>
            <a:pPr algn="just" defTabSz="266700">
              <a:lnSpc>
                <a:spcPct val="150000"/>
              </a:lnSpc>
              <a:spcBef>
                <a:spcPts val="500"/>
              </a:spcBef>
              <a:buClrTx/>
              <a:buSzTx/>
              <a:buFontTx/>
            </a:pPr>
            <a:r>
              <a:rPr lang="zh-CN" altLang="en-US" dirty="0">
                <a:solidFill>
                  <a:schemeClr val="tx1"/>
                </a:solidFill>
                <a:latin typeface="Segoe UI Light" panose="020B0502040204020203" pitchFamily="34" charset="0"/>
                <a:ea typeface="微软雅黑 Light" panose="020B0502040204020203" pitchFamily="34" charset="-122"/>
                <a:sym typeface="+mn-ea"/>
              </a:rPr>
              <a:t>OdinANN</a:t>
            </a:r>
            <a:r>
              <a:rPr lang="en-US" altLang="zh-CN" dirty="0">
                <a:solidFill>
                  <a:schemeClr val="tx1"/>
                </a:solidFill>
                <a:latin typeface="Segoe UI Light" panose="020B0502040204020203" pitchFamily="34" charset="0"/>
                <a:ea typeface="微软雅黑 Light" panose="020B0502040204020203" pitchFamily="34" charset="-122"/>
                <a:sym typeface="+mn-ea"/>
              </a:rPr>
              <a:t> (FAST 2026)</a:t>
            </a:r>
            <a:r>
              <a:rPr lang="zh-CN" altLang="en-US" dirty="0">
                <a:solidFill>
                  <a:schemeClr val="tx1"/>
                </a:solidFill>
                <a:latin typeface="Segoe UI Light" panose="020B0502040204020203" pitchFamily="34" charset="0"/>
                <a:ea typeface="微软雅黑 Light" panose="020B0502040204020203" pitchFamily="34" charset="-122"/>
                <a:sym typeface="+mn-ea"/>
              </a:rPr>
              <a:t>：SSD</a:t>
            </a:r>
            <a:endParaRPr lang="zh-CN" altLang="en-US" dirty="0">
              <a:solidFill>
                <a:schemeClr val="tx1"/>
              </a:solidFill>
              <a:latin typeface="Segoe UI Light" panose="020B0502040204020203" pitchFamily="34" charset="0"/>
              <a:ea typeface="微软雅黑 Light" panose="020B0502040204020203" pitchFamily="34" charset="-122"/>
            </a:endParaRPr>
          </a:p>
          <a:p>
            <a:pPr algn="just" defTabSz="266700">
              <a:lnSpc>
                <a:spcPct val="150000"/>
              </a:lnSpc>
              <a:spcBef>
                <a:spcPts val="500"/>
              </a:spcBef>
              <a:buClrTx/>
              <a:buSzTx/>
              <a:buFontTx/>
            </a:pPr>
            <a:r>
              <a:rPr lang="zh-CN" altLang="en-US" dirty="0">
                <a:solidFill>
                  <a:schemeClr val="tx1"/>
                </a:solidFill>
                <a:latin typeface="Segoe UI Light" panose="020B0502040204020203" pitchFamily="34" charset="0"/>
                <a:ea typeface="微软雅黑 Light" panose="020B0502040204020203" pitchFamily="34" charset="-122"/>
                <a:sym typeface="+mn-ea"/>
              </a:rPr>
              <a:t>Shine</a:t>
            </a:r>
            <a:r>
              <a:rPr lang="en-US" altLang="zh-CN" dirty="0">
                <a:solidFill>
                  <a:schemeClr val="tx1"/>
                </a:solidFill>
                <a:latin typeface="Segoe UI Light" panose="020B0502040204020203" pitchFamily="34" charset="0"/>
                <a:ea typeface="微软雅黑 Light" panose="020B0502040204020203" pitchFamily="34" charset="-122"/>
                <a:sym typeface="+mn-ea"/>
              </a:rPr>
              <a:t> (</a:t>
            </a:r>
            <a:r>
              <a:rPr lang="en-US" altLang="zh-CN" dirty="0">
                <a:solidFill>
                  <a:schemeClr val="tx1"/>
                </a:solidFill>
                <a:latin typeface="Segoe UI Light" panose="020B0502040204020203" pitchFamily="34" charset="0"/>
                <a:ea typeface="微软雅黑 Light" panose="020B0502040204020203" pitchFamily="34" charset="-122"/>
                <a:sym typeface="+mn-ea"/>
              </a:rPr>
              <a:t>arXiv 2025</a:t>
            </a:r>
            <a:r>
              <a:rPr lang="en-US" altLang="zh-CN" dirty="0">
                <a:solidFill>
                  <a:schemeClr val="tx1"/>
                </a:solidFill>
                <a:latin typeface="Segoe UI Light" panose="020B0502040204020203" pitchFamily="34" charset="0"/>
                <a:ea typeface="微软雅黑 Light" panose="020B0502040204020203" pitchFamily="34" charset="-122"/>
                <a:sym typeface="+mn-ea"/>
              </a:rPr>
              <a:t>)</a:t>
            </a:r>
            <a:r>
              <a:rPr lang="zh-CN" altLang="en-US" dirty="0">
                <a:solidFill>
                  <a:schemeClr val="tx1"/>
                </a:solidFill>
                <a:latin typeface="Segoe UI Light" panose="020B0502040204020203" pitchFamily="34" charset="0"/>
                <a:ea typeface="微软雅黑 Light" panose="020B0502040204020203" pitchFamily="34" charset="-122"/>
                <a:sym typeface="+mn-ea"/>
              </a:rPr>
              <a:t>：存算分离</a:t>
            </a:r>
            <a:endParaRPr lang="zh-CN" altLang="en-US" dirty="0">
              <a:solidFill>
                <a:schemeClr val="tx1"/>
              </a:solidFill>
              <a:latin typeface="Segoe UI Light" panose="020B0502040204020203" pitchFamily="34" charset="0"/>
              <a:ea typeface="微软雅黑 Light" panose="020B0502040204020203" pitchFamily="34" charset="-122"/>
            </a:endParaRPr>
          </a:p>
        </p:txBody>
      </p:sp>
      <p:sp>
        <p:nvSpPr>
          <p:cNvPr id="6" name="文本框 5"/>
          <p:cNvSpPr txBox="1"/>
          <p:nvPr/>
        </p:nvSpPr>
        <p:spPr>
          <a:xfrm>
            <a:off x="191135" y="5733415"/>
            <a:ext cx="6096000" cy="398780"/>
          </a:xfrm>
          <a:prstGeom prst="rect">
            <a:avLst/>
          </a:prstGeom>
          <a:noFill/>
        </p:spPr>
        <p:txBody>
          <a:bodyPr wrap="square" rtlCol="0" anchor="t">
            <a:spAutoFit/>
          </a:bodyPr>
          <a:p>
            <a:r>
              <a:rPr lang="zh-CN" altLang="en-US" b="1" dirty="0">
                <a:latin typeface="Segoe UI Light" panose="020B0502040204020203" pitchFamily="34" charset="0"/>
                <a:ea typeface="微软雅黑 Light" panose="020B0502040204020203" pitchFamily="34" charset="-122"/>
                <a:sym typeface="+mn-ea"/>
              </a:rPr>
              <a:t>在动态更新的场景下</a:t>
            </a:r>
            <a:r>
              <a:rPr lang="en-US" altLang="zh-CN" b="1" dirty="0">
                <a:latin typeface="Segoe UI Light" panose="020B0502040204020203" pitchFamily="34" charset="0"/>
                <a:ea typeface="微软雅黑 Light" panose="020B0502040204020203" pitchFamily="34" charset="-122"/>
                <a:sym typeface="+mn-ea"/>
              </a:rPr>
              <a:t>，</a:t>
            </a:r>
            <a:r>
              <a:rPr lang="zh-CN" altLang="en-US" b="1" dirty="0">
                <a:latin typeface="Segoe UI Light" panose="020B0502040204020203" pitchFamily="34" charset="0"/>
                <a:ea typeface="微软雅黑 Light" panose="020B0502040204020203" pitchFamily="34" charset="-122"/>
                <a:sym typeface="+mn-ea"/>
              </a:rPr>
              <a:t>向量检索的性能会受到影响</a:t>
            </a:r>
            <a:endParaRPr lang="zh-CN" altLang="en-US" b="1" dirty="0">
              <a:latin typeface="Segoe UI Light" panose="020B0502040204020203" pitchFamily="34" charset="0"/>
              <a:ea typeface="微软雅黑 Light" panose="020B0502040204020203" pitchFamily="3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551384" y="1052736"/>
            <a:ext cx="8774632" cy="523220"/>
          </a:xfrm>
          <a:prstGeom prst="rect">
            <a:avLst/>
          </a:prstGeom>
          <a:noFill/>
        </p:spPr>
        <p:txBody>
          <a:bodyPr wrap="square">
            <a:spAutoFit/>
          </a:bodyPr>
          <a:lstStyle/>
          <a:p>
            <a:r>
              <a:rPr lang="zh-CN" altLang="en-US" sz="2800">
                <a:solidFill>
                  <a:schemeClr val="tx1">
                    <a:lumMod val="75000"/>
                    <a:lumOff val="25000"/>
                  </a:schemeClr>
                </a:solidFill>
              </a:rPr>
              <a:t>提纲</a:t>
            </a:r>
            <a:endParaRPr lang="zh-CN" altLang="en-US" sz="2800">
              <a:solidFill>
                <a:schemeClr val="tx1">
                  <a:lumMod val="75000"/>
                  <a:lumOff val="25000"/>
                </a:schemeClr>
              </a:solidFill>
            </a:endParaRPr>
          </a:p>
        </p:txBody>
      </p:sp>
      <p:sp>
        <p:nvSpPr>
          <p:cNvPr id="2" name="灯片编号占位符 1"/>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
        <p:nvSpPr>
          <p:cNvPr id="3" name="文本框 2"/>
          <p:cNvSpPr txBox="1"/>
          <p:nvPr/>
        </p:nvSpPr>
        <p:spPr>
          <a:xfrm>
            <a:off x="916596" y="2204864"/>
            <a:ext cx="7915708" cy="1938020"/>
          </a:xfrm>
          <a:prstGeom prst="rect">
            <a:avLst/>
          </a:prstGeom>
          <a:noFill/>
        </p:spPr>
        <p:txBody>
          <a:bodyPr wrap="square" rtlCol="0">
            <a:spAutoFit/>
          </a:bodyPr>
          <a:lstStyle/>
          <a:p>
            <a:pPr marL="342900" marR="0" lvl="0" indent="-342900" algn="l" defTabSz="914400" rtl="0" eaLnBrk="0" fontAlgn="base" latinLnBrk="0" hangingPunct="0">
              <a:lnSpc>
                <a:spcPct val="150000"/>
              </a:lnSpc>
              <a:buClrTx/>
              <a:buSzTx/>
              <a:buFont typeface="Wingdings" panose="05000000000000000000" pitchFamily="2" charset="2"/>
              <a:buChar char="l"/>
              <a:defRPr/>
            </a:pPr>
            <a:r>
              <a:rPr kumimoji="0" lang="zh-CN" altLang="en-US" sz="200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01 研究背景</a:t>
            </a:r>
            <a:endParaRPr kumimoji="0" lang="zh-CN" altLang="en-US" sz="200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50000"/>
              </a:lnSpc>
              <a:buClrTx/>
              <a:buSzTx/>
              <a:buFont typeface="Wingdings" panose="05000000000000000000" pitchFamily="2" charset="2"/>
              <a:buChar char="l"/>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02 研究动机</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342900" indent="-342900">
              <a:lnSpc>
                <a:spcPct val="150000"/>
              </a:lnSpc>
              <a:buFont typeface="Wingdings" panose="05000000000000000000" pitchFamily="2" charset="2"/>
              <a:buChar char="l"/>
              <a:defRPr/>
            </a:pPr>
            <a:r>
              <a:rPr kumimoji="0" lang="en-US" altLang="zh-CN" sz="2000" b="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03 </a:t>
            </a:r>
            <a:r>
              <a:rPr kumimoji="0" lang="zh-CN" altLang="en-US" sz="2000" b="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研究方案设计</a:t>
            </a:r>
            <a:endParaRPr lang="en-US" altLang="zh-CN" dirty="0">
              <a:solidFill>
                <a:schemeClr val="tx1">
                  <a:lumMod val="50000"/>
                  <a:lumOff val="50000"/>
                </a:schemeClr>
              </a:solidFill>
              <a:latin typeface="微软雅黑" panose="020B0503020204020204" charset="-122"/>
              <a:ea typeface="微软雅黑" panose="020B0503020204020204" charset="-122"/>
            </a:endParaRPr>
          </a:p>
          <a:p>
            <a:pPr marL="342900" lvl="0" indent="-342900">
              <a:lnSpc>
                <a:spcPct val="150000"/>
              </a:lnSpc>
              <a:buFont typeface="Wingdings" panose="05000000000000000000" pitchFamily="2" charset="2"/>
              <a:buChar char="l"/>
              <a:defRPr/>
            </a:pPr>
            <a:r>
              <a:rPr lang="en-US" altLang="zh-CN" dirty="0">
                <a:solidFill>
                  <a:schemeClr val="tx1">
                    <a:lumMod val="50000"/>
                    <a:lumOff val="50000"/>
                  </a:schemeClr>
                </a:solidFill>
                <a:latin typeface="微软雅黑" panose="020B0503020204020204" charset="-122"/>
                <a:ea typeface="微软雅黑" panose="020B0503020204020204" charset="-122"/>
              </a:rPr>
              <a:t>04 </a:t>
            </a:r>
            <a:r>
              <a:rPr lang="zh-CN" altLang="en-US" dirty="0">
                <a:solidFill>
                  <a:schemeClr val="tx1">
                    <a:lumMod val="50000"/>
                    <a:lumOff val="50000"/>
                  </a:schemeClr>
                </a:solidFill>
                <a:latin typeface="微软雅黑" panose="020B0503020204020204" charset="-122"/>
                <a:ea typeface="微软雅黑" panose="020B0503020204020204" charset="-122"/>
              </a:rPr>
              <a:t>初步实验结果与预期</a:t>
            </a:r>
            <a:r>
              <a:rPr lang="zh-CN" altLang="en-US" dirty="0">
                <a:solidFill>
                  <a:schemeClr val="tx1">
                    <a:lumMod val="50000"/>
                    <a:lumOff val="50000"/>
                  </a:schemeClr>
                </a:solidFill>
                <a:latin typeface="微软雅黑" panose="020B0503020204020204" charset="-122"/>
                <a:ea typeface="微软雅黑" panose="020B0503020204020204" charset="-122"/>
              </a:rPr>
              <a:t>目标</a:t>
            </a:r>
            <a:endParaRPr lang="zh-CN" altLang="en-US" dirty="0">
              <a:solidFill>
                <a:schemeClr val="tx1">
                  <a:lumMod val="50000"/>
                  <a:lumOff val="50000"/>
                </a:schemeClr>
              </a:solidFill>
              <a:latin typeface="微软雅黑" panose="020B0503020204020204" charset="-122"/>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02</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16" y="1052736"/>
            <a:ext cx="9422704" cy="521970"/>
          </a:xfrm>
          <a:prstGeom prst="rect">
            <a:avLst/>
          </a:prstGeom>
          <a:noFill/>
        </p:spPr>
        <p:txBody>
          <a:bodyPr wrap="square">
            <a:spAutoFit/>
          </a:bodyPr>
          <a:lstStyle/>
          <a:p>
            <a:r>
              <a:rPr lang="zh-CN" altLang="en-US" sz="2800" dirty="0">
                <a:solidFill>
                  <a:schemeClr val="tx1">
                    <a:lumMod val="75000"/>
                    <a:lumOff val="25000"/>
                  </a:schemeClr>
                </a:solidFill>
              </a:rPr>
              <a:t>研究</a:t>
            </a:r>
            <a:r>
              <a:rPr lang="zh-CN" altLang="en-US" sz="2800" dirty="0">
                <a:solidFill>
                  <a:schemeClr val="tx1">
                    <a:lumMod val="75000"/>
                    <a:lumOff val="25000"/>
                  </a:schemeClr>
                </a:solidFill>
              </a:rPr>
              <a:t>动机 </a:t>
            </a:r>
            <a:r>
              <a:rPr lang="en-US" altLang="zh-CN" sz="2800" dirty="0">
                <a:solidFill>
                  <a:schemeClr val="tx1">
                    <a:lumMod val="75000"/>
                    <a:lumOff val="25000"/>
                  </a:schemeClr>
                </a:solidFill>
              </a:rPr>
              <a:t>– </a:t>
            </a:r>
            <a:r>
              <a:rPr lang="zh-CN" altLang="en-US" sz="2800" dirty="0">
                <a:solidFill>
                  <a:schemeClr val="tx1">
                    <a:lumMod val="75000"/>
                    <a:lumOff val="25000"/>
                  </a:schemeClr>
                </a:solidFill>
              </a:rPr>
              <a:t>传统向量引擎的局限性</a:t>
            </a:r>
            <a:endParaRPr lang="zh-CN" altLang="en-US"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sp>
        <p:nvSpPr>
          <p:cNvPr id="1048639" name="矩形 3"/>
          <p:cNvSpPr/>
          <p:nvPr/>
        </p:nvSpPr>
        <p:spPr>
          <a:xfrm>
            <a:off x="197793" y="1908457"/>
            <a:ext cx="256882" cy="251692"/>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400" dirty="0">
              <a:latin typeface="思源黑体" panose="020B0500000000000000" pitchFamily="34" charset="-122"/>
              <a:ea typeface="思源黑体" panose="020B0500000000000000" pitchFamily="34" charset="-122"/>
            </a:endParaRPr>
          </a:p>
        </p:txBody>
      </p:sp>
      <p:grpSp>
        <p:nvGrpSpPr>
          <p:cNvPr id="44" name="组合 12"/>
          <p:cNvGrpSpPr/>
          <p:nvPr>
            <p:custDataLst>
              <p:tags r:id="rId1"/>
            </p:custDataLst>
          </p:nvPr>
        </p:nvGrpSpPr>
        <p:grpSpPr>
          <a:xfrm>
            <a:off x="595603" y="2780568"/>
            <a:ext cx="4680287" cy="768650"/>
            <a:chOff x="-354182" y="2399490"/>
            <a:chExt cx="4680287" cy="768650"/>
          </a:xfrm>
        </p:grpSpPr>
        <p:sp>
          <p:nvSpPr>
            <p:cNvPr id="1048640" name="íṡľíḍè-Arrow: Chevron 31"/>
            <p:cNvSpPr/>
            <p:nvPr>
              <p:custDataLst>
                <p:tags r:id="rId2"/>
              </p:custDataLst>
            </p:nvPr>
          </p:nvSpPr>
          <p:spPr>
            <a:xfrm>
              <a:off x="-354182" y="2403733"/>
              <a:ext cx="1725534" cy="764407"/>
            </a:xfrm>
            <a:prstGeom prst="chevron">
              <a:avLst>
                <a:gd name="adj" fmla="val 41391"/>
              </a:avLst>
            </a:prstGeom>
            <a:solidFill>
              <a:srgbClr val="244C89"/>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sz="1015"/>
            </a:p>
          </p:txBody>
        </p:sp>
        <p:sp>
          <p:nvSpPr>
            <p:cNvPr id="1048641" name="íṡľíḍè-Arrow: Chevron 37"/>
            <p:cNvSpPr/>
            <p:nvPr>
              <p:custDataLst>
                <p:tags r:id="rId3"/>
              </p:custDataLst>
            </p:nvPr>
          </p:nvSpPr>
          <p:spPr>
            <a:xfrm>
              <a:off x="1082136" y="2399490"/>
              <a:ext cx="3243969" cy="764407"/>
            </a:xfrm>
            <a:prstGeom prst="chevron">
              <a:avLst>
                <a:gd name="adj" fmla="val 41391"/>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sz="1015"/>
            </a:p>
          </p:txBody>
        </p:sp>
        <p:sp>
          <p:nvSpPr>
            <p:cNvPr id="1048642" name="矩形 15"/>
            <p:cNvSpPr/>
            <p:nvPr>
              <p:custDataLst>
                <p:tags r:id="rId4"/>
              </p:custDataLst>
            </p:nvPr>
          </p:nvSpPr>
          <p:spPr>
            <a:xfrm>
              <a:off x="1546103" y="2479693"/>
              <a:ext cx="2780002" cy="534035"/>
            </a:xfrm>
            <a:prstGeom prst="rect">
              <a:avLst/>
            </a:prstGeom>
          </p:spPr>
          <p:txBody>
            <a:bodyPr wrap="square">
              <a:spAutoFit/>
              <a:scene3d>
                <a:camera prst="orthographicFront"/>
                <a:lightRig rig="threePt" dir="t"/>
              </a:scene3d>
              <a:sp3d contourW="12700"/>
            </a:bodyPr>
            <a:p>
              <a:pPr>
                <a:lnSpc>
                  <a:spcPct val="120000"/>
                </a:lnSpc>
              </a:pPr>
              <a:r>
                <a:rPr lang="zh-CN" altLang="en-US" sz="2400" dirty="0">
                  <a:solidFill>
                    <a:schemeClr val="tx1"/>
                  </a:solidFill>
                  <a:latin typeface="Segoe UI Light" panose="020B0502040204020203" pitchFamily="34" charset="0"/>
                  <a:ea typeface="微软雅黑 Light" panose="020B0502040204020203" pitchFamily="34" charset="-122"/>
                </a:rPr>
                <a:t>存储容量问题</a:t>
              </a:r>
              <a:endParaRPr lang="zh-CN" altLang="en-US" sz="2400" dirty="0">
                <a:solidFill>
                  <a:schemeClr val="tx1"/>
                </a:solidFill>
                <a:latin typeface="Segoe UI Light" panose="020B0502040204020203" pitchFamily="34" charset="0"/>
                <a:ea typeface="微软雅黑 Light" panose="020B0502040204020203" pitchFamily="34" charset="-122"/>
              </a:endParaRPr>
            </a:p>
          </p:txBody>
        </p:sp>
        <p:sp>
          <p:nvSpPr>
            <p:cNvPr id="1048643" name="TextBox 26"/>
            <p:cNvSpPr txBox="1"/>
            <p:nvPr>
              <p:custDataLst>
                <p:tags r:id="rId5"/>
              </p:custDataLst>
            </p:nvPr>
          </p:nvSpPr>
          <p:spPr>
            <a:xfrm>
              <a:off x="212649" y="2609341"/>
              <a:ext cx="782111" cy="368935"/>
            </a:xfrm>
            <a:prstGeom prst="rect">
              <a:avLst/>
            </a:prstGeom>
            <a:noFill/>
          </p:spPr>
          <p:txBody>
            <a:bodyPr wrap="square" lIns="0" tIns="0" rIns="0" bIns="0" rtlCol="0">
              <a:spAutoFit/>
            </a:bodyPr>
            <a:p>
              <a:pPr algn="ctr">
                <a:lnSpc>
                  <a:spcPct val="120000"/>
                </a:lnSpc>
              </a:pPr>
              <a:r>
                <a:rPr lang="zh-CN" altLang="en-US" sz="2000" b="1" dirty="0">
                  <a:solidFill>
                    <a:schemeClr val="bg1"/>
                  </a:solidFill>
                  <a:latin typeface="思源黑体" panose="020B0500000000000000" pitchFamily="34" charset="-122"/>
                  <a:ea typeface="思源黑体" panose="020B0500000000000000" pitchFamily="34" charset="-122"/>
                </a:rPr>
                <a:t>问题</a:t>
              </a:r>
              <a:r>
                <a:rPr lang="zh-CN" altLang="en-US" sz="2000" b="1" dirty="0">
                  <a:solidFill>
                    <a:schemeClr val="bg1"/>
                  </a:solidFill>
                  <a:latin typeface="思源黑体" panose="020B0500000000000000" pitchFamily="34" charset="-122"/>
                  <a:ea typeface="思源黑体" panose="020B0500000000000000" pitchFamily="34" charset="-122"/>
                </a:rPr>
                <a:t>一</a:t>
              </a:r>
              <a:endParaRPr lang="zh-CN" altLang="en-US" sz="2000" b="1" dirty="0">
                <a:solidFill>
                  <a:schemeClr val="bg1"/>
                </a:solidFill>
                <a:latin typeface="思源黑体" panose="020B0500000000000000" pitchFamily="34" charset="-122"/>
                <a:ea typeface="思源黑体" panose="020B0500000000000000" pitchFamily="34" charset="-122"/>
              </a:endParaRPr>
            </a:p>
          </p:txBody>
        </p:sp>
      </p:grpSp>
      <p:sp>
        <p:nvSpPr>
          <p:cNvPr id="1048644" name="文本框 18"/>
          <p:cNvSpPr txBox="1"/>
          <p:nvPr>
            <p:custDataLst>
              <p:tags r:id="rId6"/>
            </p:custDataLst>
          </p:nvPr>
        </p:nvSpPr>
        <p:spPr>
          <a:xfrm>
            <a:off x="597535" y="3606800"/>
            <a:ext cx="5454015" cy="922020"/>
          </a:xfrm>
          <a:prstGeom prst="rect">
            <a:avLst/>
          </a:prstGeom>
        </p:spPr>
        <p:txBody>
          <a:bodyPr wrap="square">
            <a:spAutoFit/>
          </a:bodyPr>
          <a:p>
            <a:pPr marL="0" algn="just" defTabSz="266700">
              <a:lnSpc>
                <a:spcPct val="150000"/>
              </a:lnSpc>
              <a:buClrTx/>
              <a:buSzTx/>
              <a:buFontTx/>
            </a:pPr>
            <a:r>
              <a:rPr lang="zh-CN" altLang="en-US" sz="1800" dirty="0">
                <a:solidFill>
                  <a:schemeClr val="tx1"/>
                </a:solidFill>
                <a:latin typeface="Segoe UI Light" panose="020B0502040204020203" pitchFamily="34" charset="0"/>
                <a:ea typeface="微软雅黑 Light" panose="020B0502040204020203" pitchFamily="34" charset="-122"/>
              </a:rPr>
              <a:t>单机的向量存储引擎由于</a:t>
            </a:r>
            <a:r>
              <a:rPr lang="zh-CN" altLang="en-US" sz="1800" b="1" dirty="0">
                <a:solidFill>
                  <a:srgbClr val="FF0000"/>
                </a:solidFill>
                <a:latin typeface="Segoe UI Light" panose="020B0502040204020203" pitchFamily="34" charset="0"/>
                <a:ea typeface="微软雅黑 Light" panose="020B0502040204020203" pitchFamily="34" charset="-122"/>
              </a:rPr>
              <a:t>无法扩充容量</a:t>
            </a:r>
            <a:r>
              <a:rPr lang="zh-CN" altLang="en-US" sz="1800" dirty="0">
                <a:solidFill>
                  <a:schemeClr val="tx1"/>
                </a:solidFill>
                <a:latin typeface="Segoe UI Light" panose="020B0502040204020203" pitchFamily="34" charset="0"/>
                <a:ea typeface="微软雅黑 Light" panose="020B0502040204020203" pitchFamily="34" charset="-122"/>
              </a:rPr>
              <a:t>，无法应对大规模向量数据的应用场景</a:t>
            </a:r>
            <a:endParaRPr lang="zh-CN" altLang="en-US" sz="1800" dirty="0">
              <a:solidFill>
                <a:schemeClr val="tx1"/>
              </a:solidFill>
              <a:latin typeface="Segoe UI Light" panose="020B0502040204020203" pitchFamily="34" charset="0"/>
              <a:ea typeface="微软雅黑 Light" panose="020B0502040204020203" pitchFamily="34" charset="-122"/>
            </a:endParaRPr>
          </a:p>
        </p:txBody>
      </p:sp>
      <p:sp>
        <p:nvSpPr>
          <p:cNvPr id="1048645" name="矩形 19"/>
          <p:cNvSpPr/>
          <p:nvPr>
            <p:custDataLst>
              <p:tags r:id="rId7"/>
            </p:custDataLst>
          </p:nvPr>
        </p:nvSpPr>
        <p:spPr>
          <a:xfrm>
            <a:off x="197793" y="3805837"/>
            <a:ext cx="256882" cy="251692"/>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400" dirty="0">
              <a:latin typeface="思源黑体" panose="020B0500000000000000" pitchFamily="34" charset="-122"/>
              <a:ea typeface="思源黑体" panose="020B0500000000000000" pitchFamily="34" charset="-122"/>
            </a:endParaRPr>
          </a:p>
        </p:txBody>
      </p:sp>
      <p:sp>
        <p:nvSpPr>
          <p:cNvPr id="1048646" name="文本框 20"/>
          <p:cNvSpPr txBox="1"/>
          <p:nvPr>
            <p:custDataLst>
              <p:tags r:id="rId8"/>
            </p:custDataLst>
          </p:nvPr>
        </p:nvSpPr>
        <p:spPr>
          <a:xfrm>
            <a:off x="595630" y="4590415"/>
            <a:ext cx="5454015" cy="1753235"/>
          </a:xfrm>
          <a:prstGeom prst="rect">
            <a:avLst/>
          </a:prstGeom>
        </p:spPr>
        <p:txBody>
          <a:bodyPr wrap="square">
            <a:spAutoFit/>
          </a:bodyPr>
          <a:p>
            <a:pPr marL="0" algn="just" defTabSz="266700">
              <a:lnSpc>
                <a:spcPct val="150000"/>
              </a:lnSpc>
              <a:buClrTx/>
              <a:buSzTx/>
              <a:buFontTx/>
            </a:pPr>
            <a:r>
              <a:rPr lang="zh-CN" altLang="en-US" sz="1800" dirty="0">
                <a:solidFill>
                  <a:schemeClr val="tx1"/>
                </a:solidFill>
                <a:latin typeface="Segoe UI Light" panose="020B0502040204020203" pitchFamily="34" charset="0"/>
                <a:ea typeface="微软雅黑 Light" panose="020B0502040204020203" pitchFamily="34" charset="-122"/>
              </a:rPr>
              <a:t>分布式向量存储引擎虽然能够通过水平扩展解决存储容量问题，但扩充节点时会面临</a:t>
            </a:r>
            <a:r>
              <a:rPr lang="zh-CN" altLang="en-US" sz="1800" b="1" dirty="0">
                <a:solidFill>
                  <a:srgbClr val="FF0000"/>
                </a:solidFill>
                <a:latin typeface="Segoe UI Light" panose="020B0502040204020203" pitchFamily="34" charset="0"/>
                <a:ea typeface="微软雅黑 Light" panose="020B0502040204020203" pitchFamily="34" charset="-122"/>
              </a:rPr>
              <a:t>硬件资源紧耦合</a:t>
            </a:r>
            <a:r>
              <a:rPr lang="zh-CN" altLang="en-US" sz="1800" dirty="0">
                <a:solidFill>
                  <a:schemeClr val="tx1"/>
                </a:solidFill>
                <a:latin typeface="Segoe UI Light" panose="020B0502040204020203" pitchFamily="34" charset="0"/>
                <a:ea typeface="微软雅黑 Light" panose="020B0502040204020203" pitchFamily="34" charset="-122"/>
              </a:rPr>
              <a:t>的问题，无法按照现有的资源弹性配置节点，导致硬件资源分配不均衡。</a:t>
            </a:r>
            <a:endParaRPr lang="zh-CN" altLang="en-US" sz="1800" dirty="0">
              <a:solidFill>
                <a:schemeClr val="tx1"/>
              </a:solidFill>
              <a:latin typeface="Segoe UI Light" panose="020B0502040204020203" pitchFamily="34" charset="0"/>
              <a:ea typeface="微软雅黑 Light" panose="020B0502040204020203" pitchFamily="34" charset="-122"/>
            </a:endParaRPr>
          </a:p>
        </p:txBody>
      </p:sp>
      <p:sp>
        <p:nvSpPr>
          <p:cNvPr id="1048647" name="矩形 21"/>
          <p:cNvSpPr/>
          <p:nvPr>
            <p:custDataLst>
              <p:tags r:id="rId9"/>
            </p:custDataLst>
          </p:nvPr>
        </p:nvSpPr>
        <p:spPr>
          <a:xfrm>
            <a:off x="195888" y="4789452"/>
            <a:ext cx="256882" cy="251692"/>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400" dirty="0">
              <a:latin typeface="思源黑体" panose="020B0500000000000000" pitchFamily="34" charset="-122"/>
              <a:ea typeface="思源黑体" panose="020B0500000000000000" pitchFamily="34" charset="-122"/>
            </a:endParaRPr>
          </a:p>
        </p:txBody>
      </p:sp>
      <p:grpSp>
        <p:nvGrpSpPr>
          <p:cNvPr id="45" name="组合 22"/>
          <p:cNvGrpSpPr/>
          <p:nvPr>
            <p:custDataLst>
              <p:tags r:id="rId10"/>
            </p:custDataLst>
          </p:nvPr>
        </p:nvGrpSpPr>
        <p:grpSpPr>
          <a:xfrm>
            <a:off x="6676363" y="2785013"/>
            <a:ext cx="4680287" cy="768650"/>
            <a:chOff x="-354182" y="2399490"/>
            <a:chExt cx="4680287" cy="768650"/>
          </a:xfrm>
        </p:grpSpPr>
        <p:sp>
          <p:nvSpPr>
            <p:cNvPr id="1048648" name="íṡľíḍè-Arrow: Chevron 31"/>
            <p:cNvSpPr/>
            <p:nvPr>
              <p:custDataLst>
                <p:tags r:id="rId11"/>
              </p:custDataLst>
            </p:nvPr>
          </p:nvSpPr>
          <p:spPr>
            <a:xfrm>
              <a:off x="-354182" y="2403733"/>
              <a:ext cx="1725534" cy="764407"/>
            </a:xfrm>
            <a:prstGeom prst="chevron">
              <a:avLst>
                <a:gd name="adj" fmla="val 41391"/>
              </a:avLst>
            </a:prstGeom>
            <a:solidFill>
              <a:srgbClr val="244C89"/>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sz="1015"/>
            </a:p>
          </p:txBody>
        </p:sp>
        <p:sp>
          <p:nvSpPr>
            <p:cNvPr id="1048649" name="íṡľíḍè-Arrow: Chevron 37"/>
            <p:cNvSpPr/>
            <p:nvPr>
              <p:custDataLst>
                <p:tags r:id="rId12"/>
              </p:custDataLst>
            </p:nvPr>
          </p:nvSpPr>
          <p:spPr>
            <a:xfrm>
              <a:off x="1082136" y="2399490"/>
              <a:ext cx="3243969" cy="764407"/>
            </a:xfrm>
            <a:prstGeom prst="chevron">
              <a:avLst>
                <a:gd name="adj" fmla="val 41391"/>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sz="1015"/>
            </a:p>
          </p:txBody>
        </p:sp>
        <p:sp>
          <p:nvSpPr>
            <p:cNvPr id="1048650" name="矩形 25"/>
            <p:cNvSpPr/>
            <p:nvPr>
              <p:custDataLst>
                <p:tags r:id="rId13"/>
              </p:custDataLst>
            </p:nvPr>
          </p:nvSpPr>
          <p:spPr>
            <a:xfrm>
              <a:off x="1546103" y="2479693"/>
              <a:ext cx="2780002" cy="534035"/>
            </a:xfrm>
            <a:prstGeom prst="rect">
              <a:avLst/>
            </a:prstGeom>
          </p:spPr>
          <p:txBody>
            <a:bodyPr wrap="square">
              <a:spAutoFit/>
              <a:scene3d>
                <a:camera prst="orthographicFront"/>
                <a:lightRig rig="threePt" dir="t"/>
              </a:scene3d>
              <a:sp3d contourW="12700"/>
            </a:bodyPr>
            <a:p>
              <a:pPr>
                <a:lnSpc>
                  <a:spcPct val="120000"/>
                </a:lnSpc>
              </a:pPr>
              <a:r>
                <a:rPr lang="zh-CN" altLang="en-US" sz="2400" dirty="0">
                  <a:solidFill>
                    <a:schemeClr val="tx1"/>
                  </a:solidFill>
                  <a:latin typeface="Segoe UI Light" panose="020B0502040204020203" pitchFamily="34" charset="0"/>
                  <a:ea typeface="微软雅黑 Light" panose="020B0502040204020203" pitchFamily="34" charset="-122"/>
                </a:rPr>
                <a:t>动态更新问题</a:t>
              </a:r>
              <a:endParaRPr lang="zh-CN" altLang="en-US" sz="2400" dirty="0">
                <a:solidFill>
                  <a:schemeClr val="tx1"/>
                </a:solidFill>
                <a:latin typeface="Segoe UI Light" panose="020B0502040204020203" pitchFamily="34" charset="0"/>
                <a:ea typeface="微软雅黑 Light" panose="020B0502040204020203" pitchFamily="34" charset="-122"/>
              </a:endParaRPr>
            </a:p>
          </p:txBody>
        </p:sp>
        <p:sp>
          <p:nvSpPr>
            <p:cNvPr id="1048651" name="TextBox 26"/>
            <p:cNvSpPr txBox="1"/>
            <p:nvPr>
              <p:custDataLst>
                <p:tags r:id="rId14"/>
              </p:custDataLst>
            </p:nvPr>
          </p:nvSpPr>
          <p:spPr>
            <a:xfrm>
              <a:off x="212649" y="2609341"/>
              <a:ext cx="782111" cy="368935"/>
            </a:xfrm>
            <a:prstGeom prst="rect">
              <a:avLst/>
            </a:prstGeom>
            <a:noFill/>
          </p:spPr>
          <p:txBody>
            <a:bodyPr wrap="square" lIns="0" tIns="0" rIns="0" bIns="0" rtlCol="0">
              <a:spAutoFit/>
            </a:bodyPr>
            <a:p>
              <a:pPr algn="ctr">
                <a:lnSpc>
                  <a:spcPct val="120000"/>
                </a:lnSpc>
              </a:pPr>
              <a:r>
                <a:rPr lang="zh-CN" altLang="en-US" sz="2000" b="1" dirty="0">
                  <a:solidFill>
                    <a:schemeClr val="bg1"/>
                  </a:solidFill>
                  <a:latin typeface="思源黑体" panose="020B0500000000000000" pitchFamily="34" charset="-122"/>
                  <a:ea typeface="思源黑体" panose="020B0500000000000000" pitchFamily="34" charset="-122"/>
                </a:rPr>
                <a:t>问题</a:t>
              </a:r>
              <a:r>
                <a:rPr lang="zh-CN" altLang="en-US" sz="2000" b="1" dirty="0">
                  <a:solidFill>
                    <a:schemeClr val="bg1"/>
                  </a:solidFill>
                  <a:latin typeface="思源黑体" panose="020B0500000000000000" pitchFamily="34" charset="-122"/>
                  <a:ea typeface="思源黑体" panose="020B0500000000000000" pitchFamily="34" charset="-122"/>
                </a:rPr>
                <a:t>二</a:t>
              </a:r>
              <a:endParaRPr lang="zh-CN" altLang="en-US" sz="2000" b="1" dirty="0">
                <a:solidFill>
                  <a:schemeClr val="bg1"/>
                </a:solidFill>
                <a:latin typeface="思源黑体" panose="020B0500000000000000" pitchFamily="34" charset="-122"/>
                <a:ea typeface="思源黑体" panose="020B0500000000000000" pitchFamily="34" charset="-122"/>
              </a:endParaRPr>
            </a:p>
          </p:txBody>
        </p:sp>
      </p:grpSp>
      <p:sp>
        <p:nvSpPr>
          <p:cNvPr id="1048652" name="文本框 27"/>
          <p:cNvSpPr txBox="1"/>
          <p:nvPr>
            <p:custDataLst>
              <p:tags r:id="rId15"/>
            </p:custDataLst>
          </p:nvPr>
        </p:nvSpPr>
        <p:spPr>
          <a:xfrm>
            <a:off x="6594475" y="3613785"/>
            <a:ext cx="5454015" cy="1337945"/>
          </a:xfrm>
          <a:prstGeom prst="rect">
            <a:avLst/>
          </a:prstGeom>
        </p:spPr>
        <p:txBody>
          <a:bodyPr wrap="square">
            <a:spAutoFit/>
          </a:bodyPr>
          <a:p>
            <a:pPr marL="0" algn="just" defTabSz="266700">
              <a:lnSpc>
                <a:spcPct val="150000"/>
              </a:lnSpc>
              <a:buClrTx/>
              <a:buSzTx/>
              <a:buFontTx/>
            </a:pPr>
            <a:r>
              <a:rPr lang="zh-CN" altLang="en-US" sz="1800" dirty="0">
                <a:solidFill>
                  <a:schemeClr val="tx1"/>
                </a:solidFill>
                <a:latin typeface="Segoe UI Light" panose="020B0502040204020203" pitchFamily="34" charset="0"/>
                <a:ea typeface="微软雅黑 Light" panose="020B0502040204020203" pitchFamily="34" charset="-122"/>
              </a:rPr>
              <a:t>单机向量存储引擎需要在内存和存储之间不断平衡索引的构建与维护</a:t>
            </a:r>
            <a:r>
              <a:rPr lang="zh-CN" altLang="en-US" sz="1800" b="1" dirty="0">
                <a:solidFill>
                  <a:schemeClr val="tx1"/>
                </a:solidFill>
                <a:latin typeface="Segoe UI Light" panose="020B0502040204020203" pitchFamily="34" charset="0"/>
                <a:ea typeface="微软雅黑 Light" panose="020B0502040204020203" pitchFamily="34" charset="-122"/>
              </a:rPr>
              <a:t>，</a:t>
            </a:r>
            <a:r>
              <a:rPr lang="zh-CN" altLang="en-US" sz="1800" b="1" dirty="0">
                <a:solidFill>
                  <a:srgbClr val="FF0000"/>
                </a:solidFill>
                <a:latin typeface="Segoe UI Light" panose="020B0502040204020203" pitchFamily="34" charset="0"/>
                <a:ea typeface="微软雅黑 Light" panose="020B0502040204020203" pitchFamily="34" charset="-122"/>
              </a:rPr>
              <a:t>索引的更新和重建会消耗大量计算和存储资源</a:t>
            </a:r>
            <a:endParaRPr lang="zh-CN" altLang="en-US" sz="1800" b="1" dirty="0">
              <a:solidFill>
                <a:srgbClr val="FF0000"/>
              </a:solidFill>
              <a:latin typeface="Segoe UI Light" panose="020B0502040204020203" pitchFamily="34" charset="0"/>
              <a:ea typeface="微软雅黑 Light" panose="020B0502040204020203" pitchFamily="34" charset="-122"/>
            </a:endParaRPr>
          </a:p>
        </p:txBody>
      </p:sp>
      <p:sp>
        <p:nvSpPr>
          <p:cNvPr id="1048653" name="矩形 28"/>
          <p:cNvSpPr/>
          <p:nvPr>
            <p:custDataLst>
              <p:tags r:id="rId16"/>
            </p:custDataLst>
          </p:nvPr>
        </p:nvSpPr>
        <p:spPr>
          <a:xfrm>
            <a:off x="6194733" y="3812822"/>
            <a:ext cx="256882" cy="251692"/>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400" dirty="0">
              <a:latin typeface="思源黑体" panose="020B0500000000000000" pitchFamily="34" charset="-122"/>
              <a:ea typeface="思源黑体" panose="020B0500000000000000" pitchFamily="34" charset="-122"/>
            </a:endParaRPr>
          </a:p>
        </p:txBody>
      </p:sp>
      <p:sp>
        <p:nvSpPr>
          <p:cNvPr id="1048654" name="文本框 29"/>
          <p:cNvSpPr txBox="1"/>
          <p:nvPr>
            <p:custDataLst>
              <p:tags r:id="rId17"/>
            </p:custDataLst>
          </p:nvPr>
        </p:nvSpPr>
        <p:spPr>
          <a:xfrm>
            <a:off x="6583680" y="4940935"/>
            <a:ext cx="5454015" cy="1753235"/>
          </a:xfrm>
          <a:prstGeom prst="rect">
            <a:avLst/>
          </a:prstGeom>
        </p:spPr>
        <p:txBody>
          <a:bodyPr wrap="square">
            <a:spAutoFit/>
          </a:bodyPr>
          <a:p>
            <a:pPr lvl="0" algn="just" defTabSz="266700">
              <a:lnSpc>
                <a:spcPct val="150000"/>
              </a:lnSpc>
              <a:buClrTx/>
              <a:buSzTx/>
              <a:buFontTx/>
            </a:pPr>
            <a:r>
              <a:rPr lang="zh-CN" altLang="en-US" sz="1800" dirty="0">
                <a:solidFill>
                  <a:schemeClr val="tx1"/>
                </a:solidFill>
                <a:latin typeface="Segoe UI Light" panose="020B0502040204020203" pitchFamily="34" charset="0"/>
                <a:ea typeface="微软雅黑 Light" panose="020B0502040204020203" pitchFamily="34" charset="-122"/>
                <a:sym typeface="+mn-ea"/>
              </a:rPr>
              <a:t>分布式向量存储引擎在处理向量数据的</a:t>
            </a:r>
            <a:r>
              <a:rPr lang="zh-CN" altLang="en-US" sz="1800" b="1" dirty="0">
                <a:solidFill>
                  <a:srgbClr val="FF0000"/>
                </a:solidFill>
                <a:latin typeface="Segoe UI Light" panose="020B0502040204020203" pitchFamily="34" charset="0"/>
                <a:ea typeface="微软雅黑 Light" panose="020B0502040204020203" pitchFamily="34" charset="-122"/>
                <a:sym typeface="+mn-ea"/>
              </a:rPr>
              <a:t>实时更新时需要保证各个节点之间的高度协同和数据同步</a:t>
            </a:r>
            <a:r>
              <a:rPr lang="zh-CN" altLang="en-US" sz="1800" b="1" dirty="0">
                <a:solidFill>
                  <a:schemeClr val="tx1"/>
                </a:solidFill>
                <a:latin typeface="Segoe UI Light" panose="020B0502040204020203" pitchFamily="34" charset="0"/>
                <a:ea typeface="微软雅黑 Light" panose="020B0502040204020203" pitchFamily="34" charset="-122"/>
                <a:sym typeface="+mn-ea"/>
              </a:rPr>
              <a:t>。这种同步过程受到网络延迟、节点故障等因素的影响</a:t>
            </a:r>
            <a:r>
              <a:rPr lang="zh-CN" altLang="en-US" sz="1800" dirty="0">
                <a:solidFill>
                  <a:schemeClr val="tx1"/>
                </a:solidFill>
                <a:latin typeface="Segoe UI Light" panose="020B0502040204020203" pitchFamily="34" charset="0"/>
                <a:ea typeface="微软雅黑 Light" panose="020B0502040204020203" pitchFamily="34" charset="-122"/>
                <a:sym typeface="+mn-ea"/>
              </a:rPr>
              <a:t>，可能导致查询操作的延迟</a:t>
            </a:r>
            <a:endParaRPr lang="zh-CN" altLang="en-US" sz="1800" dirty="0">
              <a:solidFill>
                <a:schemeClr val="tx1"/>
              </a:solidFill>
              <a:latin typeface="Segoe UI Light" panose="020B0502040204020203" pitchFamily="34" charset="0"/>
              <a:ea typeface="微软雅黑 Light" panose="020B0502040204020203" pitchFamily="34" charset="-122"/>
              <a:sym typeface="+mn-ea"/>
            </a:endParaRPr>
          </a:p>
        </p:txBody>
      </p:sp>
      <p:sp>
        <p:nvSpPr>
          <p:cNvPr id="1048655" name="矩形 30"/>
          <p:cNvSpPr/>
          <p:nvPr>
            <p:custDataLst>
              <p:tags r:id="rId18"/>
            </p:custDataLst>
          </p:nvPr>
        </p:nvSpPr>
        <p:spPr>
          <a:xfrm>
            <a:off x="6208068" y="5121557"/>
            <a:ext cx="256882" cy="251692"/>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400" dirty="0">
              <a:latin typeface="思源黑体" panose="020B0500000000000000" pitchFamily="34" charset="-122"/>
              <a:ea typeface="思源黑体" panose="020B0500000000000000" pitchFamily="34" charset="-122"/>
            </a:endParaRPr>
          </a:p>
        </p:txBody>
      </p:sp>
      <p:sp>
        <p:nvSpPr>
          <p:cNvPr id="2" name="文本框 1"/>
          <p:cNvSpPr txBox="1"/>
          <p:nvPr/>
        </p:nvSpPr>
        <p:spPr>
          <a:xfrm>
            <a:off x="623570" y="1818640"/>
            <a:ext cx="10658475" cy="706755"/>
          </a:xfrm>
          <a:prstGeom prst="rect">
            <a:avLst/>
          </a:prstGeom>
          <a:noFill/>
        </p:spPr>
        <p:txBody>
          <a:bodyPr wrap="square" rtlCol="0" anchor="t">
            <a:spAutoFit/>
          </a:bodyPr>
          <a:p>
            <a:r>
              <a:rPr lang="zh-CN" altLang="en-US" dirty="0">
                <a:solidFill>
                  <a:schemeClr val="tx1"/>
                </a:solidFill>
                <a:latin typeface="Segoe UI Light" panose="020B0502040204020203" pitchFamily="34" charset="0"/>
                <a:ea typeface="微软雅黑 Light" panose="020B0502040204020203" pitchFamily="34" charset="-122"/>
                <a:sym typeface="+mn-ea"/>
              </a:rPr>
              <a:t>然而传统的单机和分布式的向量引擎在</a:t>
            </a:r>
            <a:r>
              <a:rPr lang="zh-CN" altLang="en-US" b="1" dirty="0">
                <a:solidFill>
                  <a:srgbClr val="FF0000"/>
                </a:solidFill>
                <a:latin typeface="Segoe UI Light" panose="020B0502040204020203" pitchFamily="34" charset="0"/>
                <a:ea typeface="微软雅黑 Light" panose="020B0502040204020203" pitchFamily="34" charset="-122"/>
                <a:sym typeface="+mn-ea"/>
              </a:rPr>
              <a:t>面对大规模向量数据以及动态更新的应用场景时</a:t>
            </a:r>
            <a:r>
              <a:rPr lang="zh-CN" altLang="en-US" dirty="0">
                <a:solidFill>
                  <a:schemeClr val="tx1"/>
                </a:solidFill>
                <a:latin typeface="Segoe UI Light" panose="020B0502040204020203" pitchFamily="34" charset="0"/>
                <a:ea typeface="微软雅黑 Light" panose="020B0502040204020203" pitchFamily="34" charset="-122"/>
                <a:sym typeface="+mn-ea"/>
              </a:rPr>
              <a:t>存在问题</a:t>
            </a:r>
            <a:endParaRPr lang="zh-CN" altLang="en-US" dirty="0">
              <a:solidFill>
                <a:schemeClr val="tx1"/>
              </a:solidFill>
              <a:latin typeface="Segoe UI Light" panose="020B0502040204020203" pitchFamily="34" charset="0"/>
              <a:ea typeface="微软雅黑 Light" panose="020B0502040204020203" pitchFamily="3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02</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16" y="1052736"/>
            <a:ext cx="9422704" cy="521970"/>
          </a:xfrm>
          <a:prstGeom prst="rect">
            <a:avLst/>
          </a:prstGeom>
          <a:noFill/>
        </p:spPr>
        <p:txBody>
          <a:bodyPr wrap="square">
            <a:spAutoFit/>
          </a:bodyPr>
          <a:lstStyle/>
          <a:p>
            <a:r>
              <a:rPr lang="zh-CN" altLang="en-US" sz="2800" dirty="0">
                <a:solidFill>
                  <a:schemeClr val="tx1">
                    <a:lumMod val="75000"/>
                    <a:lumOff val="25000"/>
                  </a:schemeClr>
                </a:solidFill>
              </a:rPr>
              <a:t>研究动机 </a:t>
            </a:r>
            <a:r>
              <a:rPr lang="en-US" altLang="zh-CN" sz="2800" dirty="0">
                <a:solidFill>
                  <a:schemeClr val="tx1">
                    <a:lumMod val="75000"/>
                    <a:lumOff val="25000"/>
                  </a:schemeClr>
                </a:solidFill>
              </a:rPr>
              <a:t>– </a:t>
            </a:r>
            <a:r>
              <a:rPr lang="zh-CN" altLang="en-US" sz="2800" dirty="0">
                <a:solidFill>
                  <a:schemeClr val="tx1">
                    <a:lumMod val="75000"/>
                    <a:lumOff val="25000"/>
                  </a:schemeClr>
                </a:solidFill>
              </a:rPr>
              <a:t>存算分离</a:t>
            </a:r>
            <a:r>
              <a:rPr lang="zh-CN" altLang="en-US" sz="2800" dirty="0">
                <a:solidFill>
                  <a:schemeClr val="tx1">
                    <a:lumMod val="75000"/>
                    <a:lumOff val="25000"/>
                  </a:schemeClr>
                </a:solidFill>
              </a:rPr>
              <a:t>架构</a:t>
            </a:r>
            <a:endParaRPr lang="zh-CN" altLang="en-US"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sp>
        <p:nvSpPr>
          <p:cNvPr id="1048665" name="文本框 38"/>
          <p:cNvSpPr txBox="1"/>
          <p:nvPr>
            <p:custDataLst>
              <p:tags r:id="rId1"/>
            </p:custDataLst>
          </p:nvPr>
        </p:nvSpPr>
        <p:spPr>
          <a:xfrm>
            <a:off x="624840" y="5028565"/>
            <a:ext cx="5446395" cy="1753235"/>
          </a:xfrm>
          <a:prstGeom prst="rect">
            <a:avLst/>
          </a:prstGeom>
        </p:spPr>
        <p:txBody>
          <a:bodyPr wrap="square">
            <a:spAutoFit/>
          </a:bodyPr>
          <a:p>
            <a:pPr marL="0" algn="just" defTabSz="266700">
              <a:lnSpc>
                <a:spcPct val="150000"/>
              </a:lnSpc>
              <a:buClrTx/>
              <a:buSzTx/>
              <a:buFontTx/>
            </a:pPr>
            <a:r>
              <a:rPr lang="zh-CN" altLang="en-US" sz="1800" dirty="0">
                <a:solidFill>
                  <a:schemeClr val="tx1"/>
                </a:solidFill>
                <a:latin typeface="Segoe UI Light" panose="020B0502040204020203" pitchFamily="34" charset="0"/>
                <a:ea typeface="微软雅黑 Light" panose="020B0502040204020203" pitchFamily="34" charset="-122"/>
              </a:rPr>
              <a:t>存算分离架构使得</a:t>
            </a:r>
            <a:r>
              <a:rPr lang="zh-CN" altLang="en-US" sz="1800" b="1" dirty="0">
                <a:solidFill>
                  <a:srgbClr val="FF0000"/>
                </a:solidFill>
                <a:latin typeface="Segoe UI Light" panose="020B0502040204020203" pitchFamily="34" charset="0"/>
                <a:ea typeface="微软雅黑 Light" panose="020B0502040204020203" pitchFamily="34" charset="-122"/>
              </a:rPr>
              <a:t>硬件资源解耦</a:t>
            </a:r>
            <a:r>
              <a:rPr lang="en-US" altLang="zh-CN" sz="1800" dirty="0">
                <a:solidFill>
                  <a:schemeClr val="tx1"/>
                </a:solidFill>
                <a:latin typeface="Segoe UI Light" panose="020B0502040204020203" pitchFamily="34" charset="0"/>
                <a:ea typeface="微软雅黑 Light" panose="020B0502040204020203" pitchFamily="34" charset="-122"/>
              </a:rPr>
              <a:t>，存储密集型</a:t>
            </a:r>
            <a:r>
              <a:rPr lang="zh-CN" altLang="en-US" sz="1800" dirty="0">
                <a:solidFill>
                  <a:schemeClr val="tx1"/>
                </a:solidFill>
                <a:latin typeface="Segoe UI Light" panose="020B0502040204020203" pitchFamily="34" charset="0"/>
                <a:ea typeface="微软雅黑 Light" panose="020B0502040204020203" pitchFamily="34" charset="-122"/>
              </a:rPr>
              <a:t>场景扩充</a:t>
            </a:r>
            <a:r>
              <a:rPr lang="en-US" altLang="zh-CN" sz="1800" dirty="0">
                <a:solidFill>
                  <a:schemeClr val="tx1"/>
                </a:solidFill>
                <a:latin typeface="Segoe UI Light" panose="020B0502040204020203" pitchFamily="34" charset="0"/>
                <a:ea typeface="微软雅黑 Light" panose="020B0502040204020203" pitchFamily="34" charset="-122"/>
              </a:rPr>
              <a:t>大容量磁盘，计算密集型</a:t>
            </a:r>
            <a:r>
              <a:rPr lang="zh-CN" altLang="en-US" sz="1800" dirty="0">
                <a:solidFill>
                  <a:schemeClr val="tx1"/>
                </a:solidFill>
                <a:latin typeface="Segoe UI Light" panose="020B0502040204020203" pitchFamily="34" charset="0"/>
                <a:ea typeface="微软雅黑 Light" panose="020B0502040204020203" pitchFamily="34" charset="-122"/>
              </a:rPr>
              <a:t>场景扩充</a:t>
            </a:r>
            <a:r>
              <a:rPr lang="en-US" altLang="zh-CN" sz="1800" dirty="0">
                <a:solidFill>
                  <a:schemeClr val="tx1"/>
                </a:solidFill>
                <a:latin typeface="Segoe UI Light" panose="020B0502040204020203" pitchFamily="34" charset="0"/>
                <a:ea typeface="微软雅黑 Light" panose="020B0502040204020203" pitchFamily="34" charset="-122"/>
              </a:rPr>
              <a:t>高性能CPU和GPU。既能支持大规模的海量数据，又能充分利用现有的</a:t>
            </a:r>
            <a:r>
              <a:rPr lang="zh-CN" altLang="en-US" sz="1800" dirty="0">
                <a:solidFill>
                  <a:schemeClr val="tx1"/>
                </a:solidFill>
                <a:latin typeface="Segoe UI Light" panose="020B0502040204020203" pitchFamily="34" charset="0"/>
                <a:ea typeface="微软雅黑 Light" panose="020B0502040204020203" pitchFamily="34" charset="-122"/>
              </a:rPr>
              <a:t>计算</a:t>
            </a:r>
            <a:r>
              <a:rPr lang="en-US" altLang="zh-CN" sz="1800" dirty="0">
                <a:solidFill>
                  <a:schemeClr val="tx1"/>
                </a:solidFill>
                <a:latin typeface="Segoe UI Light" panose="020B0502040204020203" pitchFamily="34" charset="0"/>
                <a:ea typeface="微软雅黑 Light" panose="020B0502040204020203" pitchFamily="34" charset="-122"/>
              </a:rPr>
              <a:t>资源，优化大规模查询的性能。</a:t>
            </a:r>
            <a:endParaRPr lang="en-US" altLang="zh-CN" sz="1800" dirty="0">
              <a:solidFill>
                <a:schemeClr val="tx1"/>
              </a:solidFill>
              <a:latin typeface="Segoe UI Light" panose="020B0502040204020203" pitchFamily="34" charset="0"/>
              <a:ea typeface="微软雅黑 Light" panose="020B0502040204020203" pitchFamily="34" charset="-122"/>
            </a:endParaRPr>
          </a:p>
        </p:txBody>
      </p:sp>
      <p:sp>
        <p:nvSpPr>
          <p:cNvPr id="1048666" name="矩形 39"/>
          <p:cNvSpPr/>
          <p:nvPr>
            <p:custDataLst>
              <p:tags r:id="rId2"/>
            </p:custDataLst>
          </p:nvPr>
        </p:nvSpPr>
        <p:spPr>
          <a:xfrm>
            <a:off x="265103" y="5232047"/>
            <a:ext cx="256882" cy="251692"/>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400" dirty="0">
              <a:latin typeface="思源黑体" panose="020B0500000000000000" pitchFamily="34" charset="-122"/>
              <a:ea typeface="思源黑体" panose="020B0500000000000000" pitchFamily="34" charset="-122"/>
            </a:endParaRPr>
          </a:p>
        </p:txBody>
      </p:sp>
      <p:sp>
        <p:nvSpPr>
          <p:cNvPr id="1048671" name="文本框 46"/>
          <p:cNvSpPr txBox="1"/>
          <p:nvPr>
            <p:custDataLst>
              <p:tags r:id="rId3"/>
            </p:custDataLst>
          </p:nvPr>
        </p:nvSpPr>
        <p:spPr>
          <a:xfrm>
            <a:off x="6526530" y="5012690"/>
            <a:ext cx="4982210" cy="1753235"/>
          </a:xfrm>
          <a:prstGeom prst="rect">
            <a:avLst/>
          </a:prstGeom>
        </p:spPr>
        <p:txBody>
          <a:bodyPr wrap="square">
            <a:spAutoFit/>
          </a:bodyPr>
          <a:p>
            <a:pPr marL="0" algn="just" defTabSz="266700">
              <a:lnSpc>
                <a:spcPct val="150000"/>
              </a:lnSpc>
              <a:buClrTx/>
              <a:buSzTx/>
              <a:buFontTx/>
            </a:pPr>
            <a:r>
              <a:rPr lang="zh-CN" altLang="en-US" sz="1800" dirty="0">
                <a:solidFill>
                  <a:schemeClr val="tx1"/>
                </a:solidFill>
                <a:latin typeface="Segoe UI Light" panose="020B0502040204020203" pitchFamily="34" charset="0"/>
                <a:ea typeface="微软雅黑 Light" panose="020B0502040204020203" pitchFamily="34" charset="-122"/>
              </a:rPr>
              <a:t>存算分离架构使得</a:t>
            </a:r>
            <a:r>
              <a:rPr lang="zh-CN" altLang="en-US" sz="1800" b="1" dirty="0">
                <a:solidFill>
                  <a:srgbClr val="FF0000"/>
                </a:solidFill>
                <a:latin typeface="Segoe UI Light" panose="020B0502040204020203" pitchFamily="34" charset="0"/>
                <a:ea typeface="微软雅黑 Light" panose="020B0502040204020203" pitchFamily="34" charset="-122"/>
              </a:rPr>
              <a:t>插入和查询操作解耦</a:t>
            </a:r>
            <a:r>
              <a:rPr lang="en-US" altLang="zh-CN" sz="1800" dirty="0">
                <a:solidFill>
                  <a:schemeClr val="tx1"/>
                </a:solidFill>
                <a:latin typeface="Segoe UI Light" panose="020B0502040204020203" pitchFamily="34" charset="0"/>
                <a:ea typeface="微软雅黑 Light" panose="020B0502040204020203" pitchFamily="34" charset="-122"/>
              </a:rPr>
              <a:t>，存储层专注于数据持久化与管理，计算层负责查询处理、事务执行等任务，两者通过高速网络协同工作，对于动态数据更新有天然的优势</a:t>
            </a:r>
            <a:endParaRPr lang="en-US" altLang="zh-CN" sz="1800" dirty="0">
              <a:solidFill>
                <a:schemeClr val="tx1"/>
              </a:solidFill>
              <a:latin typeface="Segoe UI Light" panose="020B0502040204020203" pitchFamily="34" charset="0"/>
              <a:ea typeface="微软雅黑 Light" panose="020B0502040204020203" pitchFamily="34" charset="-122"/>
            </a:endParaRPr>
          </a:p>
        </p:txBody>
      </p:sp>
      <p:sp>
        <p:nvSpPr>
          <p:cNvPr id="1048672" name="矩形 47"/>
          <p:cNvSpPr/>
          <p:nvPr>
            <p:custDataLst>
              <p:tags r:id="rId4"/>
            </p:custDataLst>
          </p:nvPr>
        </p:nvSpPr>
        <p:spPr>
          <a:xfrm>
            <a:off x="6166793" y="5162197"/>
            <a:ext cx="256882" cy="251692"/>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400" dirty="0">
              <a:latin typeface="思源黑体" panose="020B0500000000000000" pitchFamily="34" charset="-122"/>
              <a:ea typeface="思源黑体" panose="020B0500000000000000" pitchFamily="34" charset="-122"/>
            </a:endParaRPr>
          </a:p>
        </p:txBody>
      </p:sp>
      <p:pic>
        <p:nvPicPr>
          <p:cNvPr id="3" name="图片 2" descr="compute_storage.drawio"/>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5325" y="1700530"/>
            <a:ext cx="6252210" cy="30505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02</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16" y="1052736"/>
            <a:ext cx="9422704" cy="521970"/>
          </a:xfrm>
          <a:prstGeom prst="rect">
            <a:avLst/>
          </a:prstGeom>
          <a:noFill/>
        </p:spPr>
        <p:txBody>
          <a:bodyPr wrap="square">
            <a:spAutoFit/>
          </a:bodyPr>
          <a:lstStyle/>
          <a:p>
            <a:r>
              <a:rPr lang="zh-CN" altLang="en-US" sz="2800" dirty="0">
                <a:solidFill>
                  <a:schemeClr val="tx1">
                    <a:lumMod val="75000"/>
                    <a:lumOff val="25000"/>
                  </a:schemeClr>
                </a:solidFill>
              </a:rPr>
              <a:t>研究动机 </a:t>
            </a:r>
            <a:r>
              <a:rPr lang="en-US" altLang="zh-CN" sz="2800" dirty="0">
                <a:solidFill>
                  <a:schemeClr val="tx1">
                    <a:lumMod val="75000"/>
                    <a:lumOff val="25000"/>
                  </a:schemeClr>
                </a:solidFill>
              </a:rPr>
              <a:t>– </a:t>
            </a:r>
            <a:r>
              <a:rPr lang="zh-CN" altLang="en-US" sz="2800" dirty="0">
                <a:solidFill>
                  <a:schemeClr val="tx1">
                    <a:lumMod val="75000"/>
                    <a:lumOff val="25000"/>
                  </a:schemeClr>
                </a:solidFill>
              </a:rPr>
              <a:t>现有的存算分离的向量</a:t>
            </a:r>
            <a:r>
              <a:rPr lang="zh-CN" altLang="en-US" sz="2800" dirty="0">
                <a:solidFill>
                  <a:schemeClr val="tx1">
                    <a:lumMod val="75000"/>
                    <a:lumOff val="25000"/>
                  </a:schemeClr>
                </a:solidFill>
              </a:rPr>
              <a:t>存储系统</a:t>
            </a:r>
            <a:endParaRPr lang="zh-CN" altLang="en-US"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grpSp>
        <p:nvGrpSpPr>
          <p:cNvPr id="22" name="组合 21"/>
          <p:cNvGrpSpPr/>
          <p:nvPr>
            <p:custDataLst>
              <p:tags r:id="rId1"/>
            </p:custDataLst>
          </p:nvPr>
        </p:nvGrpSpPr>
        <p:grpSpPr>
          <a:xfrm>
            <a:off x="613410" y="1916430"/>
            <a:ext cx="4982210" cy="3374794"/>
            <a:chOff x="939982" y="1827568"/>
            <a:chExt cx="4973621" cy="4618677"/>
          </a:xfrm>
        </p:grpSpPr>
        <p:sp>
          <p:nvSpPr>
            <p:cNvPr id="23" name="等腰三角形 24"/>
            <p:cNvSpPr/>
            <p:nvPr>
              <p:custDataLst>
                <p:tags r:id="rId2"/>
              </p:custDataLst>
            </p:nvPr>
          </p:nvSpPr>
          <p:spPr>
            <a:xfrm rot="10800000">
              <a:off x="5534996" y="6038964"/>
              <a:ext cx="330982" cy="318293"/>
            </a:xfrm>
            <a:custGeom>
              <a:avLst/>
              <a:gdLst>
                <a:gd name="connsiteX0" fmla="*/ 0 w 397658"/>
                <a:gd name="connsiteY0" fmla="*/ 406400 h 406400"/>
                <a:gd name="connsiteX1" fmla="*/ 198829 w 397658"/>
                <a:gd name="connsiteY1" fmla="*/ 0 h 406400"/>
                <a:gd name="connsiteX2" fmla="*/ 397658 w 397658"/>
                <a:gd name="connsiteY2" fmla="*/ 406400 h 406400"/>
                <a:gd name="connsiteX3" fmla="*/ 0 w 397658"/>
                <a:gd name="connsiteY3" fmla="*/ 406400 h 406400"/>
                <a:gd name="connsiteX0-1" fmla="*/ 0 w 397658"/>
                <a:gd name="connsiteY0-2" fmla="*/ 411162 h 411162"/>
                <a:gd name="connsiteX1-3" fmla="*/ 332179 w 397658"/>
                <a:gd name="connsiteY1-4" fmla="*/ 0 h 411162"/>
                <a:gd name="connsiteX2-5" fmla="*/ 397658 w 397658"/>
                <a:gd name="connsiteY2-6" fmla="*/ 411162 h 411162"/>
                <a:gd name="connsiteX3-7" fmla="*/ 0 w 397658"/>
                <a:gd name="connsiteY3-8" fmla="*/ 411162 h 411162"/>
                <a:gd name="connsiteX0-9" fmla="*/ 0 w 338126"/>
                <a:gd name="connsiteY0-10" fmla="*/ 342105 h 411162"/>
                <a:gd name="connsiteX1-11" fmla="*/ 272647 w 338126"/>
                <a:gd name="connsiteY1-12" fmla="*/ 0 h 411162"/>
                <a:gd name="connsiteX2-13" fmla="*/ 338126 w 338126"/>
                <a:gd name="connsiteY2-14" fmla="*/ 411162 h 411162"/>
                <a:gd name="connsiteX3-15" fmla="*/ 0 w 338126"/>
                <a:gd name="connsiteY3-16" fmla="*/ 342105 h 411162"/>
                <a:gd name="connsiteX0-17" fmla="*/ 0 w 323838"/>
                <a:gd name="connsiteY0-18" fmla="*/ 342105 h 342105"/>
                <a:gd name="connsiteX1-19" fmla="*/ 272647 w 323838"/>
                <a:gd name="connsiteY1-20" fmla="*/ 0 h 342105"/>
                <a:gd name="connsiteX2-21" fmla="*/ 323838 w 323838"/>
                <a:gd name="connsiteY2-22" fmla="*/ 311149 h 342105"/>
                <a:gd name="connsiteX3-23" fmla="*/ 0 w 323838"/>
                <a:gd name="connsiteY3-24" fmla="*/ 342105 h 342105"/>
                <a:gd name="connsiteX0-25" fmla="*/ 0 w 321457"/>
                <a:gd name="connsiteY0-26" fmla="*/ 342105 h 342105"/>
                <a:gd name="connsiteX1-27" fmla="*/ 272647 w 321457"/>
                <a:gd name="connsiteY1-28" fmla="*/ 0 h 342105"/>
                <a:gd name="connsiteX2-29" fmla="*/ 321457 w 321457"/>
                <a:gd name="connsiteY2-30" fmla="*/ 318293 h 342105"/>
                <a:gd name="connsiteX3-31" fmla="*/ 0 w 321457"/>
                <a:gd name="connsiteY3-32" fmla="*/ 342105 h 342105"/>
                <a:gd name="connsiteX0-33" fmla="*/ 0 w 321457"/>
                <a:gd name="connsiteY0-34" fmla="*/ 313530 h 318293"/>
                <a:gd name="connsiteX1-35" fmla="*/ 272647 w 321457"/>
                <a:gd name="connsiteY1-36" fmla="*/ 0 h 318293"/>
                <a:gd name="connsiteX2-37" fmla="*/ 321457 w 321457"/>
                <a:gd name="connsiteY2-38" fmla="*/ 318293 h 318293"/>
                <a:gd name="connsiteX3-39" fmla="*/ 0 w 321457"/>
                <a:gd name="connsiteY3-40" fmla="*/ 313530 h 318293"/>
                <a:gd name="connsiteX0-41" fmla="*/ 0 w 321457"/>
                <a:gd name="connsiteY0-42" fmla="*/ 318292 h 318293"/>
                <a:gd name="connsiteX1-43" fmla="*/ 272647 w 321457"/>
                <a:gd name="connsiteY1-44" fmla="*/ 0 h 318293"/>
                <a:gd name="connsiteX2-45" fmla="*/ 321457 w 321457"/>
                <a:gd name="connsiteY2-46" fmla="*/ 318293 h 318293"/>
                <a:gd name="connsiteX3-47" fmla="*/ 0 w 321457"/>
                <a:gd name="connsiteY3-48" fmla="*/ 318292 h 318293"/>
                <a:gd name="connsiteX0-49" fmla="*/ 0 w 330982"/>
                <a:gd name="connsiteY0-50" fmla="*/ 277811 h 318293"/>
                <a:gd name="connsiteX1-51" fmla="*/ 282172 w 330982"/>
                <a:gd name="connsiteY1-52" fmla="*/ 0 h 318293"/>
                <a:gd name="connsiteX2-53" fmla="*/ 330982 w 330982"/>
                <a:gd name="connsiteY2-54" fmla="*/ 318293 h 318293"/>
                <a:gd name="connsiteX3-55" fmla="*/ 0 w 330982"/>
                <a:gd name="connsiteY3-56" fmla="*/ 277811 h 318293"/>
              </a:gdLst>
              <a:ahLst/>
              <a:cxnLst>
                <a:cxn ang="0">
                  <a:pos x="connsiteX0-1" y="connsiteY0-2"/>
                </a:cxn>
                <a:cxn ang="0">
                  <a:pos x="connsiteX1-3" y="connsiteY1-4"/>
                </a:cxn>
                <a:cxn ang="0">
                  <a:pos x="connsiteX2-5" y="connsiteY2-6"/>
                </a:cxn>
                <a:cxn ang="0">
                  <a:pos x="connsiteX3-7" y="connsiteY3-8"/>
                </a:cxn>
              </a:cxnLst>
              <a:rect l="l" t="t" r="r" b="b"/>
              <a:pathLst>
                <a:path w="330982" h="318293">
                  <a:moveTo>
                    <a:pt x="0" y="277811"/>
                  </a:moveTo>
                  <a:lnTo>
                    <a:pt x="282172" y="0"/>
                  </a:lnTo>
                  <a:lnTo>
                    <a:pt x="330982" y="318293"/>
                  </a:lnTo>
                  <a:lnTo>
                    <a:pt x="0" y="27781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Light" panose="020B0300000000000000" pitchFamily="34" charset="-122"/>
              </a:endParaRPr>
            </a:p>
          </p:txBody>
        </p:sp>
        <p:sp>
          <p:nvSpPr>
            <p:cNvPr id="24" name="矩形 23"/>
            <p:cNvSpPr/>
            <p:nvPr>
              <p:custDataLst>
                <p:tags r:id="rId3"/>
              </p:custDataLst>
            </p:nvPr>
          </p:nvSpPr>
          <p:spPr bwMode="auto">
            <a:xfrm>
              <a:off x="939982" y="1978696"/>
              <a:ext cx="4973621" cy="4262864"/>
            </a:xfrm>
            <a:prstGeom prst="rect">
              <a:avLst/>
            </a:prstGeom>
            <a:solidFill>
              <a:schemeClr val="bg1">
                <a:lumMod val="85000"/>
              </a:schemeClr>
            </a:solidFill>
            <a:ln>
              <a:noFill/>
            </a:ln>
          </p:spPr>
          <p:txBody>
            <a:bodyPr vert="horz" wrap="square" lIns="91440" tIns="45720" rIns="91440" bIns="45720" numCol="1" anchor="t" anchorCtr="0" compatLnSpc="1"/>
            <a:lstStyle/>
            <a:p>
              <a:endParaRPr lang="zh-CN" altLang="en-US">
                <a:solidFill>
                  <a:schemeClr val="bg1"/>
                </a:solidFill>
                <a:cs typeface="思源黑体 CN Light" panose="020B0300000000000000" pitchFamily="34" charset="-122"/>
              </a:endParaRPr>
            </a:p>
          </p:txBody>
        </p:sp>
        <p:grpSp>
          <p:nvGrpSpPr>
            <p:cNvPr id="25" name="组合 24"/>
            <p:cNvGrpSpPr/>
            <p:nvPr/>
          </p:nvGrpSpPr>
          <p:grpSpPr>
            <a:xfrm>
              <a:off x="1245265" y="1827568"/>
              <a:ext cx="4200402" cy="879213"/>
              <a:chOff x="1245265" y="1827568"/>
              <a:chExt cx="4200402" cy="879213"/>
            </a:xfrm>
          </p:grpSpPr>
          <p:sp>
            <p:nvSpPr>
              <p:cNvPr id="29" name="Freeform 6"/>
              <p:cNvSpPr/>
              <p:nvPr>
                <p:custDataLst>
                  <p:tags r:id="rId4"/>
                </p:custDataLst>
              </p:nvPr>
            </p:nvSpPr>
            <p:spPr bwMode="auto">
              <a:xfrm>
                <a:off x="1245265" y="1827568"/>
                <a:ext cx="4200402" cy="150812"/>
              </a:xfrm>
              <a:custGeom>
                <a:avLst/>
                <a:gdLst>
                  <a:gd name="T0" fmla="*/ 285 w 4236"/>
                  <a:gd name="T1" fmla="*/ 0 h 186"/>
                  <a:gd name="T2" fmla="*/ 3967 w 4236"/>
                  <a:gd name="T3" fmla="*/ 0 h 186"/>
                  <a:gd name="T4" fmla="*/ 4236 w 4236"/>
                  <a:gd name="T5" fmla="*/ 186 h 186"/>
                  <a:gd name="T6" fmla="*/ 0 w 4236"/>
                  <a:gd name="T7" fmla="*/ 186 h 186"/>
                  <a:gd name="T8" fmla="*/ 285 w 4236"/>
                  <a:gd name="T9" fmla="*/ 0 h 186"/>
                </a:gdLst>
                <a:ahLst/>
                <a:cxnLst>
                  <a:cxn ang="0">
                    <a:pos x="T0" y="T1"/>
                  </a:cxn>
                  <a:cxn ang="0">
                    <a:pos x="T2" y="T3"/>
                  </a:cxn>
                  <a:cxn ang="0">
                    <a:pos x="T4" y="T5"/>
                  </a:cxn>
                  <a:cxn ang="0">
                    <a:pos x="T6" y="T7"/>
                  </a:cxn>
                  <a:cxn ang="0">
                    <a:pos x="T8" y="T9"/>
                  </a:cxn>
                </a:cxnLst>
                <a:rect l="0" t="0" r="r" b="b"/>
                <a:pathLst>
                  <a:path w="4236" h="186">
                    <a:moveTo>
                      <a:pt x="285" y="0"/>
                    </a:moveTo>
                    <a:lnTo>
                      <a:pt x="3967" y="0"/>
                    </a:lnTo>
                    <a:lnTo>
                      <a:pt x="4236" y="186"/>
                    </a:lnTo>
                    <a:lnTo>
                      <a:pt x="0" y="186"/>
                    </a:lnTo>
                    <a:lnTo>
                      <a:pt x="285" y="0"/>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2"/>
                  </a:solidFill>
                  <a:cs typeface="思源黑体 CN Light" panose="020B0300000000000000" pitchFamily="34" charset="-122"/>
                </a:endParaRPr>
              </a:p>
            </p:txBody>
          </p:sp>
          <p:sp>
            <p:nvSpPr>
              <p:cNvPr id="30" name="Freeform 7"/>
              <p:cNvSpPr/>
              <p:nvPr>
                <p:custDataLst>
                  <p:tags r:id="rId5"/>
                </p:custDataLst>
              </p:nvPr>
            </p:nvSpPr>
            <p:spPr bwMode="auto">
              <a:xfrm>
                <a:off x="1525808" y="1827568"/>
                <a:ext cx="3652018" cy="879213"/>
              </a:xfrm>
              <a:custGeom>
                <a:avLst/>
                <a:gdLst>
                  <a:gd name="T0" fmla="*/ 0 w 3682"/>
                  <a:gd name="T1" fmla="*/ 0 h 786"/>
                  <a:gd name="T2" fmla="*/ 3682 w 3682"/>
                  <a:gd name="T3" fmla="*/ 0 h 786"/>
                  <a:gd name="T4" fmla="*/ 3682 w 3682"/>
                  <a:gd name="T5" fmla="*/ 637 h 786"/>
                  <a:gd name="T6" fmla="*/ 1823 w 3682"/>
                  <a:gd name="T7" fmla="*/ 786 h 786"/>
                  <a:gd name="T8" fmla="*/ 0 w 3682"/>
                  <a:gd name="T9" fmla="*/ 637 h 786"/>
                  <a:gd name="T10" fmla="*/ 0 w 3682"/>
                  <a:gd name="T11" fmla="*/ 0 h 786"/>
                </a:gdLst>
                <a:ahLst/>
                <a:cxnLst>
                  <a:cxn ang="0">
                    <a:pos x="T0" y="T1"/>
                  </a:cxn>
                  <a:cxn ang="0">
                    <a:pos x="T2" y="T3"/>
                  </a:cxn>
                  <a:cxn ang="0">
                    <a:pos x="T4" y="T5"/>
                  </a:cxn>
                  <a:cxn ang="0">
                    <a:pos x="T6" y="T7"/>
                  </a:cxn>
                  <a:cxn ang="0">
                    <a:pos x="T8" y="T9"/>
                  </a:cxn>
                  <a:cxn ang="0">
                    <a:pos x="T10" y="T11"/>
                  </a:cxn>
                </a:cxnLst>
                <a:rect l="0" t="0" r="r" b="b"/>
                <a:pathLst>
                  <a:path w="3682" h="786">
                    <a:moveTo>
                      <a:pt x="0" y="0"/>
                    </a:moveTo>
                    <a:lnTo>
                      <a:pt x="3682" y="0"/>
                    </a:lnTo>
                    <a:lnTo>
                      <a:pt x="3682" y="637"/>
                    </a:lnTo>
                    <a:lnTo>
                      <a:pt x="1823" y="786"/>
                    </a:lnTo>
                    <a:lnTo>
                      <a:pt x="0" y="637"/>
                    </a:lnTo>
                    <a:lnTo>
                      <a:pt x="0" y="0"/>
                    </a:lnTo>
                    <a:close/>
                  </a:path>
                </a:pathLst>
              </a:custGeom>
              <a:solidFill>
                <a:schemeClr val="accent1"/>
              </a:solidFill>
              <a:ln>
                <a:noFill/>
              </a:ln>
            </p:spPr>
            <p:txBody>
              <a:bodyPr vert="horz" wrap="square" lIns="91440" tIns="45720" rIns="91440" bIns="45720" numCol="1" anchor="t" anchorCtr="0" compatLnSpc="1"/>
              <a:lstStyle/>
              <a:p>
                <a:endParaRPr lang="zh-CN" altLang="en-US">
                  <a:cs typeface="思源黑体 CN Light" panose="020B0300000000000000" pitchFamily="34" charset="-122"/>
                </a:endParaRPr>
              </a:p>
            </p:txBody>
          </p:sp>
          <p:sp>
            <p:nvSpPr>
              <p:cNvPr id="31" name="矩形 30"/>
              <p:cNvSpPr/>
              <p:nvPr>
                <p:custDataLst>
                  <p:tags r:id="rId6"/>
                </p:custDataLst>
              </p:nvPr>
            </p:nvSpPr>
            <p:spPr>
              <a:xfrm>
                <a:off x="2028138" y="2013544"/>
                <a:ext cx="2946392" cy="548370"/>
              </a:xfrm>
              <a:prstGeom prst="rect">
                <a:avLst/>
              </a:prstGeom>
            </p:spPr>
            <p:txBody>
              <a:bodyPr wrap="square">
                <a:noAutofit/>
              </a:bodyPr>
              <a:lstStyle/>
              <a:p>
                <a:pPr algn="ctr"/>
                <a:r>
                  <a:rPr lang="en-US" altLang="zh-CN" sz="2000" b="1" dirty="0">
                    <a:solidFill>
                      <a:schemeClr val="bg1"/>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rPr>
                  <a:t>SHINE</a:t>
                </a:r>
                <a:r>
                  <a:rPr lang="zh-CN" altLang="en-US" sz="2000" b="1" dirty="0">
                    <a:solidFill>
                      <a:schemeClr val="bg1"/>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rPr>
                  <a:t>（</a:t>
                </a:r>
                <a:r>
                  <a:rPr lang="en-US" altLang="zh-CN" sz="2000" b="1" dirty="0">
                    <a:solidFill>
                      <a:schemeClr val="bg1"/>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rPr>
                  <a:t>arXiv2025</a:t>
                </a:r>
                <a:r>
                  <a:rPr lang="zh-CN" altLang="en-US" sz="2000" b="1" dirty="0">
                    <a:solidFill>
                      <a:schemeClr val="bg1"/>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rPr>
                  <a:t>）</a:t>
                </a:r>
                <a:endParaRPr lang="zh-CN" altLang="en-US" sz="2000" b="1" dirty="0">
                  <a:solidFill>
                    <a:schemeClr val="bg1"/>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endParaRPr>
              </a:p>
            </p:txBody>
          </p:sp>
        </p:grpSp>
        <p:sp>
          <p:nvSpPr>
            <p:cNvPr id="26" name="矩形 25"/>
            <p:cNvSpPr/>
            <p:nvPr>
              <p:custDataLst>
                <p:tags r:id="rId7"/>
              </p:custDataLst>
            </p:nvPr>
          </p:nvSpPr>
          <p:spPr>
            <a:xfrm>
              <a:off x="1337639" y="2919936"/>
              <a:ext cx="4178306" cy="2776611"/>
            </a:xfrm>
            <a:prstGeom prst="rect">
              <a:avLst/>
            </a:prstGeom>
          </p:spPr>
          <p:txBody>
            <a:bodyPr wrap="square" lIns="91438" tIns="45719" rIns="91438" bIns="45719">
              <a:spAutoFit/>
            </a:bodyPr>
            <a:lstStyle/>
            <a:p>
              <a:pPr marL="171450" indent="-171450">
                <a:lnSpc>
                  <a:spcPct val="150000"/>
                </a:lnSpc>
                <a:buFont typeface="Arial" panose="020B0604020202020204" pitchFamily="34" charset="0"/>
                <a:buChar char="•"/>
              </a:pPr>
              <a:r>
                <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构建保持全局图结构的 </a:t>
              </a:r>
              <a:r>
                <a:rPr lang="en-US" altLang="zh-CN"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HNSW </a:t>
              </a:r>
              <a:r>
                <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索引，避免传统分片破坏图边导致精度下降。</a:t>
              </a:r>
              <a:endPar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endParaRPr>
            </a:p>
            <a:p>
              <a:pPr marL="171450" indent="-171450">
                <a:lnSpc>
                  <a:spcPct val="150000"/>
                </a:lnSpc>
                <a:buFont typeface="Arial" panose="020B0604020202020204" pitchFamily="34" charset="0"/>
                <a:buChar char="•"/>
              </a:pPr>
              <a:r>
                <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计算节点通过 </a:t>
              </a:r>
              <a:r>
                <a:rPr lang="en-US" altLang="zh-CN"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RDMA </a:t>
              </a:r>
              <a:r>
                <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读取远端图节点和向量，在本地完成距离计算。</a:t>
              </a:r>
              <a:endPar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endParaRPr>
            </a:p>
            <a:p>
              <a:pPr marL="171450" indent="-171450">
                <a:lnSpc>
                  <a:spcPct val="150000"/>
                </a:lnSpc>
                <a:buFont typeface="Arial" panose="020B0604020202020204" pitchFamily="34" charset="0"/>
                <a:buChar char="•"/>
              </a:pPr>
              <a:r>
                <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通过计算节点缓存、逻辑图分区和自适应查询路由提高缓存命中率与系统吞吐。</a:t>
              </a:r>
              <a:endPar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endParaRPr>
            </a:p>
          </p:txBody>
        </p:sp>
        <p:sp>
          <p:nvSpPr>
            <p:cNvPr id="27" name="矩形 26"/>
            <p:cNvSpPr/>
            <p:nvPr>
              <p:custDataLst>
                <p:tags r:id="rId8"/>
              </p:custDataLst>
            </p:nvPr>
          </p:nvSpPr>
          <p:spPr>
            <a:xfrm>
              <a:off x="5177826" y="5950857"/>
              <a:ext cx="406400" cy="406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Light" panose="020B0300000000000000" pitchFamily="34" charset="-122"/>
              </a:endParaRPr>
            </a:p>
          </p:txBody>
        </p:sp>
        <p:sp>
          <p:nvSpPr>
            <p:cNvPr id="28" name="矩形 27"/>
            <p:cNvSpPr/>
            <p:nvPr>
              <p:custDataLst>
                <p:tags r:id="rId9"/>
              </p:custDataLst>
            </p:nvPr>
          </p:nvSpPr>
          <p:spPr>
            <a:xfrm>
              <a:off x="5223200" y="5984780"/>
              <a:ext cx="320922" cy="461465"/>
            </a:xfrm>
            <a:prstGeom prst="rect">
              <a:avLst/>
            </a:prstGeom>
          </p:spPr>
          <p:txBody>
            <a:bodyPr wrap="square">
              <a:spAutoFit/>
            </a:bodyPr>
            <a:lstStyle/>
            <a:p>
              <a:pPr algn="ctr"/>
              <a:r>
                <a:rPr lang="en-US" altLang="zh-CN" sz="1600" b="1" dirty="0">
                  <a:solidFill>
                    <a:schemeClr val="bg2"/>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rPr>
                <a:t>1</a:t>
              </a:r>
              <a:endParaRPr lang="zh-CN" altLang="en-US" sz="1600" b="1" dirty="0">
                <a:solidFill>
                  <a:schemeClr val="bg2"/>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endParaRPr>
            </a:p>
          </p:txBody>
        </p:sp>
      </p:grpSp>
      <p:grpSp>
        <p:nvGrpSpPr>
          <p:cNvPr id="32" name="组合 31"/>
          <p:cNvGrpSpPr/>
          <p:nvPr>
            <p:custDataLst>
              <p:tags r:id="rId10"/>
            </p:custDataLst>
          </p:nvPr>
        </p:nvGrpSpPr>
        <p:grpSpPr>
          <a:xfrm>
            <a:off x="6528435" y="1916430"/>
            <a:ext cx="4982210" cy="3348243"/>
            <a:chOff x="6257940" y="1827568"/>
            <a:chExt cx="4973621" cy="4632408"/>
          </a:xfrm>
        </p:grpSpPr>
        <p:sp>
          <p:nvSpPr>
            <p:cNvPr id="33" name="等腰三角形 24"/>
            <p:cNvSpPr/>
            <p:nvPr>
              <p:custDataLst>
                <p:tags r:id="rId11"/>
              </p:custDataLst>
            </p:nvPr>
          </p:nvSpPr>
          <p:spPr>
            <a:xfrm rot="10800000">
              <a:off x="10875252" y="6038681"/>
              <a:ext cx="330982" cy="318293"/>
            </a:xfrm>
            <a:custGeom>
              <a:avLst/>
              <a:gdLst>
                <a:gd name="connsiteX0" fmla="*/ 0 w 397658"/>
                <a:gd name="connsiteY0" fmla="*/ 406400 h 406400"/>
                <a:gd name="connsiteX1" fmla="*/ 198829 w 397658"/>
                <a:gd name="connsiteY1" fmla="*/ 0 h 406400"/>
                <a:gd name="connsiteX2" fmla="*/ 397658 w 397658"/>
                <a:gd name="connsiteY2" fmla="*/ 406400 h 406400"/>
                <a:gd name="connsiteX3" fmla="*/ 0 w 397658"/>
                <a:gd name="connsiteY3" fmla="*/ 406400 h 406400"/>
                <a:gd name="connsiteX0-1" fmla="*/ 0 w 397658"/>
                <a:gd name="connsiteY0-2" fmla="*/ 411162 h 411162"/>
                <a:gd name="connsiteX1-3" fmla="*/ 332179 w 397658"/>
                <a:gd name="connsiteY1-4" fmla="*/ 0 h 411162"/>
                <a:gd name="connsiteX2-5" fmla="*/ 397658 w 397658"/>
                <a:gd name="connsiteY2-6" fmla="*/ 411162 h 411162"/>
                <a:gd name="connsiteX3-7" fmla="*/ 0 w 397658"/>
                <a:gd name="connsiteY3-8" fmla="*/ 411162 h 411162"/>
                <a:gd name="connsiteX0-9" fmla="*/ 0 w 338126"/>
                <a:gd name="connsiteY0-10" fmla="*/ 342105 h 411162"/>
                <a:gd name="connsiteX1-11" fmla="*/ 272647 w 338126"/>
                <a:gd name="connsiteY1-12" fmla="*/ 0 h 411162"/>
                <a:gd name="connsiteX2-13" fmla="*/ 338126 w 338126"/>
                <a:gd name="connsiteY2-14" fmla="*/ 411162 h 411162"/>
                <a:gd name="connsiteX3-15" fmla="*/ 0 w 338126"/>
                <a:gd name="connsiteY3-16" fmla="*/ 342105 h 411162"/>
                <a:gd name="connsiteX0-17" fmla="*/ 0 w 323838"/>
                <a:gd name="connsiteY0-18" fmla="*/ 342105 h 342105"/>
                <a:gd name="connsiteX1-19" fmla="*/ 272647 w 323838"/>
                <a:gd name="connsiteY1-20" fmla="*/ 0 h 342105"/>
                <a:gd name="connsiteX2-21" fmla="*/ 323838 w 323838"/>
                <a:gd name="connsiteY2-22" fmla="*/ 311149 h 342105"/>
                <a:gd name="connsiteX3-23" fmla="*/ 0 w 323838"/>
                <a:gd name="connsiteY3-24" fmla="*/ 342105 h 342105"/>
                <a:gd name="connsiteX0-25" fmla="*/ 0 w 321457"/>
                <a:gd name="connsiteY0-26" fmla="*/ 342105 h 342105"/>
                <a:gd name="connsiteX1-27" fmla="*/ 272647 w 321457"/>
                <a:gd name="connsiteY1-28" fmla="*/ 0 h 342105"/>
                <a:gd name="connsiteX2-29" fmla="*/ 321457 w 321457"/>
                <a:gd name="connsiteY2-30" fmla="*/ 318293 h 342105"/>
                <a:gd name="connsiteX3-31" fmla="*/ 0 w 321457"/>
                <a:gd name="connsiteY3-32" fmla="*/ 342105 h 342105"/>
                <a:gd name="connsiteX0-33" fmla="*/ 0 w 321457"/>
                <a:gd name="connsiteY0-34" fmla="*/ 313530 h 318293"/>
                <a:gd name="connsiteX1-35" fmla="*/ 272647 w 321457"/>
                <a:gd name="connsiteY1-36" fmla="*/ 0 h 318293"/>
                <a:gd name="connsiteX2-37" fmla="*/ 321457 w 321457"/>
                <a:gd name="connsiteY2-38" fmla="*/ 318293 h 318293"/>
                <a:gd name="connsiteX3-39" fmla="*/ 0 w 321457"/>
                <a:gd name="connsiteY3-40" fmla="*/ 313530 h 318293"/>
                <a:gd name="connsiteX0-41" fmla="*/ 0 w 321457"/>
                <a:gd name="connsiteY0-42" fmla="*/ 318292 h 318293"/>
                <a:gd name="connsiteX1-43" fmla="*/ 272647 w 321457"/>
                <a:gd name="connsiteY1-44" fmla="*/ 0 h 318293"/>
                <a:gd name="connsiteX2-45" fmla="*/ 321457 w 321457"/>
                <a:gd name="connsiteY2-46" fmla="*/ 318293 h 318293"/>
                <a:gd name="connsiteX3-47" fmla="*/ 0 w 321457"/>
                <a:gd name="connsiteY3-48" fmla="*/ 318292 h 318293"/>
                <a:gd name="connsiteX0-49" fmla="*/ 0 w 330982"/>
                <a:gd name="connsiteY0-50" fmla="*/ 277811 h 318293"/>
                <a:gd name="connsiteX1-51" fmla="*/ 282172 w 330982"/>
                <a:gd name="connsiteY1-52" fmla="*/ 0 h 318293"/>
                <a:gd name="connsiteX2-53" fmla="*/ 330982 w 330982"/>
                <a:gd name="connsiteY2-54" fmla="*/ 318293 h 318293"/>
                <a:gd name="connsiteX3-55" fmla="*/ 0 w 330982"/>
                <a:gd name="connsiteY3-56" fmla="*/ 277811 h 318293"/>
              </a:gdLst>
              <a:ahLst/>
              <a:cxnLst>
                <a:cxn ang="0">
                  <a:pos x="connsiteX0-1" y="connsiteY0-2"/>
                </a:cxn>
                <a:cxn ang="0">
                  <a:pos x="connsiteX1-3" y="connsiteY1-4"/>
                </a:cxn>
                <a:cxn ang="0">
                  <a:pos x="connsiteX2-5" y="connsiteY2-6"/>
                </a:cxn>
                <a:cxn ang="0">
                  <a:pos x="connsiteX3-7" y="connsiteY3-8"/>
                </a:cxn>
              </a:cxnLst>
              <a:rect l="l" t="t" r="r" b="b"/>
              <a:pathLst>
                <a:path w="330982" h="318293">
                  <a:moveTo>
                    <a:pt x="0" y="277811"/>
                  </a:moveTo>
                  <a:lnTo>
                    <a:pt x="282172" y="0"/>
                  </a:lnTo>
                  <a:lnTo>
                    <a:pt x="330982" y="318293"/>
                  </a:lnTo>
                  <a:lnTo>
                    <a:pt x="0" y="27781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Light" panose="020B0300000000000000" pitchFamily="34" charset="-122"/>
              </a:endParaRPr>
            </a:p>
          </p:txBody>
        </p:sp>
        <p:sp>
          <p:nvSpPr>
            <p:cNvPr id="54" name="矩形 53"/>
            <p:cNvSpPr/>
            <p:nvPr>
              <p:custDataLst>
                <p:tags r:id="rId12"/>
              </p:custDataLst>
            </p:nvPr>
          </p:nvSpPr>
          <p:spPr bwMode="auto">
            <a:xfrm>
              <a:off x="6257940" y="1978696"/>
              <a:ext cx="4973621" cy="4262864"/>
            </a:xfrm>
            <a:prstGeom prst="rect">
              <a:avLst/>
            </a:prstGeom>
            <a:solidFill>
              <a:schemeClr val="bg1">
                <a:lumMod val="85000"/>
              </a:schemeClr>
            </a:solidFill>
            <a:ln>
              <a:noFill/>
            </a:ln>
          </p:spPr>
          <p:txBody>
            <a:bodyPr vert="horz" wrap="square" lIns="91440" tIns="45720" rIns="91440" bIns="45720" numCol="1" anchor="t" anchorCtr="0" compatLnSpc="1"/>
            <a:lstStyle/>
            <a:p>
              <a:endParaRPr lang="zh-CN" altLang="en-US">
                <a:solidFill>
                  <a:schemeClr val="bg1"/>
                </a:solidFill>
                <a:cs typeface="思源黑体 CN Light" panose="020B0300000000000000" pitchFamily="34" charset="-122"/>
              </a:endParaRPr>
            </a:p>
          </p:txBody>
        </p:sp>
        <p:grpSp>
          <p:nvGrpSpPr>
            <p:cNvPr id="55" name="组合 54"/>
            <p:cNvGrpSpPr/>
            <p:nvPr/>
          </p:nvGrpSpPr>
          <p:grpSpPr>
            <a:xfrm>
              <a:off x="6647444" y="1827568"/>
              <a:ext cx="4200402" cy="879213"/>
              <a:chOff x="6647444" y="1827568"/>
              <a:chExt cx="4200402" cy="879213"/>
            </a:xfrm>
          </p:grpSpPr>
          <p:sp>
            <p:nvSpPr>
              <p:cNvPr id="59" name="Freeform 6"/>
              <p:cNvSpPr/>
              <p:nvPr>
                <p:custDataLst>
                  <p:tags r:id="rId13"/>
                </p:custDataLst>
              </p:nvPr>
            </p:nvSpPr>
            <p:spPr bwMode="auto">
              <a:xfrm>
                <a:off x="6647444" y="1827568"/>
                <a:ext cx="4200402" cy="150812"/>
              </a:xfrm>
              <a:custGeom>
                <a:avLst/>
                <a:gdLst>
                  <a:gd name="T0" fmla="*/ 285 w 4236"/>
                  <a:gd name="T1" fmla="*/ 0 h 186"/>
                  <a:gd name="T2" fmla="*/ 3967 w 4236"/>
                  <a:gd name="T3" fmla="*/ 0 h 186"/>
                  <a:gd name="T4" fmla="*/ 4236 w 4236"/>
                  <a:gd name="T5" fmla="*/ 186 h 186"/>
                  <a:gd name="T6" fmla="*/ 0 w 4236"/>
                  <a:gd name="T7" fmla="*/ 186 h 186"/>
                  <a:gd name="T8" fmla="*/ 285 w 4236"/>
                  <a:gd name="T9" fmla="*/ 0 h 186"/>
                </a:gdLst>
                <a:ahLst/>
                <a:cxnLst>
                  <a:cxn ang="0">
                    <a:pos x="T0" y="T1"/>
                  </a:cxn>
                  <a:cxn ang="0">
                    <a:pos x="T2" y="T3"/>
                  </a:cxn>
                  <a:cxn ang="0">
                    <a:pos x="T4" y="T5"/>
                  </a:cxn>
                  <a:cxn ang="0">
                    <a:pos x="T6" y="T7"/>
                  </a:cxn>
                  <a:cxn ang="0">
                    <a:pos x="T8" y="T9"/>
                  </a:cxn>
                </a:cxnLst>
                <a:rect l="0" t="0" r="r" b="b"/>
                <a:pathLst>
                  <a:path w="4236" h="186">
                    <a:moveTo>
                      <a:pt x="285" y="0"/>
                    </a:moveTo>
                    <a:lnTo>
                      <a:pt x="3967" y="0"/>
                    </a:lnTo>
                    <a:lnTo>
                      <a:pt x="4236" y="186"/>
                    </a:lnTo>
                    <a:lnTo>
                      <a:pt x="0" y="186"/>
                    </a:lnTo>
                    <a:lnTo>
                      <a:pt x="285" y="0"/>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2"/>
                  </a:solidFill>
                  <a:cs typeface="思源黑体 CN Light" panose="020B0300000000000000" pitchFamily="34" charset="-122"/>
                </a:endParaRPr>
              </a:p>
            </p:txBody>
          </p:sp>
          <p:sp>
            <p:nvSpPr>
              <p:cNvPr id="60" name="Freeform 7"/>
              <p:cNvSpPr/>
              <p:nvPr>
                <p:custDataLst>
                  <p:tags r:id="rId14"/>
                </p:custDataLst>
              </p:nvPr>
            </p:nvSpPr>
            <p:spPr bwMode="auto">
              <a:xfrm>
                <a:off x="6927987" y="1827568"/>
                <a:ext cx="3652018" cy="879213"/>
              </a:xfrm>
              <a:custGeom>
                <a:avLst/>
                <a:gdLst>
                  <a:gd name="T0" fmla="*/ 0 w 3682"/>
                  <a:gd name="T1" fmla="*/ 0 h 786"/>
                  <a:gd name="T2" fmla="*/ 3682 w 3682"/>
                  <a:gd name="T3" fmla="*/ 0 h 786"/>
                  <a:gd name="T4" fmla="*/ 3682 w 3682"/>
                  <a:gd name="T5" fmla="*/ 637 h 786"/>
                  <a:gd name="T6" fmla="*/ 1823 w 3682"/>
                  <a:gd name="T7" fmla="*/ 786 h 786"/>
                  <a:gd name="T8" fmla="*/ 0 w 3682"/>
                  <a:gd name="T9" fmla="*/ 637 h 786"/>
                  <a:gd name="T10" fmla="*/ 0 w 3682"/>
                  <a:gd name="T11" fmla="*/ 0 h 786"/>
                </a:gdLst>
                <a:ahLst/>
                <a:cxnLst>
                  <a:cxn ang="0">
                    <a:pos x="T0" y="T1"/>
                  </a:cxn>
                  <a:cxn ang="0">
                    <a:pos x="T2" y="T3"/>
                  </a:cxn>
                  <a:cxn ang="0">
                    <a:pos x="T4" y="T5"/>
                  </a:cxn>
                  <a:cxn ang="0">
                    <a:pos x="T6" y="T7"/>
                  </a:cxn>
                  <a:cxn ang="0">
                    <a:pos x="T8" y="T9"/>
                  </a:cxn>
                  <a:cxn ang="0">
                    <a:pos x="T10" y="T11"/>
                  </a:cxn>
                </a:cxnLst>
                <a:rect l="0" t="0" r="r" b="b"/>
                <a:pathLst>
                  <a:path w="3682" h="786">
                    <a:moveTo>
                      <a:pt x="0" y="0"/>
                    </a:moveTo>
                    <a:lnTo>
                      <a:pt x="3682" y="0"/>
                    </a:lnTo>
                    <a:lnTo>
                      <a:pt x="3682" y="637"/>
                    </a:lnTo>
                    <a:lnTo>
                      <a:pt x="1823" y="786"/>
                    </a:lnTo>
                    <a:lnTo>
                      <a:pt x="0" y="637"/>
                    </a:lnTo>
                    <a:lnTo>
                      <a:pt x="0" y="0"/>
                    </a:lnTo>
                    <a:close/>
                  </a:path>
                </a:pathLst>
              </a:custGeom>
              <a:solidFill>
                <a:schemeClr val="accent1"/>
              </a:solidFill>
              <a:ln>
                <a:noFill/>
              </a:ln>
            </p:spPr>
            <p:txBody>
              <a:bodyPr vert="horz" wrap="square" lIns="91440" tIns="45720" rIns="91440" bIns="45720" numCol="1" anchor="t" anchorCtr="0" compatLnSpc="1"/>
              <a:lstStyle/>
              <a:p>
                <a:endParaRPr lang="zh-CN" altLang="en-US" dirty="0">
                  <a:cs typeface="思源黑体 CN Light" panose="020B0300000000000000" pitchFamily="34" charset="-122"/>
                </a:endParaRPr>
              </a:p>
            </p:txBody>
          </p:sp>
          <p:sp>
            <p:nvSpPr>
              <p:cNvPr id="61" name="矩形 60"/>
              <p:cNvSpPr/>
              <p:nvPr>
                <p:custDataLst>
                  <p:tags r:id="rId15"/>
                </p:custDataLst>
              </p:nvPr>
            </p:nvSpPr>
            <p:spPr>
              <a:xfrm>
                <a:off x="7310509" y="2026998"/>
                <a:ext cx="3189178" cy="551726"/>
              </a:xfrm>
              <a:prstGeom prst="rect">
                <a:avLst/>
              </a:prstGeom>
            </p:spPr>
            <p:txBody>
              <a:bodyPr wrap="square">
                <a:spAutoFit/>
              </a:bodyPr>
              <a:lstStyle/>
              <a:p>
                <a:pPr algn="ctr"/>
                <a:r>
                  <a:rPr lang="en-US" altLang="zh-CN" sz="2000" b="1" dirty="0">
                    <a:solidFill>
                      <a:schemeClr val="bg1"/>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rPr>
                  <a:t>DistVS</a:t>
                </a:r>
                <a:r>
                  <a:rPr lang="zh-CN" altLang="en-US" sz="2000" b="1" dirty="0">
                    <a:solidFill>
                      <a:schemeClr val="bg1"/>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rPr>
                  <a:t>（</a:t>
                </a:r>
                <a:r>
                  <a:rPr lang="en-US" altLang="zh-CN" sz="2000" b="1" dirty="0">
                    <a:solidFill>
                      <a:schemeClr val="bg1"/>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rPr>
                  <a:t>NSDI2026</a:t>
                </a:r>
                <a:r>
                  <a:rPr lang="zh-CN" altLang="en-US" sz="2000" b="1" dirty="0">
                    <a:solidFill>
                      <a:schemeClr val="bg1"/>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rPr>
                  <a:t>）</a:t>
                </a:r>
                <a:endParaRPr lang="zh-CN" altLang="en-US" sz="2000" b="1" dirty="0">
                  <a:solidFill>
                    <a:schemeClr val="bg1"/>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endParaRPr>
              </a:p>
            </p:txBody>
          </p:sp>
        </p:grpSp>
        <p:sp>
          <p:nvSpPr>
            <p:cNvPr id="56" name="矩形 55"/>
            <p:cNvSpPr/>
            <p:nvPr>
              <p:custDataLst>
                <p:tags r:id="rId16"/>
              </p:custDataLst>
            </p:nvPr>
          </p:nvSpPr>
          <p:spPr>
            <a:xfrm>
              <a:off x="6647444" y="2830817"/>
              <a:ext cx="4178306" cy="3254127"/>
            </a:xfrm>
            <a:prstGeom prst="rect">
              <a:avLst/>
            </a:prstGeom>
          </p:spPr>
          <p:txBody>
            <a:bodyPr wrap="square" lIns="91438" tIns="45719" rIns="91438" bIns="45719">
              <a:spAutoFit/>
            </a:bodyPr>
            <a:lstStyle/>
            <a:p>
              <a:pPr marL="171450" indent="-171450">
                <a:lnSpc>
                  <a:spcPct val="150000"/>
                </a:lnSpc>
                <a:buFont typeface="Arial" panose="020B0604020202020204" pitchFamily="34" charset="0"/>
                <a:buChar char="•"/>
              </a:pPr>
              <a:r>
                <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采用三层存储布局，计算节点保存低精度压缩向量，内存节点保存高精度压缩向量与图索引，</a:t>
              </a:r>
              <a:r>
                <a:rPr lang="en-US" altLang="zh-CN"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SSD </a:t>
              </a:r>
              <a:r>
                <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保存原始精确向量。</a:t>
              </a:r>
              <a:endPar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endParaRPr>
            </a:p>
            <a:p>
              <a:pPr marL="171450" indent="-171450">
                <a:lnSpc>
                  <a:spcPct val="150000"/>
                </a:lnSpc>
                <a:buFont typeface="Arial" panose="020B0604020202020204" pitchFamily="34" charset="0"/>
                <a:buChar char="•"/>
              </a:pPr>
              <a:r>
                <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通过 </a:t>
              </a:r>
              <a:r>
                <a:rPr lang="en-US" altLang="zh-CN"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PRESS </a:t>
              </a:r>
              <a:r>
                <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算法进行逐级精化搜索，减少高精度向量与精确向量访问。</a:t>
              </a:r>
              <a:endPar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endParaRPr>
            </a:p>
            <a:p>
              <a:pPr marL="171450" indent="-171450">
                <a:lnSpc>
                  <a:spcPct val="150000"/>
                </a:lnSpc>
                <a:buFont typeface="Arial" panose="020B0604020202020204" pitchFamily="34" charset="0"/>
                <a:buChar char="•"/>
              </a:pPr>
              <a:r>
                <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使用异步执行、</a:t>
              </a:r>
              <a:r>
                <a:rPr lang="en-US" altLang="zh-CN"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RDMA IO batching、</a:t>
              </a:r>
              <a:r>
                <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rPr>
                <a:t>解耦重排序等系统优化提升查询吞吐。</a:t>
              </a:r>
              <a:endParaRPr lang="zh-CN" altLang="en-US" sz="1400" dirty="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sym typeface="思源黑体 CN Light" panose="020B0300000000000000" pitchFamily="34" charset="-122"/>
              </a:endParaRPr>
            </a:p>
          </p:txBody>
        </p:sp>
        <p:sp>
          <p:nvSpPr>
            <p:cNvPr id="57" name="矩形 56"/>
            <p:cNvSpPr/>
            <p:nvPr>
              <p:custDataLst>
                <p:tags r:id="rId17"/>
              </p:custDataLst>
            </p:nvPr>
          </p:nvSpPr>
          <p:spPr>
            <a:xfrm>
              <a:off x="10518175" y="5950857"/>
              <a:ext cx="406400" cy="406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Light" panose="020B0300000000000000" pitchFamily="34" charset="-122"/>
              </a:endParaRPr>
            </a:p>
          </p:txBody>
        </p:sp>
        <p:sp>
          <p:nvSpPr>
            <p:cNvPr id="58" name="矩形 57"/>
            <p:cNvSpPr/>
            <p:nvPr>
              <p:custDataLst>
                <p:tags r:id="rId18"/>
              </p:custDataLst>
            </p:nvPr>
          </p:nvSpPr>
          <p:spPr>
            <a:xfrm>
              <a:off x="10557520" y="5993469"/>
              <a:ext cx="320922" cy="466507"/>
            </a:xfrm>
            <a:prstGeom prst="rect">
              <a:avLst/>
            </a:prstGeom>
          </p:spPr>
          <p:txBody>
            <a:bodyPr wrap="square">
              <a:spAutoFit/>
            </a:bodyPr>
            <a:lstStyle/>
            <a:p>
              <a:pPr algn="ctr"/>
              <a:r>
                <a:rPr lang="en-US" altLang="zh-CN" sz="1600" b="1" dirty="0">
                  <a:solidFill>
                    <a:schemeClr val="bg2"/>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rPr>
                <a:t>2</a:t>
              </a:r>
              <a:endParaRPr lang="zh-CN" altLang="en-US" sz="1600" b="1" dirty="0">
                <a:solidFill>
                  <a:schemeClr val="bg2"/>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endParaRPr>
            </a:p>
          </p:txBody>
        </p:sp>
      </p:grpSp>
      <p:sp>
        <p:nvSpPr>
          <p:cNvPr id="37" name="文本框 36"/>
          <p:cNvSpPr txBox="1"/>
          <p:nvPr/>
        </p:nvSpPr>
        <p:spPr>
          <a:xfrm>
            <a:off x="479425" y="5794375"/>
            <a:ext cx="11137900" cy="506730"/>
          </a:xfrm>
          <a:prstGeom prst="rect">
            <a:avLst/>
          </a:prstGeom>
          <a:noFill/>
        </p:spPr>
        <p:txBody>
          <a:bodyPr wrap="square">
            <a:spAutoFit/>
          </a:bodyPr>
          <a:lstStyle>
            <a:defPPr>
              <a:defRPr lang="zh-CN"/>
            </a:defPPr>
            <a:lvl1pPr>
              <a:lnSpc>
                <a:spcPct val="140000"/>
              </a:lnSpc>
              <a:defRPr sz="1400">
                <a:solidFill>
                  <a:schemeClr val="tx1">
                    <a:lumMod val="85000"/>
                    <a:lumOff val="15000"/>
                  </a:schemeClr>
                </a:solidFill>
                <a:latin typeface="思源黑体 CN Light" panose="020B0300000000000000" pitchFamily="34" charset="-122"/>
                <a:ea typeface="思源黑体 CN Light" panose="020B0300000000000000" pitchFamily="34" charset="-122"/>
                <a:cs typeface="思源黑体 CN Normal" panose="020B0400000000000000" charset="-122"/>
              </a:defRPr>
            </a:lvl1pPr>
          </a:lstStyle>
          <a:p>
            <a:pPr>
              <a:lnSpc>
                <a:spcPct val="150000"/>
              </a:lnSpc>
              <a:spcBef>
                <a:spcPts val="300"/>
              </a:spcBef>
              <a:spcAft>
                <a:spcPts val="300"/>
              </a:spcAft>
            </a:pPr>
            <a:r>
              <a:rPr lang="zh-CN" altLang="en-US" sz="1800" dirty="0">
                <a:cs typeface="思源黑体 CN Light" panose="020B0300000000000000" pitchFamily="34" charset="-122"/>
                <a:sym typeface="思源黑体 CN Light" panose="020B0300000000000000" pitchFamily="34" charset="-122"/>
              </a:rPr>
              <a:t>现有存算分离系统查询优化</a:t>
            </a:r>
            <a:r>
              <a:rPr lang="zh-CN" altLang="en-US" sz="1800" dirty="0">
                <a:solidFill>
                  <a:srgbClr val="FF0000"/>
                </a:solidFill>
                <a:cs typeface="思源黑体 CN Light" panose="020B0300000000000000" pitchFamily="34" charset="-122"/>
                <a:sym typeface="思源黑体 CN Light" panose="020B0300000000000000" pitchFamily="34" charset="-122"/>
              </a:rPr>
              <a:t>对动态更新</a:t>
            </a:r>
            <a:r>
              <a:rPr lang="zh-CN" altLang="en-US" sz="1800" dirty="0">
                <a:solidFill>
                  <a:srgbClr val="FF0000"/>
                </a:solidFill>
                <a:cs typeface="思源黑体 CN Light" panose="020B0300000000000000" pitchFamily="34" charset="-122"/>
                <a:sym typeface="思源黑体 CN Light" panose="020B0300000000000000" pitchFamily="34" charset="-122"/>
              </a:rPr>
              <a:t>场景下的优化涉及较少</a:t>
            </a:r>
            <a:endParaRPr lang="zh-CN" altLang="en-US" sz="1800" dirty="0">
              <a:solidFill>
                <a:srgbClr val="FF0000"/>
              </a:solidFill>
              <a:cs typeface="思源黑体 CN Light" panose="020B0300000000000000" pitchFamily="34" charset="-122"/>
              <a:sym typeface="思源黑体 CN Light" panose="020B0300000000000000" pitchFamily="34" charset="-122"/>
            </a:endParaRPr>
          </a:p>
        </p:txBody>
      </p:sp>
      <p:grpSp>
        <p:nvGrpSpPr>
          <p:cNvPr id="38" name="组合 37"/>
          <p:cNvGrpSpPr/>
          <p:nvPr/>
        </p:nvGrpSpPr>
        <p:grpSpPr>
          <a:xfrm>
            <a:off x="612185" y="5212252"/>
            <a:ext cx="1886125" cy="540462"/>
            <a:chOff x="7540019" y="1615319"/>
            <a:chExt cx="1886125" cy="540462"/>
          </a:xfrm>
          <a:solidFill>
            <a:schemeClr val="accent1"/>
          </a:solidFill>
        </p:grpSpPr>
        <p:grpSp>
          <p:nvGrpSpPr>
            <p:cNvPr id="39" name="组合 38"/>
            <p:cNvGrpSpPr/>
            <p:nvPr/>
          </p:nvGrpSpPr>
          <p:grpSpPr>
            <a:xfrm>
              <a:off x="7540019" y="1615319"/>
              <a:ext cx="1886125" cy="540462"/>
              <a:chOff x="7293258" y="3976749"/>
              <a:chExt cx="1886125" cy="540462"/>
            </a:xfrm>
            <a:grpFill/>
          </p:grpSpPr>
          <p:sp>
            <p:nvSpPr>
              <p:cNvPr id="41" name="文本框 40"/>
              <p:cNvSpPr txBox="1"/>
              <p:nvPr/>
            </p:nvSpPr>
            <p:spPr>
              <a:xfrm>
                <a:off x="7853541" y="4129226"/>
                <a:ext cx="1325842" cy="387985"/>
              </a:xfrm>
              <a:prstGeom prst="rect">
                <a:avLst/>
              </a:prstGeom>
              <a:noFill/>
              <a:effectLst/>
            </p:spPr>
            <p:txBody>
              <a:bodyPr wrap="square" lIns="68142" tIns="34071" rIns="68142" bIns="34071" rtlCol="0">
                <a:spAutoFit/>
              </a:bodyPr>
              <a:lstStyle/>
              <a:p>
                <a:pPr algn="ctr"/>
                <a:r>
                  <a:rPr lang="zh-CN" altLang="en-US" sz="2085" dirty="0">
                    <a:solidFill>
                      <a:schemeClr val="accent1"/>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rPr>
                  <a:t>总结</a:t>
                </a:r>
                <a:endParaRPr lang="zh-CN" altLang="en-US" sz="2085" dirty="0">
                  <a:solidFill>
                    <a:schemeClr val="accent1"/>
                  </a:solidFill>
                  <a:latin typeface="汉仪雅酷黑 65W" panose="020B0604020202020204" pitchFamily="34" charset="-122"/>
                  <a:ea typeface="汉仪雅酷黑 65W" panose="020B0604020202020204" pitchFamily="34" charset="-122"/>
                  <a:cs typeface="思源黑体 CN Light" panose="020B0300000000000000" pitchFamily="34" charset="-122"/>
                  <a:sym typeface="汉仪雅酷黑 65W" panose="020B0604020202020204" pitchFamily="34" charset="-122"/>
                </a:endParaRPr>
              </a:p>
            </p:txBody>
          </p:sp>
          <p:grpSp>
            <p:nvGrpSpPr>
              <p:cNvPr id="42" name="组合 41"/>
              <p:cNvGrpSpPr/>
              <p:nvPr/>
            </p:nvGrpSpPr>
            <p:grpSpPr>
              <a:xfrm>
                <a:off x="7293258" y="3976749"/>
                <a:ext cx="593252" cy="538921"/>
                <a:chOff x="9248950" y="4411559"/>
                <a:chExt cx="437260" cy="400751"/>
              </a:xfrm>
              <a:grpFill/>
            </p:grpSpPr>
            <p:sp>
              <p:nvSpPr>
                <p:cNvPr id="43" name="Freeform 43"/>
                <p:cNvSpPr>
                  <a:spLocks noEditPoints="1"/>
                </p:cNvSpPr>
                <p:nvPr/>
              </p:nvSpPr>
              <p:spPr bwMode="auto">
                <a:xfrm>
                  <a:off x="9279669" y="4411559"/>
                  <a:ext cx="160951" cy="219302"/>
                </a:xfrm>
                <a:custGeom>
                  <a:avLst/>
                  <a:gdLst>
                    <a:gd name="T0" fmla="*/ 8 w 110"/>
                    <a:gd name="T1" fmla="*/ 92 h 147"/>
                    <a:gd name="T2" fmla="*/ 17 w 110"/>
                    <a:gd name="T3" fmla="*/ 105 h 147"/>
                    <a:gd name="T4" fmla="*/ 57 w 110"/>
                    <a:gd name="T5" fmla="*/ 147 h 147"/>
                    <a:gd name="T6" fmla="*/ 96 w 110"/>
                    <a:gd name="T7" fmla="*/ 105 h 147"/>
                    <a:gd name="T8" fmla="*/ 97 w 110"/>
                    <a:gd name="T9" fmla="*/ 105 h 147"/>
                    <a:gd name="T10" fmla="*/ 107 w 110"/>
                    <a:gd name="T11" fmla="*/ 92 h 147"/>
                    <a:gd name="T12" fmla="*/ 99 w 110"/>
                    <a:gd name="T13" fmla="*/ 80 h 147"/>
                    <a:gd name="T14" fmla="*/ 87 w 110"/>
                    <a:gd name="T15" fmla="*/ 32 h 147"/>
                    <a:gd name="T16" fmla="*/ 28 w 110"/>
                    <a:gd name="T17" fmla="*/ 25 h 147"/>
                    <a:gd name="T18" fmla="*/ 13 w 110"/>
                    <a:gd name="T19" fmla="*/ 81 h 147"/>
                    <a:gd name="T20" fmla="*/ 13 w 110"/>
                    <a:gd name="T21" fmla="*/ 81 h 147"/>
                    <a:gd name="T22" fmla="*/ 8 w 110"/>
                    <a:gd name="T23" fmla="*/ 92 h 147"/>
                    <a:gd name="T24" fmla="*/ 18 w 110"/>
                    <a:gd name="T25" fmla="*/ 82 h 147"/>
                    <a:gd name="T26" fmla="*/ 18 w 110"/>
                    <a:gd name="T27" fmla="*/ 82 h 147"/>
                    <a:gd name="T28" fmla="*/ 19 w 110"/>
                    <a:gd name="T29" fmla="*/ 82 h 147"/>
                    <a:gd name="T30" fmla="*/ 19 w 110"/>
                    <a:gd name="T31" fmla="*/ 79 h 147"/>
                    <a:gd name="T32" fmla="*/ 22 w 110"/>
                    <a:gd name="T33" fmla="*/ 62 h 147"/>
                    <a:gd name="T34" fmla="*/ 26 w 110"/>
                    <a:gd name="T35" fmla="*/ 57 h 147"/>
                    <a:gd name="T36" fmla="*/ 71 w 110"/>
                    <a:gd name="T37" fmla="*/ 46 h 147"/>
                    <a:gd name="T38" fmla="*/ 93 w 110"/>
                    <a:gd name="T39" fmla="*/ 83 h 147"/>
                    <a:gd name="T40" fmla="*/ 94 w 110"/>
                    <a:gd name="T41" fmla="*/ 83 h 147"/>
                    <a:gd name="T42" fmla="*/ 96 w 110"/>
                    <a:gd name="T43" fmla="*/ 82 h 147"/>
                    <a:gd name="T44" fmla="*/ 97 w 110"/>
                    <a:gd name="T45" fmla="*/ 82 h 147"/>
                    <a:gd name="T46" fmla="*/ 102 w 110"/>
                    <a:gd name="T47" fmla="*/ 85 h 147"/>
                    <a:gd name="T48" fmla="*/ 105 w 110"/>
                    <a:gd name="T49" fmla="*/ 92 h 147"/>
                    <a:gd name="T50" fmla="*/ 102 w 110"/>
                    <a:gd name="T51" fmla="*/ 100 h 147"/>
                    <a:gd name="T52" fmla="*/ 97 w 110"/>
                    <a:gd name="T53" fmla="*/ 102 h 147"/>
                    <a:gd name="T54" fmla="*/ 97 w 110"/>
                    <a:gd name="T55" fmla="*/ 102 h 147"/>
                    <a:gd name="T56" fmla="*/ 94 w 110"/>
                    <a:gd name="T57" fmla="*/ 102 h 147"/>
                    <a:gd name="T58" fmla="*/ 94 w 110"/>
                    <a:gd name="T59" fmla="*/ 105 h 147"/>
                    <a:gd name="T60" fmla="*/ 81 w 110"/>
                    <a:gd name="T61" fmla="*/ 133 h 147"/>
                    <a:gd name="T62" fmla="*/ 70 w 110"/>
                    <a:gd name="T63" fmla="*/ 141 h 147"/>
                    <a:gd name="T64" fmla="*/ 57 w 110"/>
                    <a:gd name="T65" fmla="*/ 144 h 147"/>
                    <a:gd name="T66" fmla="*/ 44 w 110"/>
                    <a:gd name="T67" fmla="*/ 141 h 147"/>
                    <a:gd name="T68" fmla="*/ 33 w 110"/>
                    <a:gd name="T69" fmla="*/ 133 h 147"/>
                    <a:gd name="T70" fmla="*/ 20 w 110"/>
                    <a:gd name="T71" fmla="*/ 105 h 147"/>
                    <a:gd name="T72" fmla="*/ 20 w 110"/>
                    <a:gd name="T73" fmla="*/ 103 h 147"/>
                    <a:gd name="T74" fmla="*/ 17 w 110"/>
                    <a:gd name="T75" fmla="*/ 102 h 147"/>
                    <a:gd name="T76" fmla="*/ 10 w 110"/>
                    <a:gd name="T77" fmla="*/ 92 h 147"/>
                    <a:gd name="T78" fmla="*/ 13 w 110"/>
                    <a:gd name="T79" fmla="*/ 85 h 147"/>
                    <a:gd name="T80" fmla="*/ 18 w 110"/>
                    <a:gd name="T81" fmla="*/ 82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0" h="147">
                      <a:moveTo>
                        <a:pt x="8" y="92"/>
                      </a:moveTo>
                      <a:cubicBezTo>
                        <a:pt x="8" y="99"/>
                        <a:pt x="12" y="105"/>
                        <a:pt x="17" y="105"/>
                      </a:cubicBezTo>
                      <a:cubicBezTo>
                        <a:pt x="21" y="129"/>
                        <a:pt x="37" y="147"/>
                        <a:pt x="57" y="147"/>
                      </a:cubicBezTo>
                      <a:cubicBezTo>
                        <a:pt x="76" y="147"/>
                        <a:pt x="93" y="129"/>
                        <a:pt x="96" y="105"/>
                      </a:cubicBezTo>
                      <a:cubicBezTo>
                        <a:pt x="97" y="105"/>
                        <a:pt x="97" y="105"/>
                        <a:pt x="97" y="105"/>
                      </a:cubicBezTo>
                      <a:cubicBezTo>
                        <a:pt x="103" y="105"/>
                        <a:pt x="107" y="99"/>
                        <a:pt x="107" y="92"/>
                      </a:cubicBezTo>
                      <a:cubicBezTo>
                        <a:pt x="107" y="86"/>
                        <a:pt x="104" y="81"/>
                        <a:pt x="99" y="80"/>
                      </a:cubicBezTo>
                      <a:cubicBezTo>
                        <a:pt x="99" y="80"/>
                        <a:pt x="110" y="43"/>
                        <a:pt x="87" y="32"/>
                      </a:cubicBezTo>
                      <a:cubicBezTo>
                        <a:pt x="84" y="0"/>
                        <a:pt x="28" y="25"/>
                        <a:pt x="28" y="25"/>
                      </a:cubicBezTo>
                      <a:cubicBezTo>
                        <a:pt x="0" y="40"/>
                        <a:pt x="13" y="81"/>
                        <a:pt x="13" y="81"/>
                      </a:cubicBezTo>
                      <a:cubicBezTo>
                        <a:pt x="13" y="81"/>
                        <a:pt x="13" y="81"/>
                        <a:pt x="13" y="81"/>
                      </a:cubicBezTo>
                      <a:cubicBezTo>
                        <a:pt x="10" y="83"/>
                        <a:pt x="8" y="87"/>
                        <a:pt x="8" y="92"/>
                      </a:cubicBezTo>
                      <a:close/>
                      <a:moveTo>
                        <a:pt x="18" y="82"/>
                      </a:moveTo>
                      <a:cubicBezTo>
                        <a:pt x="18" y="82"/>
                        <a:pt x="18" y="82"/>
                        <a:pt x="18" y="82"/>
                      </a:cubicBezTo>
                      <a:cubicBezTo>
                        <a:pt x="19" y="82"/>
                        <a:pt x="19" y="82"/>
                        <a:pt x="19" y="82"/>
                      </a:cubicBezTo>
                      <a:cubicBezTo>
                        <a:pt x="19" y="79"/>
                        <a:pt x="19" y="79"/>
                        <a:pt x="19" y="79"/>
                      </a:cubicBezTo>
                      <a:cubicBezTo>
                        <a:pt x="22" y="62"/>
                        <a:pt x="22" y="62"/>
                        <a:pt x="22" y="62"/>
                      </a:cubicBezTo>
                      <a:cubicBezTo>
                        <a:pt x="24" y="59"/>
                        <a:pt x="26" y="57"/>
                        <a:pt x="26" y="57"/>
                      </a:cubicBezTo>
                      <a:cubicBezTo>
                        <a:pt x="51" y="59"/>
                        <a:pt x="71" y="46"/>
                        <a:pt x="71" y="46"/>
                      </a:cubicBezTo>
                      <a:cubicBezTo>
                        <a:pt x="88" y="33"/>
                        <a:pt x="93" y="83"/>
                        <a:pt x="93" y="83"/>
                      </a:cubicBezTo>
                      <a:cubicBezTo>
                        <a:pt x="94" y="83"/>
                        <a:pt x="94" y="83"/>
                        <a:pt x="94" y="83"/>
                      </a:cubicBezTo>
                      <a:cubicBezTo>
                        <a:pt x="96" y="82"/>
                        <a:pt x="96" y="82"/>
                        <a:pt x="96" y="82"/>
                      </a:cubicBezTo>
                      <a:cubicBezTo>
                        <a:pt x="96" y="82"/>
                        <a:pt x="97" y="82"/>
                        <a:pt x="97" y="82"/>
                      </a:cubicBezTo>
                      <a:cubicBezTo>
                        <a:pt x="99" y="82"/>
                        <a:pt x="101" y="83"/>
                        <a:pt x="102" y="85"/>
                      </a:cubicBezTo>
                      <a:cubicBezTo>
                        <a:pt x="104" y="87"/>
                        <a:pt x="105" y="89"/>
                        <a:pt x="105" y="92"/>
                      </a:cubicBezTo>
                      <a:cubicBezTo>
                        <a:pt x="105" y="95"/>
                        <a:pt x="104" y="98"/>
                        <a:pt x="102" y="100"/>
                      </a:cubicBezTo>
                      <a:cubicBezTo>
                        <a:pt x="101" y="101"/>
                        <a:pt x="99" y="102"/>
                        <a:pt x="97" y="102"/>
                      </a:cubicBezTo>
                      <a:cubicBezTo>
                        <a:pt x="97" y="102"/>
                        <a:pt x="97" y="102"/>
                        <a:pt x="97" y="102"/>
                      </a:cubicBezTo>
                      <a:cubicBezTo>
                        <a:pt x="94" y="102"/>
                        <a:pt x="94" y="102"/>
                        <a:pt x="94" y="102"/>
                      </a:cubicBezTo>
                      <a:cubicBezTo>
                        <a:pt x="94" y="105"/>
                        <a:pt x="94" y="105"/>
                        <a:pt x="94" y="105"/>
                      </a:cubicBezTo>
                      <a:cubicBezTo>
                        <a:pt x="92" y="116"/>
                        <a:pt x="87" y="126"/>
                        <a:pt x="81" y="133"/>
                      </a:cubicBezTo>
                      <a:cubicBezTo>
                        <a:pt x="77" y="136"/>
                        <a:pt x="74" y="139"/>
                        <a:pt x="70" y="141"/>
                      </a:cubicBezTo>
                      <a:cubicBezTo>
                        <a:pt x="66" y="143"/>
                        <a:pt x="61" y="144"/>
                        <a:pt x="57" y="144"/>
                      </a:cubicBezTo>
                      <a:cubicBezTo>
                        <a:pt x="53" y="144"/>
                        <a:pt x="48" y="143"/>
                        <a:pt x="44" y="141"/>
                      </a:cubicBezTo>
                      <a:cubicBezTo>
                        <a:pt x="40" y="139"/>
                        <a:pt x="36" y="136"/>
                        <a:pt x="33" y="133"/>
                      </a:cubicBezTo>
                      <a:cubicBezTo>
                        <a:pt x="26" y="126"/>
                        <a:pt x="22" y="116"/>
                        <a:pt x="20" y="105"/>
                      </a:cubicBezTo>
                      <a:cubicBezTo>
                        <a:pt x="20" y="103"/>
                        <a:pt x="20" y="103"/>
                        <a:pt x="20" y="103"/>
                      </a:cubicBezTo>
                      <a:cubicBezTo>
                        <a:pt x="17" y="102"/>
                        <a:pt x="17" y="102"/>
                        <a:pt x="17" y="102"/>
                      </a:cubicBezTo>
                      <a:cubicBezTo>
                        <a:pt x="14" y="102"/>
                        <a:pt x="10" y="98"/>
                        <a:pt x="10" y="92"/>
                      </a:cubicBezTo>
                      <a:cubicBezTo>
                        <a:pt x="10" y="89"/>
                        <a:pt x="11" y="87"/>
                        <a:pt x="13" y="85"/>
                      </a:cubicBezTo>
                      <a:cubicBezTo>
                        <a:pt x="14" y="83"/>
                        <a:pt x="16" y="82"/>
                        <a:pt x="18" y="82"/>
                      </a:cubicBezTo>
                      <a:close/>
                    </a:path>
                  </a:pathLst>
                </a:custGeom>
                <a:grpFill/>
                <a:ln>
                  <a:noFill/>
                </a:ln>
                <a:effectLst/>
              </p:spPr>
              <p:txBody>
                <a:bodyPr lIns="68142" tIns="34071" rIns="68142" bIns="34071"/>
                <a:lstStyle/>
                <a:p>
                  <a:pPr algn="ctr" eaLnBrk="1" fontAlgn="auto" hangingPunct="1">
                    <a:spcBef>
                      <a:spcPts val="0"/>
                    </a:spcBef>
                    <a:defRPr/>
                  </a:pPr>
                  <a:endParaRPr lang="zh-CN" altLang="en-US" sz="1045">
                    <a:solidFill>
                      <a:schemeClr val="tx1">
                        <a:lumMod val="75000"/>
                        <a:lumOff val="2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endParaRPr>
                </a:p>
              </p:txBody>
            </p:sp>
            <p:sp>
              <p:nvSpPr>
                <p:cNvPr id="44" name="Freeform 44"/>
                <p:cNvSpPr>
                  <a:spLocks noEditPoints="1"/>
                </p:cNvSpPr>
                <p:nvPr/>
              </p:nvSpPr>
              <p:spPr bwMode="auto">
                <a:xfrm>
                  <a:off x="9313740" y="4521857"/>
                  <a:ext cx="96336" cy="34375"/>
                </a:xfrm>
                <a:custGeom>
                  <a:avLst/>
                  <a:gdLst>
                    <a:gd name="T0" fmla="*/ 6 w 65"/>
                    <a:gd name="T1" fmla="*/ 23 h 23"/>
                    <a:gd name="T2" fmla="*/ 23 w 65"/>
                    <a:gd name="T3" fmla="*/ 23 h 23"/>
                    <a:gd name="T4" fmla="*/ 29 w 65"/>
                    <a:gd name="T5" fmla="*/ 17 h 23"/>
                    <a:gd name="T6" fmla="*/ 29 w 65"/>
                    <a:gd name="T7" fmla="*/ 11 h 23"/>
                    <a:gd name="T8" fmla="*/ 35 w 65"/>
                    <a:gd name="T9" fmla="*/ 11 h 23"/>
                    <a:gd name="T10" fmla="*/ 35 w 65"/>
                    <a:gd name="T11" fmla="*/ 17 h 23"/>
                    <a:gd name="T12" fmla="*/ 41 w 65"/>
                    <a:gd name="T13" fmla="*/ 23 h 23"/>
                    <a:gd name="T14" fmla="*/ 59 w 65"/>
                    <a:gd name="T15" fmla="*/ 23 h 23"/>
                    <a:gd name="T16" fmla="*/ 65 w 65"/>
                    <a:gd name="T17" fmla="*/ 17 h 23"/>
                    <a:gd name="T18" fmla="*/ 65 w 65"/>
                    <a:gd name="T19" fmla="*/ 6 h 23"/>
                    <a:gd name="T20" fmla="*/ 59 w 65"/>
                    <a:gd name="T21" fmla="*/ 0 h 23"/>
                    <a:gd name="T22" fmla="*/ 41 w 65"/>
                    <a:gd name="T23" fmla="*/ 0 h 23"/>
                    <a:gd name="T24" fmla="*/ 35 w 65"/>
                    <a:gd name="T25" fmla="*/ 6 h 23"/>
                    <a:gd name="T26" fmla="*/ 35 w 65"/>
                    <a:gd name="T27" fmla="*/ 10 h 23"/>
                    <a:gd name="T28" fmla="*/ 29 w 65"/>
                    <a:gd name="T29" fmla="*/ 10 h 23"/>
                    <a:gd name="T30" fmla="*/ 29 w 65"/>
                    <a:gd name="T31" fmla="*/ 6 h 23"/>
                    <a:gd name="T32" fmla="*/ 23 w 65"/>
                    <a:gd name="T33" fmla="*/ 0 h 23"/>
                    <a:gd name="T34" fmla="*/ 6 w 65"/>
                    <a:gd name="T35" fmla="*/ 0 h 23"/>
                    <a:gd name="T36" fmla="*/ 0 w 65"/>
                    <a:gd name="T37" fmla="*/ 6 h 23"/>
                    <a:gd name="T38" fmla="*/ 0 w 65"/>
                    <a:gd name="T39" fmla="*/ 17 h 23"/>
                    <a:gd name="T40" fmla="*/ 6 w 65"/>
                    <a:gd name="T41" fmla="*/ 23 h 23"/>
                    <a:gd name="T42" fmla="*/ 37 w 65"/>
                    <a:gd name="T43" fmla="*/ 6 h 23"/>
                    <a:gd name="T44" fmla="*/ 41 w 65"/>
                    <a:gd name="T45" fmla="*/ 1 h 23"/>
                    <a:gd name="T46" fmla="*/ 59 w 65"/>
                    <a:gd name="T47" fmla="*/ 1 h 23"/>
                    <a:gd name="T48" fmla="*/ 63 w 65"/>
                    <a:gd name="T49" fmla="*/ 6 h 23"/>
                    <a:gd name="T50" fmla="*/ 63 w 65"/>
                    <a:gd name="T51" fmla="*/ 17 h 23"/>
                    <a:gd name="T52" fmla="*/ 59 w 65"/>
                    <a:gd name="T53" fmla="*/ 21 h 23"/>
                    <a:gd name="T54" fmla="*/ 41 w 65"/>
                    <a:gd name="T55" fmla="*/ 21 h 23"/>
                    <a:gd name="T56" fmla="*/ 37 w 65"/>
                    <a:gd name="T57" fmla="*/ 17 h 23"/>
                    <a:gd name="T58" fmla="*/ 37 w 65"/>
                    <a:gd name="T59" fmla="*/ 6 h 23"/>
                    <a:gd name="T60" fmla="*/ 1 w 65"/>
                    <a:gd name="T61" fmla="*/ 6 h 23"/>
                    <a:gd name="T62" fmla="*/ 6 w 65"/>
                    <a:gd name="T63" fmla="*/ 1 h 23"/>
                    <a:gd name="T64" fmla="*/ 23 w 65"/>
                    <a:gd name="T65" fmla="*/ 1 h 23"/>
                    <a:gd name="T66" fmla="*/ 28 w 65"/>
                    <a:gd name="T67" fmla="*/ 6 h 23"/>
                    <a:gd name="T68" fmla="*/ 28 w 65"/>
                    <a:gd name="T69" fmla="*/ 10 h 23"/>
                    <a:gd name="T70" fmla="*/ 28 w 65"/>
                    <a:gd name="T71" fmla="*/ 11 h 23"/>
                    <a:gd name="T72" fmla="*/ 28 w 65"/>
                    <a:gd name="T73" fmla="*/ 17 h 23"/>
                    <a:gd name="T74" fmla="*/ 23 w 65"/>
                    <a:gd name="T75" fmla="*/ 21 h 23"/>
                    <a:gd name="T76" fmla="*/ 6 w 65"/>
                    <a:gd name="T77" fmla="*/ 21 h 23"/>
                    <a:gd name="T78" fmla="*/ 1 w 65"/>
                    <a:gd name="T79" fmla="*/ 17 h 23"/>
                    <a:gd name="T80" fmla="*/ 1 w 65"/>
                    <a:gd name="T81"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5" h="23">
                      <a:moveTo>
                        <a:pt x="6" y="23"/>
                      </a:moveTo>
                      <a:cubicBezTo>
                        <a:pt x="23" y="23"/>
                        <a:pt x="23" y="23"/>
                        <a:pt x="23" y="23"/>
                      </a:cubicBezTo>
                      <a:cubicBezTo>
                        <a:pt x="26" y="23"/>
                        <a:pt x="29" y="20"/>
                        <a:pt x="29" y="17"/>
                      </a:cubicBezTo>
                      <a:cubicBezTo>
                        <a:pt x="29" y="11"/>
                        <a:pt x="29" y="11"/>
                        <a:pt x="29" y="11"/>
                      </a:cubicBezTo>
                      <a:cubicBezTo>
                        <a:pt x="35" y="11"/>
                        <a:pt x="35" y="11"/>
                        <a:pt x="35" y="11"/>
                      </a:cubicBezTo>
                      <a:cubicBezTo>
                        <a:pt x="35" y="17"/>
                        <a:pt x="35" y="17"/>
                        <a:pt x="35" y="17"/>
                      </a:cubicBezTo>
                      <a:cubicBezTo>
                        <a:pt x="35" y="20"/>
                        <a:pt x="38" y="23"/>
                        <a:pt x="41" y="23"/>
                      </a:cubicBezTo>
                      <a:cubicBezTo>
                        <a:pt x="59" y="23"/>
                        <a:pt x="59" y="23"/>
                        <a:pt x="59" y="23"/>
                      </a:cubicBezTo>
                      <a:cubicBezTo>
                        <a:pt x="62" y="23"/>
                        <a:pt x="65" y="20"/>
                        <a:pt x="65" y="17"/>
                      </a:cubicBezTo>
                      <a:cubicBezTo>
                        <a:pt x="65" y="6"/>
                        <a:pt x="65" y="6"/>
                        <a:pt x="65" y="6"/>
                      </a:cubicBezTo>
                      <a:cubicBezTo>
                        <a:pt x="65" y="3"/>
                        <a:pt x="62" y="0"/>
                        <a:pt x="59" y="0"/>
                      </a:cubicBezTo>
                      <a:cubicBezTo>
                        <a:pt x="41" y="0"/>
                        <a:pt x="41" y="0"/>
                        <a:pt x="41" y="0"/>
                      </a:cubicBezTo>
                      <a:cubicBezTo>
                        <a:pt x="38" y="0"/>
                        <a:pt x="35" y="3"/>
                        <a:pt x="35" y="6"/>
                      </a:cubicBezTo>
                      <a:cubicBezTo>
                        <a:pt x="35" y="10"/>
                        <a:pt x="35" y="10"/>
                        <a:pt x="35" y="10"/>
                      </a:cubicBezTo>
                      <a:cubicBezTo>
                        <a:pt x="29" y="10"/>
                        <a:pt x="29" y="10"/>
                        <a:pt x="29" y="10"/>
                      </a:cubicBezTo>
                      <a:cubicBezTo>
                        <a:pt x="29" y="6"/>
                        <a:pt x="29" y="6"/>
                        <a:pt x="29" y="6"/>
                      </a:cubicBezTo>
                      <a:cubicBezTo>
                        <a:pt x="29" y="3"/>
                        <a:pt x="26" y="0"/>
                        <a:pt x="23" y="0"/>
                      </a:cubicBezTo>
                      <a:cubicBezTo>
                        <a:pt x="6" y="0"/>
                        <a:pt x="6" y="0"/>
                        <a:pt x="6" y="0"/>
                      </a:cubicBezTo>
                      <a:cubicBezTo>
                        <a:pt x="2" y="0"/>
                        <a:pt x="0" y="3"/>
                        <a:pt x="0" y="6"/>
                      </a:cubicBezTo>
                      <a:cubicBezTo>
                        <a:pt x="0" y="17"/>
                        <a:pt x="0" y="17"/>
                        <a:pt x="0" y="17"/>
                      </a:cubicBezTo>
                      <a:cubicBezTo>
                        <a:pt x="0" y="20"/>
                        <a:pt x="2" y="23"/>
                        <a:pt x="6" y="23"/>
                      </a:cubicBezTo>
                      <a:close/>
                      <a:moveTo>
                        <a:pt x="37" y="6"/>
                      </a:moveTo>
                      <a:cubicBezTo>
                        <a:pt x="37" y="3"/>
                        <a:pt x="39" y="1"/>
                        <a:pt x="41" y="1"/>
                      </a:cubicBezTo>
                      <a:cubicBezTo>
                        <a:pt x="59" y="1"/>
                        <a:pt x="59" y="1"/>
                        <a:pt x="59" y="1"/>
                      </a:cubicBezTo>
                      <a:cubicBezTo>
                        <a:pt x="61" y="1"/>
                        <a:pt x="63" y="3"/>
                        <a:pt x="63" y="6"/>
                      </a:cubicBezTo>
                      <a:cubicBezTo>
                        <a:pt x="63" y="17"/>
                        <a:pt x="63" y="17"/>
                        <a:pt x="63" y="17"/>
                      </a:cubicBezTo>
                      <a:cubicBezTo>
                        <a:pt x="63" y="19"/>
                        <a:pt x="61" y="21"/>
                        <a:pt x="59" y="21"/>
                      </a:cubicBezTo>
                      <a:cubicBezTo>
                        <a:pt x="41" y="21"/>
                        <a:pt x="41" y="21"/>
                        <a:pt x="41" y="21"/>
                      </a:cubicBezTo>
                      <a:cubicBezTo>
                        <a:pt x="39" y="21"/>
                        <a:pt x="37" y="19"/>
                        <a:pt x="37" y="17"/>
                      </a:cubicBezTo>
                      <a:lnTo>
                        <a:pt x="37" y="6"/>
                      </a:lnTo>
                      <a:close/>
                      <a:moveTo>
                        <a:pt x="1" y="6"/>
                      </a:moveTo>
                      <a:cubicBezTo>
                        <a:pt x="1" y="3"/>
                        <a:pt x="3" y="1"/>
                        <a:pt x="6" y="1"/>
                      </a:cubicBezTo>
                      <a:cubicBezTo>
                        <a:pt x="23" y="1"/>
                        <a:pt x="23" y="1"/>
                        <a:pt x="23" y="1"/>
                      </a:cubicBezTo>
                      <a:cubicBezTo>
                        <a:pt x="25" y="1"/>
                        <a:pt x="28" y="3"/>
                        <a:pt x="28" y="6"/>
                      </a:cubicBezTo>
                      <a:cubicBezTo>
                        <a:pt x="28" y="10"/>
                        <a:pt x="28" y="10"/>
                        <a:pt x="28" y="10"/>
                      </a:cubicBezTo>
                      <a:cubicBezTo>
                        <a:pt x="28" y="11"/>
                        <a:pt x="28" y="11"/>
                        <a:pt x="28" y="11"/>
                      </a:cubicBezTo>
                      <a:cubicBezTo>
                        <a:pt x="28" y="17"/>
                        <a:pt x="28" y="17"/>
                        <a:pt x="28" y="17"/>
                      </a:cubicBezTo>
                      <a:cubicBezTo>
                        <a:pt x="28" y="19"/>
                        <a:pt x="25" y="21"/>
                        <a:pt x="23" y="21"/>
                      </a:cubicBezTo>
                      <a:cubicBezTo>
                        <a:pt x="6" y="21"/>
                        <a:pt x="6" y="21"/>
                        <a:pt x="6" y="21"/>
                      </a:cubicBezTo>
                      <a:cubicBezTo>
                        <a:pt x="3" y="21"/>
                        <a:pt x="1" y="19"/>
                        <a:pt x="1" y="17"/>
                      </a:cubicBezTo>
                      <a:lnTo>
                        <a:pt x="1" y="6"/>
                      </a:lnTo>
                      <a:close/>
                    </a:path>
                  </a:pathLst>
                </a:custGeom>
                <a:grpFill/>
                <a:ln>
                  <a:noFill/>
                </a:ln>
                <a:effectLst/>
              </p:spPr>
              <p:txBody>
                <a:bodyPr lIns="68142" tIns="34071" rIns="68142" bIns="34071"/>
                <a:lstStyle/>
                <a:p>
                  <a:pPr algn="ctr" eaLnBrk="1" fontAlgn="auto" hangingPunct="1">
                    <a:spcBef>
                      <a:spcPts val="0"/>
                    </a:spcBef>
                    <a:defRPr/>
                  </a:pPr>
                  <a:endParaRPr lang="zh-CN" altLang="en-US" sz="1045">
                    <a:solidFill>
                      <a:schemeClr val="tx1">
                        <a:lumMod val="75000"/>
                        <a:lumOff val="2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endParaRPr>
                </a:p>
              </p:txBody>
            </p:sp>
            <p:sp>
              <p:nvSpPr>
                <p:cNvPr id="45" name="Freeform 45"/>
                <p:cNvSpPr/>
                <p:nvPr/>
              </p:nvSpPr>
              <p:spPr bwMode="auto">
                <a:xfrm>
                  <a:off x="9433570" y="4510001"/>
                  <a:ext cx="252640" cy="297540"/>
                </a:xfrm>
                <a:custGeom>
                  <a:avLst/>
                  <a:gdLst>
                    <a:gd name="T0" fmla="*/ 143 w 172"/>
                    <a:gd name="T1" fmla="*/ 165 h 199"/>
                    <a:gd name="T2" fmla="*/ 143 w 172"/>
                    <a:gd name="T3" fmla="*/ 0 h 199"/>
                    <a:gd name="T4" fmla="*/ 2 w 172"/>
                    <a:gd name="T5" fmla="*/ 0 h 199"/>
                    <a:gd name="T6" fmla="*/ 0 w 172"/>
                    <a:gd name="T7" fmla="*/ 12 h 199"/>
                    <a:gd name="T8" fmla="*/ 5 w 172"/>
                    <a:gd name="T9" fmla="*/ 17 h 199"/>
                    <a:gd name="T10" fmla="*/ 126 w 172"/>
                    <a:gd name="T11" fmla="*/ 17 h 199"/>
                    <a:gd name="T12" fmla="*/ 126 w 172"/>
                    <a:gd name="T13" fmla="*/ 165 h 199"/>
                    <a:gd name="T14" fmla="*/ 39 w 172"/>
                    <a:gd name="T15" fmla="*/ 165 h 199"/>
                    <a:gd name="T16" fmla="*/ 39 w 172"/>
                    <a:gd name="T17" fmla="*/ 176 h 199"/>
                    <a:gd name="T18" fmla="*/ 39 w 172"/>
                    <a:gd name="T19" fmla="*/ 176 h 199"/>
                    <a:gd name="T20" fmla="*/ 10 w 172"/>
                    <a:gd name="T21" fmla="*/ 199 h 199"/>
                    <a:gd name="T22" fmla="*/ 172 w 172"/>
                    <a:gd name="T23" fmla="*/ 199 h 199"/>
                    <a:gd name="T24" fmla="*/ 172 w 172"/>
                    <a:gd name="T25" fmla="*/ 165 h 199"/>
                    <a:gd name="T26" fmla="*/ 143 w 172"/>
                    <a:gd name="T27" fmla="*/ 165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 h="199">
                      <a:moveTo>
                        <a:pt x="143" y="165"/>
                      </a:moveTo>
                      <a:cubicBezTo>
                        <a:pt x="143" y="0"/>
                        <a:pt x="143" y="0"/>
                        <a:pt x="143" y="0"/>
                      </a:cubicBezTo>
                      <a:cubicBezTo>
                        <a:pt x="2" y="0"/>
                        <a:pt x="2" y="0"/>
                        <a:pt x="2" y="0"/>
                      </a:cubicBezTo>
                      <a:cubicBezTo>
                        <a:pt x="1" y="5"/>
                        <a:pt x="1" y="9"/>
                        <a:pt x="0" y="12"/>
                      </a:cubicBezTo>
                      <a:cubicBezTo>
                        <a:pt x="2" y="13"/>
                        <a:pt x="4" y="15"/>
                        <a:pt x="5" y="17"/>
                      </a:cubicBezTo>
                      <a:cubicBezTo>
                        <a:pt x="126" y="17"/>
                        <a:pt x="126" y="17"/>
                        <a:pt x="126" y="17"/>
                      </a:cubicBezTo>
                      <a:cubicBezTo>
                        <a:pt x="126" y="165"/>
                        <a:pt x="126" y="165"/>
                        <a:pt x="126" y="165"/>
                      </a:cubicBezTo>
                      <a:cubicBezTo>
                        <a:pt x="39" y="165"/>
                        <a:pt x="39" y="165"/>
                        <a:pt x="39" y="165"/>
                      </a:cubicBezTo>
                      <a:cubicBezTo>
                        <a:pt x="39" y="176"/>
                        <a:pt x="39" y="176"/>
                        <a:pt x="39" y="176"/>
                      </a:cubicBezTo>
                      <a:cubicBezTo>
                        <a:pt x="39" y="176"/>
                        <a:pt x="39" y="176"/>
                        <a:pt x="39" y="176"/>
                      </a:cubicBezTo>
                      <a:cubicBezTo>
                        <a:pt x="37" y="186"/>
                        <a:pt x="25" y="194"/>
                        <a:pt x="10" y="199"/>
                      </a:cubicBezTo>
                      <a:cubicBezTo>
                        <a:pt x="172" y="199"/>
                        <a:pt x="172" y="199"/>
                        <a:pt x="172" y="199"/>
                      </a:cubicBezTo>
                      <a:cubicBezTo>
                        <a:pt x="172" y="165"/>
                        <a:pt x="172" y="165"/>
                        <a:pt x="172" y="165"/>
                      </a:cubicBezTo>
                      <a:lnTo>
                        <a:pt x="143" y="165"/>
                      </a:lnTo>
                      <a:close/>
                    </a:path>
                  </a:pathLst>
                </a:custGeom>
                <a:grpFill/>
                <a:ln>
                  <a:noFill/>
                </a:ln>
                <a:effectLst/>
              </p:spPr>
              <p:txBody>
                <a:bodyPr lIns="68142" tIns="34071" rIns="68142" bIns="34071"/>
                <a:lstStyle/>
                <a:p>
                  <a:pPr algn="ctr" eaLnBrk="1" fontAlgn="auto" hangingPunct="1">
                    <a:spcBef>
                      <a:spcPts val="0"/>
                    </a:spcBef>
                    <a:defRPr/>
                  </a:pPr>
                  <a:endParaRPr lang="zh-CN" altLang="en-US" sz="1045">
                    <a:solidFill>
                      <a:schemeClr val="tx1">
                        <a:lumMod val="75000"/>
                        <a:lumOff val="2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endParaRPr>
                </a:p>
              </p:txBody>
            </p:sp>
            <p:sp>
              <p:nvSpPr>
                <p:cNvPr id="46" name="Freeform 46"/>
                <p:cNvSpPr/>
                <p:nvPr/>
              </p:nvSpPr>
              <p:spPr bwMode="auto">
                <a:xfrm>
                  <a:off x="9248950" y="4630916"/>
                  <a:ext cx="238579" cy="181394"/>
                </a:xfrm>
                <a:custGeom>
                  <a:avLst/>
                  <a:gdLst>
                    <a:gd name="T0" fmla="*/ 163 w 163"/>
                    <a:gd name="T1" fmla="*/ 91 h 122"/>
                    <a:gd name="T2" fmla="*/ 163 w 163"/>
                    <a:gd name="T3" fmla="*/ 90 h 122"/>
                    <a:gd name="T4" fmla="*/ 163 w 163"/>
                    <a:gd name="T5" fmla="*/ 90 h 122"/>
                    <a:gd name="T6" fmla="*/ 163 w 163"/>
                    <a:gd name="T7" fmla="*/ 39 h 122"/>
                    <a:gd name="T8" fmla="*/ 163 w 163"/>
                    <a:gd name="T9" fmla="*/ 39 h 122"/>
                    <a:gd name="T10" fmla="*/ 126 w 163"/>
                    <a:gd name="T11" fmla="*/ 0 h 122"/>
                    <a:gd name="T12" fmla="*/ 91 w 163"/>
                    <a:gd name="T13" fmla="*/ 59 h 122"/>
                    <a:gd name="T14" fmla="*/ 87 w 163"/>
                    <a:gd name="T15" fmla="*/ 33 h 122"/>
                    <a:gd name="T16" fmla="*/ 91 w 163"/>
                    <a:gd name="T17" fmla="*/ 24 h 122"/>
                    <a:gd name="T18" fmla="*/ 81 w 163"/>
                    <a:gd name="T19" fmla="*/ 14 h 122"/>
                    <a:gd name="T20" fmla="*/ 71 w 163"/>
                    <a:gd name="T21" fmla="*/ 24 h 122"/>
                    <a:gd name="T22" fmla="*/ 76 w 163"/>
                    <a:gd name="T23" fmla="*/ 33 h 122"/>
                    <a:gd name="T24" fmla="*/ 72 w 163"/>
                    <a:gd name="T25" fmla="*/ 59 h 122"/>
                    <a:gd name="T26" fmla="*/ 37 w 163"/>
                    <a:gd name="T27" fmla="*/ 0 h 122"/>
                    <a:gd name="T28" fmla="*/ 0 w 163"/>
                    <a:gd name="T29" fmla="*/ 39 h 122"/>
                    <a:gd name="T30" fmla="*/ 0 w 163"/>
                    <a:gd name="T31" fmla="*/ 39 h 122"/>
                    <a:gd name="T32" fmla="*/ 0 w 163"/>
                    <a:gd name="T33" fmla="*/ 90 h 122"/>
                    <a:gd name="T34" fmla="*/ 0 w 163"/>
                    <a:gd name="T35" fmla="*/ 90 h 122"/>
                    <a:gd name="T36" fmla="*/ 0 w 163"/>
                    <a:gd name="T37" fmla="*/ 91 h 122"/>
                    <a:gd name="T38" fmla="*/ 81 w 163"/>
                    <a:gd name="T39" fmla="*/ 122 h 122"/>
                    <a:gd name="T40" fmla="*/ 163 w 163"/>
                    <a:gd name="T41" fmla="*/ 9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3" h="122">
                      <a:moveTo>
                        <a:pt x="163" y="91"/>
                      </a:moveTo>
                      <a:cubicBezTo>
                        <a:pt x="163" y="90"/>
                        <a:pt x="163" y="90"/>
                        <a:pt x="163" y="90"/>
                      </a:cubicBezTo>
                      <a:cubicBezTo>
                        <a:pt x="163" y="90"/>
                        <a:pt x="163" y="90"/>
                        <a:pt x="163" y="90"/>
                      </a:cubicBezTo>
                      <a:cubicBezTo>
                        <a:pt x="163" y="39"/>
                        <a:pt x="163" y="39"/>
                        <a:pt x="163" y="39"/>
                      </a:cubicBezTo>
                      <a:cubicBezTo>
                        <a:pt x="163" y="39"/>
                        <a:pt x="163" y="39"/>
                        <a:pt x="163" y="39"/>
                      </a:cubicBezTo>
                      <a:cubicBezTo>
                        <a:pt x="160" y="23"/>
                        <a:pt x="146" y="9"/>
                        <a:pt x="126" y="0"/>
                      </a:cubicBezTo>
                      <a:cubicBezTo>
                        <a:pt x="91" y="59"/>
                        <a:pt x="91" y="59"/>
                        <a:pt x="91" y="59"/>
                      </a:cubicBezTo>
                      <a:cubicBezTo>
                        <a:pt x="87" y="33"/>
                        <a:pt x="87" y="33"/>
                        <a:pt x="87" y="33"/>
                      </a:cubicBezTo>
                      <a:cubicBezTo>
                        <a:pt x="89" y="31"/>
                        <a:pt x="91" y="28"/>
                        <a:pt x="91" y="24"/>
                      </a:cubicBezTo>
                      <a:cubicBezTo>
                        <a:pt x="91" y="19"/>
                        <a:pt x="87" y="14"/>
                        <a:pt x="81" y="14"/>
                      </a:cubicBezTo>
                      <a:cubicBezTo>
                        <a:pt x="76" y="14"/>
                        <a:pt x="71" y="19"/>
                        <a:pt x="71" y="24"/>
                      </a:cubicBezTo>
                      <a:cubicBezTo>
                        <a:pt x="71" y="28"/>
                        <a:pt x="73" y="31"/>
                        <a:pt x="76" y="33"/>
                      </a:cubicBezTo>
                      <a:cubicBezTo>
                        <a:pt x="72" y="59"/>
                        <a:pt x="72" y="59"/>
                        <a:pt x="72" y="59"/>
                      </a:cubicBezTo>
                      <a:cubicBezTo>
                        <a:pt x="37" y="0"/>
                        <a:pt x="37" y="0"/>
                        <a:pt x="37" y="0"/>
                      </a:cubicBezTo>
                      <a:cubicBezTo>
                        <a:pt x="17" y="9"/>
                        <a:pt x="3" y="23"/>
                        <a:pt x="0" y="39"/>
                      </a:cubicBezTo>
                      <a:cubicBezTo>
                        <a:pt x="0" y="39"/>
                        <a:pt x="0" y="39"/>
                        <a:pt x="0" y="39"/>
                      </a:cubicBezTo>
                      <a:cubicBezTo>
                        <a:pt x="0" y="90"/>
                        <a:pt x="0" y="90"/>
                        <a:pt x="0" y="90"/>
                      </a:cubicBezTo>
                      <a:cubicBezTo>
                        <a:pt x="0" y="90"/>
                        <a:pt x="0" y="90"/>
                        <a:pt x="0" y="90"/>
                      </a:cubicBezTo>
                      <a:cubicBezTo>
                        <a:pt x="0" y="90"/>
                        <a:pt x="0" y="90"/>
                        <a:pt x="0" y="91"/>
                      </a:cubicBezTo>
                      <a:cubicBezTo>
                        <a:pt x="0" y="108"/>
                        <a:pt x="36" y="122"/>
                        <a:pt x="81" y="122"/>
                      </a:cubicBezTo>
                      <a:cubicBezTo>
                        <a:pt x="127" y="122"/>
                        <a:pt x="163" y="108"/>
                        <a:pt x="163" y="91"/>
                      </a:cubicBezTo>
                      <a:close/>
                    </a:path>
                  </a:pathLst>
                </a:custGeom>
                <a:grpFill/>
                <a:ln>
                  <a:noFill/>
                </a:ln>
                <a:effectLst/>
              </p:spPr>
              <p:txBody>
                <a:bodyPr lIns="68142" tIns="34071" rIns="68142" bIns="34071"/>
                <a:lstStyle/>
                <a:p>
                  <a:pPr algn="ctr" eaLnBrk="1" fontAlgn="auto" hangingPunct="1">
                    <a:spcBef>
                      <a:spcPts val="0"/>
                    </a:spcBef>
                    <a:defRPr/>
                  </a:pPr>
                  <a:endParaRPr lang="zh-CN" altLang="en-US" sz="1045">
                    <a:solidFill>
                      <a:schemeClr val="tx1">
                        <a:lumMod val="75000"/>
                        <a:lumOff val="2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endParaRPr>
                </a:p>
              </p:txBody>
            </p:sp>
            <p:sp>
              <p:nvSpPr>
                <p:cNvPr id="47" name="Rectangle 47"/>
                <p:cNvSpPr>
                  <a:spLocks noChangeArrowheads="1"/>
                </p:cNvSpPr>
                <p:nvPr/>
              </p:nvSpPr>
              <p:spPr bwMode="auto">
                <a:xfrm>
                  <a:off x="9470520" y="4574470"/>
                  <a:ext cx="132806" cy="15420"/>
                </a:xfrm>
                <a:prstGeom prst="rect">
                  <a:avLst/>
                </a:prstGeom>
                <a:grpFill/>
                <a:ln>
                  <a:noFill/>
                </a:ln>
                <a:effectLst/>
              </p:spPr>
              <p:txBody>
                <a:bodyPr lIns="68142" tIns="34071" rIns="68142" bIns="34071"/>
                <a:lstStyle/>
                <a:p>
                  <a:pPr algn="ctr" eaLnBrk="1" fontAlgn="auto" hangingPunct="1">
                    <a:spcBef>
                      <a:spcPts val="0"/>
                    </a:spcBef>
                    <a:defRPr/>
                  </a:pPr>
                  <a:endParaRPr lang="zh-CN" altLang="en-US" sz="1045">
                    <a:solidFill>
                      <a:schemeClr val="tx1">
                        <a:lumMod val="75000"/>
                        <a:lumOff val="2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endParaRPr>
                </a:p>
              </p:txBody>
            </p:sp>
            <p:sp>
              <p:nvSpPr>
                <p:cNvPr id="48" name="Rectangle 48"/>
                <p:cNvSpPr>
                  <a:spLocks noChangeArrowheads="1"/>
                </p:cNvSpPr>
                <p:nvPr/>
              </p:nvSpPr>
              <p:spPr bwMode="auto">
                <a:xfrm>
                  <a:off x="9470520" y="4608869"/>
                  <a:ext cx="132806" cy="14234"/>
                </a:xfrm>
                <a:prstGeom prst="rect">
                  <a:avLst/>
                </a:prstGeom>
                <a:grpFill/>
                <a:ln>
                  <a:noFill/>
                </a:ln>
                <a:effectLst/>
              </p:spPr>
              <p:txBody>
                <a:bodyPr lIns="68142" tIns="34071" rIns="68142" bIns="34071"/>
                <a:lstStyle/>
                <a:p>
                  <a:pPr algn="ctr" eaLnBrk="1" fontAlgn="auto" hangingPunct="1">
                    <a:spcBef>
                      <a:spcPts val="0"/>
                    </a:spcBef>
                    <a:defRPr/>
                  </a:pPr>
                  <a:endParaRPr lang="zh-CN" altLang="en-US" sz="1045">
                    <a:solidFill>
                      <a:schemeClr val="tx1">
                        <a:lumMod val="75000"/>
                        <a:lumOff val="2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endParaRPr>
                </a:p>
              </p:txBody>
            </p:sp>
            <p:sp>
              <p:nvSpPr>
                <p:cNvPr id="2" name="Rectangle 49"/>
                <p:cNvSpPr>
                  <a:spLocks noChangeArrowheads="1"/>
                </p:cNvSpPr>
                <p:nvPr/>
              </p:nvSpPr>
              <p:spPr bwMode="auto">
                <a:xfrm>
                  <a:off x="9508130" y="4642082"/>
                  <a:ext cx="95197" cy="16607"/>
                </a:xfrm>
                <a:prstGeom prst="rect">
                  <a:avLst/>
                </a:prstGeom>
                <a:grpFill/>
                <a:ln>
                  <a:noFill/>
                </a:ln>
                <a:effectLst/>
              </p:spPr>
              <p:txBody>
                <a:bodyPr lIns="68142" tIns="34071" rIns="68142" bIns="34071"/>
                <a:lstStyle/>
                <a:p>
                  <a:pPr algn="ctr" eaLnBrk="1" fontAlgn="auto" hangingPunct="1">
                    <a:spcBef>
                      <a:spcPts val="0"/>
                    </a:spcBef>
                    <a:defRPr/>
                  </a:pPr>
                  <a:endParaRPr lang="zh-CN" altLang="en-US" sz="1045">
                    <a:solidFill>
                      <a:schemeClr val="tx1">
                        <a:lumMod val="75000"/>
                        <a:lumOff val="2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endParaRPr>
                </a:p>
              </p:txBody>
            </p:sp>
            <p:sp>
              <p:nvSpPr>
                <p:cNvPr id="3" name="Rectangle 50"/>
                <p:cNvSpPr>
                  <a:spLocks noChangeArrowheads="1"/>
                </p:cNvSpPr>
                <p:nvPr/>
              </p:nvSpPr>
              <p:spPr bwMode="auto">
                <a:xfrm>
                  <a:off x="9508130" y="4676479"/>
                  <a:ext cx="95197" cy="15420"/>
                </a:xfrm>
                <a:prstGeom prst="rect">
                  <a:avLst/>
                </a:prstGeom>
                <a:grpFill/>
                <a:ln>
                  <a:noFill/>
                </a:ln>
                <a:effectLst/>
              </p:spPr>
              <p:txBody>
                <a:bodyPr lIns="68142" tIns="34071" rIns="68142" bIns="34071"/>
                <a:lstStyle/>
                <a:p>
                  <a:pPr algn="ctr" eaLnBrk="1" fontAlgn="auto" hangingPunct="1">
                    <a:spcBef>
                      <a:spcPts val="0"/>
                    </a:spcBef>
                    <a:defRPr/>
                  </a:pPr>
                  <a:endParaRPr lang="zh-CN" altLang="en-US" sz="1045">
                    <a:solidFill>
                      <a:schemeClr val="tx1">
                        <a:lumMod val="75000"/>
                        <a:lumOff val="2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endParaRPr>
                </a:p>
              </p:txBody>
            </p:sp>
            <p:sp>
              <p:nvSpPr>
                <p:cNvPr id="51" name="Rectangle 51"/>
                <p:cNvSpPr>
                  <a:spLocks noChangeArrowheads="1"/>
                </p:cNvSpPr>
                <p:nvPr/>
              </p:nvSpPr>
              <p:spPr bwMode="auto">
                <a:xfrm>
                  <a:off x="9508130" y="4710880"/>
                  <a:ext cx="95197" cy="15420"/>
                </a:xfrm>
                <a:prstGeom prst="rect">
                  <a:avLst/>
                </a:prstGeom>
                <a:grpFill/>
                <a:ln>
                  <a:noFill/>
                </a:ln>
                <a:effectLst/>
              </p:spPr>
              <p:txBody>
                <a:bodyPr lIns="68142" tIns="34071" rIns="68142" bIns="34071"/>
                <a:lstStyle/>
                <a:p>
                  <a:pPr algn="ctr" eaLnBrk="1" fontAlgn="auto" hangingPunct="1">
                    <a:spcBef>
                      <a:spcPts val="0"/>
                    </a:spcBef>
                    <a:defRPr/>
                  </a:pPr>
                  <a:endParaRPr lang="zh-CN" altLang="en-US" sz="1045">
                    <a:solidFill>
                      <a:schemeClr val="tx1">
                        <a:lumMod val="75000"/>
                        <a:lumOff val="25000"/>
                      </a:schemeClr>
                    </a:solidFill>
                    <a:latin typeface="思源黑体 CN Light" panose="020B0300000000000000" pitchFamily="34" charset="-122"/>
                    <a:ea typeface="思源黑体 CN Light" panose="020B0300000000000000" pitchFamily="34" charset="-122"/>
                    <a:cs typeface="思源黑体 CN Light" panose="020B0300000000000000" pitchFamily="34" charset="-122"/>
                  </a:endParaRPr>
                </a:p>
              </p:txBody>
            </p:sp>
          </p:grpSp>
        </p:grpSp>
        <p:cxnSp>
          <p:nvCxnSpPr>
            <p:cNvPr id="40" name="直接连接符 39"/>
            <p:cNvCxnSpPr/>
            <p:nvPr/>
          </p:nvCxnSpPr>
          <p:spPr>
            <a:xfrm>
              <a:off x="8130890" y="2135128"/>
              <a:ext cx="1254991" cy="0"/>
            </a:xfrm>
            <a:prstGeom prst="line">
              <a:avLst/>
            </a:prstGeom>
            <a:grpFill/>
            <a:ln w="2540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52" name="直接连接符 51"/>
          <p:cNvCxnSpPr/>
          <p:nvPr/>
        </p:nvCxnSpPr>
        <p:spPr>
          <a:xfrm flipV="1">
            <a:off x="615227" y="6597170"/>
            <a:ext cx="11097260" cy="8255"/>
          </a:xfrm>
          <a:prstGeom prst="line">
            <a:avLst/>
          </a:prstGeom>
          <a:ln w="31750" cap="rnd">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551384" y="1052736"/>
            <a:ext cx="8774632" cy="523220"/>
          </a:xfrm>
          <a:prstGeom prst="rect">
            <a:avLst/>
          </a:prstGeom>
          <a:noFill/>
        </p:spPr>
        <p:txBody>
          <a:bodyPr wrap="square">
            <a:spAutoFit/>
          </a:bodyPr>
          <a:lstStyle/>
          <a:p>
            <a:r>
              <a:rPr lang="zh-CN" altLang="en-US" sz="2800">
                <a:solidFill>
                  <a:schemeClr val="tx1">
                    <a:lumMod val="75000"/>
                    <a:lumOff val="25000"/>
                  </a:schemeClr>
                </a:solidFill>
              </a:rPr>
              <a:t>提纲</a:t>
            </a:r>
            <a:endParaRPr lang="zh-CN" altLang="en-US" sz="2800">
              <a:solidFill>
                <a:schemeClr val="tx1">
                  <a:lumMod val="75000"/>
                  <a:lumOff val="25000"/>
                </a:schemeClr>
              </a:solidFill>
            </a:endParaRPr>
          </a:p>
        </p:txBody>
      </p:sp>
      <p:sp>
        <p:nvSpPr>
          <p:cNvPr id="2" name="灯片编号占位符 1"/>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
        <p:nvSpPr>
          <p:cNvPr id="3" name="文本框 2"/>
          <p:cNvSpPr txBox="1"/>
          <p:nvPr/>
        </p:nvSpPr>
        <p:spPr>
          <a:xfrm>
            <a:off x="916596" y="2204864"/>
            <a:ext cx="7915708" cy="1938020"/>
          </a:xfrm>
          <a:prstGeom prst="rect">
            <a:avLst/>
          </a:prstGeom>
          <a:noFill/>
        </p:spPr>
        <p:txBody>
          <a:bodyPr wrap="square" rtlCol="0">
            <a:spAutoFit/>
          </a:bodyPr>
          <a:lstStyle/>
          <a:p>
            <a:pPr marL="342900" marR="0" lvl="0" indent="-342900" algn="l" defTabSz="914400" rtl="0" eaLnBrk="0" fontAlgn="base" latinLnBrk="0" hangingPunct="0">
              <a:lnSpc>
                <a:spcPct val="150000"/>
              </a:lnSpc>
              <a:buClrTx/>
              <a:buSzTx/>
              <a:buFont typeface="Wingdings" panose="05000000000000000000" pitchFamily="2" charset="2"/>
              <a:buChar char="l"/>
              <a:defRPr/>
            </a:pPr>
            <a:r>
              <a:rPr kumimoji="0" lang="zh-CN" altLang="en-US" sz="200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01 研究背景</a:t>
            </a:r>
            <a:endParaRPr kumimoji="0" lang="zh-CN" altLang="en-US" sz="200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50000"/>
              </a:lnSpc>
              <a:buClrTx/>
              <a:buSzTx/>
              <a:buFont typeface="Wingdings" panose="05000000000000000000" pitchFamily="2" charset="2"/>
              <a:buChar char="l"/>
              <a:defRPr/>
            </a:pPr>
            <a:r>
              <a:rPr kumimoji="0" lang="zh-CN" altLang="en-US" sz="200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02 研究动机</a:t>
            </a:r>
            <a:endParaRPr kumimoji="0" lang="zh-CN" altLang="en-US" sz="200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indent="-342900" algn="l">
              <a:lnSpc>
                <a:spcPct val="150000"/>
              </a:lnSpc>
              <a:buClrTx/>
              <a:buSzTx/>
              <a:buFont typeface="Wingdings" panose="05000000000000000000" pitchFamily="2" charset="2"/>
              <a:buChar char="l"/>
              <a:defRPr/>
            </a:pPr>
            <a:r>
              <a:rPr kumimoji="0" lang="en-US" altLang="zh-CN" sz="2000" b="1" i="0" u="none" strike="noStrike" kern="1200" cap="none" spc="0" normalizeH="0" baseline="0" dirty="0">
                <a:solidFill>
                  <a:schemeClr val="tx1"/>
                </a:solidFill>
                <a:latin typeface="微软雅黑" panose="020B0503020204020204" charset="-122"/>
                <a:ea typeface="微软雅黑" panose="020B0503020204020204" charset="-122"/>
                <a:cs typeface="+mn-cs"/>
              </a:rPr>
              <a:t>03 研究方案设计</a:t>
            </a:r>
            <a:endParaRPr lang="en-US" altLang="zh-CN" b="1" dirty="0">
              <a:solidFill>
                <a:schemeClr val="tx1"/>
              </a:solidFill>
              <a:latin typeface="微软雅黑" panose="020B0503020204020204" charset="-122"/>
              <a:ea typeface="微软雅黑" panose="020B0503020204020204" charset="-122"/>
            </a:endParaRPr>
          </a:p>
          <a:p>
            <a:pPr marL="342900" lvl="0" indent="-342900">
              <a:lnSpc>
                <a:spcPct val="150000"/>
              </a:lnSpc>
              <a:buFont typeface="Wingdings" panose="05000000000000000000" pitchFamily="2" charset="2"/>
              <a:buChar char="l"/>
              <a:defRPr/>
            </a:pPr>
            <a:r>
              <a:rPr lang="en-US" altLang="zh-CN" dirty="0">
                <a:solidFill>
                  <a:schemeClr val="tx1">
                    <a:lumMod val="50000"/>
                    <a:lumOff val="50000"/>
                  </a:schemeClr>
                </a:solidFill>
                <a:latin typeface="微软雅黑" panose="020B0503020204020204" charset="-122"/>
                <a:ea typeface="微软雅黑" panose="020B0503020204020204" charset="-122"/>
              </a:rPr>
              <a:t>04 </a:t>
            </a:r>
            <a:r>
              <a:rPr lang="zh-CN" altLang="en-US" dirty="0">
                <a:solidFill>
                  <a:schemeClr val="tx1">
                    <a:lumMod val="50000"/>
                    <a:lumOff val="50000"/>
                  </a:schemeClr>
                </a:solidFill>
                <a:latin typeface="微软雅黑" panose="020B0503020204020204" charset="-122"/>
                <a:ea typeface="微软雅黑" panose="020B0503020204020204" charset="-122"/>
              </a:rPr>
              <a:t>初步实验结果与预期</a:t>
            </a:r>
            <a:r>
              <a:rPr lang="zh-CN" altLang="en-US" dirty="0">
                <a:solidFill>
                  <a:schemeClr val="tx1">
                    <a:lumMod val="50000"/>
                    <a:lumOff val="50000"/>
                  </a:schemeClr>
                </a:solidFill>
                <a:latin typeface="微软雅黑" panose="020B0503020204020204" charset="-122"/>
                <a:ea typeface="微软雅黑" panose="020B0503020204020204" charset="-122"/>
              </a:rPr>
              <a:t>目标</a:t>
            </a:r>
            <a:endParaRPr lang="zh-CN" altLang="en-US" dirty="0">
              <a:solidFill>
                <a:schemeClr val="tx1">
                  <a:lumMod val="50000"/>
                  <a:lumOff val="50000"/>
                </a:schemeClr>
              </a:solidFill>
              <a:latin typeface="微软雅黑" panose="020B0503020204020204" charset="-122"/>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03</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20" y="1052830"/>
            <a:ext cx="10149205" cy="521970"/>
          </a:xfrm>
          <a:prstGeom prst="rect">
            <a:avLst/>
          </a:prstGeom>
          <a:noFill/>
        </p:spPr>
        <p:txBody>
          <a:bodyPr wrap="square">
            <a:spAutoFit/>
          </a:bodyPr>
          <a:lstStyle/>
          <a:p>
            <a:r>
              <a:rPr lang="zh-CN" altLang="en-US" sz="2800" dirty="0">
                <a:solidFill>
                  <a:schemeClr val="tx1">
                    <a:lumMod val="75000"/>
                    <a:lumOff val="25000"/>
                  </a:schemeClr>
                </a:solidFill>
              </a:rPr>
              <a:t>研究方案 </a:t>
            </a:r>
            <a:r>
              <a:rPr lang="en-US" altLang="zh-CN" sz="2800" dirty="0">
                <a:solidFill>
                  <a:schemeClr val="tx1">
                    <a:lumMod val="75000"/>
                    <a:lumOff val="25000"/>
                  </a:schemeClr>
                </a:solidFill>
              </a:rPr>
              <a:t>– </a:t>
            </a:r>
            <a:r>
              <a:rPr lang="zh-CN" altLang="en-US" sz="2800" dirty="0">
                <a:solidFill>
                  <a:schemeClr val="tx1">
                    <a:lumMod val="75000"/>
                    <a:lumOff val="25000"/>
                  </a:schemeClr>
                </a:solidFill>
              </a:rPr>
              <a:t>存算分离架构的向量存储</a:t>
            </a:r>
            <a:r>
              <a:rPr lang="zh-CN" altLang="en-US" sz="2800" dirty="0">
                <a:solidFill>
                  <a:schemeClr val="tx1">
                    <a:lumMod val="75000"/>
                    <a:lumOff val="25000"/>
                  </a:schemeClr>
                </a:solidFill>
              </a:rPr>
              <a:t>系统 </a:t>
            </a:r>
            <a:r>
              <a:rPr lang="en-US" altLang="zh-CN" sz="2800" dirty="0">
                <a:solidFill>
                  <a:schemeClr val="tx1">
                    <a:lumMod val="75000"/>
                    <a:lumOff val="25000"/>
                  </a:schemeClr>
                </a:solidFill>
              </a:rPr>
              <a:t>Baseline</a:t>
            </a:r>
            <a:endParaRPr lang="en-US" altLang="zh-CN"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pic>
        <p:nvPicPr>
          <p:cNvPr id="8" name="图片 7" descr="shine_gpu_architect.drawi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2935" y="1844675"/>
            <a:ext cx="6334760" cy="2893060"/>
          </a:xfrm>
          <a:prstGeom prst="rect">
            <a:avLst/>
          </a:prstGeom>
        </p:spPr>
      </p:pic>
      <p:sp>
        <p:nvSpPr>
          <p:cNvPr id="9" name="文本框 8"/>
          <p:cNvSpPr txBox="1"/>
          <p:nvPr/>
        </p:nvSpPr>
        <p:spPr>
          <a:xfrm>
            <a:off x="479425" y="4869180"/>
            <a:ext cx="11148695" cy="1753235"/>
          </a:xfrm>
          <a:prstGeom prst="rect">
            <a:avLst/>
          </a:prstGeom>
        </p:spPr>
        <p:txBody>
          <a:bodyPr wrap="square">
            <a:spAutoFit/>
          </a:bodyPr>
          <a:p>
            <a:pPr marL="285750" indent="-285750" algn="just" defTabSz="266700">
              <a:lnSpc>
                <a:spcPct val="150000"/>
              </a:lnSpc>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rPr>
              <a:t>基于</a:t>
            </a:r>
            <a:r>
              <a:rPr lang="en-US" altLang="zh-CN" sz="1800" dirty="0">
                <a:solidFill>
                  <a:schemeClr val="tx1"/>
                </a:solidFill>
                <a:latin typeface="Segoe UI Light" panose="020B0502040204020203" pitchFamily="34" charset="0"/>
                <a:ea typeface="微软雅黑 Light" panose="020B0502040204020203" pitchFamily="34" charset="-122"/>
              </a:rPr>
              <a:t>存算分离架构：</a:t>
            </a:r>
            <a:r>
              <a:rPr lang="en-US" altLang="zh-CN" sz="1800" dirty="0">
                <a:solidFill>
                  <a:srgbClr val="FF0000"/>
                </a:solidFill>
                <a:latin typeface="Segoe UI Light" panose="020B0502040204020203" pitchFamily="34" charset="0"/>
                <a:ea typeface="微软雅黑 Light" panose="020B0502040204020203" pitchFamily="34" charset="-122"/>
              </a:rPr>
              <a:t>计算节点负责查询</a:t>
            </a:r>
            <a:r>
              <a:rPr lang="en-US" altLang="zh-CN" sz="1800" dirty="0">
                <a:solidFill>
                  <a:schemeClr val="tx1"/>
                </a:solidFill>
                <a:latin typeface="Segoe UI Light" panose="020B0502040204020203" pitchFamily="34" charset="0"/>
                <a:ea typeface="微软雅黑 Light" panose="020B0502040204020203" pitchFamily="34" charset="-122"/>
              </a:rPr>
              <a:t>，存储节点保存图索引与向量数据。</a:t>
            </a:r>
            <a:r>
              <a:rPr lang="zh-CN" altLang="en-US" sz="1800" dirty="0">
                <a:solidFill>
                  <a:schemeClr val="tx1"/>
                </a:solidFill>
                <a:latin typeface="Segoe UI Light" panose="020B0502040204020203" pitchFamily="34" charset="0"/>
                <a:ea typeface="微软雅黑 Light" panose="020B0502040204020203" pitchFamily="34" charset="-122"/>
              </a:rPr>
              <a:t>并将</a:t>
            </a:r>
            <a:r>
              <a:rPr lang="zh-CN" altLang="en-US" sz="1800" dirty="0">
                <a:solidFill>
                  <a:srgbClr val="FF0000"/>
                </a:solidFill>
                <a:latin typeface="Segoe UI Light" panose="020B0502040204020203" pitchFamily="34" charset="0"/>
                <a:ea typeface="微软雅黑 Light" panose="020B0502040204020203" pitchFamily="34" charset="-122"/>
              </a:rPr>
              <a:t>更新操作卸载到存储节点</a:t>
            </a:r>
            <a:r>
              <a:rPr lang="en-US" altLang="zh-CN" sz="1800" dirty="0">
                <a:solidFill>
                  <a:schemeClr val="tx1"/>
                </a:solidFill>
                <a:latin typeface="Segoe UI Light" panose="020B0502040204020203" pitchFamily="34" charset="0"/>
                <a:ea typeface="微软雅黑 Light" panose="020B0502040204020203" pitchFamily="34" charset="-122"/>
              </a:rPr>
              <a:t> </a:t>
            </a:r>
            <a:endParaRPr lang="en-US" altLang="zh-CN" sz="1800" dirty="0">
              <a:solidFill>
                <a:schemeClr val="tx1"/>
              </a:solidFill>
              <a:latin typeface="Segoe UI Light" panose="020B0502040204020203" pitchFamily="34" charset="0"/>
              <a:ea typeface="微软雅黑 Light" panose="020B0502040204020203" pitchFamily="34" charset="-122"/>
            </a:endParaRPr>
          </a:p>
          <a:p>
            <a:pPr marL="285750" indent="-285750" algn="just" defTabSz="266700">
              <a:lnSpc>
                <a:spcPct val="150000"/>
              </a:lnSpc>
              <a:buClrTx/>
              <a:buSzTx/>
              <a:buFont typeface="Arial" panose="020B0604020202020204" pitchFamily="34" charset="0"/>
              <a:buChar char="•"/>
            </a:pPr>
            <a:r>
              <a:rPr lang="en-US" altLang="zh-CN" sz="1800" dirty="0">
                <a:solidFill>
                  <a:srgbClr val="FF0000"/>
                </a:solidFill>
                <a:latin typeface="Segoe UI Light" panose="020B0502040204020203" pitchFamily="34" charset="0"/>
                <a:ea typeface="微软雅黑 Light" panose="020B0502040204020203" pitchFamily="34" charset="-122"/>
              </a:rPr>
              <a:t>GPU </a:t>
            </a:r>
            <a:r>
              <a:rPr lang="zh-CN" altLang="en-US" sz="1800" dirty="0">
                <a:solidFill>
                  <a:srgbClr val="FF0000"/>
                </a:solidFill>
                <a:latin typeface="Segoe UI Light" panose="020B0502040204020203" pitchFamily="34" charset="0"/>
                <a:ea typeface="微软雅黑 Light" panose="020B0502040204020203" pitchFamily="34" charset="-122"/>
              </a:rPr>
              <a:t>负责高维浮点距离计算</a:t>
            </a:r>
            <a:r>
              <a:rPr lang="en-US" altLang="zh-CN" sz="1800" dirty="0">
                <a:solidFill>
                  <a:srgbClr val="FF0000"/>
                </a:solidFill>
                <a:latin typeface="Segoe UI Light" panose="020B0502040204020203" pitchFamily="34" charset="0"/>
                <a:ea typeface="微软雅黑 Light" panose="020B0502040204020203" pitchFamily="34" charset="-122"/>
              </a:rPr>
              <a:t>，CPU 负责图遍历控制、候选队列维护</a:t>
            </a:r>
            <a:r>
              <a:rPr lang="en-US" altLang="zh-CN" sz="1800" dirty="0">
                <a:solidFill>
                  <a:schemeClr val="tx1"/>
                </a:solidFill>
                <a:latin typeface="Segoe UI Light" panose="020B0502040204020203" pitchFamily="34" charset="0"/>
                <a:ea typeface="微软雅黑 Light" panose="020B0502040204020203" pitchFamily="34" charset="-122"/>
              </a:rPr>
              <a:t>、RDMA 请求发起。 </a:t>
            </a:r>
            <a:endParaRPr lang="en-US" altLang="zh-CN" sz="1800" dirty="0">
              <a:solidFill>
                <a:schemeClr val="tx1"/>
              </a:solidFill>
              <a:latin typeface="Segoe UI Light" panose="020B0502040204020203" pitchFamily="34" charset="0"/>
              <a:ea typeface="微软雅黑 Light" panose="020B0502040204020203" pitchFamily="34" charset="-122"/>
            </a:endParaRPr>
          </a:p>
          <a:p>
            <a:pPr marL="285750" indent="-285750" algn="just" defTabSz="266700">
              <a:lnSpc>
                <a:spcPct val="150000"/>
              </a:lnSpc>
              <a:buClrTx/>
              <a:buSzTx/>
              <a:buFont typeface="Arial" panose="020B0604020202020204" pitchFamily="34" charset="0"/>
              <a:buChar char="•"/>
            </a:pPr>
            <a:r>
              <a:rPr lang="en-US" altLang="zh-CN" sz="1800" dirty="0">
                <a:solidFill>
                  <a:schemeClr val="tx1"/>
                </a:solidFill>
                <a:latin typeface="Segoe UI Light" panose="020B0502040204020203" pitchFamily="34" charset="0"/>
                <a:ea typeface="微软雅黑 Light" panose="020B0502040204020203" pitchFamily="34" charset="-122"/>
              </a:rPr>
              <a:t>RDMA 从存储节点读取邻居表与向量数据，</a:t>
            </a:r>
            <a:r>
              <a:rPr lang="zh-CN" altLang="en-US" sz="1800" dirty="0">
                <a:solidFill>
                  <a:schemeClr val="tx1"/>
                </a:solidFill>
                <a:latin typeface="Segoe UI Light" panose="020B0502040204020203" pitchFamily="34" charset="0"/>
                <a:ea typeface="微软雅黑 Light" panose="020B0502040204020203" pitchFamily="34" charset="-122"/>
              </a:rPr>
              <a:t>通过</a:t>
            </a:r>
            <a:r>
              <a:rPr lang="en-US" altLang="zh-CN" sz="1800" dirty="0">
                <a:solidFill>
                  <a:schemeClr val="tx1"/>
                </a:solidFill>
                <a:latin typeface="Segoe UI Light" panose="020B0502040204020203" pitchFamily="34" charset="0"/>
                <a:ea typeface="微软雅黑 Light" panose="020B0502040204020203" pitchFamily="34" charset="-122"/>
              </a:rPr>
              <a:t> </a:t>
            </a:r>
            <a:r>
              <a:rPr lang="en-US" altLang="zh-CN" sz="1800" dirty="0">
                <a:solidFill>
                  <a:srgbClr val="FF0000"/>
                </a:solidFill>
                <a:latin typeface="Segoe UI Light" panose="020B0502040204020203" pitchFamily="34" charset="0"/>
                <a:ea typeface="微软雅黑 Light" panose="020B0502040204020203" pitchFamily="34" charset="-122"/>
              </a:rPr>
              <a:t>GPU Direct RDMA </a:t>
            </a:r>
            <a:r>
              <a:rPr lang="zh-CN" altLang="en-US" sz="1800" dirty="0">
                <a:solidFill>
                  <a:srgbClr val="FF0000"/>
                </a:solidFill>
                <a:latin typeface="Segoe UI Light" panose="020B0502040204020203" pitchFamily="34" charset="0"/>
                <a:ea typeface="微软雅黑 Light" panose="020B0502040204020203" pitchFamily="34" charset="-122"/>
              </a:rPr>
              <a:t>直接传给</a:t>
            </a:r>
            <a:r>
              <a:rPr lang="en-US" altLang="zh-CN" sz="1800" dirty="0">
                <a:solidFill>
                  <a:srgbClr val="FF0000"/>
                </a:solidFill>
                <a:latin typeface="Segoe UI Light" panose="020B0502040204020203" pitchFamily="34" charset="0"/>
                <a:ea typeface="微软雅黑 Light" panose="020B0502040204020203" pitchFamily="34" charset="-122"/>
              </a:rPr>
              <a:t> GPU</a:t>
            </a:r>
            <a:r>
              <a:rPr lang="en-US" altLang="zh-CN" sz="1800" dirty="0">
                <a:solidFill>
                  <a:schemeClr val="tx1"/>
                </a:solidFill>
                <a:latin typeface="Segoe UI Light" panose="020B0502040204020203" pitchFamily="34" charset="0"/>
                <a:ea typeface="微软雅黑 Light" panose="020B0502040204020203" pitchFamily="34" charset="-122"/>
              </a:rPr>
              <a:t> </a:t>
            </a:r>
            <a:r>
              <a:rPr lang="zh-CN" altLang="en-US" sz="1800" dirty="0">
                <a:solidFill>
                  <a:schemeClr val="tx1"/>
                </a:solidFill>
                <a:latin typeface="Segoe UI Light" panose="020B0502040204020203" pitchFamily="34" charset="0"/>
                <a:ea typeface="微软雅黑 Light" panose="020B0502040204020203" pitchFamily="34" charset="-122"/>
              </a:rPr>
              <a:t>做计算</a:t>
            </a:r>
            <a:r>
              <a:rPr lang="en-US" altLang="zh-CN" sz="1800" dirty="0">
                <a:solidFill>
                  <a:schemeClr val="tx1"/>
                </a:solidFill>
                <a:latin typeface="Segoe UI Light" panose="020B0502040204020203" pitchFamily="34" charset="0"/>
                <a:ea typeface="微软雅黑 Light" panose="020B0502040204020203" pitchFamily="34" charset="-122"/>
              </a:rPr>
              <a:t>。</a:t>
            </a:r>
            <a:endParaRPr lang="en-US" altLang="zh-CN" sz="1800" dirty="0">
              <a:solidFill>
                <a:schemeClr val="tx1"/>
              </a:solidFill>
              <a:latin typeface="Segoe UI Light" panose="020B0502040204020203" pitchFamily="34" charset="0"/>
              <a:ea typeface="微软雅黑 Light" panose="020B0502040204020203" pitchFamily="34" charset="-122"/>
            </a:endParaRPr>
          </a:p>
          <a:p>
            <a:pPr marL="285750" indent="-285750" algn="just" defTabSz="266700">
              <a:lnSpc>
                <a:spcPct val="150000"/>
              </a:lnSpc>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rPr>
              <a:t>更新请求由计算节点转发给存储节点</a:t>
            </a:r>
            <a:r>
              <a:rPr lang="en-US" altLang="zh-CN" sz="1800" dirty="0">
                <a:solidFill>
                  <a:schemeClr val="tx1"/>
                </a:solidFill>
                <a:latin typeface="Segoe UI Light" panose="020B0502040204020203" pitchFamily="34" charset="0"/>
                <a:ea typeface="微软雅黑 Light" panose="020B0502040204020203" pitchFamily="34" charset="-122"/>
              </a:rPr>
              <a:t>，</a:t>
            </a:r>
            <a:r>
              <a:rPr lang="zh-CN" altLang="en-US" sz="1800" dirty="0">
                <a:solidFill>
                  <a:schemeClr val="tx1"/>
                </a:solidFill>
                <a:latin typeface="Segoe UI Light" panose="020B0502040204020203" pitchFamily="34" charset="0"/>
                <a:ea typeface="微软雅黑 Light" panose="020B0502040204020203" pitchFamily="34" charset="-122"/>
              </a:rPr>
              <a:t>由存储节点负责维护图索引</a:t>
            </a:r>
            <a:r>
              <a:rPr lang="zh-CN" altLang="en-US" sz="1800" dirty="0">
                <a:solidFill>
                  <a:schemeClr val="tx1"/>
                </a:solidFill>
                <a:latin typeface="Segoe UI Light" panose="020B0502040204020203" pitchFamily="34" charset="0"/>
                <a:ea typeface="微软雅黑 Light" panose="020B0502040204020203" pitchFamily="34" charset="-122"/>
              </a:rPr>
              <a:t>结构</a:t>
            </a:r>
            <a:endParaRPr lang="zh-CN" altLang="en-US" sz="1800" dirty="0">
              <a:solidFill>
                <a:schemeClr val="tx1"/>
              </a:solidFill>
              <a:latin typeface="Segoe UI Light" panose="020B0502040204020203" pitchFamily="34" charset="0"/>
              <a:ea typeface="微软雅黑 Light" panose="020B0502040204020203"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03</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16" y="1052736"/>
            <a:ext cx="9422704" cy="521970"/>
          </a:xfrm>
          <a:prstGeom prst="rect">
            <a:avLst/>
          </a:prstGeom>
          <a:noFill/>
        </p:spPr>
        <p:txBody>
          <a:bodyPr wrap="square">
            <a:spAutoFit/>
          </a:bodyPr>
          <a:lstStyle/>
          <a:p>
            <a:r>
              <a:rPr lang="zh-CN" altLang="en-US" sz="2800" dirty="0">
                <a:solidFill>
                  <a:schemeClr val="tx1">
                    <a:lumMod val="75000"/>
                    <a:lumOff val="25000"/>
                  </a:schemeClr>
                </a:solidFill>
              </a:rPr>
              <a:t>研究方案动机 </a:t>
            </a:r>
            <a:r>
              <a:rPr lang="en-US" altLang="zh-CN" sz="2800" dirty="0">
                <a:solidFill>
                  <a:schemeClr val="tx1">
                    <a:lumMod val="75000"/>
                    <a:lumOff val="25000"/>
                  </a:schemeClr>
                </a:solidFill>
              </a:rPr>
              <a:t>– Baseline </a:t>
            </a:r>
            <a:r>
              <a:rPr lang="zh-CN" altLang="en-US" sz="2800" dirty="0">
                <a:solidFill>
                  <a:schemeClr val="tx1">
                    <a:lumMod val="75000"/>
                    <a:lumOff val="25000"/>
                  </a:schemeClr>
                </a:solidFill>
              </a:rPr>
              <a:t>的</a:t>
            </a:r>
            <a:r>
              <a:rPr lang="zh-CN" altLang="en-US" sz="2800" dirty="0">
                <a:solidFill>
                  <a:schemeClr val="tx1">
                    <a:lumMod val="75000"/>
                    <a:lumOff val="25000"/>
                  </a:schemeClr>
                </a:solidFill>
              </a:rPr>
              <a:t>查询性能瓶颈</a:t>
            </a:r>
            <a:r>
              <a:rPr lang="zh-CN" altLang="en-US" sz="2800" dirty="0">
                <a:solidFill>
                  <a:schemeClr val="tx1">
                    <a:lumMod val="75000"/>
                    <a:lumOff val="25000"/>
                  </a:schemeClr>
                </a:solidFill>
              </a:rPr>
              <a:t>分析</a:t>
            </a:r>
            <a:endParaRPr lang="zh-CN" altLang="en-US"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pic>
        <p:nvPicPr>
          <p:cNvPr id="2" name="图片 1" descr="serial.drawi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9425" y="1988820"/>
            <a:ext cx="10488930" cy="2342515"/>
          </a:xfrm>
          <a:prstGeom prst="rect">
            <a:avLst/>
          </a:prstGeom>
        </p:spPr>
      </p:pic>
      <p:sp>
        <p:nvSpPr>
          <p:cNvPr id="9" name="文本框 8"/>
          <p:cNvSpPr txBox="1"/>
          <p:nvPr/>
        </p:nvSpPr>
        <p:spPr>
          <a:xfrm>
            <a:off x="479425" y="4580890"/>
            <a:ext cx="11148695" cy="1989455"/>
          </a:xfrm>
          <a:prstGeom prst="rect">
            <a:avLst/>
          </a:prstGeom>
        </p:spPr>
        <p:txBody>
          <a:bodyPr wrap="square">
            <a:spAutoFit/>
          </a:bodyPr>
          <a:p>
            <a:pPr marL="285750" indent="-285750" algn="just" defTabSz="266700">
              <a:lnSpc>
                <a:spcPct val="150000"/>
              </a:lnSpc>
              <a:spcBef>
                <a:spcPts val="1000"/>
              </a:spcBef>
              <a:spcAft>
                <a:spcPts val="1000"/>
              </a:spcAft>
              <a:buClrTx/>
              <a:buSzTx/>
              <a:buFont typeface="Arial" panose="020B0604020202020204" pitchFamily="34" charset="0"/>
              <a:buChar char="•"/>
            </a:pPr>
            <a:r>
              <a:rPr lang="zh-CN" altLang="en-US" dirty="0">
                <a:solidFill>
                  <a:schemeClr val="tx1"/>
                </a:solidFill>
                <a:latin typeface="Segoe UI Light" panose="020B0502040204020203" pitchFamily="34" charset="0"/>
                <a:ea typeface="微软雅黑 Light" panose="020B0502040204020203" pitchFamily="34" charset="-122"/>
              </a:rPr>
              <a:t>一次邻居扩展需要在</a:t>
            </a:r>
            <a:r>
              <a:rPr lang="en-US" altLang="zh-CN" dirty="0">
                <a:solidFill>
                  <a:srgbClr val="FF0000"/>
                </a:solidFill>
                <a:latin typeface="Segoe UI Light" panose="020B0502040204020203" pitchFamily="34" charset="0"/>
                <a:ea typeface="微软雅黑 Light" panose="020B0502040204020203" pitchFamily="34" charset="-122"/>
              </a:rPr>
              <a:t>CPU、RDMA、GPU</a:t>
            </a:r>
            <a:r>
              <a:rPr lang="zh-CN" altLang="en-US" dirty="0">
                <a:solidFill>
                  <a:schemeClr val="tx1"/>
                </a:solidFill>
                <a:latin typeface="Segoe UI Light" panose="020B0502040204020203" pitchFamily="34" charset="0"/>
                <a:ea typeface="微软雅黑 Light" panose="020B0502040204020203" pitchFamily="34" charset="-122"/>
              </a:rPr>
              <a:t>之间频繁轮转</a:t>
            </a:r>
            <a:r>
              <a:rPr lang="zh-CN" altLang="en-US" dirty="0">
                <a:solidFill>
                  <a:srgbClr val="FF0000"/>
                </a:solidFill>
                <a:latin typeface="Segoe UI Light" panose="020B0502040204020203" pitchFamily="34" charset="0"/>
                <a:ea typeface="微软雅黑 Light" panose="020B0502040204020203" pitchFamily="34" charset="-122"/>
              </a:rPr>
              <a:t>串行同步</a:t>
            </a:r>
            <a:endParaRPr lang="zh-CN" altLang="en-US" dirty="0">
              <a:solidFill>
                <a:schemeClr val="tx1"/>
              </a:solidFill>
              <a:latin typeface="Segoe UI Light" panose="020B0502040204020203" pitchFamily="34" charset="0"/>
              <a:ea typeface="微软雅黑 Light" panose="020B0502040204020203" pitchFamily="34" charset="-122"/>
            </a:endParaRPr>
          </a:p>
          <a:p>
            <a:pPr marL="285750" indent="-285750" algn="just" defTabSz="266700">
              <a:lnSpc>
                <a:spcPct val="150000"/>
              </a:lnSpc>
              <a:spcBef>
                <a:spcPts val="1000"/>
              </a:spcBef>
              <a:spcAft>
                <a:spcPts val="1000"/>
              </a:spcAft>
              <a:buClrTx/>
              <a:buSzTx/>
              <a:buFont typeface="Arial" panose="020B0604020202020204" pitchFamily="34" charset="0"/>
              <a:buChar char="•"/>
            </a:pPr>
            <a:r>
              <a:rPr lang="zh-CN" altLang="en-US" dirty="0">
                <a:solidFill>
                  <a:schemeClr val="tx1"/>
                </a:solidFill>
                <a:latin typeface="Segoe UI Light" panose="020B0502040204020203" pitchFamily="34" charset="0"/>
                <a:ea typeface="微软雅黑 Light" panose="020B0502040204020203" pitchFamily="34" charset="-122"/>
              </a:rPr>
              <a:t>一次查询通常平均需要进行</a:t>
            </a:r>
            <a:r>
              <a:rPr lang="en-US" altLang="zh-CN" dirty="0">
                <a:solidFill>
                  <a:srgbClr val="FF0000"/>
                </a:solidFill>
                <a:latin typeface="Segoe UI Light" panose="020B0502040204020203" pitchFamily="34" charset="0"/>
                <a:ea typeface="微软雅黑 Light" panose="020B0502040204020203" pitchFamily="34" charset="-122"/>
              </a:rPr>
              <a:t>100～200</a:t>
            </a:r>
            <a:r>
              <a:rPr lang="zh-CN" altLang="en-US" dirty="0">
                <a:solidFill>
                  <a:srgbClr val="FF0000"/>
                </a:solidFill>
                <a:latin typeface="Segoe UI Light" panose="020B0502040204020203" pitchFamily="34" charset="0"/>
                <a:ea typeface="微软雅黑 Light" panose="020B0502040204020203" pitchFamily="34" charset="-122"/>
              </a:rPr>
              <a:t>次</a:t>
            </a:r>
            <a:r>
              <a:rPr lang="zh-CN" altLang="en-US" dirty="0">
                <a:solidFill>
                  <a:schemeClr val="tx1"/>
                </a:solidFill>
                <a:latin typeface="Segoe UI Light" panose="020B0502040204020203" pitchFamily="34" charset="0"/>
                <a:ea typeface="微软雅黑 Light" panose="020B0502040204020203" pitchFamily="34" charset="-122"/>
              </a:rPr>
              <a:t>的邻居扩展</a:t>
            </a:r>
            <a:endParaRPr lang="zh-CN" altLang="en-US" dirty="0">
              <a:solidFill>
                <a:schemeClr val="tx1"/>
              </a:solidFill>
              <a:latin typeface="Segoe UI Light" panose="020B0502040204020203" pitchFamily="34" charset="0"/>
              <a:ea typeface="微软雅黑 Light" panose="020B0502040204020203" pitchFamily="34" charset="-122"/>
            </a:endParaRPr>
          </a:p>
          <a:p>
            <a:pPr marL="285750" indent="-285750" algn="just" defTabSz="266700">
              <a:lnSpc>
                <a:spcPct val="150000"/>
              </a:lnSpc>
              <a:spcBef>
                <a:spcPts val="1000"/>
              </a:spcBef>
              <a:spcAft>
                <a:spcPts val="1000"/>
              </a:spcAft>
              <a:buClrTx/>
              <a:buSzTx/>
              <a:buFont typeface="Arial" panose="020B0604020202020204" pitchFamily="34" charset="0"/>
              <a:buChar char="•"/>
            </a:pPr>
            <a:r>
              <a:rPr lang="zh-CN" altLang="en-US" dirty="0">
                <a:solidFill>
                  <a:schemeClr val="tx1"/>
                </a:solidFill>
                <a:latin typeface="Segoe UI Light" panose="020B0502040204020203" pitchFamily="34" charset="0"/>
                <a:ea typeface="微软雅黑 Light" panose="020B0502040204020203" pitchFamily="34" charset="-122"/>
              </a:rPr>
              <a:t>图遍历的</a:t>
            </a:r>
            <a:r>
              <a:rPr lang="zh-CN" altLang="en-US" dirty="0">
                <a:solidFill>
                  <a:srgbClr val="FF0000"/>
                </a:solidFill>
                <a:latin typeface="Segoe UI Light" panose="020B0502040204020203" pitchFamily="34" charset="0"/>
                <a:ea typeface="微软雅黑 Light" panose="020B0502040204020203" pitchFamily="34" charset="-122"/>
              </a:rPr>
              <a:t>严格串行访问模式</a:t>
            </a:r>
            <a:r>
              <a:rPr lang="zh-CN" altLang="en-US" dirty="0">
                <a:solidFill>
                  <a:schemeClr val="tx1"/>
                </a:solidFill>
                <a:latin typeface="Segoe UI Light" panose="020B0502040204020203" pitchFamily="34" charset="0"/>
                <a:ea typeface="微软雅黑 Light" panose="020B0502040204020203" pitchFamily="34" charset="-122"/>
              </a:rPr>
              <a:t>在</a:t>
            </a:r>
            <a:r>
              <a:rPr lang="zh-CN" altLang="en-US" dirty="0">
                <a:solidFill>
                  <a:srgbClr val="FF0000"/>
                </a:solidFill>
                <a:latin typeface="Segoe UI Light" panose="020B0502040204020203" pitchFamily="34" charset="0"/>
                <a:ea typeface="微软雅黑 Light" panose="020B0502040204020203" pitchFamily="34" charset="-122"/>
              </a:rPr>
              <a:t>存算分离</a:t>
            </a:r>
            <a:r>
              <a:rPr lang="en-US" altLang="zh-CN" dirty="0">
                <a:solidFill>
                  <a:srgbClr val="FF0000"/>
                </a:solidFill>
                <a:latin typeface="Segoe UI Light" panose="020B0502040204020203" pitchFamily="34" charset="0"/>
                <a:ea typeface="微软雅黑 Light" panose="020B0502040204020203" pitchFamily="34" charset="-122"/>
              </a:rPr>
              <a:t>+GPU</a:t>
            </a:r>
            <a:r>
              <a:rPr lang="zh-CN" altLang="en-US" dirty="0">
                <a:solidFill>
                  <a:schemeClr val="tx1"/>
                </a:solidFill>
                <a:latin typeface="Segoe UI Light" panose="020B0502040204020203" pitchFamily="34" charset="0"/>
                <a:ea typeface="微软雅黑 Light" panose="020B0502040204020203" pitchFamily="34" charset="-122"/>
              </a:rPr>
              <a:t>的场景下问题被放大</a:t>
            </a:r>
            <a:endParaRPr lang="zh-CN" altLang="en-US" dirty="0">
              <a:solidFill>
                <a:schemeClr val="tx1"/>
              </a:solidFill>
              <a:latin typeface="Segoe UI Light" panose="020B0502040204020203" pitchFamily="34" charset="0"/>
              <a:ea typeface="微软雅黑 Light" panose="020B0502040204020203"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K-way"/>
          <p:cNvPicPr>
            <a:picLocks noChangeAspect="1"/>
          </p:cNvPicPr>
          <p:nvPr/>
        </p:nvPicPr>
        <p:blipFill>
          <a:blip r:embed="rId1"/>
          <a:stretch>
            <a:fillRect/>
          </a:stretch>
        </p:blipFill>
        <p:spPr>
          <a:xfrm>
            <a:off x="191135" y="1628775"/>
            <a:ext cx="5949950" cy="3695700"/>
          </a:xfrm>
          <a:prstGeom prst="rect">
            <a:avLst/>
          </a:prstGeom>
        </p:spPr>
      </p:pic>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03</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16" y="1052736"/>
            <a:ext cx="9422704" cy="521970"/>
          </a:xfrm>
          <a:prstGeom prst="rect">
            <a:avLst/>
          </a:prstGeom>
          <a:noFill/>
        </p:spPr>
        <p:txBody>
          <a:bodyPr wrap="square">
            <a:spAutoFit/>
          </a:bodyPr>
          <a:lstStyle/>
          <a:p>
            <a:r>
              <a:rPr lang="zh-CN" altLang="en-US" sz="2800" dirty="0">
                <a:solidFill>
                  <a:schemeClr val="tx1">
                    <a:lumMod val="75000"/>
                    <a:lumOff val="25000"/>
                  </a:schemeClr>
                </a:solidFill>
              </a:rPr>
              <a:t>研究方案动机 </a:t>
            </a:r>
            <a:r>
              <a:rPr lang="en-US" altLang="zh-CN" sz="2800" dirty="0">
                <a:solidFill>
                  <a:schemeClr val="tx1">
                    <a:lumMod val="75000"/>
                    <a:lumOff val="25000"/>
                  </a:schemeClr>
                </a:solidFill>
              </a:rPr>
              <a:t>– </a:t>
            </a:r>
            <a:r>
              <a:rPr lang="zh-CN" altLang="en-US" sz="2800" dirty="0">
                <a:solidFill>
                  <a:schemeClr val="tx1">
                    <a:lumMod val="75000"/>
                    <a:lumOff val="25000"/>
                  </a:schemeClr>
                </a:solidFill>
              </a:rPr>
              <a:t>每次扩展</a:t>
            </a:r>
            <a:r>
              <a:rPr lang="en-US" altLang="zh-CN" sz="2800" dirty="0">
                <a:solidFill>
                  <a:schemeClr val="tx1">
                    <a:lumMod val="75000"/>
                    <a:lumOff val="25000"/>
                  </a:schemeClr>
                </a:solidFill>
              </a:rPr>
              <a:t>K</a:t>
            </a:r>
            <a:r>
              <a:rPr lang="zh-CN" altLang="en-US" sz="2800" dirty="0">
                <a:solidFill>
                  <a:schemeClr val="tx1">
                    <a:lumMod val="75000"/>
                    <a:lumOff val="25000"/>
                  </a:schemeClr>
                </a:solidFill>
              </a:rPr>
              <a:t>个节点</a:t>
            </a:r>
            <a:r>
              <a:rPr lang="zh-CN" altLang="en-US" sz="2800" dirty="0">
                <a:solidFill>
                  <a:schemeClr val="tx1">
                    <a:lumMod val="75000"/>
                    <a:lumOff val="25000"/>
                  </a:schemeClr>
                </a:solidFill>
              </a:rPr>
              <a:t>的邻居</a:t>
            </a:r>
            <a:endParaRPr lang="zh-CN" altLang="en-US"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pic>
        <p:nvPicPr>
          <p:cNvPr id="6" name="图片 5" descr="beam"/>
          <p:cNvPicPr>
            <a:picLocks noChangeAspect="1"/>
          </p:cNvPicPr>
          <p:nvPr/>
        </p:nvPicPr>
        <p:blipFill>
          <a:blip r:embed="rId2"/>
          <a:stretch>
            <a:fillRect/>
          </a:stretch>
        </p:blipFill>
        <p:spPr>
          <a:xfrm>
            <a:off x="6239510" y="1844675"/>
            <a:ext cx="5640705" cy="3484245"/>
          </a:xfrm>
          <a:prstGeom prst="rect">
            <a:avLst/>
          </a:prstGeom>
        </p:spPr>
      </p:pic>
      <p:sp>
        <p:nvSpPr>
          <p:cNvPr id="9" name="文本框 8"/>
          <p:cNvSpPr txBox="1"/>
          <p:nvPr/>
        </p:nvSpPr>
        <p:spPr>
          <a:xfrm>
            <a:off x="479425" y="5516880"/>
            <a:ext cx="11148695" cy="1337945"/>
          </a:xfrm>
          <a:prstGeom prst="rect">
            <a:avLst/>
          </a:prstGeom>
        </p:spPr>
        <p:txBody>
          <a:bodyPr wrap="square">
            <a:spAutoFit/>
          </a:bodyPr>
          <a:p>
            <a:pPr marL="285750" indent="-285750" algn="just" defTabSz="266700">
              <a:lnSpc>
                <a:spcPct val="150000"/>
              </a:lnSpc>
              <a:buClrTx/>
              <a:buSzTx/>
              <a:buFont typeface="Arial" panose="020B0604020202020204" pitchFamily="34" charset="0"/>
              <a:buChar char="•"/>
            </a:pPr>
            <a:r>
              <a:rPr lang="zh-CN" altLang="en-US" sz="1800" dirty="0">
                <a:solidFill>
                  <a:srgbClr val="FF0000"/>
                </a:solidFill>
                <a:latin typeface="Segoe UI Light" panose="020B0502040204020203" pitchFamily="34" charset="0"/>
                <a:ea typeface="微软雅黑 Light" panose="020B0502040204020203" pitchFamily="34" charset="-122"/>
              </a:rPr>
              <a:t>增加每次扩展的节点数后性能能够得到一定的提升</a:t>
            </a:r>
            <a:r>
              <a:rPr lang="zh-CN" altLang="en-US" sz="1800" dirty="0">
                <a:solidFill>
                  <a:schemeClr val="tx1"/>
                </a:solidFill>
                <a:latin typeface="Segoe UI Light" panose="020B0502040204020203" pitchFamily="34" charset="0"/>
                <a:ea typeface="微软雅黑 Light" panose="020B0502040204020203" pitchFamily="34" charset="-122"/>
              </a:rPr>
              <a:t>，但是</a:t>
            </a:r>
            <a:r>
              <a:rPr lang="zh-CN" altLang="en-US" sz="1800" dirty="0">
                <a:solidFill>
                  <a:srgbClr val="FF0000"/>
                </a:solidFill>
                <a:latin typeface="Segoe UI Light" panose="020B0502040204020203" pitchFamily="34" charset="0"/>
                <a:ea typeface="微软雅黑 Light" panose="020B0502040204020203" pitchFamily="34" charset="-122"/>
              </a:rPr>
              <a:t>到达临界值后性能开始下降</a:t>
            </a:r>
            <a:endParaRPr lang="zh-CN" altLang="en-US" sz="1800" dirty="0">
              <a:solidFill>
                <a:schemeClr val="tx1"/>
              </a:solidFill>
              <a:latin typeface="Segoe UI Light" panose="020B0502040204020203" pitchFamily="34" charset="0"/>
              <a:ea typeface="微软雅黑 Light" panose="020B0502040204020203" pitchFamily="34" charset="-122"/>
            </a:endParaRPr>
          </a:p>
          <a:p>
            <a:pPr marL="285750" indent="-285750" algn="just" defTabSz="266700">
              <a:lnSpc>
                <a:spcPct val="150000"/>
              </a:lnSpc>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rPr>
              <a:t>这是由于批量扩展节点时，</a:t>
            </a:r>
            <a:r>
              <a:rPr lang="zh-CN" altLang="en-US" sz="1800" dirty="0">
                <a:solidFill>
                  <a:srgbClr val="FF0000"/>
                </a:solidFill>
                <a:latin typeface="Segoe UI Light" panose="020B0502040204020203" pitchFamily="34" charset="0"/>
                <a:ea typeface="微软雅黑 Light" panose="020B0502040204020203" pitchFamily="34" charset="-122"/>
              </a:rPr>
              <a:t>扩展了很多低价值的无用节点</a:t>
            </a:r>
            <a:r>
              <a:rPr lang="zh-CN" altLang="en-US" sz="1800" dirty="0">
                <a:solidFill>
                  <a:schemeClr val="tx1"/>
                </a:solidFill>
                <a:latin typeface="Segoe UI Light" panose="020B0502040204020203" pitchFamily="34" charset="0"/>
                <a:ea typeface="微软雅黑 Light" panose="020B0502040204020203" pitchFamily="34" charset="-122"/>
              </a:rPr>
              <a:t>，它们在每次只扩展</a:t>
            </a:r>
            <a:r>
              <a:rPr lang="en-US" altLang="zh-CN" sz="1800" dirty="0">
                <a:solidFill>
                  <a:schemeClr val="tx1"/>
                </a:solidFill>
                <a:latin typeface="Segoe UI Light" panose="020B0502040204020203" pitchFamily="34" charset="0"/>
                <a:ea typeface="微软雅黑 Light" panose="020B0502040204020203" pitchFamily="34" charset="-122"/>
              </a:rPr>
              <a:t>1</a:t>
            </a:r>
            <a:r>
              <a:rPr lang="zh-CN" altLang="en-US" sz="1800" dirty="0">
                <a:solidFill>
                  <a:schemeClr val="tx1"/>
                </a:solidFill>
                <a:latin typeface="Segoe UI Light" panose="020B0502040204020203" pitchFamily="34" charset="0"/>
                <a:ea typeface="微软雅黑 Light" panose="020B0502040204020203" pitchFamily="34" charset="-122"/>
              </a:rPr>
              <a:t>个节点时本来是不会被扩展到的，这导致了</a:t>
            </a:r>
            <a:r>
              <a:rPr lang="zh-CN" altLang="en-US" sz="1800" dirty="0">
                <a:solidFill>
                  <a:srgbClr val="FF0000"/>
                </a:solidFill>
                <a:latin typeface="Segoe UI Light" panose="020B0502040204020203" pitchFamily="34" charset="0"/>
                <a:ea typeface="微软雅黑 Light" panose="020B0502040204020203" pitchFamily="34" charset="-122"/>
              </a:rPr>
              <a:t>大量的节点扩展浪费</a:t>
            </a:r>
            <a:endParaRPr lang="zh-CN" altLang="en-US" sz="1800" dirty="0">
              <a:solidFill>
                <a:srgbClr val="FF0000"/>
              </a:solidFill>
              <a:latin typeface="Segoe UI Light" panose="020B0502040204020203" pitchFamily="34" charset="0"/>
              <a:ea typeface="微软雅黑 Light" panose="020B0502040204020203"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03</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16" y="1052736"/>
            <a:ext cx="9422704" cy="521970"/>
          </a:xfrm>
          <a:prstGeom prst="rect">
            <a:avLst/>
          </a:prstGeom>
          <a:noFill/>
        </p:spPr>
        <p:txBody>
          <a:bodyPr wrap="square">
            <a:spAutoFit/>
          </a:bodyPr>
          <a:lstStyle/>
          <a:p>
            <a:r>
              <a:rPr lang="zh-CN" altLang="en-US" sz="2800" dirty="0">
                <a:solidFill>
                  <a:schemeClr val="tx1">
                    <a:lumMod val="75000"/>
                    <a:lumOff val="25000"/>
                  </a:schemeClr>
                </a:solidFill>
              </a:rPr>
              <a:t>研究方案动机 </a:t>
            </a:r>
            <a:r>
              <a:rPr lang="en-US" altLang="zh-CN" sz="2800" dirty="0">
                <a:solidFill>
                  <a:schemeClr val="tx1">
                    <a:lumMod val="75000"/>
                    <a:lumOff val="25000"/>
                  </a:schemeClr>
                </a:solidFill>
              </a:rPr>
              <a:t>– </a:t>
            </a:r>
            <a:r>
              <a:rPr lang="zh-CN" altLang="en-US" sz="2800" dirty="0">
                <a:solidFill>
                  <a:schemeClr val="tx1">
                    <a:lumMod val="75000"/>
                    <a:lumOff val="25000"/>
                  </a:schemeClr>
                </a:solidFill>
              </a:rPr>
              <a:t>每次扩展</a:t>
            </a:r>
            <a:r>
              <a:rPr lang="en-US" altLang="zh-CN" sz="2800" dirty="0">
                <a:solidFill>
                  <a:schemeClr val="tx1">
                    <a:lumMod val="75000"/>
                    <a:lumOff val="25000"/>
                  </a:schemeClr>
                </a:solidFill>
              </a:rPr>
              <a:t>K</a:t>
            </a:r>
            <a:r>
              <a:rPr lang="zh-CN" altLang="en-US" sz="2800" dirty="0">
                <a:solidFill>
                  <a:schemeClr val="tx1">
                    <a:lumMod val="75000"/>
                    <a:lumOff val="25000"/>
                  </a:schemeClr>
                </a:solidFill>
              </a:rPr>
              <a:t>个节点</a:t>
            </a:r>
            <a:r>
              <a:rPr lang="zh-CN" altLang="en-US" sz="2800" dirty="0">
                <a:solidFill>
                  <a:schemeClr val="tx1">
                    <a:lumMod val="75000"/>
                    <a:lumOff val="25000"/>
                  </a:schemeClr>
                </a:solidFill>
              </a:rPr>
              <a:t>的邻居</a:t>
            </a:r>
            <a:endParaRPr lang="zh-CN" altLang="en-US"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pic>
        <p:nvPicPr>
          <p:cNvPr id="2" name="图片 1" descr="candidate_list.drawi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35280" y="1772285"/>
            <a:ext cx="7610475" cy="4730115"/>
          </a:xfrm>
          <a:prstGeom prst="rect">
            <a:avLst/>
          </a:prstGeom>
        </p:spPr>
      </p:pic>
      <p:sp>
        <p:nvSpPr>
          <p:cNvPr id="9" name="文本框 8"/>
          <p:cNvSpPr txBox="1"/>
          <p:nvPr/>
        </p:nvSpPr>
        <p:spPr>
          <a:xfrm>
            <a:off x="8616315" y="3175635"/>
            <a:ext cx="3343910" cy="922020"/>
          </a:xfrm>
          <a:prstGeom prst="rect">
            <a:avLst/>
          </a:prstGeom>
        </p:spPr>
        <p:txBody>
          <a:bodyPr wrap="square">
            <a:spAutoFit/>
          </a:bodyPr>
          <a:p>
            <a:pPr marL="285750" indent="-285750" algn="just" defTabSz="266700">
              <a:lnSpc>
                <a:spcPct val="150000"/>
              </a:lnSpc>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rPr>
              <a:t>每次只扩展候选队列中距离最近的</a:t>
            </a:r>
            <a:r>
              <a:rPr lang="zh-CN" altLang="en-US" sz="1800" dirty="0">
                <a:solidFill>
                  <a:schemeClr val="tx1"/>
                </a:solidFill>
                <a:latin typeface="Segoe UI Light" panose="020B0502040204020203" pitchFamily="34" charset="0"/>
                <a:ea typeface="微软雅黑 Light" panose="020B0502040204020203" pitchFamily="34" charset="-122"/>
              </a:rPr>
              <a:t>节点</a:t>
            </a:r>
            <a:endParaRPr lang="zh-CN" altLang="en-US" sz="1800" dirty="0">
              <a:solidFill>
                <a:schemeClr val="tx1"/>
              </a:solidFill>
              <a:latin typeface="Segoe UI Light" panose="020B0502040204020203" pitchFamily="34" charset="0"/>
              <a:ea typeface="微软雅黑 Light" panose="020B0502040204020203"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03</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16" y="1052736"/>
            <a:ext cx="9422704" cy="521970"/>
          </a:xfrm>
          <a:prstGeom prst="rect">
            <a:avLst/>
          </a:prstGeom>
          <a:noFill/>
        </p:spPr>
        <p:txBody>
          <a:bodyPr wrap="square">
            <a:spAutoFit/>
          </a:bodyPr>
          <a:lstStyle/>
          <a:p>
            <a:r>
              <a:rPr lang="zh-CN" altLang="en-US" sz="2800" dirty="0">
                <a:solidFill>
                  <a:schemeClr val="tx1">
                    <a:lumMod val="75000"/>
                    <a:lumOff val="25000"/>
                  </a:schemeClr>
                </a:solidFill>
              </a:rPr>
              <a:t>研究方案动机 </a:t>
            </a:r>
            <a:r>
              <a:rPr lang="en-US" altLang="zh-CN" sz="2800" dirty="0">
                <a:solidFill>
                  <a:schemeClr val="tx1">
                    <a:lumMod val="75000"/>
                    <a:lumOff val="25000"/>
                  </a:schemeClr>
                </a:solidFill>
              </a:rPr>
              <a:t>– </a:t>
            </a:r>
            <a:r>
              <a:rPr lang="zh-CN" altLang="en-US" sz="2800" dirty="0">
                <a:solidFill>
                  <a:schemeClr val="tx1">
                    <a:lumMod val="75000"/>
                    <a:lumOff val="25000"/>
                  </a:schemeClr>
                </a:solidFill>
              </a:rPr>
              <a:t>每次扩展</a:t>
            </a:r>
            <a:r>
              <a:rPr lang="en-US" altLang="zh-CN" sz="2800" dirty="0">
                <a:solidFill>
                  <a:schemeClr val="tx1">
                    <a:lumMod val="75000"/>
                    <a:lumOff val="25000"/>
                  </a:schemeClr>
                </a:solidFill>
              </a:rPr>
              <a:t>K</a:t>
            </a:r>
            <a:r>
              <a:rPr lang="zh-CN" altLang="en-US" sz="2800" dirty="0">
                <a:solidFill>
                  <a:schemeClr val="tx1">
                    <a:lumMod val="75000"/>
                    <a:lumOff val="25000"/>
                  </a:schemeClr>
                </a:solidFill>
              </a:rPr>
              <a:t>个节点</a:t>
            </a:r>
            <a:r>
              <a:rPr lang="zh-CN" altLang="en-US" sz="2800" dirty="0">
                <a:solidFill>
                  <a:schemeClr val="tx1">
                    <a:lumMod val="75000"/>
                    <a:lumOff val="25000"/>
                  </a:schemeClr>
                </a:solidFill>
              </a:rPr>
              <a:t>的邻居</a:t>
            </a:r>
            <a:endParaRPr lang="zh-CN" altLang="en-US"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pic>
        <p:nvPicPr>
          <p:cNvPr id="2" name="图片 1" descr="candidate_list_batch.drawi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9380" y="1988820"/>
            <a:ext cx="9143365" cy="3487420"/>
          </a:xfrm>
          <a:prstGeom prst="rect">
            <a:avLst/>
          </a:prstGeom>
        </p:spPr>
      </p:pic>
      <p:sp>
        <p:nvSpPr>
          <p:cNvPr id="9" name="文本框 8"/>
          <p:cNvSpPr txBox="1"/>
          <p:nvPr/>
        </p:nvSpPr>
        <p:spPr>
          <a:xfrm>
            <a:off x="9339580" y="2780665"/>
            <a:ext cx="2752725" cy="1204595"/>
          </a:xfrm>
          <a:prstGeom prst="rect">
            <a:avLst/>
          </a:prstGeom>
        </p:spPr>
        <p:txBody>
          <a:bodyPr wrap="square">
            <a:noAutofit/>
          </a:bodyPr>
          <a:p>
            <a:pPr marL="285750" indent="-285750" algn="just" defTabSz="266700">
              <a:lnSpc>
                <a:spcPct val="150000"/>
              </a:lnSpc>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rPr>
              <a:t>每次扩展候选队列中距离最近的</a:t>
            </a:r>
            <a:r>
              <a:rPr lang="en-US" altLang="zh-CN" sz="1800" dirty="0">
                <a:solidFill>
                  <a:schemeClr val="tx1"/>
                </a:solidFill>
                <a:latin typeface="Segoe UI Light" panose="020B0502040204020203" pitchFamily="34" charset="0"/>
                <a:ea typeface="微软雅黑 Light" panose="020B0502040204020203" pitchFamily="34" charset="-122"/>
              </a:rPr>
              <a:t>topK</a:t>
            </a:r>
            <a:r>
              <a:rPr lang="zh-CN" altLang="en-US" sz="1800" dirty="0">
                <a:solidFill>
                  <a:schemeClr val="tx1"/>
                </a:solidFill>
                <a:latin typeface="Segoe UI Light" panose="020B0502040204020203" pitchFamily="34" charset="0"/>
                <a:ea typeface="微软雅黑 Light" panose="020B0502040204020203" pitchFamily="34" charset="-122"/>
              </a:rPr>
              <a:t>节点</a:t>
            </a:r>
            <a:endParaRPr lang="zh-CN" altLang="en-US" sz="1800" dirty="0">
              <a:solidFill>
                <a:schemeClr val="tx1"/>
              </a:solidFill>
              <a:latin typeface="Segoe UI Light" panose="020B0502040204020203" pitchFamily="34" charset="0"/>
              <a:ea typeface="微软雅黑 Light" panose="020B0502040204020203" pitchFamily="34" charset="-122"/>
            </a:endParaRPr>
          </a:p>
        </p:txBody>
      </p:sp>
      <p:sp>
        <p:nvSpPr>
          <p:cNvPr id="5" name="文本框 4"/>
          <p:cNvSpPr txBox="1"/>
          <p:nvPr/>
        </p:nvSpPr>
        <p:spPr>
          <a:xfrm>
            <a:off x="551180" y="5732780"/>
            <a:ext cx="10530840" cy="1049655"/>
          </a:xfrm>
          <a:prstGeom prst="rect">
            <a:avLst/>
          </a:prstGeom>
        </p:spPr>
        <p:txBody>
          <a:bodyPr wrap="square">
            <a:noAutofit/>
          </a:bodyPr>
          <a:p>
            <a:pPr marL="285750" indent="-285750" algn="just" defTabSz="266700">
              <a:lnSpc>
                <a:spcPct val="150000"/>
              </a:lnSpc>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rPr>
              <a:t>提前扩展的</a:t>
            </a:r>
            <a:r>
              <a:rPr lang="en-US" altLang="zh-CN" sz="1800" dirty="0">
                <a:solidFill>
                  <a:schemeClr val="tx1"/>
                </a:solidFill>
                <a:latin typeface="Segoe UI Light" panose="020B0502040204020203" pitchFamily="34" charset="0"/>
                <a:ea typeface="微软雅黑 Light" panose="020B0502040204020203" pitchFamily="34" charset="-122"/>
              </a:rPr>
              <a:t>B</a:t>
            </a:r>
            <a:r>
              <a:rPr lang="zh-CN" altLang="en-US" sz="1800" dirty="0">
                <a:solidFill>
                  <a:schemeClr val="tx1"/>
                </a:solidFill>
                <a:latin typeface="Segoe UI Light" panose="020B0502040204020203" pitchFamily="34" charset="0"/>
                <a:ea typeface="微软雅黑 Light" panose="020B0502040204020203" pitchFamily="34" charset="-122"/>
              </a:rPr>
              <a:t>、</a:t>
            </a:r>
            <a:r>
              <a:rPr lang="en-US" altLang="zh-CN" sz="1800" dirty="0">
                <a:solidFill>
                  <a:schemeClr val="tx1"/>
                </a:solidFill>
                <a:latin typeface="Segoe UI Light" panose="020B0502040204020203" pitchFamily="34" charset="0"/>
                <a:ea typeface="微软雅黑 Light" panose="020B0502040204020203" pitchFamily="34" charset="-122"/>
              </a:rPr>
              <a:t>C</a:t>
            </a:r>
            <a:r>
              <a:rPr lang="zh-CN" altLang="en-US" sz="1800" dirty="0">
                <a:solidFill>
                  <a:schemeClr val="tx1"/>
                </a:solidFill>
                <a:latin typeface="Segoe UI Light" panose="020B0502040204020203" pitchFamily="34" charset="0"/>
                <a:ea typeface="微软雅黑 Light" panose="020B0502040204020203" pitchFamily="34" charset="-122"/>
              </a:rPr>
              <a:t>、</a:t>
            </a:r>
            <a:r>
              <a:rPr lang="en-US" altLang="zh-CN" sz="1800" dirty="0">
                <a:solidFill>
                  <a:schemeClr val="tx1"/>
                </a:solidFill>
                <a:latin typeface="Segoe UI Light" panose="020B0502040204020203" pitchFamily="34" charset="0"/>
                <a:ea typeface="微软雅黑 Light" panose="020B0502040204020203" pitchFamily="34" charset="-122"/>
              </a:rPr>
              <a:t>F</a:t>
            </a:r>
            <a:r>
              <a:rPr lang="zh-CN" altLang="en-US" sz="1800" dirty="0">
                <a:solidFill>
                  <a:schemeClr val="tx1"/>
                </a:solidFill>
                <a:latin typeface="Segoe UI Light" panose="020B0502040204020203" pitchFamily="34" charset="0"/>
                <a:ea typeface="微软雅黑 Light" panose="020B0502040204020203" pitchFamily="34" charset="-122"/>
              </a:rPr>
              <a:t>、</a:t>
            </a:r>
            <a:r>
              <a:rPr lang="en-US" altLang="zh-CN" sz="1800" dirty="0">
                <a:solidFill>
                  <a:schemeClr val="tx1"/>
                </a:solidFill>
                <a:latin typeface="Segoe UI Light" panose="020B0502040204020203" pitchFamily="34" charset="0"/>
                <a:ea typeface="微软雅黑 Light" panose="020B0502040204020203" pitchFamily="34" charset="-122"/>
              </a:rPr>
              <a:t>E</a:t>
            </a:r>
            <a:r>
              <a:rPr lang="zh-CN" altLang="en-US" sz="1800" dirty="0">
                <a:solidFill>
                  <a:schemeClr val="tx1"/>
                </a:solidFill>
                <a:latin typeface="Segoe UI Light" panose="020B0502040204020203" pitchFamily="34" charset="0"/>
                <a:ea typeface="微软雅黑 Light" panose="020B0502040204020203" pitchFamily="34" charset="-122"/>
              </a:rPr>
              <a:t>节点原本是不会被扩展的，但是由于每次同时扩展</a:t>
            </a:r>
            <a:r>
              <a:rPr lang="en-US" altLang="zh-CN" sz="1800" dirty="0">
                <a:solidFill>
                  <a:schemeClr val="tx1"/>
                </a:solidFill>
                <a:latin typeface="Segoe UI Light" panose="020B0502040204020203" pitchFamily="34" charset="0"/>
                <a:ea typeface="微软雅黑 Light" panose="020B0502040204020203" pitchFamily="34" charset="-122"/>
              </a:rPr>
              <a:t>3</a:t>
            </a:r>
            <a:r>
              <a:rPr lang="zh-CN" altLang="en-US" sz="1800" dirty="0">
                <a:solidFill>
                  <a:schemeClr val="tx1"/>
                </a:solidFill>
                <a:latin typeface="Segoe UI Light" panose="020B0502040204020203" pitchFamily="34" charset="0"/>
                <a:ea typeface="微软雅黑 Light" panose="020B0502040204020203" pitchFamily="34" charset="-122"/>
              </a:rPr>
              <a:t>个节点，导致它们被扩展，造成了计算</a:t>
            </a:r>
            <a:r>
              <a:rPr lang="en-US" altLang="zh-CN" sz="1800" dirty="0">
                <a:solidFill>
                  <a:schemeClr val="tx1"/>
                </a:solidFill>
                <a:latin typeface="Segoe UI Light" panose="020B0502040204020203" pitchFamily="34" charset="0"/>
                <a:ea typeface="微软雅黑 Light" panose="020B0502040204020203" pitchFamily="34" charset="-122"/>
              </a:rPr>
              <a:t>/</a:t>
            </a:r>
            <a:r>
              <a:rPr lang="zh-CN" altLang="en-US" sz="1800" dirty="0">
                <a:solidFill>
                  <a:schemeClr val="tx1"/>
                </a:solidFill>
                <a:latin typeface="Segoe UI Light" panose="020B0502040204020203" pitchFamily="34" charset="0"/>
                <a:ea typeface="微软雅黑 Light" panose="020B0502040204020203" pitchFamily="34" charset="-122"/>
              </a:rPr>
              <a:t>传输的</a:t>
            </a:r>
            <a:r>
              <a:rPr lang="zh-CN" altLang="en-US" sz="1800" dirty="0">
                <a:solidFill>
                  <a:schemeClr val="tx1"/>
                </a:solidFill>
                <a:latin typeface="Segoe UI Light" panose="020B0502040204020203" pitchFamily="34" charset="0"/>
                <a:ea typeface="微软雅黑 Light" panose="020B0502040204020203" pitchFamily="34" charset="-122"/>
              </a:rPr>
              <a:t>浪费</a:t>
            </a:r>
            <a:endParaRPr lang="zh-CN" altLang="en-US" sz="1800" dirty="0">
              <a:solidFill>
                <a:schemeClr val="tx1"/>
              </a:solidFill>
              <a:latin typeface="Segoe UI Light" panose="020B0502040204020203" pitchFamily="34" charset="0"/>
              <a:ea typeface="微软雅黑 Light" panose="020B0502040204020203"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03</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20" y="1052830"/>
            <a:ext cx="9880600" cy="521970"/>
          </a:xfrm>
          <a:prstGeom prst="rect">
            <a:avLst/>
          </a:prstGeom>
          <a:noFill/>
        </p:spPr>
        <p:txBody>
          <a:bodyPr wrap="square">
            <a:spAutoFit/>
          </a:bodyPr>
          <a:lstStyle/>
          <a:p>
            <a:r>
              <a:rPr lang="zh-CN" altLang="en-US" sz="2800" dirty="0">
                <a:solidFill>
                  <a:schemeClr val="tx1">
                    <a:lumMod val="75000"/>
                    <a:lumOff val="25000"/>
                  </a:schemeClr>
                </a:solidFill>
              </a:rPr>
              <a:t>研究方案一 </a:t>
            </a:r>
            <a:r>
              <a:rPr lang="en-US" altLang="zh-CN" sz="2800" dirty="0">
                <a:solidFill>
                  <a:schemeClr val="tx1">
                    <a:lumMod val="75000"/>
                    <a:lumOff val="25000"/>
                  </a:schemeClr>
                </a:solidFill>
              </a:rPr>
              <a:t>– </a:t>
            </a:r>
            <a:r>
              <a:rPr lang="zh-CN" altLang="en-US" sz="2800" dirty="0">
                <a:solidFill>
                  <a:schemeClr val="tx1">
                    <a:lumMod val="75000"/>
                    <a:lumOff val="25000"/>
                  </a:schemeClr>
                </a:solidFill>
              </a:rPr>
              <a:t>基于 </a:t>
            </a:r>
            <a:r>
              <a:rPr lang="en-US" altLang="zh-CN" sz="2800" dirty="0">
                <a:solidFill>
                  <a:schemeClr val="tx1">
                    <a:lumMod val="75000"/>
                    <a:lumOff val="25000"/>
                  </a:schemeClr>
                </a:solidFill>
              </a:rPr>
              <a:t>RaBitQ </a:t>
            </a:r>
            <a:r>
              <a:rPr lang="zh-CN" altLang="en-US" sz="2800" dirty="0">
                <a:solidFill>
                  <a:schemeClr val="tx1">
                    <a:lumMod val="75000"/>
                    <a:lumOff val="25000"/>
                  </a:schemeClr>
                </a:solidFill>
              </a:rPr>
              <a:t>引导的</a:t>
            </a:r>
            <a:r>
              <a:rPr lang="zh-CN" altLang="en-US" sz="2800" dirty="0">
                <a:solidFill>
                  <a:schemeClr val="tx1">
                    <a:lumMod val="75000"/>
                    <a:lumOff val="25000"/>
                  </a:schemeClr>
                </a:solidFill>
                <a:sym typeface="+mn-ea"/>
              </a:rPr>
              <a:t>自适应</a:t>
            </a:r>
            <a:r>
              <a:rPr lang="zh-CN" altLang="en-US" sz="2800" dirty="0">
                <a:solidFill>
                  <a:schemeClr val="tx1">
                    <a:lumMod val="75000"/>
                    <a:lumOff val="25000"/>
                  </a:schemeClr>
                </a:solidFill>
              </a:rPr>
              <a:t>批量远程图遍历机制</a:t>
            </a:r>
            <a:endParaRPr lang="zh-CN" altLang="en-US"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sp>
        <p:nvSpPr>
          <p:cNvPr id="8" name="文本框 7"/>
          <p:cNvSpPr txBox="1"/>
          <p:nvPr/>
        </p:nvSpPr>
        <p:spPr>
          <a:xfrm>
            <a:off x="551180" y="5803265"/>
            <a:ext cx="11113770" cy="1014730"/>
          </a:xfrm>
          <a:prstGeom prst="rect">
            <a:avLst/>
          </a:prstGeom>
        </p:spPr>
        <p:txBody>
          <a:bodyPr wrap="square">
            <a:spAutoFit/>
          </a:bodyPr>
          <a:p>
            <a:pPr marL="285750" indent="-285750" algn="just" defTabSz="266700">
              <a:lnSpc>
                <a:spcPct val="150000"/>
              </a:lnSpc>
              <a:buClrTx/>
              <a:buSzTx/>
              <a:buFont typeface="Arial" panose="020B0604020202020204" pitchFamily="34" charset="0"/>
              <a:buChar char="•"/>
            </a:pPr>
            <a:r>
              <a:rPr lang="zh-CN" altLang="en-US" dirty="0">
                <a:solidFill>
                  <a:schemeClr val="tx1"/>
                </a:solidFill>
                <a:latin typeface="Segoe UI Light" panose="020B0502040204020203" pitchFamily="34" charset="0"/>
                <a:ea typeface="微软雅黑 Light" panose="020B0502040204020203" pitchFamily="34" charset="-122"/>
              </a:rPr>
              <a:t>在本地使用低精度向量对邻居节点做粗筛</a:t>
            </a:r>
            <a:r>
              <a:rPr lang="en-US" altLang="zh-CN" dirty="0">
                <a:solidFill>
                  <a:schemeClr val="tx1"/>
                </a:solidFill>
                <a:latin typeface="Segoe UI Light" panose="020B0502040204020203" pitchFamily="34" charset="0"/>
                <a:ea typeface="微软雅黑 Light" panose="020B0502040204020203" pitchFamily="34" charset="-122"/>
              </a:rPr>
              <a:t>，</a:t>
            </a:r>
            <a:r>
              <a:rPr lang="zh-CN" altLang="en-US" dirty="0">
                <a:solidFill>
                  <a:schemeClr val="tx1"/>
                </a:solidFill>
                <a:latin typeface="Segoe UI Light" panose="020B0502040204020203" pitchFamily="34" charset="0"/>
                <a:ea typeface="微软雅黑 Light" panose="020B0502040204020203" pitchFamily="34" charset="-122"/>
              </a:rPr>
              <a:t>仅对高价值的节点做</a:t>
            </a:r>
            <a:r>
              <a:rPr lang="en-US" altLang="zh-CN" dirty="0">
                <a:solidFill>
                  <a:schemeClr val="tx1"/>
                </a:solidFill>
                <a:latin typeface="Segoe UI Light" panose="020B0502040204020203" pitchFamily="34" charset="0"/>
                <a:ea typeface="微软雅黑 Light" panose="020B0502040204020203" pitchFamily="34" charset="-122"/>
              </a:rPr>
              <a:t>RDMA</a:t>
            </a:r>
            <a:r>
              <a:rPr lang="zh-CN" altLang="en-US" dirty="0">
                <a:solidFill>
                  <a:schemeClr val="tx1"/>
                </a:solidFill>
                <a:latin typeface="Segoe UI Light" panose="020B0502040204020203" pitchFamily="34" charset="0"/>
                <a:ea typeface="微软雅黑 Light" panose="020B0502040204020203" pitchFamily="34" charset="-122"/>
              </a:rPr>
              <a:t>拉取与</a:t>
            </a:r>
            <a:r>
              <a:rPr lang="en-US" altLang="zh-CN" dirty="0">
                <a:solidFill>
                  <a:schemeClr val="tx1"/>
                </a:solidFill>
                <a:latin typeface="Segoe UI Light" panose="020B0502040204020203" pitchFamily="34" charset="0"/>
                <a:ea typeface="微软雅黑 Light" panose="020B0502040204020203" pitchFamily="34" charset="-122"/>
              </a:rPr>
              <a:t>GPU</a:t>
            </a:r>
            <a:r>
              <a:rPr lang="zh-CN" altLang="en-US" dirty="0">
                <a:solidFill>
                  <a:schemeClr val="tx1"/>
                </a:solidFill>
                <a:latin typeface="Segoe UI Light" panose="020B0502040204020203" pitchFamily="34" charset="0"/>
                <a:ea typeface="微软雅黑 Light" panose="020B0502040204020203" pitchFamily="34" charset="-122"/>
              </a:rPr>
              <a:t>计算</a:t>
            </a:r>
            <a:endParaRPr lang="zh-CN" altLang="en-US" dirty="0">
              <a:solidFill>
                <a:schemeClr val="tx1"/>
              </a:solidFill>
              <a:latin typeface="Segoe UI Light" panose="020B0502040204020203" pitchFamily="34" charset="0"/>
              <a:ea typeface="微软雅黑 Light" panose="020B0502040204020203" pitchFamily="34" charset="-122"/>
            </a:endParaRPr>
          </a:p>
          <a:p>
            <a:pPr marL="285750" indent="-285750" algn="just" defTabSz="266700">
              <a:lnSpc>
                <a:spcPct val="150000"/>
              </a:lnSpc>
              <a:buClrTx/>
              <a:buSzTx/>
              <a:buFont typeface="Arial" panose="020B0604020202020204" pitchFamily="34" charset="0"/>
              <a:buChar char="•"/>
            </a:pPr>
            <a:r>
              <a:rPr lang="zh-CN" altLang="en-US" dirty="0">
                <a:solidFill>
                  <a:schemeClr val="tx1"/>
                </a:solidFill>
                <a:latin typeface="Segoe UI Light" panose="020B0502040204020203" pitchFamily="34" charset="0"/>
                <a:ea typeface="微软雅黑 Light" panose="020B0502040204020203" pitchFamily="34" charset="-122"/>
              </a:rPr>
              <a:t>通过本轮扩展的</a:t>
            </a:r>
            <a:r>
              <a:rPr lang="en-US" altLang="zh-CN" dirty="0">
                <a:solidFill>
                  <a:schemeClr val="tx1"/>
                </a:solidFill>
                <a:latin typeface="Segoe UI Light" panose="020B0502040204020203" pitchFamily="34" charset="0"/>
                <a:ea typeface="微软雅黑 Light" panose="020B0502040204020203" pitchFamily="34" charset="-122"/>
              </a:rPr>
              <a:t>RDMA/GPU/beam </a:t>
            </a:r>
            <a:r>
              <a:rPr lang="zh-CN" altLang="en-US" dirty="0">
                <a:solidFill>
                  <a:schemeClr val="tx1"/>
                </a:solidFill>
                <a:latin typeface="Segoe UI Light" panose="020B0502040204020203" pitchFamily="34" charset="0"/>
                <a:ea typeface="微软雅黑 Light" panose="020B0502040204020203" pitchFamily="34" charset="-122"/>
              </a:rPr>
              <a:t>反馈，自适应的调整批量</a:t>
            </a:r>
            <a:r>
              <a:rPr lang="en-US" altLang="zh-CN" dirty="0">
                <a:solidFill>
                  <a:schemeClr val="tx1"/>
                </a:solidFill>
                <a:latin typeface="Segoe UI Light" panose="020B0502040204020203" pitchFamily="34" charset="0"/>
                <a:ea typeface="微软雅黑 Light" panose="020B0502040204020203" pitchFamily="34" charset="-122"/>
              </a:rPr>
              <a:t>K</a:t>
            </a:r>
            <a:r>
              <a:rPr lang="zh-CN" altLang="en-US" dirty="0">
                <a:solidFill>
                  <a:schemeClr val="tx1"/>
                </a:solidFill>
                <a:latin typeface="Segoe UI Light" panose="020B0502040204020203" pitchFamily="34" charset="0"/>
                <a:ea typeface="微软雅黑 Light" panose="020B0502040204020203" pitchFamily="34" charset="-122"/>
              </a:rPr>
              <a:t>的</a:t>
            </a:r>
            <a:r>
              <a:rPr lang="zh-CN" altLang="en-US" dirty="0">
                <a:solidFill>
                  <a:schemeClr val="tx1"/>
                </a:solidFill>
                <a:latin typeface="Segoe UI Light" panose="020B0502040204020203" pitchFamily="34" charset="0"/>
                <a:ea typeface="微软雅黑 Light" panose="020B0502040204020203" pitchFamily="34" charset="-122"/>
              </a:rPr>
              <a:t>值</a:t>
            </a:r>
            <a:endParaRPr lang="zh-CN" altLang="en-US" dirty="0">
              <a:solidFill>
                <a:schemeClr val="tx1"/>
              </a:solidFill>
              <a:latin typeface="Segoe UI Light" panose="020B0502040204020203" pitchFamily="34" charset="0"/>
              <a:ea typeface="微软雅黑 Light" panose="020B0502040204020203" pitchFamily="34" charset="-122"/>
            </a:endParaRPr>
          </a:p>
        </p:txBody>
      </p:sp>
      <p:pic>
        <p:nvPicPr>
          <p:cNvPr id="2" name="图片 1" descr="serial.drawi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3570" y="1700530"/>
            <a:ext cx="8630285" cy="40735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03</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16" y="1052736"/>
            <a:ext cx="9422704" cy="521970"/>
          </a:xfrm>
          <a:prstGeom prst="rect">
            <a:avLst/>
          </a:prstGeom>
          <a:noFill/>
        </p:spPr>
        <p:txBody>
          <a:bodyPr wrap="square">
            <a:spAutoFit/>
          </a:bodyPr>
          <a:lstStyle/>
          <a:p>
            <a:r>
              <a:rPr lang="zh-CN" altLang="en-US" sz="2800" dirty="0">
                <a:solidFill>
                  <a:schemeClr val="tx1">
                    <a:lumMod val="75000"/>
                    <a:lumOff val="25000"/>
                  </a:schemeClr>
                </a:solidFill>
              </a:rPr>
              <a:t>研究方案动机 </a:t>
            </a:r>
            <a:r>
              <a:rPr lang="en-US" altLang="zh-CN" sz="2800" dirty="0">
                <a:solidFill>
                  <a:schemeClr val="tx1">
                    <a:lumMod val="75000"/>
                    <a:lumOff val="25000"/>
                  </a:schemeClr>
                </a:solidFill>
              </a:rPr>
              <a:t>– </a:t>
            </a:r>
            <a:r>
              <a:rPr lang="en-US" altLang="zh-CN" sz="2800" dirty="0">
                <a:solidFill>
                  <a:schemeClr val="tx1">
                    <a:lumMod val="75000"/>
                    <a:lumOff val="25000"/>
                  </a:schemeClr>
                </a:solidFill>
                <a:sym typeface="+mn-ea"/>
              </a:rPr>
              <a:t>Baseline </a:t>
            </a:r>
            <a:r>
              <a:rPr lang="zh-CN" altLang="en-US" sz="2800" dirty="0">
                <a:solidFill>
                  <a:schemeClr val="tx1">
                    <a:lumMod val="75000"/>
                    <a:lumOff val="25000"/>
                  </a:schemeClr>
                </a:solidFill>
                <a:sym typeface="+mn-ea"/>
              </a:rPr>
              <a:t>的</a:t>
            </a:r>
            <a:r>
              <a:rPr lang="zh-CN" altLang="en-US" sz="2800" dirty="0">
                <a:solidFill>
                  <a:schemeClr val="tx1">
                    <a:lumMod val="75000"/>
                    <a:lumOff val="25000"/>
                  </a:schemeClr>
                </a:solidFill>
                <a:sym typeface="+mn-ea"/>
              </a:rPr>
              <a:t>更新性能瓶颈分析</a:t>
            </a:r>
            <a:endParaRPr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pic>
        <p:nvPicPr>
          <p:cNvPr id="2" name="图片 1" descr="fig_a_update_offloading_effect"/>
          <p:cNvPicPr>
            <a:picLocks noChangeAspect="1"/>
          </p:cNvPicPr>
          <p:nvPr/>
        </p:nvPicPr>
        <p:blipFill>
          <a:blip r:embed="rId1"/>
          <a:stretch>
            <a:fillRect/>
          </a:stretch>
        </p:blipFill>
        <p:spPr>
          <a:xfrm>
            <a:off x="335915" y="1844675"/>
            <a:ext cx="5669280" cy="3482340"/>
          </a:xfrm>
          <a:prstGeom prst="rect">
            <a:avLst/>
          </a:prstGeom>
        </p:spPr>
      </p:pic>
      <p:pic>
        <p:nvPicPr>
          <p:cNvPr id="5" name="图片 4" descr="fig_b_storage_owner_insert_breakdown"/>
          <p:cNvPicPr>
            <a:picLocks noChangeAspect="1"/>
          </p:cNvPicPr>
          <p:nvPr/>
        </p:nvPicPr>
        <p:blipFill>
          <a:blip r:embed="rId2"/>
          <a:stretch>
            <a:fillRect/>
          </a:stretch>
        </p:blipFill>
        <p:spPr>
          <a:xfrm>
            <a:off x="6456045" y="1635125"/>
            <a:ext cx="4724400" cy="2144395"/>
          </a:xfrm>
          <a:prstGeom prst="rect">
            <a:avLst/>
          </a:prstGeom>
        </p:spPr>
      </p:pic>
      <p:pic>
        <p:nvPicPr>
          <p:cNvPr id="6" name="图片 5" descr="fig_c_storage_owner_rdma_distribution"/>
          <p:cNvPicPr>
            <a:picLocks noChangeAspect="1"/>
          </p:cNvPicPr>
          <p:nvPr/>
        </p:nvPicPr>
        <p:blipFill>
          <a:blip r:embed="rId3"/>
          <a:stretch>
            <a:fillRect/>
          </a:stretch>
        </p:blipFill>
        <p:spPr>
          <a:xfrm>
            <a:off x="6973570" y="3779520"/>
            <a:ext cx="3689350" cy="2407920"/>
          </a:xfrm>
          <a:prstGeom prst="rect">
            <a:avLst/>
          </a:prstGeom>
        </p:spPr>
      </p:pic>
      <p:sp>
        <p:nvSpPr>
          <p:cNvPr id="7" name="文本框 6"/>
          <p:cNvSpPr txBox="1"/>
          <p:nvPr/>
        </p:nvSpPr>
        <p:spPr>
          <a:xfrm>
            <a:off x="335915" y="5805170"/>
            <a:ext cx="8310245" cy="922020"/>
          </a:xfrm>
          <a:prstGeom prst="rect">
            <a:avLst/>
          </a:prstGeom>
          <a:noFill/>
        </p:spPr>
        <p:txBody>
          <a:bodyPr wrap="square" rtlCol="0" anchor="t">
            <a:spAutoFit/>
          </a:bodyPr>
          <a:p>
            <a:pPr marL="285750" indent="-285750" algn="just" defTabSz="266700">
              <a:lnSpc>
                <a:spcPct val="150000"/>
              </a:lnSpc>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sym typeface="+mn-ea"/>
              </a:rPr>
              <a:t>将更新卸载到存储侧后</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查询的性能有显著提高</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但是更新的性能</a:t>
            </a:r>
            <a:r>
              <a:rPr lang="zh-CN" altLang="en-US" sz="1800" dirty="0">
                <a:solidFill>
                  <a:schemeClr val="tx1"/>
                </a:solidFill>
                <a:latin typeface="Segoe UI Light" panose="020B0502040204020203" pitchFamily="34" charset="0"/>
                <a:ea typeface="微软雅黑 Light" panose="020B0502040204020203" pitchFamily="34" charset="-122"/>
                <a:sym typeface="+mn-ea"/>
              </a:rPr>
              <a:t>下降了</a:t>
            </a:r>
            <a:endParaRPr lang="zh-CN" altLang="en-US" sz="1800" dirty="0">
              <a:solidFill>
                <a:schemeClr val="tx1"/>
              </a:solidFill>
              <a:latin typeface="Segoe UI Light" panose="020B0502040204020203" pitchFamily="34" charset="0"/>
              <a:ea typeface="微软雅黑 Light" panose="020B0502040204020203" pitchFamily="34" charset="-122"/>
              <a:sym typeface="+mn-ea"/>
            </a:endParaRPr>
          </a:p>
          <a:p>
            <a:pPr marL="285750" indent="-285750" algn="just" defTabSz="266700">
              <a:lnSpc>
                <a:spcPct val="150000"/>
              </a:lnSpc>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sym typeface="+mn-ea"/>
              </a:rPr>
              <a:t>存储节点只有自身分片的数据</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需要其他分片数据时依然要通过</a:t>
            </a:r>
            <a:r>
              <a:rPr lang="en-US" altLang="zh-CN" sz="1800" dirty="0">
                <a:solidFill>
                  <a:schemeClr val="tx1"/>
                </a:solidFill>
                <a:latin typeface="Segoe UI Light" panose="020B0502040204020203" pitchFamily="34" charset="0"/>
                <a:ea typeface="微软雅黑 Light" panose="020B0502040204020203" pitchFamily="34" charset="-122"/>
                <a:sym typeface="+mn-ea"/>
              </a:rPr>
              <a:t>RDMA</a:t>
            </a:r>
            <a:r>
              <a:rPr lang="zh-CN" altLang="en-US" sz="1800" dirty="0">
                <a:solidFill>
                  <a:schemeClr val="tx1"/>
                </a:solidFill>
                <a:latin typeface="Segoe UI Light" panose="020B0502040204020203" pitchFamily="34" charset="0"/>
                <a:ea typeface="微软雅黑 Light" panose="020B0502040204020203" pitchFamily="34" charset="-122"/>
                <a:sym typeface="+mn-ea"/>
              </a:rPr>
              <a:t>访问</a:t>
            </a:r>
            <a:endParaRPr lang="zh-CN" altLang="en-US" sz="1800" dirty="0">
              <a:solidFill>
                <a:schemeClr val="tx1"/>
              </a:solidFill>
              <a:latin typeface="Segoe UI Light" panose="020B0502040204020203" pitchFamily="34" charset="0"/>
              <a:ea typeface="微软雅黑 Light" panose="020B0502040204020203" pitchFamily="3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03</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20" y="1052830"/>
            <a:ext cx="9772650" cy="521970"/>
          </a:xfrm>
          <a:prstGeom prst="rect">
            <a:avLst/>
          </a:prstGeom>
          <a:noFill/>
        </p:spPr>
        <p:txBody>
          <a:bodyPr wrap="square">
            <a:spAutoFit/>
          </a:bodyPr>
          <a:lstStyle/>
          <a:p>
            <a:r>
              <a:rPr lang="zh-CN" altLang="en-US" sz="2800" dirty="0">
                <a:solidFill>
                  <a:schemeClr val="tx1">
                    <a:lumMod val="75000"/>
                    <a:lumOff val="25000"/>
                  </a:schemeClr>
                </a:solidFill>
              </a:rPr>
              <a:t>研究方案</a:t>
            </a:r>
            <a:r>
              <a:rPr lang="zh-CN" altLang="en-US" sz="2800" dirty="0">
                <a:solidFill>
                  <a:schemeClr val="tx1">
                    <a:lumMod val="75000"/>
                    <a:lumOff val="25000"/>
                  </a:schemeClr>
                </a:solidFill>
              </a:rPr>
              <a:t>二 </a:t>
            </a:r>
            <a:r>
              <a:rPr lang="en-US" altLang="zh-CN" sz="2800" dirty="0">
                <a:solidFill>
                  <a:schemeClr val="tx1">
                    <a:lumMod val="75000"/>
                    <a:lumOff val="25000"/>
                  </a:schemeClr>
                </a:solidFill>
              </a:rPr>
              <a:t>– </a:t>
            </a:r>
            <a:r>
              <a:rPr sz="2800" dirty="0">
                <a:solidFill>
                  <a:schemeClr val="tx1">
                    <a:lumMod val="75000"/>
                    <a:lumOff val="25000"/>
                  </a:schemeClr>
                </a:solidFill>
              </a:rPr>
              <a:t>通信预算约束下的局部动态图维护方法</a:t>
            </a:r>
            <a:endParaRPr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sp>
        <p:nvSpPr>
          <p:cNvPr id="7" name="文本框 6"/>
          <p:cNvSpPr txBox="1"/>
          <p:nvPr/>
        </p:nvSpPr>
        <p:spPr>
          <a:xfrm>
            <a:off x="335280" y="1772920"/>
            <a:ext cx="11119485" cy="1593850"/>
          </a:xfrm>
          <a:prstGeom prst="rect">
            <a:avLst/>
          </a:prstGeom>
          <a:noFill/>
        </p:spPr>
        <p:txBody>
          <a:bodyPr wrap="square" rtlCol="0" anchor="t">
            <a:spAutoFit/>
          </a:bodyPr>
          <a:p>
            <a:pPr marL="285750" indent="-285750" algn="just" defTabSz="266700">
              <a:lnSpc>
                <a:spcPct val="150000"/>
              </a:lnSpc>
              <a:spcBef>
                <a:spcPts val="500"/>
              </a:spcBef>
              <a:spcAft>
                <a:spcPts val="500"/>
              </a:spcAft>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sym typeface="+mn-ea"/>
              </a:rPr>
              <a:t>通过Metis图划分算法，让图划分具有局部性，</a:t>
            </a:r>
            <a:r>
              <a:rPr lang="zh-CN" altLang="en-US" sz="1800" dirty="0">
                <a:solidFill>
                  <a:srgbClr val="FF0000"/>
                </a:solidFill>
                <a:latin typeface="Segoe UI Light" panose="020B0502040204020203" pitchFamily="34" charset="0"/>
                <a:ea typeface="微软雅黑 Light" panose="020B0502040204020203" pitchFamily="34" charset="-122"/>
                <a:sym typeface="+mn-ea"/>
              </a:rPr>
              <a:t>减少跨分片边的数量</a:t>
            </a:r>
            <a:r>
              <a:rPr lang="zh-CN" altLang="en-US" sz="1800" dirty="0">
                <a:solidFill>
                  <a:schemeClr val="tx1"/>
                </a:solidFill>
                <a:latin typeface="Segoe UI Light" panose="020B0502040204020203" pitchFamily="34" charset="0"/>
                <a:ea typeface="微软雅黑 Light" panose="020B0502040204020203" pitchFamily="34" charset="-122"/>
                <a:sym typeface="+mn-ea"/>
              </a:rPr>
              <a:t>从而减少远程访问</a:t>
            </a:r>
            <a:endParaRPr lang="zh-CN" altLang="en-US" sz="1800" dirty="0">
              <a:solidFill>
                <a:schemeClr val="tx1"/>
              </a:solidFill>
              <a:latin typeface="Segoe UI Light" panose="020B0502040204020203" pitchFamily="34" charset="0"/>
              <a:ea typeface="微软雅黑 Light" panose="020B0502040204020203" pitchFamily="34" charset="-122"/>
              <a:sym typeface="+mn-ea"/>
            </a:endParaRPr>
          </a:p>
          <a:p>
            <a:pPr marL="285750" indent="-285750" algn="just" defTabSz="266700">
              <a:lnSpc>
                <a:spcPct val="150000"/>
              </a:lnSpc>
              <a:spcBef>
                <a:spcPts val="500"/>
              </a:spcBef>
              <a:spcAft>
                <a:spcPts val="500"/>
              </a:spcAft>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sym typeface="+mn-ea"/>
              </a:rPr>
              <a:t>在插入向量时，与对应分片的质心做距离计算，</a:t>
            </a:r>
            <a:r>
              <a:rPr lang="zh-CN" altLang="en-US" sz="1800" dirty="0">
                <a:solidFill>
                  <a:srgbClr val="FF0000"/>
                </a:solidFill>
                <a:latin typeface="Segoe UI Light" panose="020B0502040204020203" pitchFamily="34" charset="0"/>
                <a:ea typeface="微软雅黑 Light" panose="020B0502040204020203" pitchFamily="34" charset="-122"/>
                <a:sym typeface="+mn-ea"/>
              </a:rPr>
              <a:t>选择与插入向量最接近的分片做插入</a:t>
            </a:r>
            <a:endParaRPr lang="zh-CN" altLang="en-US" sz="1800" dirty="0">
              <a:solidFill>
                <a:schemeClr val="tx1"/>
              </a:solidFill>
              <a:latin typeface="Segoe UI Light" panose="020B0502040204020203" pitchFamily="34" charset="0"/>
              <a:ea typeface="微软雅黑 Light" panose="020B0502040204020203" pitchFamily="34" charset="-122"/>
              <a:sym typeface="+mn-ea"/>
            </a:endParaRPr>
          </a:p>
          <a:p>
            <a:pPr marL="285750" indent="-285750" algn="just" defTabSz="266700">
              <a:lnSpc>
                <a:spcPct val="150000"/>
              </a:lnSpc>
              <a:spcBef>
                <a:spcPts val="500"/>
              </a:spcBef>
              <a:spcAft>
                <a:spcPts val="500"/>
              </a:spcAft>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sym typeface="+mn-ea"/>
              </a:rPr>
              <a:t>通过给更新过程中</a:t>
            </a:r>
            <a:r>
              <a:rPr lang="zh-CN" altLang="en-US" sz="1800" dirty="0">
                <a:solidFill>
                  <a:srgbClr val="FF0000"/>
                </a:solidFill>
                <a:latin typeface="Segoe UI Light" panose="020B0502040204020203" pitchFamily="34" charset="0"/>
                <a:ea typeface="微软雅黑 Light" panose="020B0502040204020203" pitchFamily="34" charset="-122"/>
                <a:sym typeface="+mn-ea"/>
              </a:rPr>
              <a:t>远端邻居搜索扩展设定搜索预算</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如访问数量和访问频率，限制搜索的远端访问</a:t>
            </a:r>
            <a:r>
              <a:rPr lang="zh-CN" altLang="en-US" sz="1800" dirty="0">
                <a:solidFill>
                  <a:schemeClr val="tx1"/>
                </a:solidFill>
                <a:latin typeface="Segoe UI Light" panose="020B0502040204020203" pitchFamily="34" charset="0"/>
                <a:ea typeface="微软雅黑 Light" panose="020B0502040204020203" pitchFamily="34" charset="-122"/>
                <a:sym typeface="+mn-ea"/>
              </a:rPr>
              <a:t>开销</a:t>
            </a:r>
            <a:endParaRPr lang="zh-CN" altLang="en-US" sz="1800" dirty="0">
              <a:solidFill>
                <a:schemeClr val="tx1"/>
              </a:solidFill>
              <a:latin typeface="Segoe UI Light" panose="020B0502040204020203" pitchFamily="34" charset="0"/>
              <a:ea typeface="微软雅黑 Light" panose="020B0502040204020203" pitchFamily="34" charset="-122"/>
              <a:sym typeface="+mn-ea"/>
            </a:endParaRPr>
          </a:p>
        </p:txBody>
      </p:sp>
      <p:pic>
        <p:nvPicPr>
          <p:cNvPr id="6" name="图片 5" descr="aldi.drawi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3570" y="3366770"/>
            <a:ext cx="8971915" cy="34366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03</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20" y="1052830"/>
            <a:ext cx="9772650" cy="521970"/>
          </a:xfrm>
          <a:prstGeom prst="rect">
            <a:avLst/>
          </a:prstGeom>
          <a:noFill/>
        </p:spPr>
        <p:txBody>
          <a:bodyPr wrap="square">
            <a:spAutoFit/>
          </a:bodyPr>
          <a:lstStyle/>
          <a:p>
            <a:r>
              <a:rPr lang="zh-CN" altLang="en-US" sz="2800" dirty="0">
                <a:solidFill>
                  <a:schemeClr val="tx1">
                    <a:lumMod val="75000"/>
                    <a:lumOff val="25000"/>
                  </a:schemeClr>
                </a:solidFill>
              </a:rPr>
              <a:t>研究方案</a:t>
            </a:r>
            <a:r>
              <a:rPr lang="zh-CN" altLang="en-US" sz="2800" dirty="0">
                <a:solidFill>
                  <a:schemeClr val="tx1">
                    <a:lumMod val="75000"/>
                    <a:lumOff val="25000"/>
                  </a:schemeClr>
                </a:solidFill>
              </a:rPr>
              <a:t>二 </a:t>
            </a:r>
            <a:r>
              <a:rPr lang="en-US" altLang="zh-CN" sz="2800" dirty="0">
                <a:solidFill>
                  <a:schemeClr val="tx1">
                    <a:lumMod val="75000"/>
                    <a:lumOff val="25000"/>
                  </a:schemeClr>
                </a:solidFill>
              </a:rPr>
              <a:t>– </a:t>
            </a:r>
            <a:r>
              <a:rPr sz="2800" dirty="0">
                <a:solidFill>
                  <a:schemeClr val="tx1">
                    <a:lumMod val="75000"/>
                    <a:lumOff val="25000"/>
                  </a:schemeClr>
                </a:solidFill>
              </a:rPr>
              <a:t>通信预算约束下的局部动态图维护方法</a:t>
            </a:r>
            <a:endParaRPr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sp>
        <p:nvSpPr>
          <p:cNvPr id="3" name="文本框 2"/>
          <p:cNvSpPr txBox="1"/>
          <p:nvPr/>
        </p:nvSpPr>
        <p:spPr>
          <a:xfrm>
            <a:off x="407670" y="5946140"/>
            <a:ext cx="10878820" cy="922020"/>
          </a:xfrm>
          <a:prstGeom prst="rect">
            <a:avLst/>
          </a:prstGeom>
          <a:noFill/>
        </p:spPr>
        <p:txBody>
          <a:bodyPr wrap="square" rtlCol="0" anchor="t">
            <a:spAutoFit/>
          </a:bodyPr>
          <a:p>
            <a:pPr marL="285750" indent="-285750" algn="just" defTabSz="266700">
              <a:lnSpc>
                <a:spcPct val="150000"/>
              </a:lnSpc>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sym typeface="+mn-ea"/>
              </a:rPr>
              <a:t>后台</a:t>
            </a:r>
            <a:r>
              <a:rPr lang="zh-CN" altLang="en-US" sz="1800" dirty="0">
                <a:solidFill>
                  <a:srgbClr val="FF0000"/>
                </a:solidFill>
                <a:latin typeface="Segoe UI Light" panose="020B0502040204020203" pitchFamily="34" charset="0"/>
                <a:ea typeface="微软雅黑 Light" panose="020B0502040204020203" pitchFamily="34" charset="-122"/>
                <a:sym typeface="+mn-ea"/>
              </a:rPr>
              <a:t>周期性地采样快速插入路径的邻居</a:t>
            </a:r>
            <a:r>
              <a:rPr lang="en-US" altLang="zh-CN" sz="1800" dirty="0">
                <a:solidFill>
                  <a:srgbClr val="FF0000"/>
                </a:solidFill>
                <a:latin typeface="Segoe UI Light" panose="020B0502040204020203" pitchFamily="34" charset="0"/>
                <a:ea typeface="微软雅黑 Light" panose="020B0502040204020203" pitchFamily="34" charset="-122"/>
                <a:sym typeface="+mn-ea"/>
              </a:rPr>
              <a:t>，</a:t>
            </a:r>
            <a:r>
              <a:rPr lang="zh-CN" altLang="en-US" sz="1800" dirty="0">
                <a:solidFill>
                  <a:srgbClr val="FF0000"/>
                </a:solidFill>
                <a:latin typeface="Segoe UI Light" panose="020B0502040204020203" pitchFamily="34" charset="0"/>
                <a:ea typeface="微软雅黑 Light" panose="020B0502040204020203" pitchFamily="34" charset="-122"/>
                <a:sym typeface="+mn-ea"/>
              </a:rPr>
              <a:t>做完整的邻居搜索</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然后</a:t>
            </a:r>
            <a:r>
              <a:rPr lang="zh-CN" altLang="en-US" sz="1800" dirty="0">
                <a:solidFill>
                  <a:srgbClr val="FF0000"/>
                </a:solidFill>
                <a:latin typeface="Segoe UI Light" panose="020B0502040204020203" pitchFamily="34" charset="0"/>
                <a:ea typeface="微软雅黑 Light" panose="020B0502040204020203" pitchFamily="34" charset="-122"/>
                <a:sym typeface="+mn-ea"/>
              </a:rPr>
              <a:t>比对邻居重合度是否小于阈值</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如果</a:t>
            </a:r>
            <a:r>
              <a:rPr lang="zh-CN" altLang="en-US" sz="1800" dirty="0">
                <a:solidFill>
                  <a:srgbClr val="FF0000"/>
                </a:solidFill>
                <a:latin typeface="Segoe UI Light" panose="020B0502040204020203" pitchFamily="34" charset="0"/>
                <a:ea typeface="微软雅黑 Light" panose="020B0502040204020203" pitchFamily="34" charset="-122"/>
                <a:sym typeface="+mn-ea"/>
              </a:rPr>
              <a:t>小于阈值则重做这批插入</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并</a:t>
            </a:r>
            <a:r>
              <a:rPr lang="zh-CN" altLang="en-US" sz="1800" dirty="0">
                <a:solidFill>
                  <a:srgbClr val="FF0000"/>
                </a:solidFill>
                <a:latin typeface="Segoe UI Light" panose="020B0502040204020203" pitchFamily="34" charset="0"/>
                <a:ea typeface="微软雅黑 Light" panose="020B0502040204020203" pitchFamily="34" charset="-122"/>
                <a:sym typeface="+mn-ea"/>
              </a:rPr>
              <a:t>动态调整远端搜索预算</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通过这种后台抽查机制来保证</a:t>
            </a:r>
            <a:r>
              <a:rPr lang="zh-CN" altLang="en-US" sz="1800" dirty="0">
                <a:solidFill>
                  <a:schemeClr val="tx1"/>
                </a:solidFill>
                <a:latin typeface="Segoe UI Light" panose="020B0502040204020203" pitchFamily="34" charset="0"/>
                <a:ea typeface="微软雅黑 Light" panose="020B0502040204020203" pitchFamily="34" charset="-122"/>
                <a:sym typeface="+mn-ea"/>
              </a:rPr>
              <a:t>快速插入</a:t>
            </a:r>
            <a:r>
              <a:rPr lang="zh-CN" altLang="en-US" sz="1800" dirty="0">
                <a:solidFill>
                  <a:schemeClr val="tx1"/>
                </a:solidFill>
                <a:latin typeface="Segoe UI Light" panose="020B0502040204020203" pitchFamily="34" charset="0"/>
                <a:ea typeface="微软雅黑 Light" panose="020B0502040204020203" pitchFamily="34" charset="-122"/>
                <a:sym typeface="+mn-ea"/>
              </a:rPr>
              <a:t>质量</a:t>
            </a:r>
            <a:endParaRPr lang="zh-CN" altLang="en-US" sz="1800" dirty="0">
              <a:solidFill>
                <a:schemeClr val="tx1"/>
              </a:solidFill>
              <a:latin typeface="Segoe UI Light" panose="020B0502040204020203" pitchFamily="34" charset="0"/>
              <a:ea typeface="微软雅黑 Light" panose="020B0502040204020203" pitchFamily="34" charset="-122"/>
              <a:sym typeface="+mn-ea"/>
            </a:endParaRPr>
          </a:p>
        </p:txBody>
      </p:sp>
      <p:pic>
        <p:nvPicPr>
          <p:cNvPr id="7" name="图片 6"/>
          <p:cNvPicPr>
            <a:picLocks noChangeAspect="1"/>
          </p:cNvPicPr>
          <p:nvPr/>
        </p:nvPicPr>
        <p:blipFill>
          <a:blip r:embed="rId1"/>
          <a:stretch>
            <a:fillRect/>
          </a:stretch>
        </p:blipFill>
        <p:spPr>
          <a:xfrm>
            <a:off x="6816090" y="3717290"/>
            <a:ext cx="4991100" cy="889000"/>
          </a:xfrm>
          <a:prstGeom prst="rect">
            <a:avLst/>
          </a:prstGeom>
        </p:spPr>
      </p:pic>
      <p:pic>
        <p:nvPicPr>
          <p:cNvPr id="2" name="图片 1" descr="aldi_audit.drawio"/>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3525" y="1628775"/>
            <a:ext cx="6442075" cy="451548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03</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20" y="1052830"/>
            <a:ext cx="9772650" cy="521970"/>
          </a:xfrm>
          <a:prstGeom prst="rect">
            <a:avLst/>
          </a:prstGeom>
          <a:noFill/>
        </p:spPr>
        <p:txBody>
          <a:bodyPr wrap="square">
            <a:spAutoFit/>
          </a:bodyPr>
          <a:lstStyle/>
          <a:p>
            <a:r>
              <a:rPr lang="zh-CN" altLang="en-US" sz="2800" dirty="0">
                <a:solidFill>
                  <a:schemeClr val="tx1">
                    <a:lumMod val="75000"/>
                    <a:lumOff val="25000"/>
                  </a:schemeClr>
                </a:solidFill>
              </a:rPr>
              <a:t>研究方案动机 </a:t>
            </a:r>
            <a:r>
              <a:rPr lang="en-US" altLang="zh-CN" sz="2800" dirty="0">
                <a:solidFill>
                  <a:schemeClr val="tx1">
                    <a:lumMod val="75000"/>
                    <a:lumOff val="25000"/>
                  </a:schemeClr>
                </a:solidFill>
              </a:rPr>
              <a:t>– </a:t>
            </a:r>
            <a:r>
              <a:rPr lang="zh-CN" sz="2800" dirty="0">
                <a:solidFill>
                  <a:schemeClr val="tx1">
                    <a:lumMod val="75000"/>
                    <a:lumOff val="25000"/>
                  </a:schemeClr>
                </a:solidFill>
              </a:rPr>
              <a:t>局部性更新导致查询</a:t>
            </a:r>
            <a:r>
              <a:rPr lang="en-US" altLang="zh-CN" sz="2800" dirty="0">
                <a:solidFill>
                  <a:schemeClr val="tx1">
                    <a:lumMod val="75000"/>
                    <a:lumOff val="25000"/>
                  </a:schemeClr>
                </a:solidFill>
              </a:rPr>
              <a:t>RDMA</a:t>
            </a:r>
            <a:r>
              <a:rPr lang="zh-CN" altLang="en-US" sz="2800" dirty="0">
                <a:solidFill>
                  <a:schemeClr val="tx1">
                    <a:lumMod val="75000"/>
                    <a:lumOff val="25000"/>
                  </a:schemeClr>
                </a:solidFill>
              </a:rPr>
              <a:t>并发性能</a:t>
            </a:r>
            <a:r>
              <a:rPr lang="zh-CN" altLang="en-US" sz="2800" dirty="0">
                <a:solidFill>
                  <a:schemeClr val="tx1">
                    <a:lumMod val="75000"/>
                    <a:lumOff val="25000"/>
                  </a:schemeClr>
                </a:solidFill>
              </a:rPr>
              <a:t>下降</a:t>
            </a:r>
            <a:endParaRPr lang="zh-CN" altLang="en-US"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graphicFrame>
        <p:nvGraphicFramePr>
          <p:cNvPr id="2" name="表格 1"/>
          <p:cNvGraphicFramePr/>
          <p:nvPr>
            <p:custDataLst>
              <p:tags r:id="rId1"/>
            </p:custDataLst>
          </p:nvPr>
        </p:nvGraphicFramePr>
        <p:xfrm>
          <a:off x="623570" y="1807210"/>
          <a:ext cx="7279640" cy="3550920"/>
        </p:xfrm>
        <a:graphic>
          <a:graphicData uri="http://schemas.openxmlformats.org/drawingml/2006/table">
            <a:tbl>
              <a:tblPr firstRow="1" bandRow="1">
                <a:tableStyleId>{E47D2557-9050-45F3-9E77-591402EB7796}</a:tableStyleId>
              </a:tblPr>
              <a:tblGrid>
                <a:gridCol w="1706245"/>
                <a:gridCol w="1845310"/>
                <a:gridCol w="1853565"/>
                <a:gridCol w="1874520"/>
              </a:tblGrid>
              <a:tr h="887730">
                <a:tc>
                  <a:txBody>
                    <a:bodyPr/>
                    <a:p>
                      <a:pPr algn="ctr">
                        <a:lnSpc>
                          <a:spcPct val="120000"/>
                        </a:lnSpc>
                        <a:buNone/>
                      </a:pPr>
                      <a:endParaRPr lang="zh-CN" altLang="en-US" sz="1400" spc="120">
                        <a:latin typeface="Arial" panose="020B0604020202020204" pitchFamily="34" charset="0"/>
                        <a:cs typeface="Arial" panose="020B0604020202020204" pitchFamily="34" charset="0"/>
                      </a:endParaRPr>
                    </a:p>
                  </a:txBody>
                  <a:tcPr marL="254000" marR="254000" marT="177800" marB="177800" anchor="ctr"/>
                </a:tc>
                <a:tc>
                  <a:txBody>
                    <a:bodyPr/>
                    <a:p>
                      <a:pPr algn="ctr" eaLnBrk="0" fontAlgn="base" hangingPunct="0">
                        <a:lnSpc>
                          <a:spcPct val="120000"/>
                        </a:lnSpc>
                        <a:buClrTx/>
                        <a:buSzTx/>
                        <a:buFontTx/>
                        <a:buNone/>
                      </a:pPr>
                      <a:r>
                        <a:rPr lang="en-US" altLang="zh-CN" sz="1400" spc="120" dirty="0">
                          <a:latin typeface="Arial" panose="020B0604020202020204" pitchFamily="34" charset="0"/>
                          <a:cs typeface="Arial" panose="020B0604020202020204" pitchFamily="34" charset="0"/>
                          <a:sym typeface="+mn-ea"/>
                        </a:rPr>
                        <a:t>Insert </a:t>
                      </a:r>
                      <a:r>
                        <a:rPr lang="zh-CN" altLang="en-US" sz="1400" spc="120" dirty="0">
                          <a:latin typeface="Arial" panose="020B0604020202020204" pitchFamily="34" charset="0"/>
                          <a:cs typeface="Arial" panose="020B0604020202020204" pitchFamily="34" charset="0"/>
                          <a:sym typeface="+mn-ea"/>
                        </a:rPr>
                        <a:t>吞吐</a:t>
                      </a:r>
                      <a:endParaRPr lang="zh-CN" altLang="en-US" sz="1400" spc="120" dirty="0">
                        <a:latin typeface="Arial" panose="020B0604020202020204" pitchFamily="34" charset="0"/>
                        <a:cs typeface="Arial" panose="020B0604020202020204" pitchFamily="34" charset="0"/>
                        <a:sym typeface="+mn-ea"/>
                      </a:endParaRPr>
                    </a:p>
                  </a:txBody>
                  <a:tcPr marL="254000" marR="254000" marT="177800" marB="177800" anchor="ctr"/>
                </a:tc>
                <a:tc>
                  <a:txBody>
                    <a:bodyPr/>
                    <a:p>
                      <a:pPr algn="ctr" eaLnBrk="0" fontAlgn="base" hangingPunct="0">
                        <a:lnSpc>
                          <a:spcPct val="120000"/>
                        </a:lnSpc>
                        <a:buClrTx/>
                        <a:buSzTx/>
                        <a:buFontTx/>
                        <a:buNone/>
                      </a:pPr>
                      <a:r>
                        <a:rPr lang="en-US" altLang="en-US" sz="1400" spc="120" dirty="0">
                          <a:latin typeface="Arial" panose="020B0604020202020204" pitchFamily="34" charset="0"/>
                          <a:cs typeface="Arial" panose="020B0604020202020204" pitchFamily="34" charset="0"/>
                          <a:sym typeface="+mn-ea"/>
                        </a:rPr>
                        <a:t>Query </a:t>
                      </a:r>
                      <a:r>
                        <a:rPr lang="zh-CN" altLang="en-US" sz="1400" spc="120" dirty="0">
                          <a:latin typeface="Arial" panose="020B0604020202020204" pitchFamily="34" charset="0"/>
                          <a:cs typeface="Arial" panose="020B0604020202020204" pitchFamily="34" charset="0"/>
                          <a:sym typeface="+mn-ea"/>
                        </a:rPr>
                        <a:t>吞吐</a:t>
                      </a:r>
                      <a:endParaRPr lang="zh-CN" altLang="en-US" sz="1400" spc="120" dirty="0">
                        <a:latin typeface="Arial" panose="020B0604020202020204" pitchFamily="34" charset="0"/>
                        <a:cs typeface="Arial" panose="020B0604020202020204" pitchFamily="34" charset="0"/>
                        <a:sym typeface="+mn-ea"/>
                      </a:endParaRPr>
                    </a:p>
                  </a:txBody>
                  <a:tcPr marL="254000" marR="254000" marT="177800" marB="177800" anchor="ctr"/>
                </a:tc>
                <a:tc>
                  <a:txBody>
                    <a:bodyPr/>
                    <a:p>
                      <a:pPr algn="ctr" eaLnBrk="0" fontAlgn="base" hangingPunct="0">
                        <a:lnSpc>
                          <a:spcPct val="120000"/>
                        </a:lnSpc>
                        <a:buClrTx/>
                        <a:buSzTx/>
                        <a:buFontTx/>
                        <a:buNone/>
                      </a:pPr>
                      <a:r>
                        <a:rPr lang="zh-CN" altLang="en-US" sz="1400" spc="120" dirty="0">
                          <a:latin typeface="Arial" panose="020B0604020202020204" pitchFamily="34" charset="0"/>
                          <a:cs typeface="Arial" panose="020B0604020202020204" pitchFamily="34" charset="0"/>
                        </a:rPr>
                        <a:t>跨分片边比率</a:t>
                      </a:r>
                      <a:endParaRPr lang="zh-CN" altLang="en-US" sz="1400" spc="120" dirty="0">
                        <a:latin typeface="Arial" panose="020B0604020202020204" pitchFamily="34" charset="0"/>
                        <a:cs typeface="Arial" panose="020B0604020202020204" pitchFamily="34" charset="0"/>
                      </a:endParaRPr>
                    </a:p>
                  </a:txBody>
                  <a:tcPr marL="254000" marR="254000" marT="177800" marB="177800" anchor="ctr"/>
                </a:tc>
              </a:tr>
              <a:tr h="887730">
                <a:tc>
                  <a:txBody>
                    <a:bodyPr/>
                    <a:p>
                      <a:pPr algn="ctr">
                        <a:lnSpc>
                          <a:spcPct val="120000"/>
                        </a:lnSpc>
                        <a:buClrTx/>
                        <a:buSzTx/>
                        <a:buFontTx/>
                        <a:buNone/>
                      </a:pPr>
                      <a:r>
                        <a:rPr lang="en-US" altLang="zh-CN" sz="1400" b="1" dirty="0">
                          <a:latin typeface="思源宋体 CN Heavy" panose="02020900000000000000" pitchFamily="18" charset="-122"/>
                          <a:ea typeface="思源宋体 CN Heavy" panose="02020900000000000000" pitchFamily="18" charset="-122"/>
                          <a:cs typeface="思源黑体 CN Light" panose="020B0300000000000000" pitchFamily="34" charset="-122"/>
                        </a:rPr>
                        <a:t>Balanced</a:t>
                      </a:r>
                      <a:r>
                        <a:rPr lang="zh-CN" altLang="en-US" sz="1400" b="1" dirty="0">
                          <a:latin typeface="思源宋体 CN Heavy" panose="02020900000000000000" pitchFamily="18" charset="-122"/>
                          <a:ea typeface="思源宋体 CN Heavy" panose="02020900000000000000" pitchFamily="18" charset="-122"/>
                          <a:cs typeface="思源黑体 CN Light" panose="020B0300000000000000" pitchFamily="34" charset="-122"/>
                        </a:rPr>
                        <a:t>分片法</a:t>
                      </a:r>
                      <a:endParaRPr lang="zh-CN" altLang="en-US" sz="1400" b="1" dirty="0">
                        <a:latin typeface="思源宋体 CN Heavy" panose="02020900000000000000" pitchFamily="18" charset="-122"/>
                        <a:ea typeface="思源宋体 CN Heavy" panose="02020900000000000000" pitchFamily="18" charset="-122"/>
                        <a:cs typeface="思源黑体 CN Light" panose="020B0300000000000000" pitchFamily="34" charset="-122"/>
                      </a:endParaRPr>
                    </a:p>
                  </a:txBody>
                  <a:tcPr marL="254000" marR="254000" marT="177800" marB="177800" anchor="ctr"/>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504.383</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1294.09</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80%</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r>
              <a:tr h="887730">
                <a:tc>
                  <a:txBody>
                    <a:bodyPr/>
                    <a:p>
                      <a:pPr algn="ctr">
                        <a:lnSpc>
                          <a:spcPct val="120000"/>
                        </a:lnSpc>
                        <a:buNone/>
                      </a:pPr>
                      <a:r>
                        <a:rPr lang="en-US" altLang="zh-CN" sz="1400">
                          <a:latin typeface="Arial" panose="020B0604020202020204" pitchFamily="34" charset="0"/>
                          <a:cs typeface="Arial" panose="020B0604020202020204" pitchFamily="34" charset="0"/>
                        </a:rPr>
                        <a:t>BFS</a:t>
                      </a:r>
                      <a:r>
                        <a:rPr lang="zh-CN" altLang="en-US" sz="1400">
                          <a:latin typeface="Arial" panose="020B0604020202020204" pitchFamily="34" charset="0"/>
                          <a:cs typeface="Arial" panose="020B0604020202020204" pitchFamily="34" charset="0"/>
                        </a:rPr>
                        <a:t>分片法</a:t>
                      </a:r>
                      <a:endParaRPr lang="zh-CN" altLang="en-US" sz="1400">
                        <a:latin typeface="Arial" panose="020B0604020202020204" pitchFamily="34" charset="0"/>
                        <a:cs typeface="Arial" panose="020B0604020202020204" pitchFamily="34" charset="0"/>
                      </a:endParaRPr>
                    </a:p>
                  </a:txBody>
                  <a:tcPr marL="254000" marR="254000" marT="177800" marB="177800" anchor="ctr"/>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536.158</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1217.93</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66%</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r>
              <a:tr h="887730">
                <a:tc>
                  <a:txBody>
                    <a:bodyPr/>
                    <a:p>
                      <a:pPr algn="ctr">
                        <a:lnSpc>
                          <a:spcPct val="120000"/>
                        </a:lnSpc>
                        <a:buNone/>
                      </a:pPr>
                      <a:r>
                        <a:rPr lang="en-US" altLang="zh-CN" sz="1400">
                          <a:latin typeface="Arial" panose="020B0604020202020204" pitchFamily="34" charset="0"/>
                          <a:cs typeface="Arial" panose="020B0604020202020204" pitchFamily="34" charset="0"/>
                        </a:rPr>
                        <a:t>Metis</a:t>
                      </a:r>
                      <a:r>
                        <a:rPr lang="zh-CN" altLang="en-US" sz="1400">
                          <a:latin typeface="Arial" panose="020B0604020202020204" pitchFamily="34" charset="0"/>
                          <a:cs typeface="Arial" panose="020B0604020202020204" pitchFamily="34" charset="0"/>
                        </a:rPr>
                        <a:t>分片法</a:t>
                      </a:r>
                      <a:endParaRPr lang="zh-CN" altLang="en-US" sz="1400">
                        <a:latin typeface="Arial" panose="020B0604020202020204" pitchFamily="34" charset="0"/>
                        <a:cs typeface="Arial" panose="020B0604020202020204" pitchFamily="34" charset="0"/>
                      </a:endParaRPr>
                    </a:p>
                  </a:txBody>
                  <a:tcPr marL="254000" marR="254000" marT="177800" marB="177800" anchor="ctr"/>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700.833</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1122.42</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16%</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r>
            </a:tbl>
          </a:graphicData>
        </a:graphic>
      </p:graphicFrame>
      <p:sp>
        <p:nvSpPr>
          <p:cNvPr id="10" name="文本框 9"/>
          <p:cNvSpPr txBox="1"/>
          <p:nvPr/>
        </p:nvSpPr>
        <p:spPr>
          <a:xfrm>
            <a:off x="407670" y="5494655"/>
            <a:ext cx="10878820" cy="1337945"/>
          </a:xfrm>
          <a:prstGeom prst="rect">
            <a:avLst/>
          </a:prstGeom>
          <a:noFill/>
        </p:spPr>
        <p:txBody>
          <a:bodyPr wrap="square" rtlCol="0" anchor="t">
            <a:spAutoFit/>
          </a:bodyPr>
          <a:p>
            <a:pPr marL="285750" indent="-285750" algn="just" defTabSz="266700">
              <a:lnSpc>
                <a:spcPct val="150000"/>
              </a:lnSpc>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sym typeface="+mn-ea"/>
              </a:rPr>
              <a:t>局部性图划分以及更新的设计降低了更新时的</a:t>
            </a:r>
            <a:r>
              <a:rPr lang="en-US" altLang="zh-CN" sz="1800" dirty="0">
                <a:solidFill>
                  <a:schemeClr val="tx1"/>
                </a:solidFill>
                <a:latin typeface="Segoe UI Light" panose="020B0502040204020203" pitchFamily="34" charset="0"/>
                <a:ea typeface="微软雅黑 Light" panose="020B0502040204020203" pitchFamily="34" charset="-122"/>
                <a:sym typeface="+mn-ea"/>
              </a:rPr>
              <a:t>RDMA</a:t>
            </a:r>
            <a:r>
              <a:rPr lang="zh-CN" altLang="en-US" sz="1800" dirty="0">
                <a:solidFill>
                  <a:schemeClr val="tx1"/>
                </a:solidFill>
                <a:latin typeface="Segoe UI Light" panose="020B0502040204020203" pitchFamily="34" charset="0"/>
                <a:ea typeface="微软雅黑 Light" panose="020B0502040204020203" pitchFamily="34" charset="-122"/>
                <a:sym typeface="+mn-ea"/>
              </a:rPr>
              <a:t>开销</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提高了更新的</a:t>
            </a:r>
            <a:r>
              <a:rPr lang="zh-CN" altLang="en-US" sz="1800" dirty="0">
                <a:solidFill>
                  <a:schemeClr val="tx1"/>
                </a:solidFill>
                <a:latin typeface="Segoe UI Light" panose="020B0502040204020203" pitchFamily="34" charset="0"/>
                <a:ea typeface="微软雅黑 Light" panose="020B0502040204020203" pitchFamily="34" charset="-122"/>
                <a:sym typeface="+mn-ea"/>
              </a:rPr>
              <a:t>性能</a:t>
            </a:r>
            <a:endParaRPr lang="zh-CN" altLang="en-US" sz="1800" dirty="0">
              <a:solidFill>
                <a:schemeClr val="tx1"/>
              </a:solidFill>
              <a:latin typeface="Segoe UI Light" panose="020B0502040204020203" pitchFamily="34" charset="0"/>
              <a:ea typeface="微软雅黑 Light" panose="020B0502040204020203" pitchFamily="34" charset="-122"/>
              <a:sym typeface="+mn-ea"/>
            </a:endParaRPr>
          </a:p>
          <a:p>
            <a:pPr marL="285750" indent="-285750" algn="just" defTabSz="266700">
              <a:lnSpc>
                <a:spcPct val="150000"/>
              </a:lnSpc>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sym typeface="+mn-ea"/>
              </a:rPr>
              <a:t>但是它导致了节点的局部性加强</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导致查询时使用</a:t>
            </a:r>
            <a:r>
              <a:rPr lang="en-US" altLang="zh-CN" sz="1800" dirty="0">
                <a:solidFill>
                  <a:schemeClr val="tx1"/>
                </a:solidFill>
                <a:latin typeface="Segoe UI Light" panose="020B0502040204020203" pitchFamily="34" charset="0"/>
                <a:ea typeface="微软雅黑 Light" panose="020B0502040204020203" pitchFamily="34" charset="-122"/>
                <a:sym typeface="+mn-ea"/>
              </a:rPr>
              <a:t>RDMA</a:t>
            </a:r>
            <a:r>
              <a:rPr lang="zh-CN" altLang="en-US" sz="1800" dirty="0">
                <a:solidFill>
                  <a:schemeClr val="tx1"/>
                </a:solidFill>
                <a:latin typeface="Segoe UI Light" panose="020B0502040204020203" pitchFamily="34" charset="0"/>
                <a:ea typeface="微软雅黑 Light" panose="020B0502040204020203" pitchFamily="34" charset="-122"/>
                <a:sym typeface="+mn-ea"/>
              </a:rPr>
              <a:t>访问远端的节点集中在同一个分片上</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导致了查询性能的</a:t>
            </a:r>
            <a:r>
              <a:rPr lang="zh-CN" altLang="en-US" sz="1800" dirty="0">
                <a:solidFill>
                  <a:schemeClr val="tx1"/>
                </a:solidFill>
                <a:latin typeface="Segoe UI Light" panose="020B0502040204020203" pitchFamily="34" charset="0"/>
                <a:ea typeface="微软雅黑 Light" panose="020B0502040204020203" pitchFamily="34" charset="-122"/>
                <a:sym typeface="+mn-ea"/>
              </a:rPr>
              <a:t>下滑</a:t>
            </a:r>
            <a:endParaRPr lang="zh-CN" altLang="en-US" sz="1800" dirty="0">
              <a:solidFill>
                <a:schemeClr val="tx1"/>
              </a:solidFill>
              <a:latin typeface="Segoe UI Light" panose="020B0502040204020203" pitchFamily="34" charset="0"/>
              <a:ea typeface="微软雅黑 Light" panose="020B0502040204020203" pitchFamily="3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03</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20" y="1052830"/>
            <a:ext cx="9772650" cy="521970"/>
          </a:xfrm>
          <a:prstGeom prst="rect">
            <a:avLst/>
          </a:prstGeom>
          <a:noFill/>
        </p:spPr>
        <p:txBody>
          <a:bodyPr wrap="square">
            <a:spAutoFit/>
          </a:bodyPr>
          <a:lstStyle/>
          <a:p>
            <a:r>
              <a:rPr lang="zh-CN" altLang="en-US" sz="2800" dirty="0">
                <a:solidFill>
                  <a:schemeClr val="tx1">
                    <a:lumMod val="75000"/>
                    <a:lumOff val="25000"/>
                  </a:schemeClr>
                </a:solidFill>
              </a:rPr>
              <a:t>研究方案动机 </a:t>
            </a:r>
            <a:r>
              <a:rPr lang="en-US" altLang="zh-CN" sz="2800" dirty="0">
                <a:solidFill>
                  <a:schemeClr val="tx1">
                    <a:lumMod val="75000"/>
                    <a:lumOff val="25000"/>
                  </a:schemeClr>
                </a:solidFill>
              </a:rPr>
              <a:t>– </a:t>
            </a:r>
            <a:r>
              <a:rPr lang="zh-CN" sz="2800" dirty="0">
                <a:solidFill>
                  <a:schemeClr val="tx1">
                    <a:lumMod val="75000"/>
                    <a:lumOff val="25000"/>
                  </a:schemeClr>
                </a:solidFill>
              </a:rPr>
              <a:t>局部性更新导致查询</a:t>
            </a:r>
            <a:r>
              <a:rPr lang="en-US" altLang="zh-CN" sz="2800" dirty="0">
                <a:solidFill>
                  <a:schemeClr val="tx1">
                    <a:lumMod val="75000"/>
                    <a:lumOff val="25000"/>
                  </a:schemeClr>
                </a:solidFill>
              </a:rPr>
              <a:t>RDMA</a:t>
            </a:r>
            <a:r>
              <a:rPr lang="zh-CN" altLang="en-US" sz="2800" dirty="0">
                <a:solidFill>
                  <a:schemeClr val="tx1">
                    <a:lumMod val="75000"/>
                    <a:lumOff val="25000"/>
                  </a:schemeClr>
                </a:solidFill>
              </a:rPr>
              <a:t>并发性能</a:t>
            </a:r>
            <a:r>
              <a:rPr lang="zh-CN" altLang="en-US" sz="2800" dirty="0">
                <a:solidFill>
                  <a:schemeClr val="tx1">
                    <a:lumMod val="75000"/>
                    <a:lumOff val="25000"/>
                  </a:schemeClr>
                </a:solidFill>
              </a:rPr>
              <a:t>下降</a:t>
            </a:r>
            <a:endParaRPr lang="zh-CN" altLang="en-US"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sp>
        <p:nvSpPr>
          <p:cNvPr id="10" name="文本框 9"/>
          <p:cNvSpPr txBox="1"/>
          <p:nvPr/>
        </p:nvSpPr>
        <p:spPr>
          <a:xfrm>
            <a:off x="407670" y="5578475"/>
            <a:ext cx="10878820" cy="1337945"/>
          </a:xfrm>
          <a:prstGeom prst="rect">
            <a:avLst/>
          </a:prstGeom>
          <a:noFill/>
        </p:spPr>
        <p:txBody>
          <a:bodyPr wrap="square" rtlCol="0" anchor="t">
            <a:spAutoFit/>
          </a:bodyPr>
          <a:p>
            <a:pPr marL="285750" indent="-285750" algn="just" defTabSz="266700">
              <a:lnSpc>
                <a:spcPct val="150000"/>
              </a:lnSpc>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sym typeface="+mn-ea"/>
              </a:rPr>
              <a:t>局部性图划分以及更新的设计降低了更新时的</a:t>
            </a:r>
            <a:r>
              <a:rPr lang="en-US" altLang="zh-CN" sz="1800" dirty="0">
                <a:solidFill>
                  <a:schemeClr val="tx1"/>
                </a:solidFill>
                <a:latin typeface="Segoe UI Light" panose="020B0502040204020203" pitchFamily="34" charset="0"/>
                <a:ea typeface="微软雅黑 Light" panose="020B0502040204020203" pitchFamily="34" charset="-122"/>
                <a:sym typeface="+mn-ea"/>
              </a:rPr>
              <a:t>RDMA</a:t>
            </a:r>
            <a:r>
              <a:rPr lang="zh-CN" altLang="en-US" sz="1800" dirty="0">
                <a:solidFill>
                  <a:schemeClr val="tx1"/>
                </a:solidFill>
                <a:latin typeface="Segoe UI Light" panose="020B0502040204020203" pitchFamily="34" charset="0"/>
                <a:ea typeface="微软雅黑 Light" panose="020B0502040204020203" pitchFamily="34" charset="-122"/>
                <a:sym typeface="+mn-ea"/>
              </a:rPr>
              <a:t>开销</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提高了更新的</a:t>
            </a:r>
            <a:r>
              <a:rPr lang="zh-CN" altLang="en-US" sz="1800" dirty="0">
                <a:solidFill>
                  <a:schemeClr val="tx1"/>
                </a:solidFill>
                <a:latin typeface="Segoe UI Light" panose="020B0502040204020203" pitchFamily="34" charset="0"/>
                <a:ea typeface="微软雅黑 Light" panose="020B0502040204020203" pitchFamily="34" charset="-122"/>
                <a:sym typeface="+mn-ea"/>
              </a:rPr>
              <a:t>性能</a:t>
            </a:r>
            <a:endParaRPr lang="zh-CN" altLang="en-US" sz="1800" dirty="0">
              <a:solidFill>
                <a:schemeClr val="tx1"/>
              </a:solidFill>
              <a:latin typeface="Segoe UI Light" panose="020B0502040204020203" pitchFamily="34" charset="0"/>
              <a:ea typeface="微软雅黑 Light" panose="020B0502040204020203" pitchFamily="34" charset="-122"/>
              <a:sym typeface="+mn-ea"/>
            </a:endParaRPr>
          </a:p>
          <a:p>
            <a:pPr marL="285750" indent="-285750" algn="just" defTabSz="266700">
              <a:lnSpc>
                <a:spcPct val="150000"/>
              </a:lnSpc>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sym typeface="+mn-ea"/>
              </a:rPr>
              <a:t>但是它导致了节点的局部性加强</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导致查询时使用</a:t>
            </a:r>
            <a:r>
              <a:rPr lang="en-US" altLang="zh-CN" sz="1800" dirty="0">
                <a:solidFill>
                  <a:schemeClr val="tx1"/>
                </a:solidFill>
                <a:latin typeface="Segoe UI Light" panose="020B0502040204020203" pitchFamily="34" charset="0"/>
                <a:ea typeface="微软雅黑 Light" panose="020B0502040204020203" pitchFamily="34" charset="-122"/>
                <a:sym typeface="+mn-ea"/>
              </a:rPr>
              <a:t>RDMA</a:t>
            </a:r>
            <a:r>
              <a:rPr lang="zh-CN" altLang="en-US" sz="1800" dirty="0">
                <a:solidFill>
                  <a:schemeClr val="tx1"/>
                </a:solidFill>
                <a:latin typeface="Segoe UI Light" panose="020B0502040204020203" pitchFamily="34" charset="0"/>
                <a:ea typeface="微软雅黑 Light" panose="020B0502040204020203" pitchFamily="34" charset="-122"/>
                <a:sym typeface="+mn-ea"/>
              </a:rPr>
              <a:t>访问远端的节点集中在同一个分片上</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导致了查询性能的</a:t>
            </a:r>
            <a:r>
              <a:rPr lang="zh-CN" altLang="en-US" sz="1800" dirty="0">
                <a:solidFill>
                  <a:schemeClr val="tx1"/>
                </a:solidFill>
                <a:latin typeface="Segoe UI Light" panose="020B0502040204020203" pitchFamily="34" charset="0"/>
                <a:ea typeface="微软雅黑 Light" panose="020B0502040204020203" pitchFamily="34" charset="-122"/>
                <a:sym typeface="+mn-ea"/>
              </a:rPr>
              <a:t>下滑</a:t>
            </a:r>
            <a:endParaRPr lang="zh-CN" altLang="en-US" sz="1800" dirty="0">
              <a:solidFill>
                <a:schemeClr val="tx1"/>
              </a:solidFill>
              <a:latin typeface="Segoe UI Light" panose="020B0502040204020203" pitchFamily="34" charset="0"/>
              <a:ea typeface="微软雅黑 Light" panose="020B0502040204020203" pitchFamily="34" charset="-122"/>
              <a:sym typeface="+mn-ea"/>
            </a:endParaRPr>
          </a:p>
        </p:txBody>
      </p:sp>
      <p:pic>
        <p:nvPicPr>
          <p:cNvPr id="2" name="图片 1" descr="rdma_motivation.drawi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5325" y="1844675"/>
            <a:ext cx="4524375" cy="3829050"/>
          </a:xfrm>
          <a:prstGeom prst="rect">
            <a:avLst/>
          </a:prstGeom>
        </p:spPr>
      </p:pic>
      <p:pic>
        <p:nvPicPr>
          <p:cNvPr id="5" name="图片 4" descr="rdma_motivation2.drawio"/>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27800" y="1844675"/>
            <a:ext cx="4524375" cy="3829050"/>
          </a:xfrm>
          <a:prstGeom prst="rect">
            <a:avLst/>
          </a:prstGeom>
        </p:spPr>
      </p:pic>
      <p:sp>
        <p:nvSpPr>
          <p:cNvPr id="6" name="右箭头 5"/>
          <p:cNvSpPr/>
          <p:nvPr/>
        </p:nvSpPr>
        <p:spPr>
          <a:xfrm>
            <a:off x="5447665" y="3716655"/>
            <a:ext cx="935990" cy="504190"/>
          </a:xfrm>
          <a:prstGeom prst="rightArrow">
            <a:avLst/>
          </a:prstGeom>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03</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20" y="1052830"/>
            <a:ext cx="9399905" cy="521970"/>
          </a:xfrm>
          <a:prstGeom prst="rect">
            <a:avLst/>
          </a:prstGeom>
          <a:noFill/>
        </p:spPr>
        <p:txBody>
          <a:bodyPr wrap="square">
            <a:spAutoFit/>
          </a:bodyPr>
          <a:lstStyle/>
          <a:p>
            <a:r>
              <a:rPr lang="zh-CN" altLang="en-US" sz="2800" dirty="0">
                <a:solidFill>
                  <a:schemeClr val="tx1">
                    <a:lumMod val="75000"/>
                    <a:lumOff val="25000"/>
                  </a:schemeClr>
                </a:solidFill>
              </a:rPr>
              <a:t>研究方案三 </a:t>
            </a:r>
            <a:r>
              <a:rPr lang="en-US" altLang="zh-CN" sz="2800" dirty="0">
                <a:solidFill>
                  <a:schemeClr val="tx1">
                    <a:lumMod val="75000"/>
                    <a:lumOff val="25000"/>
                  </a:schemeClr>
                </a:solidFill>
              </a:rPr>
              <a:t>– </a:t>
            </a:r>
            <a:r>
              <a:rPr sz="2800" dirty="0">
                <a:solidFill>
                  <a:schemeClr val="tx1">
                    <a:lumMod val="75000"/>
                    <a:lumOff val="25000"/>
                  </a:schemeClr>
                </a:solidFill>
              </a:rPr>
              <a:t>面向偏斜感知的 RDMA </a:t>
            </a:r>
            <a:r>
              <a:rPr lang="en-US" sz="2800" dirty="0">
                <a:solidFill>
                  <a:schemeClr val="tx1">
                    <a:lumMod val="75000"/>
                    <a:lumOff val="25000"/>
                  </a:schemeClr>
                </a:solidFill>
              </a:rPr>
              <a:t>QP</a:t>
            </a:r>
            <a:r>
              <a:rPr lang="zh-CN" altLang="en-US" sz="2800" dirty="0">
                <a:solidFill>
                  <a:schemeClr val="tx1">
                    <a:lumMod val="75000"/>
                    <a:lumOff val="25000"/>
                  </a:schemeClr>
                </a:solidFill>
              </a:rPr>
              <a:t>连接</a:t>
            </a:r>
            <a:r>
              <a:rPr sz="2800" dirty="0">
                <a:solidFill>
                  <a:schemeClr val="tx1">
                    <a:lumMod val="75000"/>
                    <a:lumOff val="25000"/>
                  </a:schemeClr>
                </a:solidFill>
              </a:rPr>
              <a:t>调度机制</a:t>
            </a:r>
            <a:endParaRPr sz="2800" dirty="0">
              <a:solidFill>
                <a:schemeClr val="tx1">
                  <a:lumMod val="75000"/>
                  <a:lumOff val="25000"/>
                </a:schemeClr>
              </a:solidFill>
            </a:endParaRPr>
          </a:p>
        </p:txBody>
      </p:sp>
      <p:sp>
        <p:nvSpPr>
          <p:cNvPr id="13" name="灯片编号占位符 12"/>
          <p:cNvSpPr>
            <a:spLocks noGrp="1"/>
          </p:cNvSpPr>
          <p:nvPr>
            <p:ph type="sldNum" sz="quarter" idx="12"/>
          </p:nvPr>
        </p:nvSpPr>
        <p:spPr>
          <a:xfrm>
            <a:off x="9339812" y="6437845"/>
            <a:ext cx="2743200" cy="365125"/>
          </a:xfrm>
        </p:spPr>
        <p:txBody>
          <a:bodyPr/>
          <a:lstStyle/>
          <a:p>
            <a:pPr>
              <a:defRPr/>
            </a:pPr>
            <a:fld id="{6A90D09A-ED5D-47CC-A45F-D492BA9A6C1B}" type="slidenum">
              <a:rPr lang="en-US" altLang="zh-CN" smtClean="0"/>
            </a:fld>
            <a:endParaRPr lang="en-US" altLang="zh-CN" dirty="0"/>
          </a:p>
        </p:txBody>
      </p:sp>
      <p:sp>
        <p:nvSpPr>
          <p:cNvPr id="6" name="文本框 5"/>
          <p:cNvSpPr txBox="1"/>
          <p:nvPr/>
        </p:nvSpPr>
        <p:spPr>
          <a:xfrm>
            <a:off x="6960235" y="2852420"/>
            <a:ext cx="4867275" cy="2296795"/>
          </a:xfrm>
          <a:prstGeom prst="rect">
            <a:avLst/>
          </a:prstGeom>
          <a:noFill/>
        </p:spPr>
        <p:txBody>
          <a:bodyPr wrap="square" rtlCol="0" anchor="t">
            <a:spAutoFit/>
          </a:bodyPr>
          <a:p>
            <a:pPr marL="285750" indent="-285750" algn="just" defTabSz="266700">
              <a:lnSpc>
                <a:spcPct val="150000"/>
              </a:lnSpc>
              <a:spcBef>
                <a:spcPts val="500"/>
              </a:spcBef>
              <a:spcAft>
                <a:spcPts val="500"/>
              </a:spcAft>
              <a:buClrTx/>
              <a:buSzTx/>
              <a:buFont typeface="Arial" panose="020B0604020202020204" pitchFamily="34" charset="0"/>
              <a:buChar char="•"/>
            </a:pPr>
            <a:r>
              <a:rPr lang="zh-CN" altLang="en-US" sz="1800" dirty="0">
                <a:solidFill>
                  <a:schemeClr val="tx1"/>
                </a:solidFill>
                <a:latin typeface="Segoe UI Light" panose="020B0502040204020203" pitchFamily="34" charset="0"/>
                <a:ea typeface="微软雅黑 Light" panose="020B0502040204020203" pitchFamily="34" charset="-122"/>
                <a:sym typeface="+mn-ea"/>
              </a:rPr>
              <a:t>给每个分片下面预置多个</a:t>
            </a:r>
            <a:r>
              <a:rPr lang="en-US" altLang="zh-CN" sz="1800" dirty="0">
                <a:solidFill>
                  <a:schemeClr val="tx1"/>
                </a:solidFill>
                <a:latin typeface="Segoe UI Light" panose="020B0502040204020203" pitchFamily="34" charset="0"/>
                <a:ea typeface="微软雅黑 Light" panose="020B0502040204020203" pitchFamily="34" charset="-122"/>
                <a:sym typeface="+mn-ea"/>
              </a:rPr>
              <a:t>QP</a:t>
            </a:r>
            <a:r>
              <a:rPr lang="zh-CN" altLang="en-US" sz="1800" dirty="0">
                <a:solidFill>
                  <a:schemeClr val="tx1"/>
                </a:solidFill>
                <a:latin typeface="Segoe UI Light" panose="020B0502040204020203" pitchFamily="34" charset="0"/>
                <a:ea typeface="微软雅黑 Light" panose="020B0502040204020203" pitchFamily="34" charset="-122"/>
                <a:sym typeface="+mn-ea"/>
              </a:rPr>
              <a:t>连接</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形成</a:t>
            </a:r>
            <a:r>
              <a:rPr lang="en-US" altLang="zh-CN" sz="1800" dirty="0">
                <a:solidFill>
                  <a:srgbClr val="FF0000"/>
                </a:solidFill>
                <a:latin typeface="Segoe UI Light" panose="020B0502040204020203" pitchFamily="34" charset="0"/>
                <a:ea typeface="微软雅黑 Light" panose="020B0502040204020203" pitchFamily="34" charset="-122"/>
                <a:sym typeface="+mn-ea"/>
              </a:rPr>
              <a:t>RDMA</a:t>
            </a:r>
            <a:r>
              <a:rPr lang="zh-CN" altLang="en-US" sz="1800" dirty="0">
                <a:solidFill>
                  <a:srgbClr val="FF0000"/>
                </a:solidFill>
                <a:latin typeface="Segoe UI Light" panose="020B0502040204020203" pitchFamily="34" charset="0"/>
                <a:ea typeface="微软雅黑 Light" panose="020B0502040204020203" pitchFamily="34" charset="-122"/>
                <a:sym typeface="+mn-ea"/>
              </a:rPr>
              <a:t>连接池</a:t>
            </a:r>
            <a:endParaRPr lang="zh-CN" altLang="en-US" sz="1800" dirty="0">
              <a:solidFill>
                <a:srgbClr val="FF0000"/>
              </a:solidFill>
              <a:latin typeface="Segoe UI Light" panose="020B0502040204020203" pitchFamily="34" charset="0"/>
              <a:ea typeface="微软雅黑 Light" panose="020B0502040204020203" pitchFamily="34" charset="-122"/>
              <a:sym typeface="+mn-ea"/>
            </a:endParaRPr>
          </a:p>
          <a:p>
            <a:pPr marL="285750" indent="-285750" algn="just" defTabSz="266700">
              <a:lnSpc>
                <a:spcPct val="150000"/>
              </a:lnSpc>
              <a:spcBef>
                <a:spcPts val="500"/>
              </a:spcBef>
              <a:spcAft>
                <a:spcPts val="500"/>
              </a:spcAft>
              <a:buClrTx/>
              <a:buSzTx/>
              <a:buFont typeface="Arial" panose="020B0604020202020204" pitchFamily="34" charset="0"/>
              <a:buChar char="•"/>
            </a:pPr>
            <a:r>
              <a:rPr lang="zh-CN" altLang="en-US" sz="1800" dirty="0">
                <a:solidFill>
                  <a:srgbClr val="FF0000"/>
                </a:solidFill>
                <a:latin typeface="Segoe UI Light" panose="020B0502040204020203" pitchFamily="34" charset="0"/>
                <a:ea typeface="微软雅黑 Light" panose="020B0502040204020203" pitchFamily="34" charset="-122"/>
                <a:sym typeface="+mn-ea"/>
              </a:rPr>
              <a:t>动态的计算当前访问特征的偏斜度</a:t>
            </a:r>
            <a:r>
              <a:rPr lang="zh-CN" altLang="en-US" sz="1800" dirty="0">
                <a:solidFill>
                  <a:schemeClr val="tx1"/>
                </a:solidFill>
                <a:latin typeface="Segoe UI Light" panose="020B0502040204020203" pitchFamily="34" charset="0"/>
                <a:ea typeface="微软雅黑 Light" panose="020B0502040204020203" pitchFamily="34" charset="-122"/>
                <a:sym typeface="+mn-ea"/>
              </a:rPr>
              <a:t>偏向于哪一个分片</a:t>
            </a:r>
            <a:r>
              <a:rPr lang="en-US" altLang="zh-CN" sz="1800" dirty="0">
                <a:solidFill>
                  <a:schemeClr val="tx1"/>
                </a:solidFill>
                <a:latin typeface="Segoe UI Light" panose="020B0502040204020203" pitchFamily="34" charset="0"/>
                <a:ea typeface="微软雅黑 Light" panose="020B0502040204020203" pitchFamily="34" charset="-122"/>
                <a:sym typeface="+mn-ea"/>
              </a:rPr>
              <a:t>，</a:t>
            </a:r>
            <a:r>
              <a:rPr lang="zh-CN" altLang="en-US" sz="1800" dirty="0">
                <a:solidFill>
                  <a:schemeClr val="tx1"/>
                </a:solidFill>
                <a:latin typeface="Segoe UI Light" panose="020B0502040204020203" pitchFamily="34" charset="0"/>
                <a:ea typeface="微软雅黑 Light" panose="020B0502040204020203" pitchFamily="34" charset="-122"/>
                <a:sym typeface="+mn-ea"/>
              </a:rPr>
              <a:t>并动态的调整分给该分片的</a:t>
            </a:r>
            <a:r>
              <a:rPr lang="en-US" altLang="zh-CN" sz="1800" dirty="0">
                <a:solidFill>
                  <a:schemeClr val="tx1"/>
                </a:solidFill>
                <a:latin typeface="Segoe UI Light" panose="020B0502040204020203" pitchFamily="34" charset="0"/>
                <a:ea typeface="微软雅黑 Light" panose="020B0502040204020203" pitchFamily="34" charset="-122"/>
                <a:sym typeface="+mn-ea"/>
              </a:rPr>
              <a:t>QP</a:t>
            </a:r>
            <a:r>
              <a:rPr lang="zh-CN" altLang="en-US" sz="1800" dirty="0">
                <a:solidFill>
                  <a:schemeClr val="tx1"/>
                </a:solidFill>
                <a:latin typeface="Segoe UI Light" panose="020B0502040204020203" pitchFamily="34" charset="0"/>
                <a:ea typeface="微软雅黑 Light" panose="020B0502040204020203" pitchFamily="34" charset="-122"/>
                <a:sym typeface="+mn-ea"/>
              </a:rPr>
              <a:t>连接数</a:t>
            </a:r>
            <a:endParaRPr lang="zh-CN" altLang="en-US" sz="1800" dirty="0">
              <a:solidFill>
                <a:schemeClr val="tx1"/>
              </a:solidFill>
              <a:latin typeface="Segoe UI Light" panose="020B0502040204020203" pitchFamily="34" charset="0"/>
              <a:ea typeface="微软雅黑 Light" panose="020B0502040204020203" pitchFamily="34" charset="-122"/>
              <a:sym typeface="+mn-ea"/>
            </a:endParaRPr>
          </a:p>
        </p:txBody>
      </p:sp>
      <p:pic>
        <p:nvPicPr>
          <p:cNvPr id="7" name="图片 6" descr="rdma_design.drawi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1180" y="1772285"/>
            <a:ext cx="6296025" cy="49625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551384" y="1052736"/>
            <a:ext cx="8774632" cy="523220"/>
          </a:xfrm>
          <a:prstGeom prst="rect">
            <a:avLst/>
          </a:prstGeom>
          <a:noFill/>
        </p:spPr>
        <p:txBody>
          <a:bodyPr wrap="square">
            <a:spAutoFit/>
          </a:bodyPr>
          <a:lstStyle/>
          <a:p>
            <a:r>
              <a:rPr lang="zh-CN" altLang="en-US" sz="2800">
                <a:solidFill>
                  <a:schemeClr val="tx1">
                    <a:lumMod val="75000"/>
                    <a:lumOff val="25000"/>
                  </a:schemeClr>
                </a:solidFill>
              </a:rPr>
              <a:t>提纲</a:t>
            </a:r>
            <a:endParaRPr lang="zh-CN" altLang="en-US" sz="2800">
              <a:solidFill>
                <a:schemeClr val="tx1">
                  <a:lumMod val="75000"/>
                  <a:lumOff val="25000"/>
                </a:schemeClr>
              </a:solidFill>
            </a:endParaRPr>
          </a:p>
        </p:txBody>
      </p:sp>
      <p:sp>
        <p:nvSpPr>
          <p:cNvPr id="2" name="灯片编号占位符 1"/>
          <p:cNvSpPr>
            <a:spLocks noGrp="1"/>
          </p:cNvSpPr>
          <p:nvPr>
            <p:ph type="sldNum" sz="quarter" idx="12"/>
          </p:nvPr>
        </p:nvSpPr>
        <p:spPr/>
        <p:txBody>
          <a:bodyPr/>
          <a:lstStyle/>
          <a:p>
            <a:pPr>
              <a:defRPr/>
            </a:pPr>
            <a:fld id="{6A90D09A-ED5D-47CC-A45F-D492BA9A6C1B}" type="slidenum">
              <a:rPr lang="en-US" altLang="zh-CN" smtClean="0"/>
            </a:fld>
            <a:endParaRPr lang="en-US" altLang="zh-CN"/>
          </a:p>
        </p:txBody>
      </p:sp>
      <p:sp>
        <p:nvSpPr>
          <p:cNvPr id="3" name="文本框 2"/>
          <p:cNvSpPr txBox="1"/>
          <p:nvPr/>
        </p:nvSpPr>
        <p:spPr>
          <a:xfrm>
            <a:off x="916596" y="2204864"/>
            <a:ext cx="7915708" cy="1938020"/>
          </a:xfrm>
          <a:prstGeom prst="rect">
            <a:avLst/>
          </a:prstGeom>
          <a:noFill/>
        </p:spPr>
        <p:txBody>
          <a:bodyPr wrap="square" rtlCol="0">
            <a:spAutoFit/>
          </a:bodyPr>
          <a:lstStyle/>
          <a:p>
            <a:pPr marL="342900" marR="0" lvl="0" indent="-342900" algn="l" defTabSz="914400" rtl="0" eaLnBrk="0" fontAlgn="base" latinLnBrk="0" hangingPunct="0">
              <a:lnSpc>
                <a:spcPct val="150000"/>
              </a:lnSpc>
              <a:buClrTx/>
              <a:buSzTx/>
              <a:buFont typeface="Wingdings" panose="05000000000000000000" pitchFamily="2" charset="2"/>
              <a:buChar char="l"/>
              <a:defRPr/>
            </a:pPr>
            <a:r>
              <a:rPr kumimoji="0" lang="zh-CN" altLang="en-US" sz="200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01 研究背景</a:t>
            </a:r>
            <a:endParaRPr kumimoji="0" lang="zh-CN" altLang="en-US" sz="200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50000"/>
              </a:lnSpc>
              <a:buClrTx/>
              <a:buSzTx/>
              <a:buFont typeface="Wingdings" panose="05000000000000000000" pitchFamily="2" charset="2"/>
              <a:buChar char="l"/>
              <a:defRPr/>
            </a:pPr>
            <a:r>
              <a:rPr kumimoji="0" lang="zh-CN" altLang="en-US" sz="200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02 研究动机</a:t>
            </a:r>
            <a:endParaRPr kumimoji="0" lang="zh-CN" altLang="en-US" sz="200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indent="-342900" algn="l">
              <a:lnSpc>
                <a:spcPct val="150000"/>
              </a:lnSpc>
              <a:buClrTx/>
              <a:buSzTx/>
              <a:buFont typeface="Wingdings" panose="05000000000000000000" pitchFamily="2" charset="2"/>
              <a:buChar char="l"/>
              <a:defRPr/>
            </a:pPr>
            <a:r>
              <a:rPr kumimoji="0" lang="zh-CN" altLang="en-US" sz="200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03 研究方案设计</a:t>
            </a:r>
            <a:endParaRPr lang="zh-CN" altLang="en-US" noProof="0" dirty="0">
              <a:ln>
                <a:noFill/>
              </a:ln>
              <a:solidFill>
                <a:schemeClr val="tx1">
                  <a:lumMod val="50000"/>
                  <a:lumOff val="50000"/>
                </a:schemeClr>
              </a:solidFill>
              <a:effectLst/>
              <a:uLnTx/>
              <a:uFillTx/>
              <a:latin typeface="微软雅黑" panose="020B0503020204020204" charset="-122"/>
              <a:ea typeface="微软雅黑" panose="020B0503020204020204" charset="-122"/>
            </a:endParaRPr>
          </a:p>
          <a:p>
            <a:pPr marL="342900" lvl="0" indent="-342900" algn="l">
              <a:lnSpc>
                <a:spcPct val="150000"/>
              </a:lnSpc>
              <a:buClrTx/>
              <a:buSzTx/>
              <a:buFont typeface="Wingdings" panose="05000000000000000000" pitchFamily="2" charset="2"/>
              <a:buChar char="l"/>
              <a:defRPr/>
            </a:pPr>
            <a:r>
              <a:rPr lang="zh-CN" altLang="en-US" b="1" dirty="0">
                <a:solidFill>
                  <a:schemeClr val="tx1"/>
                </a:solidFill>
                <a:latin typeface="微软雅黑" panose="020B0503020204020204" charset="-122"/>
                <a:ea typeface="微软雅黑" panose="020B0503020204020204" charset="-122"/>
              </a:rPr>
              <a:t>04 初步实验结果与预期</a:t>
            </a:r>
            <a:r>
              <a:rPr lang="zh-CN" altLang="en-US" b="1" dirty="0">
                <a:solidFill>
                  <a:schemeClr val="tx1"/>
                </a:solidFill>
                <a:latin typeface="微软雅黑" panose="020B0503020204020204" charset="-122"/>
                <a:ea typeface="微软雅黑" panose="020B0503020204020204" charset="-122"/>
              </a:rPr>
              <a:t>目标</a:t>
            </a:r>
            <a:endParaRPr lang="zh-CN" altLang="en-US" b="1" dirty="0">
              <a:solidFill>
                <a:schemeClr val="tx1"/>
              </a:solidFill>
              <a:latin typeface="微软雅黑" panose="020B0503020204020204" charset="-122"/>
              <a:ea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932688"/>
            <a:ext cx="749808" cy="658368"/>
          </a:xfrm>
          <a:prstGeom prst="rect">
            <a:avLst/>
          </a:prstGeom>
          <a:solidFill>
            <a:srgbClr val="208FC9"/>
          </a:solidFill>
          <a:ln>
            <a:solidFill>
              <a:srgbClr val="208FC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微软雅黑" panose="020B0503020204020204" charset="-122"/>
              </a:defRPr>
            </a:pPr>
            <a:r>
              <a:t>04</a:t>
            </a:r>
          </a:p>
        </p:txBody>
      </p:sp>
      <p:sp>
        <p:nvSpPr>
          <p:cNvPr id="3" name="TextBox 2"/>
          <p:cNvSpPr txBox="1"/>
          <p:nvPr/>
        </p:nvSpPr>
        <p:spPr>
          <a:xfrm>
            <a:off x="1508760" y="1024128"/>
            <a:ext cx="9692640" cy="491490"/>
          </a:xfrm>
          <a:prstGeom prst="rect">
            <a:avLst/>
          </a:prstGeom>
          <a:noFill/>
        </p:spPr>
        <p:txBody>
          <a:bodyPr wrap="square">
            <a:spAutoFit/>
          </a:bodyPr>
          <a:lstStyle/>
          <a:p>
            <a:pPr>
              <a:defRPr sz="2600" b="0">
                <a:solidFill>
                  <a:srgbClr val="414141"/>
                </a:solidFill>
                <a:latin typeface="微软雅黑" panose="020B0503020204020204" charset="-122"/>
              </a:defRPr>
            </a:pPr>
            <a:r>
              <a:rPr lang="zh-CN" dirty="0" err="1"/>
              <a:t>初步实验</a:t>
            </a:r>
            <a:r>
              <a:rPr lang="zh-CN" dirty="0" err="1"/>
              <a:t>结果</a:t>
            </a:r>
            <a:endParaRPr lang="zh-CN" dirty="0" err="1"/>
          </a:p>
        </p:txBody>
      </p:sp>
      <p:sp>
        <p:nvSpPr>
          <p:cNvPr id="4" name="Rectangle 3"/>
          <p:cNvSpPr/>
          <p:nvPr/>
        </p:nvSpPr>
        <p:spPr>
          <a:xfrm>
            <a:off x="548640" y="1673352"/>
            <a:ext cx="10881360" cy="18288"/>
          </a:xfrm>
          <a:prstGeom prst="rect">
            <a:avLst/>
          </a:prstGeom>
          <a:solidFill>
            <a:srgbClr val="E2E2E2"/>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灯片编号占位符 13"/>
          <p:cNvSpPr>
            <a:spLocks noGrp="1"/>
          </p:cNvSpPr>
          <p:nvPr>
            <p:ph type="sldNum" sz="quarter" idx="12"/>
          </p:nvPr>
        </p:nvSpPr>
        <p:spPr>
          <a:xfrm>
            <a:off x="9041479" y="6328148"/>
            <a:ext cx="2844800" cy="476250"/>
          </a:xfrm>
        </p:spPr>
        <p:txBody>
          <a:bodyPr/>
          <a:lstStyle/>
          <a:p>
            <a:pPr>
              <a:defRPr/>
            </a:pPr>
            <a:fld id="{6A90D09A-ED5D-47CC-A45F-D492BA9A6C1B}" type="slidenum">
              <a:rPr lang="en-US" altLang="zh-CN" smtClean="0"/>
            </a:fld>
            <a:endParaRPr lang="en-US" altLang="zh-CN" dirty="0"/>
          </a:p>
        </p:txBody>
      </p:sp>
      <p:graphicFrame>
        <p:nvGraphicFramePr>
          <p:cNvPr id="7" name="表格 6"/>
          <p:cNvGraphicFramePr/>
          <p:nvPr>
            <p:custDataLst>
              <p:tags r:id="rId1"/>
            </p:custDataLst>
          </p:nvPr>
        </p:nvGraphicFramePr>
        <p:xfrm>
          <a:off x="587692" y="1790700"/>
          <a:ext cx="10779125" cy="4153535"/>
        </p:xfrm>
        <a:graphic>
          <a:graphicData uri="http://schemas.openxmlformats.org/drawingml/2006/table">
            <a:tbl>
              <a:tblPr firstRow="1" bandRow="1">
                <a:tableStyleId>{E47D2557-9050-45F3-9E77-591402EB7796}</a:tableStyleId>
              </a:tblPr>
              <a:tblGrid>
                <a:gridCol w="2529205"/>
                <a:gridCol w="2106295"/>
                <a:gridCol w="1903730"/>
                <a:gridCol w="2203450"/>
                <a:gridCol w="2036445"/>
              </a:tblGrid>
              <a:tr h="939800">
                <a:tc>
                  <a:txBody>
                    <a:bodyPr/>
                    <a:p>
                      <a:pPr algn="ctr">
                        <a:lnSpc>
                          <a:spcPct val="120000"/>
                        </a:lnSpc>
                        <a:buNone/>
                      </a:pPr>
                      <a:endParaRPr lang="zh-CN" altLang="en-US" sz="1600" spc="120">
                        <a:latin typeface="Arial" panose="020B0604020202020204" pitchFamily="34" charset="0"/>
                        <a:cs typeface="Arial" panose="020B0604020202020204" pitchFamily="34" charset="0"/>
                      </a:endParaRPr>
                    </a:p>
                  </a:txBody>
                  <a:tcPr marL="254000" marR="254000" marT="177800" marB="177800" anchor="ctr"/>
                </a:tc>
                <a:tc>
                  <a:txBody>
                    <a:bodyPr/>
                    <a:p>
                      <a:pPr algn="ctr" eaLnBrk="0" fontAlgn="base" hangingPunct="0">
                        <a:lnSpc>
                          <a:spcPct val="120000"/>
                        </a:lnSpc>
                        <a:buClrTx/>
                        <a:buSzTx/>
                        <a:buFontTx/>
                        <a:buNone/>
                      </a:pPr>
                      <a:r>
                        <a:rPr lang="en-US" altLang="en-US" sz="1600" spc="120" dirty="0">
                          <a:latin typeface="Arial" panose="020B0604020202020204" pitchFamily="34" charset="0"/>
                          <a:cs typeface="Arial" panose="020B0604020202020204" pitchFamily="34" charset="0"/>
                        </a:rPr>
                        <a:t>Query </a:t>
                      </a:r>
                      <a:r>
                        <a:rPr lang="zh-CN" altLang="en-US" sz="1600" spc="120" dirty="0">
                          <a:latin typeface="Arial" panose="020B0604020202020204" pitchFamily="34" charset="0"/>
                          <a:cs typeface="Arial" panose="020B0604020202020204" pitchFamily="34" charset="0"/>
                        </a:rPr>
                        <a:t>吞吐</a:t>
                      </a:r>
                      <a:endParaRPr lang="zh-CN" altLang="en-US" sz="1600" spc="120" dirty="0">
                        <a:latin typeface="Arial" panose="020B0604020202020204" pitchFamily="34" charset="0"/>
                        <a:cs typeface="Arial" panose="020B0604020202020204" pitchFamily="34" charset="0"/>
                      </a:endParaRPr>
                    </a:p>
                  </a:txBody>
                  <a:tcPr marL="254000" marR="254000" marT="177800" marB="177800" anchor="ctr"/>
                </a:tc>
                <a:tc>
                  <a:txBody>
                    <a:bodyPr/>
                    <a:p>
                      <a:pPr algn="ctr" eaLnBrk="0" fontAlgn="base" hangingPunct="0">
                        <a:lnSpc>
                          <a:spcPct val="120000"/>
                        </a:lnSpc>
                        <a:buClrTx/>
                        <a:buSzTx/>
                        <a:buFontTx/>
                        <a:buNone/>
                      </a:pPr>
                      <a:r>
                        <a:rPr lang="en-US" altLang="en-US" sz="1600" spc="120" dirty="0">
                          <a:latin typeface="Arial" panose="020B0604020202020204" pitchFamily="34" charset="0"/>
                          <a:cs typeface="Arial" panose="020B0604020202020204" pitchFamily="34" charset="0"/>
                        </a:rPr>
                        <a:t>Query </a:t>
                      </a:r>
                      <a:r>
                        <a:rPr lang="zh-CN" altLang="en-US" sz="1600" spc="120" dirty="0">
                          <a:latin typeface="Arial" panose="020B0604020202020204" pitchFamily="34" charset="0"/>
                          <a:cs typeface="Arial" panose="020B0604020202020204" pitchFamily="34" charset="0"/>
                        </a:rPr>
                        <a:t>延迟</a:t>
                      </a:r>
                      <a:endParaRPr lang="zh-CN" altLang="en-US" sz="1600" spc="120" dirty="0">
                        <a:latin typeface="Arial" panose="020B0604020202020204" pitchFamily="34" charset="0"/>
                        <a:cs typeface="Arial" panose="020B0604020202020204" pitchFamily="34" charset="0"/>
                      </a:endParaRPr>
                    </a:p>
                  </a:txBody>
                  <a:tcPr marL="254000" marR="254000" marT="177800" marB="177800" anchor="ctr"/>
                </a:tc>
                <a:tc>
                  <a:txBody>
                    <a:bodyPr/>
                    <a:p>
                      <a:pPr algn="ctr" eaLnBrk="0" fontAlgn="base" hangingPunct="0">
                        <a:lnSpc>
                          <a:spcPct val="120000"/>
                        </a:lnSpc>
                        <a:buClrTx/>
                        <a:buSzTx/>
                        <a:buFontTx/>
                        <a:buNone/>
                      </a:pPr>
                      <a:r>
                        <a:rPr lang="en-US" altLang="en-US" sz="1600" spc="120" dirty="0">
                          <a:latin typeface="Arial" panose="020B0604020202020204" pitchFamily="34" charset="0"/>
                          <a:cs typeface="Arial" panose="020B0604020202020204" pitchFamily="34" charset="0"/>
                        </a:rPr>
                        <a:t>Update </a:t>
                      </a:r>
                      <a:r>
                        <a:rPr lang="zh-CN" altLang="en-US" sz="1600" spc="120" dirty="0">
                          <a:latin typeface="Arial" panose="020B0604020202020204" pitchFamily="34" charset="0"/>
                          <a:cs typeface="Arial" panose="020B0604020202020204" pitchFamily="34" charset="0"/>
                        </a:rPr>
                        <a:t>吞吐</a:t>
                      </a:r>
                      <a:endParaRPr lang="zh-CN" altLang="en-US" sz="1600" spc="120" dirty="0">
                        <a:latin typeface="Arial" panose="020B0604020202020204" pitchFamily="34" charset="0"/>
                        <a:cs typeface="Arial" panose="020B0604020202020204" pitchFamily="34" charset="0"/>
                      </a:endParaRPr>
                    </a:p>
                  </a:txBody>
                  <a:tcPr marL="254000" marR="254000" marT="177800" marB="177800" anchor="ctr"/>
                </a:tc>
                <a:tc>
                  <a:txBody>
                    <a:bodyPr/>
                    <a:p>
                      <a:pPr algn="ctr" eaLnBrk="0" fontAlgn="base" hangingPunct="0">
                        <a:lnSpc>
                          <a:spcPct val="120000"/>
                        </a:lnSpc>
                        <a:buClrTx/>
                        <a:buSzTx/>
                        <a:buFontTx/>
                        <a:buNone/>
                      </a:pPr>
                      <a:r>
                        <a:rPr lang="en-US" altLang="en-US" sz="1600" spc="120" dirty="0">
                          <a:latin typeface="Arial" panose="020B0604020202020204" pitchFamily="34" charset="0"/>
                          <a:cs typeface="Arial" panose="020B0604020202020204" pitchFamily="34" charset="0"/>
                          <a:sym typeface="+mn-ea"/>
                        </a:rPr>
                        <a:t>Update </a:t>
                      </a:r>
                      <a:r>
                        <a:rPr lang="zh-CN" altLang="en-US" sz="1600" spc="120" dirty="0">
                          <a:latin typeface="Arial" panose="020B0604020202020204" pitchFamily="34" charset="0"/>
                          <a:cs typeface="Arial" panose="020B0604020202020204" pitchFamily="34" charset="0"/>
                          <a:sym typeface="+mn-ea"/>
                        </a:rPr>
                        <a:t>延迟</a:t>
                      </a:r>
                      <a:endParaRPr lang="zh-CN" altLang="en-US" sz="1600" spc="120" dirty="0">
                        <a:latin typeface="Arial" panose="020B0604020202020204" pitchFamily="34" charset="0"/>
                        <a:cs typeface="Arial" panose="020B0604020202020204" pitchFamily="34" charset="0"/>
                        <a:sym typeface="+mn-ea"/>
                      </a:endParaRPr>
                    </a:p>
                  </a:txBody>
                  <a:tcPr marL="254000" marR="254000" marT="177800" marB="177800" anchor="ctr"/>
                </a:tc>
              </a:tr>
              <a:tr h="611505">
                <a:tc>
                  <a:txBody>
                    <a:bodyPr/>
                    <a:p>
                      <a:pPr algn="ctr">
                        <a:lnSpc>
                          <a:spcPct val="120000"/>
                        </a:lnSpc>
                        <a:buClrTx/>
                        <a:buSzTx/>
                        <a:buFontTx/>
                        <a:buNone/>
                      </a:pPr>
                      <a:r>
                        <a:rPr lang="zh-CN" altLang="en-US" sz="1400">
                          <a:latin typeface="Arial" panose="020B0604020202020204" pitchFamily="34" charset="0"/>
                          <a:cs typeface="Arial" panose="020B0604020202020204" pitchFamily="34" charset="0"/>
                        </a:rPr>
                        <a:t>Baseline</a:t>
                      </a:r>
                      <a:endParaRPr lang="zh-CN" altLang="en-US" sz="1400">
                        <a:latin typeface="Arial" panose="020B0604020202020204" pitchFamily="34" charset="0"/>
                        <a:cs typeface="Arial" panose="020B0604020202020204" pitchFamily="34" charset="0"/>
                      </a:endParaRPr>
                    </a:p>
                  </a:txBody>
                  <a:tcPr marL="254000" marR="254000" marT="177800" marB="177800" anchor="ctr"/>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763.267</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10.3999</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86.325</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buNone/>
                      </a:pPr>
                      <a:r>
                        <a:rPr lang="en-US" altLang="zh-CN" sz="1400">
                          <a:latin typeface="Arial" panose="020B0604020202020204" pitchFamily="34" charset="0"/>
                          <a:cs typeface="Arial" panose="020B0604020202020204" pitchFamily="34" charset="0"/>
                        </a:rPr>
                        <a:t>104.036</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r>
              <a:tr h="611505">
                <a:tc>
                  <a:txBody>
                    <a:bodyPr/>
                    <a:p>
                      <a:pPr algn="ctr">
                        <a:lnSpc>
                          <a:spcPct val="120000"/>
                        </a:lnSpc>
                        <a:buClrTx/>
                        <a:buSzTx/>
                        <a:buFontTx/>
                        <a:buNone/>
                      </a:pPr>
                      <a:r>
                        <a:rPr lang="zh-CN" altLang="en-US" sz="1400">
                          <a:latin typeface="Arial" panose="020B0604020202020204" pitchFamily="34" charset="0"/>
                          <a:cs typeface="Arial" panose="020B0604020202020204" pitchFamily="34" charset="0"/>
                        </a:rPr>
                        <a:t>基于 RaBitQ 引导的自适应批量远程图遍历机制</a:t>
                      </a:r>
                      <a:endParaRPr lang="zh-CN" altLang="en-US" sz="1400">
                        <a:latin typeface="Arial" panose="020B0604020202020204" pitchFamily="34" charset="0"/>
                        <a:cs typeface="Arial" panose="020B0604020202020204" pitchFamily="34" charset="0"/>
                      </a:endParaRPr>
                    </a:p>
                  </a:txBody>
                  <a:tcPr marL="254000" marR="254000" marT="177800" marB="177800" anchor="ctr"/>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1491.27</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5.28577</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83.8167</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buNone/>
                      </a:pPr>
                      <a:r>
                        <a:rPr lang="en-US" altLang="zh-CN" sz="1400">
                          <a:latin typeface="Arial" panose="020B0604020202020204" pitchFamily="34" charset="0"/>
                          <a:cs typeface="Arial" panose="020B0604020202020204" pitchFamily="34" charset="0"/>
                        </a:rPr>
                        <a:t>106.552</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r>
              <a:tr h="611505">
                <a:tc>
                  <a:txBody>
                    <a:bodyPr/>
                    <a:p>
                      <a:pPr algn="ctr">
                        <a:lnSpc>
                          <a:spcPct val="120000"/>
                        </a:lnSpc>
                        <a:buClrTx/>
                        <a:buSzTx/>
                        <a:buFontTx/>
                        <a:buNone/>
                      </a:pPr>
                      <a:r>
                        <a:rPr lang="zh-CN" altLang="en-US" sz="1400">
                          <a:latin typeface="Arial" panose="020B0604020202020204" pitchFamily="34" charset="0"/>
                          <a:cs typeface="Arial" panose="020B0604020202020204" pitchFamily="34" charset="0"/>
                          <a:sym typeface="+mn-ea"/>
                        </a:rPr>
                        <a:t>通信预算约束下的局部动态图维护方法</a:t>
                      </a:r>
                      <a:endParaRPr lang="zh-CN" altLang="en-US" sz="1400">
                        <a:latin typeface="Arial" panose="020B0604020202020204" pitchFamily="34" charset="0"/>
                        <a:cs typeface="Arial" panose="020B0604020202020204" pitchFamily="34" charset="0"/>
                      </a:endParaRPr>
                    </a:p>
                  </a:txBody>
                  <a:tcPr marL="254000" marR="254000" marT="177800" marB="177800" anchor="ctr"/>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1236.03</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6.36831</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701.292</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buNone/>
                      </a:pPr>
                      <a:r>
                        <a:rPr lang="en-US" altLang="zh-CN" sz="1400">
                          <a:latin typeface="Arial" panose="020B0604020202020204" pitchFamily="34" charset="0"/>
                          <a:cs typeface="Arial" panose="020B0604020202020204" pitchFamily="34" charset="0"/>
                        </a:rPr>
                        <a:t>13.4964</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r>
              <a:tr h="611505">
                <a:tc>
                  <a:txBody>
                    <a:bodyPr/>
                    <a:p>
                      <a:pPr algn="ctr">
                        <a:lnSpc>
                          <a:spcPct val="120000"/>
                        </a:lnSpc>
                        <a:buClrTx/>
                        <a:buSzTx/>
                        <a:buFontTx/>
                        <a:buNone/>
                      </a:pPr>
                      <a:r>
                        <a:rPr lang="zh-CN" altLang="en-US" sz="1400">
                          <a:latin typeface="Arial" panose="020B0604020202020204" pitchFamily="34" charset="0"/>
                          <a:cs typeface="Arial" panose="020B0604020202020204" pitchFamily="34" charset="0"/>
                          <a:sym typeface="+mn-ea"/>
                        </a:rPr>
                        <a:t>面向偏斜感知的 RDMA QP连接调度机制</a:t>
                      </a:r>
                      <a:endParaRPr lang="zh-CN" altLang="en-US" sz="1400">
                        <a:latin typeface="Arial" panose="020B0604020202020204" pitchFamily="34" charset="0"/>
                        <a:cs typeface="Arial" panose="020B0604020202020204" pitchFamily="34" charset="0"/>
                      </a:endParaRPr>
                    </a:p>
                  </a:txBody>
                  <a:tcPr marL="254000" marR="254000" marT="177800" marB="177800" anchor="ctr"/>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1435.26</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5.43455</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pPr>
                      <a:r>
                        <a:rPr lang="en-US" altLang="zh-CN" sz="1400">
                          <a:latin typeface="Arial" panose="020B0604020202020204" pitchFamily="34" charset="0"/>
                          <a:cs typeface="Arial" panose="020B0604020202020204" pitchFamily="34" charset="0"/>
                        </a:rPr>
                        <a:t>696.808</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c>
                  <a:txBody>
                    <a:bodyPr/>
                    <a:p>
                      <a:pPr algn="ctr">
                        <a:lnSpc>
                          <a:spcPct val="120000"/>
                        </a:lnSpc>
                        <a:buClrTx/>
                        <a:buSzTx/>
                        <a:buFontTx/>
                        <a:buNone/>
                      </a:pPr>
                      <a:r>
                        <a:rPr lang="en-US" altLang="zh-CN" sz="1400">
                          <a:latin typeface="Arial" panose="020B0604020202020204" pitchFamily="34" charset="0"/>
                          <a:cs typeface="Arial" panose="020B0604020202020204" pitchFamily="34" charset="0"/>
                        </a:rPr>
                        <a:t>13.5538</a:t>
                      </a:r>
                      <a:endParaRPr lang="en-US" altLang="zh-CN" sz="1400">
                        <a:latin typeface="Arial" panose="020B0604020202020204" pitchFamily="34" charset="0"/>
                        <a:cs typeface="Arial" panose="020B0604020202020204" pitchFamily="34" charset="0"/>
                      </a:endParaRPr>
                    </a:p>
                  </a:txBody>
                  <a:tcPr marL="254000" marR="254000" marT="177800" marB="177800" anchor="ctr" anchorCtr="0"/>
                </a:tc>
              </a:tr>
            </a:tbl>
          </a:graphicData>
        </a:graphic>
      </p:graphicFrame>
      <p:sp>
        <p:nvSpPr>
          <p:cNvPr id="9" name="文本框 8"/>
          <p:cNvSpPr txBox="1"/>
          <p:nvPr/>
        </p:nvSpPr>
        <p:spPr>
          <a:xfrm>
            <a:off x="622935" y="6069330"/>
            <a:ext cx="9919970" cy="645160"/>
          </a:xfrm>
          <a:prstGeom prst="rect">
            <a:avLst/>
          </a:prstGeom>
        </p:spPr>
        <p:txBody>
          <a:bodyPr wrap="square">
            <a:spAutoFit/>
          </a:bodyPr>
          <a:p>
            <a:r>
              <a:rPr lang="zh-CN" altLang="en-US" sz="1800">
                <a:solidFill>
                  <a:schemeClr val="tx1"/>
                </a:solidFill>
              </a:rPr>
              <a:t>基于初步结果，系统从 </a:t>
            </a:r>
            <a:r>
              <a:rPr lang="en-US" altLang="zh-CN" sz="1800">
                <a:solidFill>
                  <a:schemeClr val="tx1"/>
                </a:solidFill>
              </a:rPr>
              <a:t>Baseline </a:t>
            </a:r>
            <a:r>
              <a:rPr lang="zh-CN" altLang="en-US" sz="1800">
                <a:solidFill>
                  <a:schemeClr val="tx1"/>
                </a:solidFill>
              </a:rPr>
              <a:t>的 </a:t>
            </a:r>
            <a:r>
              <a:rPr lang="en-US" altLang="zh-CN" sz="1800">
                <a:solidFill>
                  <a:schemeClr val="tx1"/>
                </a:solidFill>
              </a:rPr>
              <a:t>849.6 op/s </a:t>
            </a:r>
            <a:r>
              <a:rPr lang="zh-CN" altLang="en-US" sz="1800">
                <a:solidFill>
                  <a:schemeClr val="tx1"/>
                </a:solidFill>
              </a:rPr>
              <a:t>提升到 </a:t>
            </a:r>
            <a:r>
              <a:rPr lang="en-US" altLang="zh-CN" sz="1800">
                <a:solidFill>
                  <a:schemeClr val="tx1"/>
                </a:solidFill>
              </a:rPr>
              <a:t>2132.07</a:t>
            </a:r>
            <a:r>
              <a:rPr lang="en-US" altLang="zh-CN" sz="1800">
                <a:solidFill>
                  <a:schemeClr val="tx1"/>
                </a:solidFill>
              </a:rPr>
              <a:t> op/s</a:t>
            </a:r>
            <a:r>
              <a:rPr lang="zh-CN" altLang="en-US" sz="1800">
                <a:solidFill>
                  <a:schemeClr val="tx1"/>
                </a:solidFill>
              </a:rPr>
              <a:t>，</a:t>
            </a:r>
            <a:r>
              <a:rPr lang="zh-CN" altLang="en-US" sz="1800">
                <a:solidFill>
                  <a:srgbClr val="FF0000"/>
                </a:solidFill>
              </a:rPr>
              <a:t>整体吞吐约提升 </a:t>
            </a:r>
            <a:r>
              <a:rPr lang="en-US" altLang="zh-CN" sz="1800">
                <a:solidFill>
                  <a:srgbClr val="FF0000"/>
                </a:solidFill>
              </a:rPr>
              <a:t>1.51×</a:t>
            </a:r>
            <a:r>
              <a:rPr lang="zh-CN" altLang="en-US" sz="1800">
                <a:solidFill>
                  <a:schemeClr val="tx1"/>
                </a:solidFill>
              </a:rPr>
              <a:t>；</a:t>
            </a:r>
            <a:r>
              <a:rPr lang="zh-CN" altLang="en-US" sz="1800">
                <a:solidFill>
                  <a:srgbClr val="FF0000"/>
                </a:solidFill>
              </a:rPr>
              <a:t>查询吞吐约提升</a:t>
            </a:r>
            <a:r>
              <a:rPr lang="en-US" altLang="zh-CN" sz="1800">
                <a:solidFill>
                  <a:srgbClr val="FF0000"/>
                </a:solidFill>
              </a:rPr>
              <a:t>88</a:t>
            </a:r>
            <a:r>
              <a:rPr lang="en-US" altLang="zh-CN" sz="1800">
                <a:solidFill>
                  <a:srgbClr val="FF0000"/>
                </a:solidFill>
              </a:rPr>
              <a:t>%，</a:t>
            </a:r>
            <a:r>
              <a:rPr lang="zh-CN" altLang="en-US" sz="1800">
                <a:solidFill>
                  <a:srgbClr val="FF0000"/>
                </a:solidFill>
              </a:rPr>
              <a:t>更新吞吐约提升</a:t>
            </a:r>
            <a:r>
              <a:rPr lang="en-US" altLang="zh-CN" sz="1800">
                <a:solidFill>
                  <a:srgbClr val="FF0000"/>
                </a:solidFill>
              </a:rPr>
              <a:t>7.07</a:t>
            </a:r>
            <a:r>
              <a:rPr lang="en-US" altLang="zh-CN" sz="1800">
                <a:solidFill>
                  <a:srgbClr val="FF0000"/>
                </a:solidFill>
                <a:sym typeface="+mn-ea"/>
              </a:rPr>
              <a:t>×</a:t>
            </a:r>
            <a:endParaRPr lang="en-US" altLang="zh-CN" sz="180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932688"/>
            <a:ext cx="749808" cy="658368"/>
          </a:xfrm>
          <a:prstGeom prst="rect">
            <a:avLst/>
          </a:prstGeom>
          <a:solidFill>
            <a:srgbClr val="208FC9"/>
          </a:solidFill>
          <a:ln>
            <a:solidFill>
              <a:srgbClr val="208FC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微软雅黑" panose="020B0503020204020204" charset="-122"/>
              </a:defRPr>
            </a:pPr>
            <a:r>
              <a:t>04</a:t>
            </a:r>
          </a:p>
        </p:txBody>
      </p:sp>
      <p:sp>
        <p:nvSpPr>
          <p:cNvPr id="3" name="TextBox 2"/>
          <p:cNvSpPr txBox="1"/>
          <p:nvPr/>
        </p:nvSpPr>
        <p:spPr>
          <a:xfrm>
            <a:off x="1508760" y="1024128"/>
            <a:ext cx="9692640" cy="491490"/>
          </a:xfrm>
          <a:prstGeom prst="rect">
            <a:avLst/>
          </a:prstGeom>
          <a:noFill/>
        </p:spPr>
        <p:txBody>
          <a:bodyPr wrap="square">
            <a:spAutoFit/>
          </a:bodyPr>
          <a:lstStyle/>
          <a:p>
            <a:pPr>
              <a:defRPr sz="2600" b="0">
                <a:solidFill>
                  <a:srgbClr val="414141"/>
                </a:solidFill>
                <a:latin typeface="微软雅黑" panose="020B0503020204020204" charset="-122"/>
              </a:defRPr>
            </a:pPr>
            <a:r>
              <a:rPr lang="zh-CN" dirty="0" err="1"/>
              <a:t>后续</a:t>
            </a:r>
            <a:r>
              <a:rPr lang="zh-CN" dirty="0" err="1"/>
              <a:t>工作与预期</a:t>
            </a:r>
            <a:r>
              <a:rPr lang="zh-CN" dirty="0" err="1"/>
              <a:t>目标</a:t>
            </a:r>
            <a:endParaRPr lang="zh-CN" dirty="0" err="1"/>
          </a:p>
        </p:txBody>
      </p:sp>
      <p:sp>
        <p:nvSpPr>
          <p:cNvPr id="4" name="Rectangle 3"/>
          <p:cNvSpPr/>
          <p:nvPr/>
        </p:nvSpPr>
        <p:spPr>
          <a:xfrm>
            <a:off x="548640" y="1673352"/>
            <a:ext cx="10881360" cy="18288"/>
          </a:xfrm>
          <a:prstGeom prst="rect">
            <a:avLst/>
          </a:prstGeom>
          <a:solidFill>
            <a:srgbClr val="E2E2E2"/>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灯片编号占位符 13"/>
          <p:cNvSpPr>
            <a:spLocks noGrp="1"/>
          </p:cNvSpPr>
          <p:nvPr>
            <p:ph type="sldNum" sz="quarter" idx="12"/>
          </p:nvPr>
        </p:nvSpPr>
        <p:spPr>
          <a:xfrm>
            <a:off x="9041479" y="6328148"/>
            <a:ext cx="2844800" cy="476250"/>
          </a:xfrm>
        </p:spPr>
        <p:txBody>
          <a:bodyPr/>
          <a:lstStyle/>
          <a:p>
            <a:pPr>
              <a:defRPr/>
            </a:pPr>
            <a:fld id="{6A90D09A-ED5D-47CC-A45F-D492BA9A6C1B}" type="slidenum">
              <a:rPr lang="en-US" altLang="zh-CN" smtClean="0"/>
            </a:fld>
            <a:endParaRPr lang="en-US" altLang="zh-CN" dirty="0"/>
          </a:p>
        </p:txBody>
      </p:sp>
      <p:sp>
        <p:nvSpPr>
          <p:cNvPr id="7" name="矩形 6"/>
          <p:cNvSpPr/>
          <p:nvPr>
            <p:custDataLst>
              <p:tags r:id="rId1"/>
            </p:custDataLst>
          </p:nvPr>
        </p:nvSpPr>
        <p:spPr>
          <a:xfrm>
            <a:off x="6311900" y="2247900"/>
            <a:ext cx="4616450" cy="4078605"/>
          </a:xfrm>
          <a:prstGeom prst="rect">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lumMod val="75000"/>
                </a:schemeClr>
              </a:solidFill>
            </a:endParaRPr>
          </a:p>
        </p:txBody>
      </p:sp>
      <p:sp>
        <p:nvSpPr>
          <p:cNvPr id="9" name="矩形 8"/>
          <p:cNvSpPr/>
          <p:nvPr>
            <p:custDataLst>
              <p:tags r:id="rId2"/>
            </p:custDataLst>
          </p:nvPr>
        </p:nvSpPr>
        <p:spPr>
          <a:xfrm>
            <a:off x="6527800" y="2532380"/>
            <a:ext cx="4252595" cy="3112135"/>
          </a:xfrm>
          <a:prstGeom prst="rect">
            <a:avLst/>
          </a:prstGeom>
        </p:spPr>
        <p:txBody>
          <a:bodyPr wrap="square">
            <a:noAutofit/>
          </a:bodyPr>
          <a:lstStyle/>
          <a:p>
            <a:pPr algn="l">
              <a:lnSpc>
                <a:spcPct val="150000"/>
              </a:lnSpc>
              <a:spcBef>
                <a:spcPts val="1000"/>
              </a:spcBef>
              <a:spcAft>
                <a:spcPts val="1000"/>
              </a:spcAft>
              <a:buClrTx/>
              <a:buSzTx/>
              <a:buFontTx/>
            </a:pPr>
            <a:r>
              <a:rPr lang="zh-CN" altLang="en-US" sz="1600" dirty="0">
                <a:solidFill>
                  <a:schemeClr val="tx1"/>
                </a:solidFill>
                <a:latin typeface="微软雅黑" panose="020B0503020204020204" charset="-122"/>
                <a:ea typeface="微软雅黑" panose="020B0503020204020204" charset="-122"/>
              </a:rPr>
              <a:t>在 1024 维、50M 规模、16 线程并发，50%读写比例场景下，</a:t>
            </a:r>
            <a:r>
              <a:rPr lang="zh-CN" altLang="en-US" sz="1600" b="1" dirty="0">
                <a:solidFill>
                  <a:schemeClr val="tx1"/>
                </a:solidFill>
                <a:latin typeface="微软雅黑" panose="020B0503020204020204" charset="-122"/>
                <a:ea typeface="微软雅黑" panose="020B0503020204020204" charset="-122"/>
              </a:rPr>
              <a:t>相比 Baseline 实现 </a:t>
            </a:r>
            <a:r>
              <a:rPr lang="en-US" altLang="zh-CN" sz="1600" b="1" dirty="0">
                <a:solidFill>
                  <a:schemeClr val="tx1"/>
                </a:solidFill>
                <a:latin typeface="微软雅黑" panose="020B0503020204020204" charset="-122"/>
                <a:ea typeface="微软雅黑" panose="020B0503020204020204" charset="-122"/>
              </a:rPr>
              <a:t>2</a:t>
            </a:r>
            <a:r>
              <a:rPr lang="en-US" altLang="zh-CN" sz="1600">
                <a:solidFill>
                  <a:schemeClr val="tx1"/>
                </a:solidFill>
                <a:sym typeface="+mn-ea"/>
              </a:rPr>
              <a:t>×</a:t>
            </a:r>
            <a:r>
              <a:rPr lang="zh-CN" altLang="en-US" sz="1600" b="1" dirty="0">
                <a:solidFill>
                  <a:schemeClr val="tx1"/>
                </a:solidFill>
                <a:latin typeface="微软雅黑" panose="020B0503020204020204" charset="-122"/>
                <a:ea typeface="微软雅黑" panose="020B0503020204020204" charset="-122"/>
              </a:rPr>
              <a:t>–</a:t>
            </a:r>
            <a:r>
              <a:rPr lang="en-US" altLang="zh-CN" sz="1600" b="1" dirty="0">
                <a:solidFill>
                  <a:schemeClr val="tx1"/>
                </a:solidFill>
                <a:latin typeface="微软雅黑" panose="020B0503020204020204" charset="-122"/>
                <a:ea typeface="微软雅黑" panose="020B0503020204020204" charset="-122"/>
              </a:rPr>
              <a:t>5</a:t>
            </a:r>
            <a:r>
              <a:rPr lang="en-US" altLang="zh-CN" sz="1600">
                <a:solidFill>
                  <a:schemeClr val="tx1"/>
                </a:solidFill>
                <a:sym typeface="+mn-ea"/>
              </a:rPr>
              <a:t>×</a:t>
            </a:r>
            <a:r>
              <a:rPr lang="zh-CN" altLang="en-US" sz="1600" b="1" dirty="0">
                <a:solidFill>
                  <a:schemeClr val="tx1"/>
                </a:solidFill>
                <a:latin typeface="微软雅黑" panose="020B0503020204020204" charset="-122"/>
                <a:ea typeface="微软雅黑" panose="020B0503020204020204" charset="-122"/>
              </a:rPr>
              <a:t> </a:t>
            </a:r>
            <a:r>
              <a:rPr lang="zh-CN" altLang="en-US" sz="1600" b="1" dirty="0">
                <a:solidFill>
                  <a:schemeClr val="tx1"/>
                </a:solidFill>
                <a:latin typeface="微软雅黑" panose="020B0503020204020204" charset="-122"/>
                <a:ea typeface="微软雅黑" panose="020B0503020204020204" charset="-122"/>
              </a:rPr>
              <a:t>整体吞吐提升同时保证更新的实时性</a:t>
            </a:r>
            <a:endParaRPr lang="zh-CN" altLang="en-US" sz="1600" b="1" dirty="0">
              <a:solidFill>
                <a:schemeClr val="tx1"/>
              </a:solidFill>
              <a:latin typeface="微软雅黑" panose="020B0503020204020204" charset="-122"/>
              <a:ea typeface="微软雅黑" panose="020B0503020204020204" charset="-122"/>
            </a:endParaRPr>
          </a:p>
          <a:p>
            <a:pPr algn="l">
              <a:lnSpc>
                <a:spcPct val="150000"/>
              </a:lnSpc>
              <a:spcBef>
                <a:spcPts val="1000"/>
              </a:spcBef>
              <a:spcAft>
                <a:spcPts val="1000"/>
              </a:spcAft>
              <a:buClrTx/>
              <a:buSzTx/>
              <a:buFontTx/>
            </a:pPr>
            <a:r>
              <a:rPr lang="zh-CN" altLang="en-US" sz="1600" dirty="0">
                <a:solidFill>
                  <a:schemeClr val="tx1"/>
                </a:solidFill>
                <a:latin typeface="微软雅黑" panose="020B0503020204020204" charset="-122"/>
                <a:ea typeface="微软雅黑" panose="020B0503020204020204" charset="-122"/>
              </a:rPr>
              <a:t>与</a:t>
            </a:r>
            <a:r>
              <a:rPr lang="zh-CN" altLang="en-US" sz="1600" b="1" dirty="0">
                <a:solidFill>
                  <a:schemeClr val="tx1"/>
                </a:solidFill>
                <a:latin typeface="微软雅黑" panose="020B0503020204020204" charset="-122"/>
                <a:ea typeface="微软雅黑" panose="020B0503020204020204" charset="-122"/>
              </a:rPr>
              <a:t>现有最先进的内存型、磁盘型和分布式向量索引相比</a:t>
            </a:r>
            <a:r>
              <a:rPr lang="zh-CN" altLang="en-US" sz="1600" dirty="0">
                <a:solidFill>
                  <a:schemeClr val="tx1"/>
                </a:solidFill>
                <a:latin typeface="微软雅黑" panose="020B0503020204020204" charset="-122"/>
                <a:ea typeface="微软雅黑" panose="020B0503020204020204" charset="-122"/>
              </a:rPr>
              <a:t>，在保持存算分离可扩展性的基础上，</a:t>
            </a:r>
            <a:r>
              <a:rPr lang="zh-CN" altLang="en-US" sz="1600" dirty="0">
                <a:solidFill>
                  <a:schemeClr val="tx1"/>
                </a:solidFill>
                <a:latin typeface="微软雅黑" panose="020B0503020204020204" charset="-122"/>
                <a:ea typeface="微软雅黑" panose="020B0503020204020204" charset="-122"/>
              </a:rPr>
              <a:t>缩小与高性能单机索引的查询性能差距，并在动态更新场景下体现更好的系统扩展性和资源解耦优势。</a:t>
            </a:r>
            <a:endParaRPr lang="zh-CN" altLang="en-US" sz="1600" dirty="0">
              <a:solidFill>
                <a:schemeClr val="tx1"/>
              </a:solidFill>
              <a:latin typeface="微软雅黑" panose="020B0503020204020204" charset="-122"/>
              <a:ea typeface="微软雅黑" panose="020B0503020204020204" charset="-122"/>
            </a:endParaRPr>
          </a:p>
        </p:txBody>
      </p:sp>
      <p:sp>
        <p:nvSpPr>
          <p:cNvPr id="21" name="矩形 20"/>
          <p:cNvSpPr/>
          <p:nvPr>
            <p:custDataLst>
              <p:tags r:id="rId3"/>
            </p:custDataLst>
          </p:nvPr>
        </p:nvSpPr>
        <p:spPr>
          <a:xfrm>
            <a:off x="6604635" y="1975485"/>
            <a:ext cx="1915160" cy="36195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1600" b="1" dirty="0">
                <a:latin typeface="微软雅黑" panose="020B0503020204020204" charset="-122"/>
                <a:ea typeface="微软雅黑" panose="020B0503020204020204" charset="-122"/>
                <a:sym typeface="+mn-ea"/>
              </a:rPr>
              <a:t>预期目标</a:t>
            </a:r>
            <a:endParaRPr lang="zh-CN" altLang="en-US" sz="1600" b="1" dirty="0">
              <a:latin typeface="微软雅黑" panose="020B0503020204020204" charset="-122"/>
              <a:ea typeface="微软雅黑" panose="020B0503020204020204" charset="-122"/>
              <a:sym typeface="+mn-ea"/>
            </a:endParaRPr>
          </a:p>
        </p:txBody>
      </p:sp>
      <p:sp>
        <p:nvSpPr>
          <p:cNvPr id="23" name="矩形 22"/>
          <p:cNvSpPr/>
          <p:nvPr>
            <p:custDataLst>
              <p:tags r:id="rId4"/>
            </p:custDataLst>
          </p:nvPr>
        </p:nvSpPr>
        <p:spPr>
          <a:xfrm>
            <a:off x="839470" y="2247900"/>
            <a:ext cx="4616450" cy="3515360"/>
          </a:xfrm>
          <a:prstGeom prst="rect">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lumMod val="75000"/>
                </a:schemeClr>
              </a:solidFill>
            </a:endParaRPr>
          </a:p>
        </p:txBody>
      </p:sp>
      <p:sp>
        <p:nvSpPr>
          <p:cNvPr id="24" name="矩形 23"/>
          <p:cNvSpPr/>
          <p:nvPr>
            <p:custDataLst>
              <p:tags r:id="rId5"/>
            </p:custDataLst>
          </p:nvPr>
        </p:nvSpPr>
        <p:spPr>
          <a:xfrm>
            <a:off x="1055370" y="2650490"/>
            <a:ext cx="4252595" cy="2629535"/>
          </a:xfrm>
          <a:prstGeom prst="rect">
            <a:avLst/>
          </a:prstGeom>
        </p:spPr>
        <p:txBody>
          <a:bodyPr wrap="square">
            <a:noAutofit/>
          </a:bodyPr>
          <a:lstStyle/>
          <a:p>
            <a:pPr algn="l" defTabSz="914400">
              <a:lnSpc>
                <a:spcPct val="150000"/>
              </a:lnSpc>
              <a:spcBef>
                <a:spcPts val="1000"/>
              </a:spcBef>
              <a:spcAft>
                <a:spcPts val="1000"/>
              </a:spcAft>
              <a:buClrTx/>
              <a:buSzTx/>
              <a:buFontTx/>
            </a:pPr>
            <a:r>
              <a:rPr lang="zh-CN" altLang="en-US" sz="1600" dirty="0">
                <a:solidFill>
                  <a:schemeClr val="tx1"/>
                </a:solidFill>
                <a:latin typeface="微软雅黑" panose="020B0503020204020204" charset="-122"/>
                <a:ea typeface="微软雅黑" panose="020B0503020204020204" charset="-122"/>
                <a:sym typeface="+mn-lt"/>
              </a:rPr>
              <a:t>进一步优化现有提出的</a:t>
            </a:r>
            <a:r>
              <a:rPr lang="zh-CN" altLang="en-US" sz="1600" b="1" dirty="0">
                <a:solidFill>
                  <a:schemeClr val="tx1"/>
                </a:solidFill>
                <a:latin typeface="微软雅黑" panose="020B0503020204020204" charset="-122"/>
                <a:ea typeface="微软雅黑" panose="020B0503020204020204" charset="-122"/>
                <a:sym typeface="+mn-lt"/>
              </a:rPr>
              <a:t>三个核心优化方案的</a:t>
            </a:r>
            <a:r>
              <a:rPr lang="zh-CN" altLang="en-US" sz="1600" b="1" dirty="0">
                <a:solidFill>
                  <a:schemeClr val="tx1"/>
                </a:solidFill>
                <a:latin typeface="微软雅黑" panose="020B0503020204020204" charset="-122"/>
                <a:ea typeface="微软雅黑" panose="020B0503020204020204" charset="-122"/>
                <a:sym typeface="+mn-lt"/>
              </a:rPr>
              <a:t>机制设计与实现</a:t>
            </a:r>
            <a:endParaRPr lang="zh-CN" altLang="en-US" sz="1600" b="1" dirty="0">
              <a:solidFill>
                <a:schemeClr val="tx1"/>
              </a:solidFill>
              <a:latin typeface="微软雅黑" panose="020B0503020204020204" charset="-122"/>
              <a:ea typeface="微软雅黑" panose="020B0503020204020204" charset="-122"/>
              <a:sym typeface="+mn-lt"/>
            </a:endParaRPr>
          </a:p>
          <a:p>
            <a:pPr algn="l" defTabSz="914400">
              <a:lnSpc>
                <a:spcPct val="150000"/>
              </a:lnSpc>
              <a:spcBef>
                <a:spcPts val="1000"/>
              </a:spcBef>
              <a:spcAft>
                <a:spcPts val="1000"/>
              </a:spcAft>
              <a:buClrTx/>
              <a:buSzTx/>
              <a:buFontTx/>
            </a:pPr>
            <a:r>
              <a:rPr lang="zh-CN" altLang="en-US" sz="1600" dirty="0">
                <a:solidFill>
                  <a:schemeClr val="tx1"/>
                </a:solidFill>
                <a:latin typeface="微软雅黑" panose="020B0503020204020204" charset="-122"/>
                <a:ea typeface="微软雅黑" panose="020B0503020204020204" charset="-122"/>
                <a:sym typeface="+mn-lt"/>
              </a:rPr>
              <a:t>完善实验评估体系，在不同数据集规模、读写比例和并发负载下，对各个方案进行消融实验和端到端对比，并与</a:t>
            </a:r>
            <a:r>
              <a:rPr lang="zh-CN" altLang="en-US" sz="1600" b="1" dirty="0">
                <a:solidFill>
                  <a:schemeClr val="tx1"/>
                </a:solidFill>
                <a:latin typeface="微软雅黑" panose="020B0503020204020204" charset="-122"/>
                <a:ea typeface="微软雅黑" panose="020B0503020204020204" charset="-122"/>
                <a:sym typeface="+mn-lt"/>
              </a:rPr>
              <a:t>现有主流的向量存储引擎</a:t>
            </a:r>
            <a:r>
              <a:rPr lang="en-US" altLang="zh-CN" sz="1600" b="1" dirty="0">
                <a:solidFill>
                  <a:schemeClr val="tx1"/>
                </a:solidFill>
                <a:latin typeface="微软雅黑" panose="020B0503020204020204" charset="-122"/>
                <a:ea typeface="微软雅黑" panose="020B0503020204020204" charset="-122"/>
                <a:sym typeface="+mn-lt"/>
              </a:rPr>
              <a:t>HNSW</a:t>
            </a:r>
            <a:r>
              <a:rPr lang="zh-CN" altLang="en-US" sz="1600" b="1" dirty="0">
                <a:solidFill>
                  <a:schemeClr val="tx1"/>
                </a:solidFill>
                <a:latin typeface="微软雅黑" panose="020B0503020204020204" charset="-122"/>
                <a:ea typeface="微软雅黑" panose="020B0503020204020204" charset="-122"/>
                <a:sym typeface="+mn-lt"/>
              </a:rPr>
              <a:t>、</a:t>
            </a:r>
            <a:r>
              <a:rPr lang="en-US" altLang="zh-CN" sz="1600" b="1" dirty="0">
                <a:solidFill>
                  <a:schemeClr val="tx1"/>
                </a:solidFill>
                <a:latin typeface="微软雅黑" panose="020B0503020204020204" charset="-122"/>
                <a:ea typeface="微软雅黑" panose="020B0503020204020204" charset="-122"/>
                <a:sym typeface="+mn-lt"/>
              </a:rPr>
              <a:t>DiskANN</a:t>
            </a:r>
            <a:r>
              <a:rPr lang="zh-CN" altLang="en-US" sz="1600" b="1" dirty="0">
                <a:solidFill>
                  <a:schemeClr val="tx1"/>
                </a:solidFill>
                <a:latin typeface="微软雅黑" panose="020B0503020204020204" charset="-122"/>
                <a:ea typeface="微软雅黑" panose="020B0503020204020204" charset="-122"/>
                <a:sym typeface="+mn-lt"/>
              </a:rPr>
              <a:t>、</a:t>
            </a:r>
            <a:r>
              <a:rPr lang="en-US" altLang="zh-CN" sz="1600" b="1" dirty="0">
                <a:solidFill>
                  <a:schemeClr val="tx1"/>
                </a:solidFill>
                <a:latin typeface="微软雅黑" panose="020B0503020204020204" charset="-122"/>
                <a:ea typeface="微软雅黑" panose="020B0503020204020204" charset="-122"/>
                <a:sym typeface="+mn-lt"/>
              </a:rPr>
              <a:t>OdinANN</a:t>
            </a:r>
            <a:r>
              <a:rPr lang="zh-CN" altLang="en-US" sz="1600" b="1" dirty="0">
                <a:solidFill>
                  <a:schemeClr val="tx1"/>
                </a:solidFill>
                <a:latin typeface="微软雅黑" panose="020B0503020204020204" charset="-122"/>
                <a:ea typeface="微软雅黑" panose="020B0503020204020204" charset="-122"/>
                <a:sym typeface="+mn-lt"/>
              </a:rPr>
              <a:t>、</a:t>
            </a:r>
            <a:r>
              <a:rPr lang="en-US" altLang="zh-CN" sz="1600" b="1" dirty="0">
                <a:solidFill>
                  <a:schemeClr val="tx1"/>
                </a:solidFill>
                <a:latin typeface="微软雅黑" panose="020B0503020204020204" charset="-122"/>
                <a:ea typeface="微软雅黑" panose="020B0503020204020204" charset="-122"/>
                <a:sym typeface="+mn-lt"/>
              </a:rPr>
              <a:t>Milvus</a:t>
            </a:r>
            <a:r>
              <a:rPr lang="zh-CN" altLang="en-US" sz="1600" b="1" dirty="0">
                <a:solidFill>
                  <a:schemeClr val="tx1"/>
                </a:solidFill>
                <a:latin typeface="微软雅黑" panose="020B0503020204020204" charset="-122"/>
                <a:ea typeface="微软雅黑" panose="020B0503020204020204" charset="-122"/>
                <a:sym typeface="+mn-lt"/>
              </a:rPr>
              <a:t>等</a:t>
            </a:r>
            <a:r>
              <a:rPr lang="zh-CN" altLang="en-US" sz="1600" dirty="0">
                <a:solidFill>
                  <a:schemeClr val="tx1"/>
                </a:solidFill>
                <a:latin typeface="微软雅黑" panose="020B0503020204020204" charset="-122"/>
                <a:ea typeface="微软雅黑" panose="020B0503020204020204" charset="-122"/>
                <a:sym typeface="+mn-lt"/>
              </a:rPr>
              <a:t>进行性能</a:t>
            </a:r>
            <a:r>
              <a:rPr lang="zh-CN" altLang="en-US" sz="1600" dirty="0">
                <a:solidFill>
                  <a:schemeClr val="tx1"/>
                </a:solidFill>
                <a:latin typeface="微软雅黑" panose="020B0503020204020204" charset="-122"/>
                <a:ea typeface="微软雅黑" panose="020B0503020204020204" charset="-122"/>
                <a:sym typeface="+mn-lt"/>
              </a:rPr>
              <a:t>对比</a:t>
            </a:r>
            <a:endParaRPr lang="zh-CN" altLang="en-US" sz="1600" dirty="0">
              <a:solidFill>
                <a:schemeClr val="tx1"/>
              </a:solidFill>
              <a:latin typeface="微软雅黑" panose="020B0503020204020204" charset="-122"/>
              <a:ea typeface="微软雅黑" panose="020B0503020204020204" charset="-122"/>
              <a:sym typeface="+mn-lt"/>
            </a:endParaRPr>
          </a:p>
        </p:txBody>
      </p:sp>
      <p:sp>
        <p:nvSpPr>
          <p:cNvPr id="32" name="矩形 31"/>
          <p:cNvSpPr/>
          <p:nvPr>
            <p:custDataLst>
              <p:tags r:id="rId6"/>
            </p:custDataLst>
          </p:nvPr>
        </p:nvSpPr>
        <p:spPr>
          <a:xfrm>
            <a:off x="1132205" y="1975485"/>
            <a:ext cx="1915160" cy="36195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1600" b="1" dirty="0">
                <a:latin typeface="微软雅黑" panose="020B0503020204020204" charset="-122"/>
                <a:ea typeface="微软雅黑" panose="020B0503020204020204" charset="-122"/>
                <a:sym typeface="+mn-ea"/>
              </a:rPr>
              <a:t>后续</a:t>
            </a:r>
            <a:r>
              <a:rPr lang="zh-CN" altLang="en-US" sz="1600" b="1" dirty="0">
                <a:latin typeface="微软雅黑" panose="020B0503020204020204" charset="-122"/>
                <a:ea typeface="微软雅黑" panose="020B0503020204020204" charset="-122"/>
                <a:sym typeface="+mn-ea"/>
              </a:rPr>
              <a:t>工作</a:t>
            </a:r>
            <a:endParaRPr lang="zh-CN" altLang="en-US" sz="1600" b="1" dirty="0">
              <a:latin typeface="微软雅黑" panose="020B0503020204020204" charset="-122"/>
              <a:ea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59685" y="2348865"/>
            <a:ext cx="6892290" cy="863600"/>
          </a:xfrm>
          <a:effectLst>
            <a:outerShdw blurRad="50800" dist="38100" dir="2700000" algn="tl" rotWithShape="0">
              <a:prstClr val="black">
                <a:alpha val="40000"/>
              </a:prstClr>
            </a:outerShdw>
          </a:effectLst>
        </p:spPr>
        <p:txBody>
          <a:bodyPr>
            <a:normAutofit/>
          </a:bodyPr>
          <a:lstStyle/>
          <a:p>
            <a:r>
              <a:rPr lang="zh-CN" altLang="en-US" sz="4400">
                <a:solidFill>
                  <a:schemeClr val="accent1">
                    <a:lumMod val="25000"/>
                  </a:schemeClr>
                </a:solidFill>
                <a:effectLst/>
                <a:latin typeface="微软雅黑" panose="020B0503020204020204" charset="-122"/>
                <a:ea typeface="微软雅黑" panose="020B0503020204020204" charset="-122"/>
              </a:rPr>
              <a:t>谢谢，请各位老师批评指正</a:t>
            </a:r>
            <a:endParaRPr lang="zh-CN" altLang="en-US" sz="4400">
              <a:solidFill>
                <a:schemeClr val="accent1">
                  <a:lumMod val="25000"/>
                </a:schemeClr>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2"/>
          </p:nvPr>
        </p:nvSpPr>
        <p:spPr/>
        <p:txBody>
          <a:bodyPr/>
          <a:lstStyle/>
          <a:p>
            <a:r>
              <a:t>16</a:t>
            </a:r>
          </a:p>
        </p:txBody>
      </p:sp>
      <p:cxnSp>
        <p:nvCxnSpPr>
          <p:cNvPr id="7" name="直接连接符 6"/>
          <p:cNvCxnSpPr/>
          <p:nvPr/>
        </p:nvCxnSpPr>
        <p:spPr>
          <a:xfrm>
            <a:off x="2063552" y="3371850"/>
            <a:ext cx="7885312" cy="0"/>
          </a:xfrm>
          <a:prstGeom prst="line">
            <a:avLst/>
          </a:prstGeom>
          <a:ln w="63500" cap="flat">
            <a:gradFill flip="none" rotWithShape="1">
              <a:gsLst>
                <a:gs pos="0">
                  <a:schemeClr val="accent1">
                    <a:lumMod val="20000"/>
                    <a:lumOff val="80000"/>
                  </a:schemeClr>
                </a:gs>
                <a:gs pos="53000">
                  <a:schemeClr val="accent1"/>
                </a:gs>
                <a:gs pos="100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rcRect t="41239" b="27598"/>
          <a:stretch>
            <a:fillRect/>
          </a:stretch>
        </p:blipFill>
        <p:spPr>
          <a:xfrm>
            <a:off x="0" y="4843452"/>
            <a:ext cx="12192000" cy="2014548"/>
          </a:xfrm>
          <a:custGeom>
            <a:avLst/>
            <a:gdLst>
              <a:gd name="connsiteX0" fmla="*/ 6704242 w 9144000"/>
              <a:gd name="connsiteY0" fmla="*/ 12 h 2014548"/>
              <a:gd name="connsiteX1" fmla="*/ 9144000 w 9144000"/>
              <a:gd name="connsiteY1" fmla="*/ 108895 h 2014548"/>
              <a:gd name="connsiteX2" fmla="*/ 9144000 w 9144000"/>
              <a:gd name="connsiteY2" fmla="*/ 2014548 h 2014548"/>
              <a:gd name="connsiteX3" fmla="*/ 0 w 9144000"/>
              <a:gd name="connsiteY3" fmla="*/ 2014548 h 2014548"/>
              <a:gd name="connsiteX4" fmla="*/ 0 w 9144000"/>
              <a:gd name="connsiteY4" fmla="*/ 378136 h 2014548"/>
              <a:gd name="connsiteX5" fmla="*/ 6704242 w 9144000"/>
              <a:gd name="connsiteY5" fmla="*/ 12 h 201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2014548">
                <a:moveTo>
                  <a:pt x="6704242" y="12"/>
                </a:moveTo>
                <a:cubicBezTo>
                  <a:pt x="7362528" y="693"/>
                  <a:pt x="8143875" y="31400"/>
                  <a:pt x="9144000" y="108895"/>
                </a:cubicBezTo>
                <a:lnTo>
                  <a:pt x="9144000" y="2014548"/>
                </a:lnTo>
                <a:lnTo>
                  <a:pt x="0" y="2014548"/>
                </a:lnTo>
                <a:lnTo>
                  <a:pt x="0" y="378136"/>
                </a:lnTo>
                <a:cubicBezTo>
                  <a:pt x="3571875" y="378136"/>
                  <a:pt x="4353223" y="-2420"/>
                  <a:pt x="6704242" y="12"/>
                </a:cubicBezTo>
                <a:close/>
              </a:path>
            </a:pathLst>
          </a:custGeom>
        </p:spPr>
      </p:pic>
      <p:sp>
        <p:nvSpPr>
          <p:cNvPr id="10" name="标题 1"/>
          <p:cNvSpPr txBox="1"/>
          <p:nvPr/>
        </p:nvSpPr>
        <p:spPr>
          <a:xfrm>
            <a:off x="3647440" y="1196340"/>
            <a:ext cx="5027930" cy="431800"/>
          </a:xfrm>
          <a:prstGeom prst="rect">
            <a:avLst/>
          </a:prstGeom>
          <a:effectLst/>
        </p:spPr>
        <p:txBody>
          <a:bodyPr anchor="b"/>
          <a:lstStyle>
            <a:lvl1pPr algn="l" defTabSz="914400" rtl="0" eaLnBrk="1" latinLnBrk="0" hangingPunct="1">
              <a:lnSpc>
                <a:spcPct val="90000"/>
              </a:lnSpc>
              <a:spcBef>
                <a:spcPct val="0"/>
              </a:spcBef>
              <a:buNone/>
              <a:defRPr sz="3600" b="1" kern="1200">
                <a:solidFill>
                  <a:schemeClr val="accent1"/>
                </a:solidFill>
                <a:latin typeface="微软雅黑" panose="020B0503020204020204" charset="-122"/>
                <a:ea typeface="微软雅黑" panose="020B0503020204020204" charset="-122"/>
                <a:cs typeface="+mj-cs"/>
              </a:defRPr>
            </a:lvl1pPr>
          </a:lstStyle>
          <a:p>
            <a:r>
              <a:rPr lang="zh-CN" altLang="en-US" sz="2000" b="0">
                <a:solidFill>
                  <a:schemeClr val="tx1"/>
                </a:solidFill>
              </a:rPr>
              <a:t>存算分离架构下的高效向量存储引擎研究</a:t>
            </a:r>
            <a:endParaRPr lang="zh-CN" altLang="en-US" sz="2000" b="0">
              <a:solidFill>
                <a:schemeClr val="tx1"/>
              </a:solidFill>
            </a:endParaRPr>
          </a:p>
        </p:txBody>
      </p:sp>
      <p:sp>
        <p:nvSpPr>
          <p:cNvPr id="3" name="TextBox 2"/>
          <p:cNvSpPr txBox="1"/>
          <p:nvPr/>
        </p:nvSpPr>
        <p:spPr>
          <a:xfrm>
            <a:off x="5106108" y="4033832"/>
            <a:ext cx="1800200" cy="909320"/>
          </a:xfrm>
          <a:prstGeom prst="rect">
            <a:avLst/>
          </a:prstGeom>
          <a:noFill/>
        </p:spPr>
        <p:txBody>
          <a:bodyPr wrap="square" rtlCol="0">
            <a:spAutoFit/>
          </a:bodyPr>
          <a:lstStyle/>
          <a:p>
            <a:pPr>
              <a:lnSpc>
                <a:spcPct val="120000"/>
              </a:lnSpc>
              <a:spcBef>
                <a:spcPts val="1200"/>
              </a:spcBef>
            </a:pPr>
            <a:r>
              <a:rPr lang="zh-CN" altLang="en-US" sz="1800">
                <a:solidFill>
                  <a:schemeClr val="tx1"/>
                </a:solidFill>
                <a:latin typeface="微软雅黑" panose="020B0503020204020204" charset="-122"/>
                <a:ea typeface="微软雅黑" panose="020B0503020204020204" charset="-122"/>
              </a:rPr>
              <a:t>报告人：熊嘉晟</a:t>
            </a:r>
            <a:endParaRPr lang="en-US" altLang="zh-CN" sz="1800">
              <a:solidFill>
                <a:schemeClr val="tx1"/>
              </a:solidFill>
              <a:latin typeface="微软雅黑" panose="020B0503020204020204" charset="-122"/>
              <a:ea typeface="微软雅黑" panose="020B0503020204020204" charset="-122"/>
            </a:endParaRPr>
          </a:p>
          <a:p>
            <a:pPr>
              <a:lnSpc>
                <a:spcPct val="120000"/>
              </a:lnSpc>
              <a:spcBef>
                <a:spcPts val="1200"/>
              </a:spcBef>
            </a:pPr>
            <a:r>
              <a:rPr lang="zh-CN" altLang="en-US" sz="1800">
                <a:solidFill>
                  <a:schemeClr val="tx1"/>
                </a:solidFill>
                <a:latin typeface="微软雅黑" panose="020B0503020204020204" charset="-122"/>
                <a:ea typeface="微软雅黑" panose="020B0503020204020204" charset="-122"/>
              </a:rPr>
              <a:t>导　师：王　芳</a:t>
            </a:r>
            <a:endParaRPr lang="zh-CN" altLang="en-US" sz="1800">
              <a:solidFill>
                <a:schemeClr val="tx1"/>
              </a:solidFill>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BEAUTIFY_FLAG" val=""/>
  <p:tag name="KSO_WM_DIAGRAM_VIRTUALLY_FRAME" val="{&quot;height&quot;:455.25,&quot;left&quot;:21.95,&quot;top&quot;:131.65,&quot;width&quot;:878.05}"/>
</p:tagLst>
</file>

<file path=ppt/tags/tag2.xml><?xml version="1.0" encoding="utf-8"?>
<p:tagLst xmlns:p="http://schemas.openxmlformats.org/presentationml/2006/main">
  <p:tag name="KSO_WM_BEAUTIFY_FLAG" val=""/>
  <p:tag name="KSO_WM_DIAGRAM_VIRTUALLY_FRAME" val="{&quot;height&quot;:455.25,&quot;left&quot;:21.95,&quot;top&quot;:131.65,&quot;width&quot;:878.05}"/>
</p:tagLst>
</file>

<file path=ppt/tags/tag3.xml><?xml version="1.0" encoding="utf-8"?>
<p:tagLst xmlns:p="http://schemas.openxmlformats.org/presentationml/2006/main">
  <p:tag name="KSO_WM_DIAGRAM_VIRTUALLY_FRAME" val="{&quot;height&quot;:455.25,&quot;left&quot;:21.95,&quot;top&quot;:131.65,&quot;width&quot;:878.05}"/>
</p:tagLst>
</file>

<file path=ppt/tags/tag4.xml><?xml version="1.0" encoding="utf-8"?>
<p:tagLst xmlns:p="http://schemas.openxmlformats.org/presentationml/2006/main">
  <p:tag name="KSO_WM_DIAGRAM_VIRTUALLY_FRAME" val="{&quot;height&quot;:455.25,&quot;left&quot;:21.95,&quot;top&quot;:131.65,&quot;width&quot;:878.05}"/>
</p:tagLst>
</file>

<file path=ppt/tags/tag5.xml><?xml version="1.0" encoding="utf-8"?>
<p:tagLst xmlns:p="http://schemas.openxmlformats.org/presentationml/2006/main">
  <p:tag name="KSO_WM_DIAGRAM_VIRTUALLY_FRAME" val="{&quot;height&quot;:455.25,&quot;left&quot;:21.95,&quot;top&quot;:131.65,&quot;width&quot;:878.05}"/>
</p:tagLst>
</file>

<file path=ppt/tags/tag6.xml><?xml version="1.0" encoding="utf-8"?>
<p:tagLst xmlns:p="http://schemas.openxmlformats.org/presentationml/2006/main">
  <p:tag name="KSO_WM_DIAGRAM_VIRTUALLY_FRAME" val="{&quot;height&quot;:455.25,&quot;left&quot;:21.95,&quot;top&quot;:131.65,&quot;width&quot;:878.05}"/>
</p:tagLst>
</file>

<file path=ppt/tags/tag7.xml><?xml version="1.0" encoding="utf-8"?>
<p:tagLst xmlns:p="http://schemas.openxmlformats.org/presentationml/2006/main">
  <p:tag name="KSO_WM_BEAUTIFY_FLAG" val=""/>
  <p:tag name="KSO_WM_DIAGRAM_VIRTUALLY_FRAME" val="{&quot;height&quot;:455.25,&quot;left&quot;:21.95,&quot;top&quot;:131.65,&quot;width&quot;:878.05}"/>
</p:tagLst>
</file>

<file path=ppt/tags/tag8.xml><?xml version="1.0" encoding="utf-8"?>
<p:tagLst xmlns:p="http://schemas.openxmlformats.org/presentationml/2006/main">
  <p:tag name="KSO_WM_DIAGRAM_VIRTUALLY_FRAME" val="{&quot;height&quot;:455.25,&quot;left&quot;:21.95,&quot;top&quot;:131.65,&quot;width&quot;:878.05}"/>
</p:tagLst>
</file>

<file path=ppt/tags/tag9.xml><?xml version="1.0" encoding="utf-8"?>
<p:tagLst xmlns:p="http://schemas.openxmlformats.org/presentationml/2006/main">
  <p:tag name="KSO_WM_DIAGRAM_VIRTUALLY_FRAME" val="{&quot;height&quot;:455.25,&quot;left&quot;:21.95,&quot;top&quot;:131.65,&quot;width&quot;:878.05}"/>
</p:tagLst>
</file>

<file path=ppt/tags/tag10.xml><?xml version="1.0" encoding="utf-8"?>
<p:tagLst xmlns:p="http://schemas.openxmlformats.org/presentationml/2006/main">
  <p:tag name="KSO_WM_BEAUTIFY_FLAG" val=""/>
  <p:tag name="KSO_WM_DIAGRAM_VIRTUALLY_FRAME" val="{&quot;height&quot;:455.25,&quot;left&quot;:21.95,&quot;top&quot;:131.65,&quot;width&quot;:878.05}"/>
</p:tagLst>
</file>

<file path=ppt/tags/tag11.xml><?xml version="1.0" encoding="utf-8"?>
<p:tagLst xmlns:p="http://schemas.openxmlformats.org/presentationml/2006/main">
  <p:tag name="KSO_WM_DIAGRAM_VIRTUALLY_FRAME" val="{&quot;height&quot;:455.25,&quot;left&quot;:21.95,&quot;top&quot;:131.65,&quot;width&quot;:878.05}"/>
</p:tagLst>
</file>

<file path=ppt/tags/tag12.xml><?xml version="1.0" encoding="utf-8"?>
<p:tagLst xmlns:p="http://schemas.openxmlformats.org/presentationml/2006/main">
  <p:tag name="KSO_WM_BEAUTIFY_FLAG" val=""/>
  <p:tag name="KSO_WM_DIAGRAM_VIRTUALLY_FRAME" val="{&quot;height&quot;:455.25,&quot;left&quot;:21.95,&quot;top&quot;:131.65,&quot;width&quot;:878.05}"/>
</p:tagLst>
</file>

<file path=ppt/tags/tag13.xml><?xml version="1.0" encoding="utf-8"?>
<p:tagLst xmlns:p="http://schemas.openxmlformats.org/presentationml/2006/main">
  <p:tag name="KSO_WM_DIAGRAM_VIRTUALLY_FRAME" val="{&quot;height&quot;:455.25,&quot;left&quot;:21.95,&quot;top&quot;:131.65,&quot;width&quot;:878.05}"/>
</p:tagLst>
</file>

<file path=ppt/tags/tag14.xml><?xml version="1.0" encoding="utf-8"?>
<p:tagLst xmlns:p="http://schemas.openxmlformats.org/presentationml/2006/main">
  <p:tag name="KSO_WM_BEAUTIFY_FLAG" val=""/>
  <p:tag name="KSO_WM_DIAGRAM_VIRTUALLY_FRAME" val="{&quot;height&quot;:455.25,&quot;left&quot;:21.95,&quot;top&quot;:131.65,&quot;width&quot;:878.05}"/>
</p:tagLst>
</file>

<file path=ppt/tags/tag15.xml><?xml version="1.0" encoding="utf-8"?>
<p:tagLst xmlns:p="http://schemas.openxmlformats.org/presentationml/2006/main">
  <p:tag name="KSO_WM_DIAGRAM_VIRTUALLY_FRAME" val="{&quot;height&quot;:455.25,&quot;left&quot;:21.95,&quot;top&quot;:131.65,&quot;width&quot;:878.05}"/>
</p:tagLst>
</file>

<file path=ppt/tags/tag16.xml><?xml version="1.0" encoding="utf-8"?>
<p:tagLst xmlns:p="http://schemas.openxmlformats.org/presentationml/2006/main">
  <p:tag name="KSO_WM_DIAGRAM_VIRTUALLY_FRAME" val="{&quot;height&quot;:455.25,&quot;left&quot;:21.95,&quot;top&quot;:131.65,&quot;width&quot;:878.05}"/>
</p:tagLst>
</file>

<file path=ppt/tags/tag17.xml><?xml version="1.0" encoding="utf-8"?>
<p:tagLst xmlns:p="http://schemas.openxmlformats.org/presentationml/2006/main">
  <p:tag name="KSO_WM_DIAGRAM_VIRTUALLY_FRAME" val="{&quot;height&quot;:455.25,&quot;left&quot;:21.95,&quot;top&quot;:131.65,&quot;width&quot;:878.05}"/>
</p:tagLst>
</file>

<file path=ppt/tags/tag18.xml><?xml version="1.0" encoding="utf-8"?>
<p:tagLst xmlns:p="http://schemas.openxmlformats.org/presentationml/2006/main">
  <p:tag name="KSO_WM_DIAGRAM_VIRTUALLY_FRAME" val="{&quot;height&quot;:455.25,&quot;left&quot;:21.95,&quot;top&quot;:131.65,&quot;width&quot;:878.05}"/>
</p:tagLst>
</file>

<file path=ppt/tags/tag19.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20.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21.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22.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23.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24.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25.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26.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27.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28.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29.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30.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31.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32.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33.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34.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35.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36.xml><?xml version="1.0" encoding="utf-8"?>
<p:tagLst xmlns:p="http://schemas.openxmlformats.org/presentationml/2006/main">
  <p:tag name="KSO_WM_DIAGRAM_VIRTUALLY_FRAME" val="{&quot;height&quot;:310.4076377952756,&quot;left&quot;:15.424251968503935,&quot;top&quot;:218.9423622047244,&quot;width&quot;:933.275748031496}"/>
</p:tagLst>
</file>

<file path=ppt/tags/tag37.xml><?xml version="1.0" encoding="utf-8"?>
<p:tagLst xmlns:p="http://schemas.openxmlformats.org/presentationml/2006/main">
  <p:tag name="KSO_WM_DIAGRAM_VIRTUALLY_FRAME" val="{&quot;height&quot;:483.8076377952756,&quot;left&quot;:20.874251968503813,&quot;top&quot;:77.2423622047244,&quot;width&quot;:933.0757480314962}"/>
</p:tagLst>
</file>

<file path=ppt/tags/tag38.xml><?xml version="1.0" encoding="utf-8"?>
<p:tagLst xmlns:p="http://schemas.openxmlformats.org/presentationml/2006/main">
  <p:tag name="KSO_WM_DIAGRAM_VIRTUALLY_FRAME" val="{&quot;height&quot;:483.8076377952756,&quot;left&quot;:20.874251968503813,&quot;top&quot;:77.2423622047244,&quot;width&quot;:933.0757480314962}"/>
</p:tagLst>
</file>

<file path=ppt/tags/tag39.xml><?xml version="1.0" encoding="utf-8"?>
<p:tagLst xmlns:p="http://schemas.openxmlformats.org/presentationml/2006/main">
  <p:tag name="KSO_WM_DIAGRAM_VIRTUALLY_FRAME" val="{&quot;height&quot;:483.8076377952756,&quot;left&quot;:20.874251968503813,&quot;top&quot;:77.2423622047244,&quot;width&quot;:933.0757480314962}"/>
</p:tagLst>
</file>

<file path=ppt/tags/tag40.xml><?xml version="1.0" encoding="utf-8"?>
<p:tagLst xmlns:p="http://schemas.openxmlformats.org/presentationml/2006/main">
  <p:tag name="KSO_WM_DIAGRAM_VIRTUALLY_FRAME" val="{&quot;height&quot;:483.8076377952756,&quot;left&quot;:20.874251968503813,&quot;top&quot;:77.2423622047244,&quot;width&quot;:933.0757480314962}"/>
</p:tagLst>
</file>

<file path=ppt/tags/tag41.xml><?xml version="1.0" encoding="utf-8"?>
<p:tagLst xmlns:p="http://schemas.openxmlformats.org/presentationml/2006/main">
  <p:tag name="KSO_WM_DIAGRAM_VIRTUALLY_FRAME" val="{&quot;height&quot;:352.4714173228346,&quot;left&quot;:48.3,&quot;top&quot;:150.89999999999998,&quot;width&quot;:858.2248818897637}"/>
</p:tagLst>
</file>

<file path=ppt/tags/tag42.xml><?xml version="1.0" encoding="utf-8"?>
<p:tagLst xmlns:p="http://schemas.openxmlformats.org/presentationml/2006/main">
  <p:tag name="KSO_WM_DIAGRAM_VIRTUALLY_FRAME" val="{&quot;height&quot;:352.4714173228346,&quot;left&quot;:48.3,&quot;top&quot;:150.89999999999998,&quot;width&quot;:858.2248818897637}"/>
</p:tagLst>
</file>

<file path=ppt/tags/tag43.xml><?xml version="1.0" encoding="utf-8"?>
<p:tagLst xmlns:p="http://schemas.openxmlformats.org/presentationml/2006/main">
  <p:tag name="KSO_WM_DIAGRAM_VIRTUALLY_FRAME" val="{&quot;height&quot;:352.4714173228346,&quot;left&quot;:48.3,&quot;top&quot;:150.89999999999998,&quot;width&quot;:858.2248818897637}"/>
</p:tagLst>
</file>

<file path=ppt/tags/tag44.xml><?xml version="1.0" encoding="utf-8"?>
<p:tagLst xmlns:p="http://schemas.openxmlformats.org/presentationml/2006/main">
  <p:tag name="KSO_WM_DIAGRAM_VIRTUALLY_FRAME" val="{&quot;height&quot;:352.4714173228346,&quot;left&quot;:48.3,&quot;top&quot;:150.89999999999998,&quot;width&quot;:858.2248818897637}"/>
</p:tagLst>
</file>

<file path=ppt/tags/tag45.xml><?xml version="1.0" encoding="utf-8"?>
<p:tagLst xmlns:p="http://schemas.openxmlformats.org/presentationml/2006/main">
  <p:tag name="KSO_WM_DIAGRAM_VIRTUALLY_FRAME" val="{&quot;height&quot;:352.4714173228346,&quot;left&quot;:48.3,&quot;top&quot;:150.89999999999998,&quot;width&quot;:858.2248818897637}"/>
</p:tagLst>
</file>

<file path=ppt/tags/tag46.xml><?xml version="1.0" encoding="utf-8"?>
<p:tagLst xmlns:p="http://schemas.openxmlformats.org/presentationml/2006/main">
  <p:tag name="KSO_WM_DIAGRAM_VIRTUALLY_FRAME" val="{&quot;height&quot;:352.4714173228346,&quot;left&quot;:48.3,&quot;top&quot;:150.89999999999998,&quot;width&quot;:858.2248818897637}"/>
</p:tagLst>
</file>

<file path=ppt/tags/tag47.xml><?xml version="1.0" encoding="utf-8"?>
<p:tagLst xmlns:p="http://schemas.openxmlformats.org/presentationml/2006/main">
  <p:tag name="KSO_WM_DIAGRAM_VIRTUALLY_FRAME" val="{&quot;height&quot;:352.4714173228346,&quot;left&quot;:48.3,&quot;top&quot;:150.89999999999998,&quot;width&quot;:858.2248818897637}"/>
</p:tagLst>
</file>

<file path=ppt/tags/tag48.xml><?xml version="1.0" encoding="utf-8"?>
<p:tagLst xmlns:p="http://schemas.openxmlformats.org/presentationml/2006/main">
  <p:tag name="KSO_WM_DIAGRAM_VIRTUALLY_FRAME" val="{&quot;height&quot;:352.4714173228346,&quot;left&quot;:48.3,&quot;top&quot;:150.89999999999998,&quot;width&quot;:858.2248818897637}"/>
</p:tagLst>
</file>

<file path=ppt/tags/tag49.xml><?xml version="1.0" encoding="utf-8"?>
<p:tagLst xmlns:p="http://schemas.openxmlformats.org/presentationml/2006/main">
  <p:tag name="KSO_WM_DIAGRAM_VIRTUALLY_FRAME" val="{&quot;height&quot;:352.4714173228346,&quot;left&quot;:48.3,&quot;top&quot;:150.89999999999998,&quot;width&quot;:858.2248818897637}"/>
</p:tagLst>
</file>

<file path=ppt/tags/tag50.xml><?xml version="1.0" encoding="utf-8"?>
<p:tagLst xmlns:p="http://schemas.openxmlformats.org/presentationml/2006/main">
  <p:tag name="KSO_WM_DIAGRAM_VIRTUALLY_FRAME" val="{&quot;height&quot;:352.4714173228346,&quot;left&quot;:48.3,&quot;top&quot;:150.89999999999998,&quot;width&quot;:858.2248818897637}"/>
</p:tagLst>
</file>

<file path=ppt/tags/tag51.xml><?xml version="1.0" encoding="utf-8"?>
<p:tagLst xmlns:p="http://schemas.openxmlformats.org/presentationml/2006/main">
  <p:tag name="KSO_WM_DIAGRAM_VIRTUALLY_FRAME" val="{&quot;height&quot;:352.4714173228346,&quot;left&quot;:48.3,&quot;top&quot;:150.89999999999998,&quot;width&quot;:858.2248818897637}"/>
</p:tagLst>
</file>

<file path=ppt/tags/tag52.xml><?xml version="1.0" encoding="utf-8"?>
<p:tagLst xmlns:p="http://schemas.openxmlformats.org/presentationml/2006/main">
  <p:tag name="KSO_WM_DIAGRAM_VIRTUALLY_FRAME" val="{&quot;height&quot;:352.4714173228346,&quot;left&quot;:48.3,&quot;top&quot;:150.89999999999998,&quot;width&quot;:858.2248818897637}"/>
</p:tagLst>
</file>

<file path=ppt/tags/tag53.xml><?xml version="1.0" encoding="utf-8"?>
<p:tagLst xmlns:p="http://schemas.openxmlformats.org/presentationml/2006/main">
  <p:tag name="KSO_WM_DIAGRAM_VIRTUALLY_FRAME" val="{&quot;height&quot;:352.4714173228346,&quot;left&quot;:48.3,&quot;top&quot;:150.89999999999998,&quot;width&quot;:858.2248818897637}"/>
</p:tagLst>
</file>

<file path=ppt/tags/tag54.xml><?xml version="1.0" encoding="utf-8"?>
<p:tagLst xmlns:p="http://schemas.openxmlformats.org/presentationml/2006/main">
  <p:tag name="KSO_WM_DIAGRAM_VIRTUALLY_FRAME" val="{&quot;height&quot;:352.4714173228346,&quot;left&quot;:48.3,&quot;top&quot;:150.89999999999998,&quot;width&quot;:858.2248818897637}"/>
</p:tagLst>
</file>

<file path=ppt/tags/tag55.xml><?xml version="1.0" encoding="utf-8"?>
<p:tagLst xmlns:p="http://schemas.openxmlformats.org/presentationml/2006/main">
  <p:tag name="KSO_WM_DIAGRAM_VIRTUALLY_FRAME" val="{&quot;height&quot;:352.4714173228346,&quot;left&quot;:48.3,&quot;top&quot;:150.89999999999998,&quot;width&quot;:858.2248818897637}"/>
</p:tagLst>
</file>

<file path=ppt/tags/tag56.xml><?xml version="1.0" encoding="utf-8"?>
<p:tagLst xmlns:p="http://schemas.openxmlformats.org/presentationml/2006/main">
  <p:tag name="KSO_WM_DIAGRAM_VIRTUALLY_FRAME" val="{&quot;height&quot;:352.4714173228346,&quot;left&quot;:48.3,&quot;top&quot;:150.89999999999998,&quot;width&quot;:858.2248818897637}"/>
</p:tagLst>
</file>

<file path=ppt/tags/tag57.xml><?xml version="1.0" encoding="utf-8"?>
<p:tagLst xmlns:p="http://schemas.openxmlformats.org/presentationml/2006/main">
  <p:tag name="KSO_WM_DIAGRAM_VIRTUALLY_FRAME" val="{&quot;height&quot;:352.4714173228346,&quot;left&quot;:48.3,&quot;top&quot;:150.89999999999998,&quot;width&quot;:858.2248818897637}"/>
</p:tagLst>
</file>

<file path=ppt/tags/tag58.xml><?xml version="1.0" encoding="utf-8"?>
<p:tagLst xmlns:p="http://schemas.openxmlformats.org/presentationml/2006/main">
  <p:tag name="KSO_WM_DIAGRAM_VIRTUALLY_FRAME" val="{&quot;height&quot;:352.4714173228346,&quot;left&quot;:48.3,&quot;top&quot;:150.89999999999998,&quot;width&quot;:858.2248818897637}"/>
</p:tagLst>
</file>

<file path=ppt/tags/tag59.xml><?xml version="1.0" encoding="utf-8"?>
<p:tagLst xmlns:p="http://schemas.openxmlformats.org/presentationml/2006/main">
  <p:tag name="TABLE_ENDDRAG_ORIGIN_RECT" val="573*279"/>
  <p:tag name="TABLE_ENDDRAG_RECT" val="37*156*573*279"/>
</p:tagLst>
</file>

<file path=ppt/tags/tag60.xml><?xml version="1.0" encoding="utf-8"?>
<p:tagLst xmlns:p="http://schemas.openxmlformats.org/presentationml/2006/main">
  <p:tag name="TABLE_ENDDRAG_ORIGIN_RECT" val="827*272"/>
  <p:tag name="TABLE_ENDDRAG_RECT" val="49*156*827*272"/>
</p:tagLst>
</file>

<file path=ppt/tags/tag61.xml><?xml version="1.0" encoding="utf-8"?>
<p:tagLst xmlns:p="http://schemas.openxmlformats.org/presentationml/2006/main">
  <p:tag name="KSO_WM_DIAGRAM_VIRTUALLY_FRAME" val="{&quot;height&quot;:311.35,&quot;left&quot;:66.1,&quot;top&quot;:155.55,&quot;width&quot;:794.4}"/>
</p:tagLst>
</file>

<file path=ppt/tags/tag62.xml><?xml version="1.0" encoding="utf-8"?>
<p:tagLst xmlns:p="http://schemas.openxmlformats.org/presentationml/2006/main">
  <p:tag name="KSO_WM_DIAGRAM_VIRTUALLY_FRAME" val="{&quot;height&quot;:311.35,&quot;left&quot;:66.1,&quot;top&quot;:155.55,&quot;width&quot;:794.4}"/>
</p:tagLst>
</file>

<file path=ppt/tags/tag63.xml><?xml version="1.0" encoding="utf-8"?>
<p:tagLst xmlns:p="http://schemas.openxmlformats.org/presentationml/2006/main">
  <p:tag name="KSO_WM_DIAGRAM_VIRTUALLY_FRAME" val="{&quot;height&quot;:311.35,&quot;left&quot;:66.1,&quot;top&quot;:155.55,&quot;width&quot;:794.4}"/>
</p:tagLst>
</file>

<file path=ppt/tags/tag64.xml><?xml version="1.0" encoding="utf-8"?>
<p:tagLst xmlns:p="http://schemas.openxmlformats.org/presentationml/2006/main">
  <p:tag name="KSO_WM_DIAGRAM_VIRTUALLY_FRAME" val="{&quot;height&quot;:311.35,&quot;left&quot;:66.1,&quot;top&quot;:155.55,&quot;width&quot;:794.4}"/>
</p:tagLst>
</file>

<file path=ppt/tags/tag65.xml><?xml version="1.0" encoding="utf-8"?>
<p:tagLst xmlns:p="http://schemas.openxmlformats.org/presentationml/2006/main">
  <p:tag name="KSO_WM_DIAGRAM_VIRTUALLY_FRAME" val="{&quot;height&quot;:311.35,&quot;left&quot;:66.1,&quot;top&quot;:155.55,&quot;width&quot;:794.4}"/>
</p:tagLst>
</file>

<file path=ppt/tags/tag66.xml><?xml version="1.0" encoding="utf-8"?>
<p:tagLst xmlns:p="http://schemas.openxmlformats.org/presentationml/2006/main">
  <p:tag name="KSO_WM_DIAGRAM_VIRTUALLY_FRAME" val="{&quot;height&quot;:311.35,&quot;left&quot;:66.1,&quot;top&quot;:155.55,&quot;width&quot;:794.4}"/>
</p:tagLst>
</file>

<file path=ppt/tags/tag67.xml><?xml version="1.0" encoding="utf-8"?>
<p:tagLst xmlns:p="http://schemas.openxmlformats.org/presentationml/2006/main">
  <p:tag name="resource_record_key" val="{&quot;29&quot;:[50053044,50053368,50053024,50053052]}"/>
  <p:tag name="commondata" val="eyJoZGlkIjoiMjFkNTBiYTRhOTFjNWYwZGY1NGMyM2QwZTllOGRmZDcifQ=="/>
</p:tagLst>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Lucida Sans"/>
        <a:ea typeface="黑体"/>
        <a:cs typeface=""/>
      </a:majorFont>
      <a:minorFont>
        <a:latin typeface="Berlin Sans FB"/>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spDef>
    <a:ln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4151</Words>
  <Application>WPS 演示</Application>
  <PresentationFormat>宽屏</PresentationFormat>
  <Paragraphs>420</Paragraphs>
  <Slides>29</Slides>
  <Notes>16</Notes>
  <HiddenSlides>0</HiddenSlides>
  <MMClips>0</MMClips>
  <ScaleCrop>false</ScaleCrop>
  <HeadingPairs>
    <vt:vector size="6" baseType="variant">
      <vt:variant>
        <vt:lpstr>已用的字体</vt:lpstr>
      </vt:variant>
      <vt:variant>
        <vt:i4>31</vt:i4>
      </vt:variant>
      <vt:variant>
        <vt:lpstr>主题</vt:lpstr>
      </vt:variant>
      <vt:variant>
        <vt:i4>2</vt:i4>
      </vt:variant>
      <vt:variant>
        <vt:lpstr>幻灯片标题</vt:lpstr>
      </vt:variant>
      <vt:variant>
        <vt:i4>29</vt:i4>
      </vt:variant>
    </vt:vector>
  </HeadingPairs>
  <TitlesOfParts>
    <vt:vector size="62" baseType="lpstr">
      <vt:lpstr>Arial</vt:lpstr>
      <vt:lpstr>宋体</vt:lpstr>
      <vt:lpstr>Wingdings</vt:lpstr>
      <vt:lpstr>黑体</vt:lpstr>
      <vt:lpstr>Tahoma</vt:lpstr>
      <vt:lpstr>Lucida Sans</vt:lpstr>
      <vt:lpstr>Lucida Sans Unicode</vt:lpstr>
      <vt:lpstr>Comic Sans MS</vt:lpstr>
      <vt:lpstr>楷体_GB2312</vt:lpstr>
      <vt:lpstr>新宋体</vt:lpstr>
      <vt:lpstr>Times</vt:lpstr>
      <vt:lpstr>Times New Roman</vt:lpstr>
      <vt:lpstr>微软雅黑</vt:lpstr>
      <vt:lpstr>Segoe UI Light</vt:lpstr>
      <vt:lpstr>微软雅黑 Light</vt:lpstr>
      <vt:lpstr>思源黑体</vt:lpstr>
      <vt:lpstr>Noto Sans SC</vt:lpstr>
      <vt:lpstr>Consolas</vt:lpstr>
      <vt:lpstr>Arial Unicode MS</vt:lpstr>
      <vt:lpstr>等线 Light</vt:lpstr>
      <vt:lpstr>Calibri Light</vt:lpstr>
      <vt:lpstr>等线</vt:lpstr>
      <vt:lpstr>Calibri</vt:lpstr>
      <vt:lpstr>思源黑体 CN Light</vt:lpstr>
      <vt:lpstr>汉仪雅酷黑 65W</vt:lpstr>
      <vt:lpstr>思源黑体 CN Normal</vt:lpstr>
      <vt:lpstr>思源宋体 CN Heavy</vt:lpstr>
      <vt:lpstr>KSOF618801C0</vt:lpstr>
      <vt:lpstr>Segoe Print</vt:lpstr>
      <vt:lpstr>KSOFE22D339A</vt:lpstr>
      <vt:lpstr>Berlin Sans FB</vt:lpstr>
      <vt:lpstr>1_自定义设计方案</vt:lpstr>
      <vt:lpstr>2_自定义设计方案</vt:lpstr>
      <vt:lpstr>存算分离架构下的高效向量存储引擎研究</vt:lpstr>
      <vt:lpstr>PowerPoint 演示文稿</vt:lpstr>
      <vt:lpstr>01</vt:lpstr>
      <vt:lpstr>PowerPoint 演示文稿</vt:lpstr>
      <vt:lpstr>PowerPoint 演示文稿</vt:lpstr>
      <vt:lpstr>01</vt:lpstr>
      <vt:lpstr>01</vt:lpstr>
      <vt:lpstr>01</vt:lpstr>
      <vt:lpstr>PowerPoint 演示文稿</vt:lpstr>
      <vt:lpstr>02</vt:lpstr>
      <vt:lpstr>02</vt:lpstr>
      <vt:lpstr>02</vt:lpstr>
      <vt:lpstr>PowerPoint 演示文稿</vt:lpstr>
      <vt:lpstr>03</vt:lpstr>
      <vt:lpstr>03</vt:lpstr>
      <vt:lpstr>03</vt:lpstr>
      <vt:lpstr>03</vt:lpstr>
      <vt:lpstr>03</vt:lpstr>
      <vt:lpstr>03</vt:lpstr>
      <vt:lpstr>03</vt:lpstr>
      <vt:lpstr>03</vt:lpstr>
      <vt:lpstr>03</vt:lpstr>
      <vt:lpstr>03</vt:lpstr>
      <vt:lpstr>03</vt:lpstr>
      <vt:lpstr>03</vt:lpstr>
      <vt:lpstr>PowerPoint 演示文稿</vt:lpstr>
      <vt:lpstr>PowerPoint 演示文稿</vt:lpstr>
      <vt:lpstr>PowerPoint 演示文稿</vt:lpstr>
      <vt:lpstr>谢谢，请各位老师批评指正</vt:lpstr>
    </vt:vector>
  </TitlesOfParts>
  <Company>WNLO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热烈欢迎各位领导莅临指导</dc:title>
  <dc:creator>shunzi</dc:creator>
  <cp:lastModifiedBy>点点君</cp:lastModifiedBy>
  <cp:revision>1389</cp:revision>
  <dcterms:created xsi:type="dcterms:W3CDTF">2026-06-24T18:41:00Z</dcterms:created>
  <dcterms:modified xsi:type="dcterms:W3CDTF">2026-07-01T10:33:51Z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77490D9155CF9E0CE8D8E1695F8EB9F8_43</vt:lpwstr>
  </property>
</Properties>
</file>